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vsdx" ContentType="application/vnd.ms-visio.drawing"/>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Masters/slideMaster1.xml" ContentType="application/vnd.openxmlformats-officedocument.presentationml.slideMaster+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ableStyles.xml" ContentType="application/vnd.openxmlformats-officedocument.presentationml.tableStyles+xml"/>
  <Override PartName="/ppt/presProps.xml" ContentType="application/vnd.openxmlformats-officedocument.presentationml.presProp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handoutMasterIdLst>
    <p:handoutMasterId r:id="rId36"/>
  </p:handoutMasterIdLst>
  <p:sldIdLst>
    <p:sldId id="280" r:id="rId2"/>
    <p:sldId id="275" r:id="rId3"/>
    <p:sldId id="285" r:id="rId4"/>
    <p:sldId id="286" r:id="rId5"/>
    <p:sldId id="295" r:id="rId6"/>
    <p:sldId id="326" r:id="rId7"/>
    <p:sldId id="328" r:id="rId8"/>
    <p:sldId id="282" r:id="rId9"/>
    <p:sldId id="329" r:id="rId10"/>
    <p:sldId id="344" r:id="rId11"/>
    <p:sldId id="345" r:id="rId12"/>
    <p:sldId id="346" r:id="rId13"/>
    <p:sldId id="318" r:id="rId14"/>
    <p:sldId id="322" r:id="rId15"/>
    <p:sldId id="319" r:id="rId16"/>
    <p:sldId id="321" r:id="rId17"/>
    <p:sldId id="320" r:id="rId18"/>
    <p:sldId id="303" r:id="rId19"/>
    <p:sldId id="339" r:id="rId20"/>
    <p:sldId id="299" r:id="rId21"/>
    <p:sldId id="340" r:id="rId22"/>
    <p:sldId id="341" r:id="rId23"/>
    <p:sldId id="301" r:id="rId24"/>
    <p:sldId id="342" r:id="rId25"/>
    <p:sldId id="309" r:id="rId26"/>
    <p:sldId id="311" r:id="rId27"/>
    <p:sldId id="312" r:id="rId28"/>
    <p:sldId id="313" r:id="rId29"/>
    <p:sldId id="283" r:id="rId30"/>
    <p:sldId id="343" r:id="rId31"/>
    <p:sldId id="314" r:id="rId32"/>
    <p:sldId id="330" r:id="rId33"/>
    <p:sldId id="26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E79"/>
    <a:srgbClr val="3846CC"/>
    <a:srgbClr val="0066CC"/>
    <a:srgbClr val="009900"/>
    <a:srgbClr val="008000"/>
    <a:srgbClr val="669900"/>
    <a:srgbClr val="77AC30"/>
    <a:srgbClr val="D12229"/>
    <a:srgbClr val="FBBC1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87312" autoAdjust="0"/>
  </p:normalViewPr>
  <p:slideViewPr>
    <p:cSldViewPr snapToGrid="0">
      <p:cViewPr varScale="1">
        <p:scale>
          <a:sx n="67" d="100"/>
          <a:sy n="67" d="100"/>
        </p:scale>
        <p:origin x="1244" y="16"/>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customXml" Target="../customXml/item3.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9.wmf"/><Relationship Id="rId1" Type="http://schemas.openxmlformats.org/officeDocument/2006/relationships/image" Target="../media/image8.e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wmf"/><Relationship Id="rId1" Type="http://schemas.openxmlformats.org/officeDocument/2006/relationships/image" Target="../media/image10.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image" Target="../media/image13.wmf"/><Relationship Id="rId4" Type="http://schemas.openxmlformats.org/officeDocument/2006/relationships/image" Target="../media/image16.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image" Target="../media/image28.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 Id="rId5" Type="http://schemas.openxmlformats.org/officeDocument/2006/relationships/image" Target="../media/image35.emf"/><Relationship Id="rId4" Type="http://schemas.openxmlformats.org/officeDocument/2006/relationships/image" Target="../media/image34.e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8.emf"/><Relationship Id="rId7" Type="http://schemas.openxmlformats.org/officeDocument/2006/relationships/image" Target="../media/image42.emf"/><Relationship Id="rId2" Type="http://schemas.openxmlformats.org/officeDocument/2006/relationships/image" Target="../media/image37.emf"/><Relationship Id="rId1" Type="http://schemas.openxmlformats.org/officeDocument/2006/relationships/image" Target="../media/image36.emf"/><Relationship Id="rId6" Type="http://schemas.openxmlformats.org/officeDocument/2006/relationships/image" Target="../media/image41.emf"/><Relationship Id="rId5" Type="http://schemas.openxmlformats.org/officeDocument/2006/relationships/image" Target="../media/image40.emf"/><Relationship Id="rId4" Type="http://schemas.openxmlformats.org/officeDocument/2006/relationships/image" Target="../media/image39.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wmf"/><Relationship Id="rId1" Type="http://schemas.openxmlformats.org/officeDocument/2006/relationships/image" Target="../media/image43.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47.emf"/><Relationship Id="rId1" Type="http://schemas.openxmlformats.org/officeDocument/2006/relationships/image" Target="../media/image46.emf"/><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FA07FF3-81B0-482A-9C7E-C56BE716D3E6}" type="datetimeFigureOut">
              <a:rPr lang="en-US" smtClean="0"/>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D41A81A-C01C-4FE9-9DD7-FF2A50F3A2E1}" type="slidenum">
              <a:rPr lang="en-US" smtClean="0"/>
              <a:t>‹#›</a:t>
            </a:fld>
            <a:endParaRPr lang="en-US"/>
          </a:p>
        </p:txBody>
      </p:sp>
    </p:spTree>
    <p:extLst>
      <p:ext uri="{BB962C8B-B14F-4D97-AF65-F5344CB8AC3E}">
        <p14:creationId xmlns:p14="http://schemas.microsoft.com/office/powerpoint/2010/main" val="3403238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A6F4D2-AF60-4A8F-8B98-E0250CCFD66E}" type="datetimeFigureOut">
              <a:rPr lang="en-US" smtClean="0"/>
              <a:t>7/5/2023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4AFBC8-1032-4A87-B406-5F344C04DCF6}" type="slidenum">
              <a:rPr lang="en-US" smtClean="0"/>
              <a:t>‹#›</a:t>
            </a:fld>
            <a:endParaRPr lang="en-US"/>
          </a:p>
        </p:txBody>
      </p:sp>
    </p:spTree>
    <p:extLst>
      <p:ext uri="{BB962C8B-B14F-4D97-AF65-F5344CB8AC3E}">
        <p14:creationId xmlns:p14="http://schemas.microsoft.com/office/powerpoint/2010/main" val="1005112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3 </a:t>
            </a:r>
            <a:r>
              <a:rPr lang="en-US" dirty="0" err="1"/>
              <a:t>điện</a:t>
            </a:r>
            <a:r>
              <a:rPr lang="en-US" dirty="0"/>
              <a:t> </a:t>
            </a:r>
            <a:r>
              <a:rPr lang="en-US" dirty="0" err="1"/>
              <a:t>áp</a:t>
            </a:r>
            <a:r>
              <a:rPr lang="en-US" dirty="0"/>
              <a:t>  </a:t>
            </a:r>
            <a:r>
              <a:rPr lang="en-US" dirty="0" err="1"/>
              <a:t>pha</a:t>
            </a:r>
            <a:r>
              <a:rPr lang="en-US" dirty="0"/>
              <a:t> </a:t>
            </a:r>
            <a:r>
              <a:rPr lang="en-US" dirty="0" err="1"/>
              <a:t>hình</a:t>
            </a:r>
            <a:r>
              <a:rPr lang="en-US" dirty="0"/>
              <a:t> sin </a:t>
            </a:r>
            <a:r>
              <a:rPr lang="en-US" dirty="0" err="1"/>
              <a:t>phía</a:t>
            </a:r>
            <a:r>
              <a:rPr lang="en-US" dirty="0"/>
              <a:t> stator </a:t>
            </a:r>
            <a:r>
              <a:rPr lang="en-US" dirty="0" err="1"/>
              <a:t>isu</a:t>
            </a:r>
            <a:r>
              <a:rPr lang="en-US" dirty="0"/>
              <a:t>, </a:t>
            </a:r>
            <a:r>
              <a:rPr lang="en-US" dirty="0" err="1"/>
              <a:t>isv</a:t>
            </a:r>
            <a:r>
              <a:rPr lang="en-US" dirty="0"/>
              <a:t>, </a:t>
            </a:r>
            <a:r>
              <a:rPr lang="en-US" dirty="0" err="1"/>
              <a:t>isw</a:t>
            </a:r>
            <a:r>
              <a:rPr lang="en-US" dirty="0"/>
              <a:t>, </a:t>
            </a:r>
            <a:r>
              <a:rPr lang="en-US" dirty="0" err="1"/>
              <a:t>của</a:t>
            </a:r>
            <a:r>
              <a:rPr lang="en-US" dirty="0"/>
              <a:t> ĐCKDB 3 </a:t>
            </a:r>
            <a:r>
              <a:rPr lang="en-US" dirty="0" err="1"/>
              <a:t>pha</a:t>
            </a:r>
            <a:r>
              <a:rPr lang="en-US" dirty="0"/>
              <a:t> </a:t>
            </a:r>
            <a:r>
              <a:rPr lang="en-US" dirty="0" err="1"/>
              <a:t>có</a:t>
            </a:r>
            <a:r>
              <a:rPr lang="en-US" dirty="0"/>
              <a:t> </a:t>
            </a:r>
            <a:r>
              <a:rPr lang="en-US" dirty="0" err="1"/>
              <a:t>thể</a:t>
            </a:r>
            <a:r>
              <a:rPr lang="en-US" dirty="0"/>
              <a:t> </a:t>
            </a:r>
            <a:r>
              <a:rPr lang="en-US" dirty="0" err="1"/>
              <a:t>được</a:t>
            </a:r>
            <a:r>
              <a:rPr lang="en-US" dirty="0"/>
              <a:t> </a:t>
            </a:r>
            <a:r>
              <a:rPr lang="en-US" dirty="0" err="1"/>
              <a:t>mô</a:t>
            </a:r>
            <a:r>
              <a:rPr lang="en-US" dirty="0"/>
              <a:t> </a:t>
            </a:r>
            <a:r>
              <a:rPr lang="en-US" dirty="0" err="1"/>
              <a:t>tả</a:t>
            </a:r>
            <a:r>
              <a:rPr lang="en-US" dirty="0"/>
              <a:t> </a:t>
            </a:r>
            <a:r>
              <a:rPr lang="en-US" dirty="0" err="1"/>
              <a:t>dưới</a:t>
            </a:r>
            <a:r>
              <a:rPr lang="en-US" dirty="0"/>
              <a:t> </a:t>
            </a:r>
            <a:r>
              <a:rPr lang="en-US" dirty="0" err="1"/>
              <a:t>dạng</a:t>
            </a:r>
            <a:r>
              <a:rPr lang="en-US" dirty="0"/>
              <a:t> </a:t>
            </a:r>
            <a:r>
              <a:rPr lang="en-US" dirty="0" err="1"/>
              <a:t>vec</a:t>
            </a:r>
            <a:r>
              <a:rPr lang="en-US" dirty="0"/>
              <a:t> </a:t>
            </a:r>
            <a:r>
              <a:rPr lang="en-US" dirty="0" err="1"/>
              <a:t>tơ</a:t>
            </a:r>
            <a:r>
              <a:rPr lang="en-US" dirty="0"/>
              <a:t> is quay </a:t>
            </a:r>
            <a:r>
              <a:rPr lang="en-US" dirty="0" err="1"/>
              <a:t>trên</a:t>
            </a:r>
            <a:r>
              <a:rPr lang="en-US" dirty="0"/>
              <a:t> </a:t>
            </a:r>
            <a:r>
              <a:rPr lang="en-US" dirty="0" err="1"/>
              <a:t>không</a:t>
            </a:r>
            <a:r>
              <a:rPr lang="en-US" dirty="0"/>
              <a:t> </a:t>
            </a:r>
            <a:r>
              <a:rPr lang="en-US" dirty="0" err="1"/>
              <a:t>gian</a:t>
            </a:r>
            <a:r>
              <a:rPr lang="en-US" dirty="0"/>
              <a:t> </a:t>
            </a:r>
            <a:r>
              <a:rPr lang="en-US" dirty="0" err="1"/>
              <a:t>với</a:t>
            </a:r>
            <a:r>
              <a:rPr lang="en-US" dirty="0"/>
              <a:t> </a:t>
            </a:r>
            <a:r>
              <a:rPr lang="en-US" dirty="0" err="1"/>
              <a:t>tần</a:t>
            </a:r>
            <a:r>
              <a:rPr lang="en-US" dirty="0"/>
              <a:t> </a:t>
            </a:r>
            <a:r>
              <a:rPr lang="en-US" dirty="0" err="1"/>
              <a:t>số</a:t>
            </a:r>
            <a:r>
              <a:rPr lang="en-US" dirty="0"/>
              <a:t> stator fs</a:t>
            </a:r>
          </a:p>
          <a:p>
            <a:r>
              <a:rPr lang="en-US" dirty="0" err="1"/>
              <a:t>Lúc</a:t>
            </a:r>
            <a:r>
              <a:rPr lang="en-US" dirty="0"/>
              <a:t> </a:t>
            </a:r>
            <a:r>
              <a:rPr lang="en-US" dirty="0" err="1"/>
              <a:t>này</a:t>
            </a:r>
            <a:r>
              <a:rPr lang="en-US" dirty="0"/>
              <a:t>, 3 </a:t>
            </a:r>
            <a:r>
              <a:rPr lang="en-US" dirty="0" err="1"/>
              <a:t>dòng</a:t>
            </a:r>
            <a:r>
              <a:rPr lang="en-US" dirty="0"/>
              <a:t> 3 </a:t>
            </a:r>
            <a:r>
              <a:rPr lang="en-US" dirty="0" err="1"/>
              <a:t>pha</a:t>
            </a:r>
            <a:r>
              <a:rPr lang="en-US" dirty="0"/>
              <a:t> </a:t>
            </a:r>
            <a:r>
              <a:rPr lang="en-US" dirty="0" err="1"/>
              <a:t>sẽ</a:t>
            </a:r>
            <a:r>
              <a:rPr lang="en-US" dirty="0"/>
              <a:t> </a:t>
            </a:r>
            <a:r>
              <a:rPr lang="en-US" dirty="0" err="1"/>
              <a:t>là</a:t>
            </a:r>
            <a:r>
              <a:rPr lang="en-US" dirty="0"/>
              <a:t> </a:t>
            </a:r>
            <a:r>
              <a:rPr lang="en-US" dirty="0" err="1"/>
              <a:t>hình</a:t>
            </a:r>
            <a:r>
              <a:rPr lang="en-US" dirty="0"/>
              <a:t> </a:t>
            </a:r>
            <a:r>
              <a:rPr lang="en-US" dirty="0" err="1"/>
              <a:t>chiếu</a:t>
            </a:r>
            <a:r>
              <a:rPr lang="en-US" dirty="0"/>
              <a:t> </a:t>
            </a:r>
            <a:r>
              <a:rPr lang="en-US" dirty="0" err="1"/>
              <a:t>của</a:t>
            </a:r>
            <a:r>
              <a:rPr lang="en-US" dirty="0"/>
              <a:t> is </a:t>
            </a:r>
            <a:r>
              <a:rPr lang="en-US" dirty="0" err="1"/>
              <a:t>xuống</a:t>
            </a:r>
            <a:r>
              <a:rPr lang="en-US" dirty="0"/>
              <a:t> </a:t>
            </a:r>
            <a:r>
              <a:rPr lang="en-US" dirty="0" err="1"/>
              <a:t>các</a:t>
            </a:r>
            <a:r>
              <a:rPr lang="en-US" dirty="0"/>
              <a:t> </a:t>
            </a:r>
            <a:r>
              <a:rPr lang="en-US" dirty="0" err="1"/>
              <a:t>trục</a:t>
            </a:r>
            <a:r>
              <a:rPr lang="en-US" dirty="0"/>
              <a:t> </a:t>
            </a:r>
            <a:r>
              <a:rPr lang="en-US" dirty="0" err="1"/>
              <a:t>tg</a:t>
            </a:r>
            <a:r>
              <a:rPr lang="en-US" dirty="0"/>
              <a:t> </a:t>
            </a:r>
            <a:r>
              <a:rPr lang="en-US" dirty="0" err="1"/>
              <a:t>ứng</a:t>
            </a:r>
            <a:r>
              <a:rPr lang="en-US" dirty="0"/>
              <a:t>.</a:t>
            </a:r>
          </a:p>
          <a:p>
            <a:r>
              <a:rPr lang="en-US" dirty="0" err="1"/>
              <a:t>Tg</a:t>
            </a:r>
            <a:r>
              <a:rPr lang="en-US" dirty="0"/>
              <a:t> </a:t>
            </a:r>
            <a:r>
              <a:rPr lang="en-US" dirty="0" err="1"/>
              <a:t>tự</a:t>
            </a:r>
            <a:r>
              <a:rPr lang="en-US" dirty="0"/>
              <a:t>, ta </a:t>
            </a:r>
            <a:r>
              <a:rPr lang="en-US" dirty="0" err="1"/>
              <a:t>có</a:t>
            </a:r>
            <a:r>
              <a:rPr lang="en-US" dirty="0"/>
              <a:t> </a:t>
            </a:r>
            <a:r>
              <a:rPr lang="en-US" dirty="0" err="1"/>
              <a:t>thể</a:t>
            </a:r>
            <a:r>
              <a:rPr lang="en-US" dirty="0"/>
              <a:t> </a:t>
            </a:r>
            <a:r>
              <a:rPr lang="en-US" dirty="0" err="1"/>
              <a:t>biểu</a:t>
            </a:r>
            <a:r>
              <a:rPr lang="en-US" dirty="0"/>
              <a:t> </a:t>
            </a:r>
            <a:r>
              <a:rPr lang="en-US" dirty="0" err="1"/>
              <a:t>diễn</a:t>
            </a:r>
            <a:r>
              <a:rPr lang="en-US" dirty="0"/>
              <a:t> </a:t>
            </a:r>
            <a:r>
              <a:rPr lang="en-US" dirty="0" err="1"/>
              <a:t>các</a:t>
            </a:r>
            <a:r>
              <a:rPr lang="en-US" dirty="0"/>
              <a:t> </a:t>
            </a:r>
            <a:r>
              <a:rPr lang="en-US" dirty="0" err="1"/>
              <a:t>đại</a:t>
            </a:r>
            <a:r>
              <a:rPr lang="en-US" dirty="0"/>
              <a:t> lg 3 </a:t>
            </a:r>
            <a:r>
              <a:rPr lang="en-US" dirty="0" err="1"/>
              <a:t>pha</a:t>
            </a:r>
            <a:r>
              <a:rPr lang="en-US" dirty="0"/>
              <a:t> </a:t>
            </a:r>
            <a:r>
              <a:rPr lang="en-US" dirty="0" err="1"/>
              <a:t>khác</a:t>
            </a:r>
            <a:r>
              <a:rPr lang="en-US" dirty="0"/>
              <a:t> </a:t>
            </a:r>
          </a:p>
        </p:txBody>
      </p:sp>
      <p:sp>
        <p:nvSpPr>
          <p:cNvPr id="4" name="Slide Number Placeholder 3"/>
          <p:cNvSpPr>
            <a:spLocks noGrp="1"/>
          </p:cNvSpPr>
          <p:nvPr>
            <p:ph type="sldNum" sz="quarter" idx="5"/>
          </p:nvPr>
        </p:nvSpPr>
        <p:spPr/>
        <p:txBody>
          <a:bodyPr/>
          <a:lstStyle/>
          <a:p>
            <a:fld id="{DD4AFBC8-1032-4A87-B406-5F344C04DCF6}" type="slidenum">
              <a:rPr lang="en-US" smtClean="0"/>
              <a:t>3</a:t>
            </a:fld>
            <a:endParaRPr lang="en-US"/>
          </a:p>
        </p:txBody>
      </p:sp>
    </p:spTree>
    <p:extLst>
      <p:ext uri="{BB962C8B-B14F-4D97-AF65-F5344CB8AC3E}">
        <p14:creationId xmlns:p14="http://schemas.microsoft.com/office/powerpoint/2010/main" val="39561871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2_Custom Layout">
    <p:spTree>
      <p:nvGrpSpPr>
        <p:cNvPr id="1" name=""/>
        <p:cNvGrpSpPr/>
        <p:nvPr/>
      </p:nvGrpSpPr>
      <p:grpSpPr>
        <a:xfrm>
          <a:off x="0" y="0"/>
          <a:ext cx="0" cy="0"/>
          <a:chOff x="0" y="0"/>
          <a:chExt cx="0" cy="0"/>
        </a:xfrm>
      </p:grpSpPr>
      <p:sp>
        <p:nvSpPr>
          <p:cNvPr id="20" name="Rectangle 19"/>
          <p:cNvSpPr/>
          <p:nvPr userDrawn="1"/>
        </p:nvSpPr>
        <p:spPr>
          <a:xfrm flipH="1">
            <a:off x="230949" y="1"/>
            <a:ext cx="593326" cy="585926"/>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19" name="Rectangle 18"/>
          <p:cNvSpPr/>
          <p:nvPr userDrawn="1"/>
        </p:nvSpPr>
        <p:spPr>
          <a:xfrm flipH="1">
            <a:off x="2151" y="37853"/>
            <a:ext cx="593326" cy="279606"/>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2" name="Title 1"/>
          <p:cNvSpPr>
            <a:spLocks noGrp="1"/>
          </p:cNvSpPr>
          <p:nvPr>
            <p:ph type="title"/>
          </p:nvPr>
        </p:nvSpPr>
        <p:spPr>
          <a:xfrm>
            <a:off x="1026861" y="149081"/>
            <a:ext cx="7090276" cy="540170"/>
          </a:xfrm>
        </p:spPr>
        <p:txBody>
          <a:bodyPr/>
          <a:lstStyle>
            <a:lvl1pPr algn="ctr">
              <a:defRPr>
                <a:solidFill>
                  <a:schemeClr val="accent1">
                    <a:lumMod val="50000"/>
                  </a:schemeClr>
                </a:solidFill>
              </a:defRPr>
            </a:lvl1pPr>
          </a:lstStyle>
          <a:p>
            <a:r>
              <a:rPr lang="en-US"/>
              <a:t>Click to edit Master title style</a:t>
            </a:r>
          </a:p>
        </p:txBody>
      </p:sp>
      <p:sp>
        <p:nvSpPr>
          <p:cNvPr id="13" name="Rectangle 12"/>
          <p:cNvSpPr/>
          <p:nvPr userDrawn="1"/>
        </p:nvSpPr>
        <p:spPr>
          <a:xfrm flipH="1">
            <a:off x="-3" y="3001"/>
            <a:ext cx="1044755" cy="6970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652290" y="20955"/>
            <a:ext cx="475167" cy="701040"/>
          </a:xfrm>
          <a:prstGeom prst="rect">
            <a:avLst/>
          </a:prstGeom>
        </p:spPr>
      </p:pic>
      <p:sp>
        <p:nvSpPr>
          <p:cNvPr id="26" name="Date Placeholder 3"/>
          <p:cNvSpPr>
            <a:spLocks noGrp="1"/>
          </p:cNvSpPr>
          <p:nvPr>
            <p:ph type="dt" sz="half" idx="2"/>
          </p:nvPr>
        </p:nvSpPr>
        <p:spPr>
          <a:xfrm>
            <a:off x="408372" y="6563365"/>
            <a:ext cx="2056698" cy="291030"/>
          </a:xfrm>
          <a:prstGeom prst="rect">
            <a:avLst/>
          </a:prstGeom>
        </p:spPr>
        <p:txBody>
          <a:bodyPr vert="horz" lIns="91440" tIns="45720" rIns="91440" bIns="45720" rtlCol="0" anchor="ctr"/>
          <a:lstStyle>
            <a:lvl1pPr algn="l">
              <a:defRPr sz="1050" b="1">
                <a:solidFill>
                  <a:schemeClr val="accent1">
                    <a:lumMod val="50000"/>
                  </a:schemeClr>
                </a:solidFill>
              </a:defRPr>
            </a:lvl1pPr>
          </a:lstStyle>
          <a:p>
            <a:fld id="{135DBA25-4FFD-4340-B7A2-38A9C9BE6135}" type="datetime1">
              <a:rPr lang="en-US" smtClean="0"/>
              <a:pPr/>
              <a:t>7/5/2023</a:t>
            </a:fld>
            <a:endParaRPr lang="en-US"/>
          </a:p>
        </p:txBody>
      </p:sp>
      <p:sp>
        <p:nvSpPr>
          <p:cNvPr id="17" name="Slide Number Placeholder 89"/>
          <p:cNvSpPr>
            <a:spLocks noGrp="1"/>
          </p:cNvSpPr>
          <p:nvPr>
            <p:ph type="sldNum" sz="quarter" idx="4"/>
          </p:nvPr>
        </p:nvSpPr>
        <p:spPr>
          <a:xfrm>
            <a:off x="8351186" y="6581397"/>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
        <p:nvSpPr>
          <p:cNvPr id="18" name="Rectangle 17"/>
          <p:cNvSpPr/>
          <p:nvPr userDrawn="1"/>
        </p:nvSpPr>
        <p:spPr>
          <a:xfrm>
            <a:off x="3767136" y="6554847"/>
            <a:ext cx="1609736" cy="323165"/>
          </a:xfrm>
          <a:prstGeom prst="rect">
            <a:avLst/>
          </a:prstGeom>
        </p:spPr>
        <p:txBody>
          <a:bodyPr wrap="none">
            <a:spAutoFit/>
          </a:bodyPr>
          <a:lstStyle/>
          <a:p>
            <a:pPr algn="ctr"/>
            <a:r>
              <a:rPr lang="en-US" sz="1500" b="1">
                <a:solidFill>
                  <a:schemeClr val="accent1">
                    <a:lumMod val="50000"/>
                  </a:schemeClr>
                </a:solidFill>
                <a:latin typeface="Bookman Old Style" panose="02050604050505020204" pitchFamily="18" charset="0"/>
              </a:rPr>
              <a:t>PELAB - HUST</a:t>
            </a:r>
          </a:p>
        </p:txBody>
      </p:sp>
      <p:cxnSp>
        <p:nvCxnSpPr>
          <p:cNvPr id="22" name="Straight Connector 21"/>
          <p:cNvCxnSpPr/>
          <p:nvPr userDrawn="1"/>
        </p:nvCxnSpPr>
        <p:spPr>
          <a:xfrm>
            <a:off x="628649" y="6563365"/>
            <a:ext cx="7955136" cy="18022"/>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userDrawn="1"/>
        </p:nvCxnSpPr>
        <p:spPr>
          <a:xfrm flipV="1">
            <a:off x="628654" y="836296"/>
            <a:ext cx="7886701" cy="5714"/>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92080494"/>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31899" y="961952"/>
            <a:ext cx="7280202" cy="2017372"/>
          </a:xfrm>
        </p:spPr>
        <p:txBody>
          <a:bodyPr/>
          <a:lstStyle>
            <a:lvl1pPr algn="l">
              <a:defRPr baseline="0">
                <a:solidFill>
                  <a:schemeClr val="accent1">
                    <a:lumMod val="50000"/>
                  </a:schemeClr>
                </a:solidFill>
              </a:defRPr>
            </a:lvl1pPr>
          </a:lstStyle>
          <a:p>
            <a:r>
              <a:rPr lang="en-US"/>
              <a:t>*Đề tài</a:t>
            </a:r>
          </a:p>
        </p:txBody>
      </p:sp>
      <p:pic>
        <p:nvPicPr>
          <p:cNvPr id="5" name="Picture 4"/>
          <p:cNvPicPr>
            <a:picLocks noChangeAspect="1"/>
          </p:cNvPicPr>
          <p:nvPr userDrawn="1"/>
        </p:nvPicPr>
        <p:blipFill rotWithShape="1">
          <a:blip r:embed="rId2"/>
          <a:srcRect l="36250" t="20667" r="40917" b="72222"/>
          <a:stretch/>
        </p:blipFill>
        <p:spPr>
          <a:xfrm>
            <a:off x="0" y="0"/>
            <a:ext cx="4523200" cy="792386"/>
          </a:xfrm>
          <a:prstGeom prst="rect">
            <a:avLst/>
          </a:prstGeom>
        </p:spPr>
      </p:pic>
      <p:cxnSp>
        <p:nvCxnSpPr>
          <p:cNvPr id="13" name="Straight Connector 12"/>
          <p:cNvCxnSpPr/>
          <p:nvPr userDrawn="1"/>
        </p:nvCxnSpPr>
        <p:spPr>
          <a:xfrm>
            <a:off x="618848" y="792396"/>
            <a:ext cx="7767342" cy="1379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9" name="Text Placeholder 18"/>
          <p:cNvSpPr>
            <a:spLocks noGrp="1"/>
          </p:cNvSpPr>
          <p:nvPr>
            <p:ph type="body" sz="quarter" idx="10" hasCustomPrompt="1"/>
          </p:nvPr>
        </p:nvSpPr>
        <p:spPr>
          <a:xfrm>
            <a:off x="931899" y="4332288"/>
            <a:ext cx="7280202" cy="1704528"/>
          </a:xfrm>
        </p:spPr>
        <p:txBody>
          <a:bodyPr>
            <a:noAutofit/>
          </a:bodyPr>
          <a:lstStyle>
            <a:lvl1pPr marL="0" indent="0">
              <a:buNone/>
              <a:defRPr sz="3200" b="1" baseline="0">
                <a:solidFill>
                  <a:schemeClr val="accent1">
                    <a:lumMod val="50000"/>
                  </a:schemeClr>
                </a:solidFill>
              </a:defRPr>
            </a:lvl1pPr>
            <a:lvl2pPr>
              <a:defRPr sz="2800" b="1">
                <a:solidFill>
                  <a:schemeClr val="bg1"/>
                </a:solidFill>
              </a:defRPr>
            </a:lvl2pPr>
            <a:lvl3pPr>
              <a:defRPr sz="2400" b="1">
                <a:solidFill>
                  <a:schemeClr val="bg1"/>
                </a:solidFill>
              </a:defRPr>
            </a:lvl3pPr>
            <a:lvl4pPr>
              <a:defRPr sz="2000" b="1">
                <a:solidFill>
                  <a:schemeClr val="bg1"/>
                </a:solidFill>
              </a:defRPr>
            </a:lvl4pPr>
            <a:lvl5pPr>
              <a:defRPr sz="2000" b="1">
                <a:solidFill>
                  <a:schemeClr val="bg1"/>
                </a:solidFill>
              </a:defRPr>
            </a:lvl5pPr>
          </a:lstStyle>
          <a:p>
            <a:pPr lvl="0"/>
            <a:r>
              <a:rPr lang="en-US"/>
              <a:t>*tác giả</a:t>
            </a:r>
          </a:p>
        </p:txBody>
      </p:sp>
      <p:sp>
        <p:nvSpPr>
          <p:cNvPr id="20" name="Rectangle 19"/>
          <p:cNvSpPr/>
          <p:nvPr userDrawn="1"/>
        </p:nvSpPr>
        <p:spPr>
          <a:xfrm>
            <a:off x="2663468" y="6411010"/>
            <a:ext cx="3817071" cy="400110"/>
          </a:xfrm>
          <a:prstGeom prst="rect">
            <a:avLst/>
          </a:prstGeom>
        </p:spPr>
        <p:txBody>
          <a:bodyPr wrap="none">
            <a:spAutoFit/>
          </a:bodyPr>
          <a:lstStyle/>
          <a:p>
            <a:r>
              <a:rPr lang="en-US" sz="2000" b="1">
                <a:solidFill>
                  <a:schemeClr val="accent1">
                    <a:lumMod val="50000"/>
                  </a:schemeClr>
                </a:solidFill>
                <a:latin typeface="Arial" panose="020B0604020202020204" pitchFamily="34" charset="0"/>
                <a:cs typeface="Arial" panose="020B0604020202020204" pitchFamily="34" charset="0"/>
              </a:rPr>
              <a:t>Power Electronics Laboratory</a:t>
            </a:r>
          </a:p>
        </p:txBody>
      </p:sp>
      <p:sp>
        <p:nvSpPr>
          <p:cNvPr id="3" name="Rectangle 2"/>
          <p:cNvSpPr/>
          <p:nvPr userDrawn="1"/>
        </p:nvSpPr>
        <p:spPr>
          <a:xfrm>
            <a:off x="81" y="6471847"/>
            <a:ext cx="9143920" cy="386163"/>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cxnSp>
        <p:nvCxnSpPr>
          <p:cNvPr id="17" name="Straight Connector 16"/>
          <p:cNvCxnSpPr/>
          <p:nvPr userDrawn="1"/>
        </p:nvCxnSpPr>
        <p:spPr>
          <a:xfrm>
            <a:off x="2787593" y="3877406"/>
            <a:ext cx="3568823" cy="0"/>
          </a:xfrm>
          <a:prstGeom prst="line">
            <a:avLst/>
          </a:prstGeom>
          <a:ln w="3175">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sp>
        <p:nvSpPr>
          <p:cNvPr id="4" name="Rectangle 3"/>
          <p:cNvSpPr/>
          <p:nvPr userDrawn="1"/>
        </p:nvSpPr>
        <p:spPr>
          <a:xfrm>
            <a:off x="885996" y="6495641"/>
            <a:ext cx="7592912" cy="338554"/>
          </a:xfrm>
          <a:prstGeom prst="rect">
            <a:avLst/>
          </a:prstGeom>
        </p:spPr>
        <p:txBody>
          <a:bodyPr wrap="none">
            <a:spAutoFit/>
          </a:bodyPr>
          <a:lstStyle/>
          <a:p>
            <a:r>
              <a:rPr lang="en-US" sz="1600" b="1">
                <a:solidFill>
                  <a:schemeClr val="bg1"/>
                </a:solidFill>
                <a:latin typeface="Arial" panose="020B0604020202020204" pitchFamily="34" charset="0"/>
                <a:cs typeface="Arial" panose="020B0604020202020204" pitchFamily="34" charset="0"/>
              </a:rPr>
              <a:t>Power Electronics Laboratory - Hanoi University of Science and Technology</a:t>
            </a:r>
          </a:p>
        </p:txBody>
      </p:sp>
    </p:spTree>
    <p:extLst>
      <p:ext uri="{BB962C8B-B14F-4D97-AF65-F5344CB8AC3E}">
        <p14:creationId xmlns:p14="http://schemas.microsoft.com/office/powerpoint/2010/main" val="599305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55590" y="949921"/>
            <a:ext cx="7432829" cy="4927107"/>
          </a:xfrm>
        </p:spPr>
        <p:txBody>
          <a:bodyPr/>
          <a:lstStyle>
            <a:lvl1pPr marL="0" indent="0" algn="ctr">
              <a:buNone/>
              <a:defRPr sz="2400">
                <a:solidFill>
                  <a:schemeClr val="accent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p:cNvSpPr>
            <a:spLocks noGrp="1"/>
          </p:cNvSpPr>
          <p:nvPr>
            <p:ph type="ftr" sz="quarter" idx="11"/>
          </p:nvPr>
        </p:nvSpPr>
        <p:spPr>
          <a:xfrm>
            <a:off x="3028949" y="6116695"/>
            <a:ext cx="3086100" cy="365125"/>
          </a:xfrm>
          <a:prstGeom prst="rect">
            <a:avLst/>
          </a:prstGeom>
        </p:spPr>
        <p:txBody>
          <a:bodyPr/>
          <a:lstStyle>
            <a:lvl1pPr>
              <a:defRPr>
                <a:solidFill>
                  <a:schemeClr val="accent1">
                    <a:lumMod val="50000"/>
                  </a:schemeClr>
                </a:solidFill>
              </a:defRPr>
            </a:lvl1pPr>
          </a:lstStyle>
          <a:p>
            <a:endParaRPr lang="en-US"/>
          </a:p>
        </p:txBody>
      </p:sp>
      <p:sp>
        <p:nvSpPr>
          <p:cNvPr id="15" name="Text Placeholder 14"/>
          <p:cNvSpPr>
            <a:spLocks noGrp="1"/>
          </p:cNvSpPr>
          <p:nvPr>
            <p:ph type="body" sz="quarter" idx="12" hasCustomPrompt="1"/>
          </p:nvPr>
        </p:nvSpPr>
        <p:spPr>
          <a:xfrm>
            <a:off x="216397"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7" name="Title 1"/>
          <p:cNvSpPr>
            <a:spLocks noGrp="1"/>
          </p:cNvSpPr>
          <p:nvPr>
            <p:ph type="title"/>
          </p:nvPr>
        </p:nvSpPr>
        <p:spPr>
          <a:xfrm>
            <a:off x="1148201" y="192437"/>
            <a:ext cx="6847596" cy="517807"/>
          </a:xfrm>
        </p:spPr>
        <p:txBody>
          <a:bodyPr/>
          <a:lstStyle>
            <a:lvl1pPr>
              <a:defRPr>
                <a:solidFill>
                  <a:schemeClr val="accent1">
                    <a:lumMod val="50000"/>
                  </a:schemeClr>
                </a:solidFill>
              </a:defRPr>
            </a:lvl1pPr>
          </a:lstStyle>
          <a:p>
            <a:r>
              <a:rPr lang="en-US"/>
              <a:t>Click to edit Master title style</a:t>
            </a:r>
          </a:p>
        </p:txBody>
      </p:sp>
      <p:sp>
        <p:nvSpPr>
          <p:cNvPr id="13" name="Date Placeholder 3"/>
          <p:cNvSpPr txBox="1">
            <a:spLocks/>
          </p:cNvSpPr>
          <p:nvPr userDrawn="1"/>
        </p:nvSpPr>
        <p:spPr>
          <a:xfrm>
            <a:off x="408372" y="6564639"/>
            <a:ext cx="2057400" cy="289765"/>
          </a:xfrm>
          <a:prstGeom prst="rect">
            <a:avLst/>
          </a:prstGeom>
        </p:spPr>
        <p:txBody>
          <a:bodyPr vert="horz" lIns="91440" tIns="45720" rIns="91440" bIns="45720" rtlCol="0" anchor="ctr"/>
          <a:lstStyle>
            <a:defPPr>
              <a:defRPr lang="en-US"/>
            </a:defPPr>
            <a:lvl1pPr marL="0" algn="l" defTabSz="914400" rtl="0" eaLnBrk="1" latinLnBrk="0" hangingPunct="1">
              <a:defRPr sz="1050" b="1"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35DBA25-4FFD-4340-B7A2-38A9C9BE6135}" type="datetime1">
              <a:rPr lang="en-US" sz="1050" smtClean="0">
                <a:solidFill>
                  <a:schemeClr val="accent1">
                    <a:lumMod val="50000"/>
                  </a:schemeClr>
                </a:solidFill>
              </a:rPr>
              <a:pPr/>
              <a:t>7/5/2023</a:t>
            </a:fld>
            <a:endParaRPr lang="en-US" sz="1050">
              <a:solidFill>
                <a:schemeClr val="accent1">
                  <a:lumMod val="50000"/>
                </a:schemeClr>
              </a:solidFill>
            </a:endParaRPr>
          </a:p>
        </p:txBody>
      </p:sp>
      <p:sp>
        <p:nvSpPr>
          <p:cNvPr id="8" name="Slide Number Placeholder 89"/>
          <p:cNvSpPr>
            <a:spLocks noGrp="1"/>
          </p:cNvSpPr>
          <p:nvPr>
            <p:ph type="sldNum" sz="quarter" idx="4"/>
          </p:nvPr>
        </p:nvSpPr>
        <p:spPr>
          <a:xfrm>
            <a:off x="8351186" y="6581397"/>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4223590467"/>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46662" y="913201"/>
            <a:ext cx="6847596" cy="1750871"/>
          </a:xfrm>
        </p:spPr>
        <p:txBody>
          <a:bodyPr/>
          <a:lstStyle>
            <a:lvl1pPr algn="ctr">
              <a:defRPr b="1">
                <a:solidFill>
                  <a:schemeClr val="accent1">
                    <a:lumMod val="50000"/>
                  </a:schemeClr>
                </a:solidFill>
                <a:latin typeface="Arial" panose="020B0604020202020204" pitchFamily="34" charset="0"/>
                <a:cs typeface="Arial" panose="020B0604020202020204" pitchFamily="34" charset="0"/>
              </a:defRPr>
            </a:lvl1pPr>
          </a:lstStyle>
          <a:p>
            <a:r>
              <a:rPr lang="en-US"/>
              <a:t>*thanks</a:t>
            </a:r>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41960" y="4546463"/>
            <a:ext cx="2288746" cy="904768"/>
          </a:xfrm>
          <a:prstGeom prst="rect">
            <a:avLst/>
          </a:prstGeom>
        </p:spPr>
      </p:pic>
      <p:pic>
        <p:nvPicPr>
          <p:cNvPr id="15" name="Picture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160883" y="3745523"/>
            <a:ext cx="2765199" cy="1705708"/>
          </a:xfrm>
          <a:prstGeom prst="rect">
            <a:avLst/>
          </a:prstGeom>
        </p:spPr>
      </p:pic>
      <p:pic>
        <p:nvPicPr>
          <p:cNvPr id="16" name="Picture 15"/>
          <p:cNvPicPr>
            <a:picLocks noChangeAspect="1"/>
          </p:cNvPicPr>
          <p:nvPr userDrawn="1"/>
        </p:nvPicPr>
        <p:blipFill rotWithShape="1">
          <a:blip r:embed="rId4"/>
          <a:srcRect l="36250" t="20667" r="40917" b="72222"/>
          <a:stretch/>
        </p:blipFill>
        <p:spPr>
          <a:xfrm>
            <a:off x="2176374" y="2664069"/>
            <a:ext cx="4523200" cy="792386"/>
          </a:xfrm>
          <a:prstGeom prst="rect">
            <a:avLst/>
          </a:prstGeom>
        </p:spPr>
      </p:pic>
      <p:pic>
        <p:nvPicPr>
          <p:cNvPr id="17" name="Picture 16"/>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6510592" y="4183390"/>
            <a:ext cx="2249977" cy="1250809"/>
          </a:xfrm>
          <a:prstGeom prst="rect">
            <a:avLst/>
          </a:prstGeom>
        </p:spPr>
      </p:pic>
      <p:sp>
        <p:nvSpPr>
          <p:cNvPr id="18" name="Rectangle 17"/>
          <p:cNvSpPr/>
          <p:nvPr userDrawn="1"/>
        </p:nvSpPr>
        <p:spPr>
          <a:xfrm>
            <a:off x="2663468" y="6411010"/>
            <a:ext cx="3817071" cy="400110"/>
          </a:xfrm>
          <a:prstGeom prst="rect">
            <a:avLst/>
          </a:prstGeom>
        </p:spPr>
        <p:txBody>
          <a:bodyPr wrap="none">
            <a:spAutoFit/>
          </a:bodyPr>
          <a:lstStyle/>
          <a:p>
            <a:r>
              <a:rPr lang="en-US" sz="2000" b="1">
                <a:solidFill>
                  <a:schemeClr val="accent1">
                    <a:lumMod val="50000"/>
                  </a:schemeClr>
                </a:solidFill>
                <a:latin typeface="Arial" panose="020B0604020202020204" pitchFamily="34" charset="0"/>
                <a:cs typeface="Arial" panose="020B0604020202020204" pitchFamily="34" charset="0"/>
              </a:rPr>
              <a:t>Power Electronics Laboratory</a:t>
            </a:r>
          </a:p>
        </p:txBody>
      </p:sp>
      <p:sp>
        <p:nvSpPr>
          <p:cNvPr id="19" name="Rectangle 18"/>
          <p:cNvSpPr/>
          <p:nvPr userDrawn="1"/>
        </p:nvSpPr>
        <p:spPr>
          <a:xfrm>
            <a:off x="81" y="6471847"/>
            <a:ext cx="9143920" cy="386163"/>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20" name="Rectangle 19"/>
          <p:cNvSpPr/>
          <p:nvPr userDrawn="1"/>
        </p:nvSpPr>
        <p:spPr>
          <a:xfrm>
            <a:off x="885995" y="6495641"/>
            <a:ext cx="7608173" cy="338554"/>
          </a:xfrm>
          <a:prstGeom prst="rect">
            <a:avLst/>
          </a:prstGeom>
        </p:spPr>
        <p:txBody>
          <a:bodyPr wrap="none">
            <a:spAutoFit/>
          </a:bodyPr>
          <a:lstStyle/>
          <a:p>
            <a:r>
              <a:rPr lang="en-US" sz="1600" b="1">
                <a:solidFill>
                  <a:schemeClr val="bg1"/>
                </a:solidFill>
                <a:latin typeface="Arial" panose="020B0604020202020204" pitchFamily="34" charset="0"/>
                <a:cs typeface="Arial" panose="020B0604020202020204" pitchFamily="34" charset="0"/>
              </a:rPr>
              <a:t>Power Electronics Laboratory - Hanoi University of Science and Technology</a:t>
            </a:r>
          </a:p>
        </p:txBody>
      </p:sp>
    </p:spTree>
    <p:extLst>
      <p:ext uri="{BB962C8B-B14F-4D97-AF65-F5344CB8AC3E}">
        <p14:creationId xmlns:p14="http://schemas.microsoft.com/office/powerpoint/2010/main" val="16634790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28650" y="1047569"/>
            <a:ext cx="7886700" cy="48537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0FBABEA-7F92-4A5F-A7F4-CAD45B55DFAB}" type="datetime1">
              <a:rPr lang="en-US" smtClean="0"/>
              <a:t>7/5/2023</a:t>
            </a:fld>
            <a:endParaRPr lang="en-US"/>
          </a:p>
        </p:txBody>
      </p:sp>
      <p:sp>
        <p:nvSpPr>
          <p:cNvPr id="5" name="Footer Placeholder 4"/>
          <p:cNvSpPr>
            <a:spLocks noGrp="1"/>
          </p:cNvSpPr>
          <p:nvPr>
            <p:ph type="ftr" sz="quarter" idx="11"/>
          </p:nvPr>
        </p:nvSpPr>
        <p:spPr>
          <a:xfrm>
            <a:off x="3028950" y="6356355"/>
            <a:ext cx="3086100" cy="365125"/>
          </a:xfrm>
          <a:prstGeom prst="rect">
            <a:avLst/>
          </a:prstGeom>
        </p:spPr>
        <p:txBody>
          <a:bodyPr/>
          <a:lstStyle/>
          <a:p>
            <a:endParaRPr lang="en-US"/>
          </a:p>
        </p:txBody>
      </p:sp>
      <p:sp>
        <p:nvSpPr>
          <p:cNvPr id="9"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tx1"/>
                </a:solidFill>
              </a:defRPr>
            </a:lvl1pPr>
          </a:lstStyle>
          <a:p>
            <a:pPr lvl="0"/>
            <a:r>
              <a:rPr lang="en-US"/>
              <a:t>*</a:t>
            </a:r>
          </a:p>
        </p:txBody>
      </p:sp>
      <p:sp>
        <p:nvSpPr>
          <p:cNvPr id="8"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rgbClr val="0070C0"/>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35320852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016104"/>
            <a:ext cx="7886700" cy="1966794"/>
          </a:xfrm>
        </p:spPr>
        <p:txBody>
          <a:bodyPr anchor="b"/>
          <a:lstStyle>
            <a:lvl1pPr>
              <a:defRPr sz="6000">
                <a:solidFill>
                  <a:schemeClr val="accent1">
                    <a:lumMod val="50000"/>
                  </a:schemeClr>
                </a:solidFill>
              </a:defRPr>
            </a:lvl1pPr>
          </a:lstStyle>
          <a:p>
            <a:r>
              <a:rPr lang="en-US"/>
              <a:t>Click to edit Master title style</a:t>
            </a:r>
          </a:p>
        </p:txBody>
      </p:sp>
      <p:sp>
        <p:nvSpPr>
          <p:cNvPr id="3" name="Text Placeholder 2"/>
          <p:cNvSpPr>
            <a:spLocks noGrp="1"/>
          </p:cNvSpPr>
          <p:nvPr>
            <p:ph type="body" idx="1"/>
          </p:nvPr>
        </p:nvSpPr>
        <p:spPr>
          <a:xfrm>
            <a:off x="623888" y="3124952"/>
            <a:ext cx="7886700" cy="2964711"/>
          </a:xfrm>
        </p:spPr>
        <p:txBody>
          <a:bodyPr/>
          <a:lstStyle>
            <a:lvl1pPr marL="0" indent="0">
              <a:buNone/>
              <a:defRPr sz="2400">
                <a:solidFill>
                  <a:schemeClr val="accent1">
                    <a:lumMod val="50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solidFill>
                  <a:schemeClr val="accent1">
                    <a:lumMod val="50000"/>
                  </a:schemeClr>
                </a:solidFill>
              </a:defRPr>
            </a:lvl1pPr>
          </a:lstStyle>
          <a:p>
            <a:fld id="{440F1F73-A024-4026-803C-DF30C7D2FCE5}" type="datetime1">
              <a:rPr lang="en-US" smtClean="0"/>
              <a:pPr/>
              <a:t>7/5/2023</a:t>
            </a:fld>
            <a:endParaRPr lang="en-US"/>
          </a:p>
        </p:txBody>
      </p:sp>
      <p:sp>
        <p:nvSpPr>
          <p:cNvPr id="5" name="Footer Placeholder 4"/>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8"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9" name="Slide Number Placeholder 89"/>
          <p:cNvSpPr>
            <a:spLocks noGrp="1"/>
          </p:cNvSpPr>
          <p:nvPr>
            <p:ph type="sldNum" sz="quarter" idx="4"/>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23184589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p>
        </p:txBody>
      </p:sp>
      <p:sp>
        <p:nvSpPr>
          <p:cNvPr id="3" name="Content Placeholder 2"/>
          <p:cNvSpPr>
            <a:spLocks noGrp="1"/>
          </p:cNvSpPr>
          <p:nvPr>
            <p:ph sz="half" idx="1"/>
          </p:nvPr>
        </p:nvSpPr>
        <p:spPr>
          <a:xfrm>
            <a:off x="628650" y="976548"/>
            <a:ext cx="3886200" cy="5200419"/>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976548"/>
            <a:ext cx="3886200" cy="5200419"/>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solidFill>
                  <a:schemeClr val="accent1">
                    <a:lumMod val="50000"/>
                  </a:schemeClr>
                </a:solidFill>
              </a:defRPr>
            </a:lvl1pPr>
          </a:lstStyle>
          <a:p>
            <a:fld id="{E2DB446F-AF4D-4867-B15A-B2033E5C2598}" type="datetime1">
              <a:rPr lang="en-US" smtClean="0"/>
              <a:pPr/>
              <a:t>7/5/2023</a:t>
            </a:fld>
            <a:endParaRPr lang="en-US"/>
          </a:p>
        </p:txBody>
      </p:sp>
      <p:sp>
        <p:nvSpPr>
          <p:cNvPr id="6" name="Footer Placeholder 5"/>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9"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0"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2139200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p>
        </p:txBody>
      </p:sp>
      <p:sp>
        <p:nvSpPr>
          <p:cNvPr id="3" name="Date Placeholder 2"/>
          <p:cNvSpPr>
            <a:spLocks noGrp="1"/>
          </p:cNvSpPr>
          <p:nvPr>
            <p:ph type="dt" sz="half" idx="10"/>
          </p:nvPr>
        </p:nvSpPr>
        <p:spPr/>
        <p:txBody>
          <a:bodyPr/>
          <a:lstStyle>
            <a:lvl1pPr>
              <a:defRPr>
                <a:solidFill>
                  <a:schemeClr val="accent1">
                    <a:lumMod val="50000"/>
                  </a:schemeClr>
                </a:solidFill>
              </a:defRPr>
            </a:lvl1pPr>
          </a:lstStyle>
          <a:p>
            <a:fld id="{508DB304-3D18-4F3E-9F5A-B9ABEABF4ADF}" type="datetime1">
              <a:rPr lang="en-US" smtClean="0"/>
              <a:pPr/>
              <a:t>7/5/2023</a:t>
            </a:fld>
            <a:endParaRPr lang="en-US"/>
          </a:p>
        </p:txBody>
      </p:sp>
      <p:sp>
        <p:nvSpPr>
          <p:cNvPr id="4" name="Footer Placeholder 3"/>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6"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606752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solidFill>
                  <a:schemeClr val="accent1">
                    <a:lumMod val="50000"/>
                  </a:schemeClr>
                </a:solidFill>
              </a:defRPr>
            </a:lvl1pPr>
          </a:lstStyle>
          <a:p>
            <a:fld id="{A39E19FC-FEA0-40FD-A81B-CBA85A279715}" type="datetime1">
              <a:rPr lang="en-US" smtClean="0"/>
              <a:pPr/>
              <a:t>7/5/2023</a:t>
            </a:fld>
            <a:endParaRPr lang="en-US"/>
          </a:p>
        </p:txBody>
      </p:sp>
      <p:sp>
        <p:nvSpPr>
          <p:cNvPr id="3" name="Footer Placeholder 2"/>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5"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7960823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994311"/>
            <a:ext cx="3868340" cy="514905"/>
          </a:xfrm>
        </p:spPr>
        <p:txBody>
          <a:bodyPr anchor="b"/>
          <a:lstStyle>
            <a:lvl1pPr marL="0" indent="0">
              <a:buNone/>
              <a:defRPr sz="2400" b="1">
                <a:solidFill>
                  <a:schemeClr val="accent1">
                    <a:lumMod val="5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4" name="Content Placeholder 3"/>
          <p:cNvSpPr>
            <a:spLocks noGrp="1"/>
          </p:cNvSpPr>
          <p:nvPr>
            <p:ph sz="half" idx="2"/>
          </p:nvPr>
        </p:nvSpPr>
        <p:spPr>
          <a:xfrm>
            <a:off x="629842" y="1589103"/>
            <a:ext cx="3868340" cy="4600560"/>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2" y="994311"/>
            <a:ext cx="3887391" cy="514905"/>
          </a:xfrm>
        </p:spPr>
        <p:txBody>
          <a:bodyPr anchor="b"/>
          <a:lstStyle>
            <a:lvl1pPr marL="0" indent="0">
              <a:buNone/>
              <a:defRPr sz="2400" b="1">
                <a:solidFill>
                  <a:schemeClr val="accent1">
                    <a:lumMod val="5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Edit Master text styles</a:t>
            </a:r>
          </a:p>
        </p:txBody>
      </p:sp>
      <p:sp>
        <p:nvSpPr>
          <p:cNvPr id="6" name="Content Placeholder 5"/>
          <p:cNvSpPr>
            <a:spLocks noGrp="1"/>
          </p:cNvSpPr>
          <p:nvPr>
            <p:ph sz="quarter" idx="4"/>
          </p:nvPr>
        </p:nvSpPr>
        <p:spPr>
          <a:xfrm>
            <a:off x="4629152" y="1589103"/>
            <a:ext cx="3887391" cy="4600560"/>
          </a:xfrm>
        </p:spPr>
        <p:txBody>
          <a:bodyPr/>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solidFill>
                  <a:schemeClr val="accent1">
                    <a:lumMod val="50000"/>
                  </a:schemeClr>
                </a:solidFill>
              </a:defRPr>
            </a:lvl1pPr>
          </a:lstStyle>
          <a:p>
            <a:fld id="{07B62657-2BE6-417E-B8B2-7AEF7629E126}" type="datetime1">
              <a:rPr lang="en-US" smtClean="0"/>
              <a:pPr/>
              <a:t>7/5/2023</a:t>
            </a:fld>
            <a:endParaRPr lang="en-US"/>
          </a:p>
        </p:txBody>
      </p:sp>
      <p:sp>
        <p:nvSpPr>
          <p:cNvPr id="8" name="Footer Placeholder 7"/>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12" name="Title 1"/>
          <p:cNvSpPr>
            <a:spLocks noGrp="1"/>
          </p:cNvSpPr>
          <p:nvPr>
            <p:ph type="title"/>
          </p:nvPr>
        </p:nvSpPr>
        <p:spPr>
          <a:xfrm>
            <a:off x="1148202" y="173303"/>
            <a:ext cx="6847596" cy="517807"/>
          </a:xfrm>
        </p:spPr>
        <p:txBody>
          <a:bodyPr/>
          <a:lstStyle>
            <a:lvl1pPr>
              <a:defRPr>
                <a:solidFill>
                  <a:schemeClr val="accent1">
                    <a:lumMod val="50000"/>
                  </a:schemeClr>
                </a:solidFill>
              </a:defRPr>
            </a:lvl1pPr>
          </a:lstStyle>
          <a:p>
            <a:r>
              <a:rPr lang="en-US"/>
              <a:t>Click to edit Master title style</a:t>
            </a:r>
          </a:p>
        </p:txBody>
      </p:sp>
      <p:sp>
        <p:nvSpPr>
          <p:cNvPr id="11"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3" name="Slide Number Placeholder 89"/>
          <p:cNvSpPr>
            <a:spLocks noGrp="1"/>
          </p:cNvSpPr>
          <p:nvPr>
            <p:ph type="sldNum" sz="quarter" idx="13"/>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27062062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987437"/>
            <a:ext cx="2949178" cy="1311891"/>
          </a:xfrm>
        </p:spPr>
        <p:txBody>
          <a:bodyPr anchor="b"/>
          <a:lstStyle>
            <a:lvl1pPr>
              <a:defRPr sz="3200">
                <a:solidFill>
                  <a:schemeClr val="accent1">
                    <a:lumMod val="50000"/>
                  </a:schemeClr>
                </a:solidFill>
              </a:defRPr>
            </a:lvl1pPr>
          </a:lstStyle>
          <a:p>
            <a:r>
              <a:rPr lang="en-US"/>
              <a:t>Click to edit Master title style</a:t>
            </a:r>
          </a:p>
        </p:txBody>
      </p:sp>
      <p:sp>
        <p:nvSpPr>
          <p:cNvPr id="3" name="Content Placeholder 2"/>
          <p:cNvSpPr>
            <a:spLocks noGrp="1"/>
          </p:cNvSpPr>
          <p:nvPr>
            <p:ph idx="1"/>
          </p:nvPr>
        </p:nvSpPr>
        <p:spPr>
          <a:xfrm>
            <a:off x="3887391" y="987438"/>
            <a:ext cx="4629150" cy="4873625"/>
          </a:xfrm>
        </p:spPr>
        <p:txBody>
          <a:bodyPr/>
          <a:lstStyle>
            <a:lvl1pPr>
              <a:defRPr sz="3200">
                <a:solidFill>
                  <a:schemeClr val="accent1">
                    <a:lumMod val="50000"/>
                  </a:schemeClr>
                </a:solidFill>
              </a:defRPr>
            </a:lvl1pPr>
            <a:lvl2pPr>
              <a:defRPr sz="2800">
                <a:solidFill>
                  <a:schemeClr val="accent1">
                    <a:lumMod val="50000"/>
                  </a:schemeClr>
                </a:solidFill>
              </a:defRPr>
            </a:lvl2pPr>
            <a:lvl3pPr>
              <a:defRPr sz="2400">
                <a:solidFill>
                  <a:schemeClr val="accent1">
                    <a:lumMod val="50000"/>
                  </a:schemeClr>
                </a:solidFill>
              </a:defRPr>
            </a:lvl3pPr>
            <a:lvl4pPr>
              <a:defRPr sz="2000">
                <a:solidFill>
                  <a:schemeClr val="accent1">
                    <a:lumMod val="50000"/>
                  </a:schemeClr>
                </a:solidFill>
              </a:defRPr>
            </a:lvl4pPr>
            <a:lvl5pPr>
              <a:defRPr sz="2000">
                <a:solidFill>
                  <a:schemeClr val="accent1">
                    <a:lumMod val="50000"/>
                  </a:schemeClr>
                </a:solidFill>
              </a:defRPr>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387278"/>
            <a:ext cx="2949178" cy="3481710"/>
          </a:xfrm>
        </p:spPr>
        <p:txBody>
          <a:bodyPr/>
          <a:lstStyle>
            <a:lvl1pPr marL="0" indent="0">
              <a:buNone/>
              <a:defRPr sz="1600">
                <a:solidFill>
                  <a:schemeClr val="accent1">
                    <a:lumMod val="50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50000"/>
                  </a:schemeClr>
                </a:solidFill>
              </a:defRPr>
            </a:lvl1pPr>
          </a:lstStyle>
          <a:p>
            <a:fld id="{52C4CDD5-8CD6-4B78-B2CE-4843C1C93473}" type="datetime1">
              <a:rPr lang="en-US" smtClean="0"/>
              <a:pPr/>
              <a:t>7/5/2023</a:t>
            </a:fld>
            <a:endParaRPr lang="en-US"/>
          </a:p>
        </p:txBody>
      </p:sp>
      <p:sp>
        <p:nvSpPr>
          <p:cNvPr id="6" name="Footer Placeholder 5"/>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9"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0" name="Slide Number Placeholder 89"/>
          <p:cNvSpPr>
            <a:spLocks noGrp="1"/>
          </p:cNvSpPr>
          <p:nvPr>
            <p:ph type="sldNum" sz="quarter" idx="4"/>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32499718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4651" y="987438"/>
            <a:ext cx="2949178" cy="1407111"/>
          </a:xfrm>
        </p:spPr>
        <p:txBody>
          <a:bodyPr anchor="b"/>
          <a:lstStyle>
            <a:lvl1pPr>
              <a:defRPr sz="3200">
                <a:solidFill>
                  <a:schemeClr val="accent1">
                    <a:lumMod val="50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3887391" y="987438"/>
            <a:ext cx="4629150" cy="4873625"/>
          </a:xfrm>
        </p:spPr>
        <p:txBody>
          <a:bodyPr anchor="t"/>
          <a:lstStyle>
            <a:lvl1pPr marL="0" indent="0">
              <a:buNone/>
              <a:defRPr sz="3200">
                <a:solidFill>
                  <a:schemeClr val="accent1">
                    <a:lumMod val="50000"/>
                  </a:schemeClr>
                </a:solidFill>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p>
        </p:txBody>
      </p:sp>
      <p:sp>
        <p:nvSpPr>
          <p:cNvPr id="4" name="Text Placeholder 3"/>
          <p:cNvSpPr>
            <a:spLocks noGrp="1"/>
          </p:cNvSpPr>
          <p:nvPr>
            <p:ph type="body" sz="half" idx="2"/>
          </p:nvPr>
        </p:nvSpPr>
        <p:spPr>
          <a:xfrm>
            <a:off x="629841" y="2556780"/>
            <a:ext cx="2949178" cy="3312219"/>
          </a:xfrm>
        </p:spPr>
        <p:txBody>
          <a:bodyPr/>
          <a:lstStyle>
            <a:lvl1pPr marL="0" indent="0">
              <a:buNone/>
              <a:defRPr sz="1600">
                <a:solidFill>
                  <a:schemeClr val="accent1">
                    <a:lumMod val="50000"/>
                  </a:schemeClr>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lvl1pPr>
              <a:defRPr>
                <a:solidFill>
                  <a:schemeClr val="accent1">
                    <a:lumMod val="50000"/>
                  </a:schemeClr>
                </a:solidFill>
              </a:defRPr>
            </a:lvl1pPr>
          </a:lstStyle>
          <a:p>
            <a:fld id="{D8D741C3-1727-4BFF-BB11-68E70CACA2B6}" type="datetime1">
              <a:rPr lang="en-US" smtClean="0"/>
              <a:pPr/>
              <a:t>7/5/2023</a:t>
            </a:fld>
            <a:endParaRPr lang="en-US"/>
          </a:p>
        </p:txBody>
      </p:sp>
      <p:sp>
        <p:nvSpPr>
          <p:cNvPr id="6" name="Footer Placeholder 5"/>
          <p:cNvSpPr>
            <a:spLocks noGrp="1"/>
          </p:cNvSpPr>
          <p:nvPr>
            <p:ph type="ftr" sz="quarter" idx="11"/>
          </p:nvPr>
        </p:nvSpPr>
        <p:spPr>
          <a:xfrm>
            <a:off x="3028950" y="6356363"/>
            <a:ext cx="3086100" cy="365125"/>
          </a:xfrm>
          <a:prstGeom prst="rect">
            <a:avLst/>
          </a:prstGeom>
        </p:spPr>
        <p:txBody>
          <a:bodyPr/>
          <a:lstStyle>
            <a:lvl1pPr>
              <a:defRPr>
                <a:solidFill>
                  <a:schemeClr val="accent1">
                    <a:lumMod val="50000"/>
                  </a:schemeClr>
                </a:solidFill>
              </a:defRPr>
            </a:lvl1pPr>
          </a:lstStyle>
          <a:p>
            <a:endParaRPr lang="en-US"/>
          </a:p>
        </p:txBody>
      </p:sp>
      <p:sp>
        <p:nvSpPr>
          <p:cNvPr id="9" name="Text Placeholder 14"/>
          <p:cNvSpPr>
            <a:spLocks noGrp="1"/>
          </p:cNvSpPr>
          <p:nvPr>
            <p:ph type="body" sz="quarter" idx="12" hasCustomPrompt="1"/>
          </p:nvPr>
        </p:nvSpPr>
        <p:spPr>
          <a:xfrm>
            <a:off x="216398"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10" name="Slide Number Placeholder 89"/>
          <p:cNvSpPr>
            <a:spLocks noGrp="1"/>
          </p:cNvSpPr>
          <p:nvPr>
            <p:ph type="sldNum" sz="quarter" idx="4"/>
          </p:nvPr>
        </p:nvSpPr>
        <p:spPr>
          <a:xfrm>
            <a:off x="8351186" y="6581399"/>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353007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p>
        </p:txBody>
      </p:sp>
      <p:sp>
        <p:nvSpPr>
          <p:cNvPr id="3" name="Vertical Text Placeholder 2"/>
          <p:cNvSpPr>
            <a:spLocks noGrp="1"/>
          </p:cNvSpPr>
          <p:nvPr>
            <p:ph type="body" orient="vert" idx="1"/>
          </p:nvPr>
        </p:nvSpPr>
        <p:spPr>
          <a:xfrm>
            <a:off x="628650" y="994303"/>
            <a:ext cx="7886700" cy="4906967"/>
          </a:xfrm>
        </p:spPr>
        <p:txBody>
          <a:bodyPr vert="eaVert"/>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accent1">
                    <a:lumMod val="50000"/>
                  </a:schemeClr>
                </a:solidFill>
              </a:defRPr>
            </a:lvl1pPr>
          </a:lstStyle>
          <a:p>
            <a:fld id="{D9794E9D-4109-423B-A7A2-69A3F8AE46BF}" type="datetime1">
              <a:rPr lang="en-US" smtClean="0"/>
              <a:pPr/>
              <a:t>7/5/2023</a:t>
            </a:fld>
            <a:endParaRPr lang="en-US"/>
          </a:p>
        </p:txBody>
      </p:sp>
      <p:sp>
        <p:nvSpPr>
          <p:cNvPr id="5" name="Footer Placeholder 4"/>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8"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9"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927203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1127463"/>
            <a:ext cx="1971675" cy="5049500"/>
          </a:xfrm>
        </p:spPr>
        <p:txBody>
          <a:bodyPr vert="eaVert"/>
          <a:lstStyle>
            <a:lvl1pPr>
              <a:defRPr>
                <a:solidFill>
                  <a:schemeClr val="accent1">
                    <a:lumMod val="50000"/>
                  </a:schemeClr>
                </a:solidFill>
              </a:defRPr>
            </a:lvl1pPr>
          </a:lstStyle>
          <a:p>
            <a:r>
              <a:rPr lang="en-US"/>
              <a:t>Click to edit Master title style</a:t>
            </a:r>
          </a:p>
        </p:txBody>
      </p:sp>
      <p:sp>
        <p:nvSpPr>
          <p:cNvPr id="3" name="Vertical Text Placeholder 2"/>
          <p:cNvSpPr>
            <a:spLocks noGrp="1"/>
          </p:cNvSpPr>
          <p:nvPr>
            <p:ph type="body" orient="vert" idx="1"/>
          </p:nvPr>
        </p:nvSpPr>
        <p:spPr>
          <a:xfrm>
            <a:off x="628652" y="1127467"/>
            <a:ext cx="5800725" cy="5049499"/>
          </a:xfrm>
        </p:spPr>
        <p:txBody>
          <a:bodyPr vert="eaVert"/>
          <a:lstStyle>
            <a:lvl1pPr>
              <a:defRPr>
                <a:solidFill>
                  <a:schemeClr val="accent1">
                    <a:lumMod val="50000"/>
                  </a:schemeClr>
                </a:solidFill>
              </a:defRPr>
            </a:lvl1pPr>
            <a:lvl2pPr>
              <a:defRPr>
                <a:solidFill>
                  <a:schemeClr val="accent1">
                    <a:lumMod val="50000"/>
                  </a:schemeClr>
                </a:solidFill>
              </a:defRPr>
            </a:lvl2pPr>
            <a:lvl3pPr>
              <a:defRPr>
                <a:solidFill>
                  <a:schemeClr val="accent1">
                    <a:lumMod val="50000"/>
                  </a:schemeClr>
                </a:solidFill>
              </a:defRPr>
            </a:lvl3pPr>
            <a:lvl4pPr>
              <a:defRPr>
                <a:solidFill>
                  <a:schemeClr val="accent1">
                    <a:lumMod val="50000"/>
                  </a:schemeClr>
                </a:solidFill>
              </a:defRPr>
            </a:lvl4pPr>
            <a:lvl5pPr>
              <a:defRPr>
                <a:solidFill>
                  <a:schemeClr val="accent1">
                    <a:lumMod val="50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solidFill>
                  <a:schemeClr val="accent1">
                    <a:lumMod val="50000"/>
                  </a:schemeClr>
                </a:solidFill>
              </a:defRPr>
            </a:lvl1pPr>
          </a:lstStyle>
          <a:p>
            <a:fld id="{EF8EB693-CE54-4852-ADCC-B952CA8C0FE2}" type="datetime1">
              <a:rPr lang="en-US" smtClean="0"/>
              <a:pPr/>
              <a:t>7/5/2023</a:t>
            </a:fld>
            <a:endParaRPr lang="en-US"/>
          </a:p>
        </p:txBody>
      </p:sp>
      <p:sp>
        <p:nvSpPr>
          <p:cNvPr id="5" name="Footer Placeholder 4"/>
          <p:cNvSpPr>
            <a:spLocks noGrp="1"/>
          </p:cNvSpPr>
          <p:nvPr>
            <p:ph type="ftr" sz="quarter" idx="11"/>
          </p:nvPr>
        </p:nvSpPr>
        <p:spPr>
          <a:xfrm>
            <a:off x="3028950" y="6356355"/>
            <a:ext cx="3086100" cy="365125"/>
          </a:xfrm>
          <a:prstGeom prst="rect">
            <a:avLst/>
          </a:prstGeom>
        </p:spPr>
        <p:txBody>
          <a:bodyPr/>
          <a:lstStyle>
            <a:lvl1pPr>
              <a:defRPr>
                <a:solidFill>
                  <a:schemeClr val="accent1">
                    <a:lumMod val="50000"/>
                  </a:schemeClr>
                </a:solidFill>
              </a:defRPr>
            </a:lvl1pPr>
          </a:lstStyle>
          <a:p>
            <a:endParaRPr lang="en-US"/>
          </a:p>
        </p:txBody>
      </p:sp>
      <p:sp>
        <p:nvSpPr>
          <p:cNvPr id="8" name="Text Placeholder 14"/>
          <p:cNvSpPr>
            <a:spLocks noGrp="1"/>
          </p:cNvSpPr>
          <p:nvPr>
            <p:ph type="body" sz="quarter" idx="12" hasCustomPrompt="1"/>
          </p:nvPr>
        </p:nvSpPr>
        <p:spPr>
          <a:xfrm>
            <a:off x="216394" y="86636"/>
            <a:ext cx="639193" cy="556320"/>
          </a:xfrm>
        </p:spPr>
        <p:txBody>
          <a:bodyPr>
            <a:noAutofit/>
          </a:bodyPr>
          <a:lstStyle>
            <a:lvl1pPr marL="0" indent="0" algn="ctr">
              <a:buNone/>
              <a:defRPr sz="4000" b="1">
                <a:solidFill>
                  <a:schemeClr val="accent1">
                    <a:lumMod val="50000"/>
                  </a:schemeClr>
                </a:solidFill>
              </a:defRPr>
            </a:lvl1pPr>
          </a:lstStyle>
          <a:p>
            <a:pPr lvl="0"/>
            <a:r>
              <a:rPr lang="en-US"/>
              <a:t>*</a:t>
            </a:r>
          </a:p>
        </p:txBody>
      </p:sp>
      <p:sp>
        <p:nvSpPr>
          <p:cNvPr id="9" name="Slide Number Placeholder 89"/>
          <p:cNvSpPr>
            <a:spLocks noGrp="1"/>
          </p:cNvSpPr>
          <p:nvPr>
            <p:ph type="sldNum" sz="quarter" idx="4"/>
          </p:nvPr>
        </p:nvSpPr>
        <p:spPr>
          <a:xfrm>
            <a:off x="8351186" y="6581391"/>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Tree>
    <p:extLst>
      <p:ext uri="{BB962C8B-B14F-4D97-AF65-F5344CB8AC3E}">
        <p14:creationId xmlns:p14="http://schemas.microsoft.com/office/powerpoint/2010/main" val="105167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120701" y="10"/>
            <a:ext cx="206493" cy="685039"/>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cxnSp>
        <p:nvCxnSpPr>
          <p:cNvPr id="12" name="Straight Connector 11"/>
          <p:cNvCxnSpPr/>
          <p:nvPr userDrawn="1"/>
        </p:nvCxnSpPr>
        <p:spPr>
          <a:xfrm>
            <a:off x="745725" y="836305"/>
            <a:ext cx="7769626" cy="1"/>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Rectangle 5"/>
          <p:cNvSpPr/>
          <p:nvPr userDrawn="1"/>
        </p:nvSpPr>
        <p:spPr>
          <a:xfrm>
            <a:off x="541538" y="94045"/>
            <a:ext cx="363681" cy="762786"/>
          </a:xfrm>
          <a:prstGeom prst="rect">
            <a:avLst/>
          </a:prstGeom>
          <a:solidFill>
            <a:schemeClr val="accent6">
              <a:lumMod val="60000"/>
              <a:lumOff val="40000"/>
            </a:schemeClr>
          </a:solidFill>
          <a:ln>
            <a:solidFill>
              <a:schemeClr val="accent6">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sp>
        <p:nvSpPr>
          <p:cNvPr id="2" name="Title Placeholder 1"/>
          <p:cNvSpPr>
            <a:spLocks noGrp="1"/>
          </p:cNvSpPr>
          <p:nvPr>
            <p:ph type="title"/>
          </p:nvPr>
        </p:nvSpPr>
        <p:spPr>
          <a:xfrm>
            <a:off x="1148202" y="166618"/>
            <a:ext cx="6847596" cy="517807"/>
          </a:xfrm>
          <a:prstGeom prst="rect">
            <a:avLst/>
          </a:prstGeom>
        </p:spPr>
        <p:txBody>
          <a:bodyPr vert="horz" lIns="91440" tIns="45720" rIns="91440" bIns="45720" rtlCol="0" anchor="ctr">
            <a:noAutofit/>
          </a:bodyPr>
          <a:lstStyle/>
          <a:p>
            <a:r>
              <a:rPr lang="en-US"/>
              <a:t>Click to edit Master title style</a:t>
            </a:r>
          </a:p>
        </p:txBody>
      </p:sp>
      <p:sp>
        <p:nvSpPr>
          <p:cNvPr id="3" name="Text Placeholder 2"/>
          <p:cNvSpPr>
            <a:spLocks noGrp="1"/>
          </p:cNvSpPr>
          <p:nvPr>
            <p:ph type="body" idx="1"/>
          </p:nvPr>
        </p:nvSpPr>
        <p:spPr>
          <a:xfrm>
            <a:off x="628650" y="1046479"/>
            <a:ext cx="7886700" cy="534447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08372" y="6563365"/>
            <a:ext cx="2057400" cy="291030"/>
          </a:xfrm>
          <a:prstGeom prst="rect">
            <a:avLst/>
          </a:prstGeom>
        </p:spPr>
        <p:txBody>
          <a:bodyPr vert="horz" lIns="91440" tIns="45720" rIns="91440" bIns="45720" rtlCol="0" anchor="ctr"/>
          <a:lstStyle>
            <a:lvl1pPr algn="l">
              <a:defRPr sz="1050" b="1">
                <a:solidFill>
                  <a:schemeClr val="accent1">
                    <a:lumMod val="50000"/>
                  </a:schemeClr>
                </a:solidFill>
              </a:defRPr>
            </a:lvl1pPr>
          </a:lstStyle>
          <a:p>
            <a:fld id="{135DBA25-4FFD-4340-B7A2-38A9C9BE6135}" type="datetime1">
              <a:rPr lang="en-US" smtClean="0"/>
              <a:pPr/>
              <a:t>7/5/2023</a:t>
            </a:fld>
            <a:endParaRPr lang="en-US"/>
          </a:p>
        </p:txBody>
      </p:sp>
      <p:sp>
        <p:nvSpPr>
          <p:cNvPr id="8" name="Rectangle 7"/>
          <p:cNvSpPr/>
          <p:nvPr userDrawn="1"/>
        </p:nvSpPr>
        <p:spPr>
          <a:xfrm>
            <a:off x="3767136" y="6554847"/>
            <a:ext cx="1609736" cy="323165"/>
          </a:xfrm>
          <a:prstGeom prst="rect">
            <a:avLst/>
          </a:prstGeom>
        </p:spPr>
        <p:txBody>
          <a:bodyPr wrap="none">
            <a:spAutoFit/>
          </a:bodyPr>
          <a:lstStyle/>
          <a:p>
            <a:pPr algn="ctr"/>
            <a:r>
              <a:rPr lang="en-US" sz="1500" b="1">
                <a:solidFill>
                  <a:schemeClr val="accent1">
                    <a:lumMod val="50000"/>
                  </a:schemeClr>
                </a:solidFill>
                <a:latin typeface="Bookman Old Style" panose="02050604050505020204" pitchFamily="18" charset="0"/>
              </a:rPr>
              <a:t>PELAB - HUST</a:t>
            </a:r>
          </a:p>
        </p:txBody>
      </p:sp>
      <p:sp>
        <p:nvSpPr>
          <p:cNvPr id="90" name="Slide Number Placeholder 89"/>
          <p:cNvSpPr>
            <a:spLocks noGrp="1"/>
          </p:cNvSpPr>
          <p:nvPr>
            <p:ph type="sldNum" sz="quarter" idx="4"/>
          </p:nvPr>
        </p:nvSpPr>
        <p:spPr>
          <a:xfrm>
            <a:off x="8351186" y="6581397"/>
            <a:ext cx="465201" cy="276613"/>
          </a:xfrm>
          <a:prstGeom prst="rect">
            <a:avLst/>
          </a:prstGeom>
        </p:spPr>
        <p:txBody>
          <a:bodyPr vert="horz" lIns="91440" tIns="45720" rIns="91440" bIns="45720" rtlCol="0" anchor="ctr"/>
          <a:lstStyle>
            <a:lvl1pPr algn="ctr">
              <a:defRPr sz="1200" b="1">
                <a:solidFill>
                  <a:schemeClr val="accent1">
                    <a:lumMod val="50000"/>
                  </a:schemeClr>
                </a:solidFill>
                <a:latin typeface="Arial" panose="020B0604020202020204" pitchFamily="34" charset="0"/>
                <a:cs typeface="Arial" panose="020B0604020202020204" pitchFamily="34" charset="0"/>
              </a:defRPr>
            </a:lvl1pPr>
          </a:lstStyle>
          <a:p>
            <a:fld id="{C4AED997-7CB6-4654-8505-4D4C6D081CC6}" type="slidenum">
              <a:rPr lang="en-US" smtClean="0"/>
              <a:pPr/>
              <a:t>‹#›</a:t>
            </a:fld>
            <a:endParaRPr lang="en-US"/>
          </a:p>
        </p:txBody>
      </p:sp>
      <p:sp>
        <p:nvSpPr>
          <p:cNvPr id="5" name="Rectangle 4"/>
          <p:cNvSpPr/>
          <p:nvPr userDrawn="1"/>
        </p:nvSpPr>
        <p:spPr>
          <a:xfrm>
            <a:off x="204187" y="2"/>
            <a:ext cx="617546" cy="763258"/>
          </a:xfrm>
          <a:prstGeom prst="rect">
            <a:avLst/>
          </a:prstGeom>
          <a:solidFill>
            <a:schemeClr val="accent6">
              <a:lumMod val="20000"/>
              <a:lumOff val="80000"/>
            </a:schemeClr>
          </a:solidFill>
          <a:ln>
            <a:solidFill>
              <a:schemeClr val="accent6">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solidFill>
                <a:schemeClr val="accent1">
                  <a:lumMod val="50000"/>
                </a:schemeClr>
              </a:solidFill>
            </a:endParaRPr>
          </a:p>
        </p:txBody>
      </p:sp>
      <p:pic>
        <p:nvPicPr>
          <p:cNvPr id="14" name="Picture 13"/>
          <p:cNvPicPr>
            <a:picLocks noChangeAspect="1"/>
          </p:cNvPicPr>
          <p:nvPr userDrawn="1"/>
        </p:nvPicPr>
        <p:blipFill>
          <a:blip r:embed="rId16" cstate="print">
            <a:extLst>
              <a:ext uri="{28A0092B-C50C-407E-A947-70E740481C1C}">
                <a14:useLocalDpi xmlns:a14="http://schemas.microsoft.com/office/drawing/2010/main" val="0"/>
              </a:ext>
            </a:extLst>
          </a:blip>
          <a:stretch>
            <a:fillRect/>
          </a:stretch>
        </p:blipFill>
        <p:spPr>
          <a:xfrm>
            <a:off x="8652290" y="20955"/>
            <a:ext cx="475167" cy="701040"/>
          </a:xfrm>
          <a:prstGeom prst="rect">
            <a:avLst/>
          </a:prstGeom>
        </p:spPr>
      </p:pic>
      <p:cxnSp>
        <p:nvCxnSpPr>
          <p:cNvPr id="18" name="Straight Connector 17"/>
          <p:cNvCxnSpPr/>
          <p:nvPr userDrawn="1"/>
        </p:nvCxnSpPr>
        <p:spPr>
          <a:xfrm>
            <a:off x="628649" y="6563365"/>
            <a:ext cx="7955136" cy="18022"/>
          </a:xfrm>
          <a:prstGeom prst="line">
            <a:avLst/>
          </a:prstGeom>
          <a:ln w="127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4966983"/>
      </p:ext>
    </p:extLst>
  </p:cSld>
  <p:clrMap bg1="lt1" tx1="dk1" bg2="lt2" tx2="dk2" accent1="accent1" accent2="accent2" accent3="accent3" accent4="accent4" accent5="accent5" accent6="accent6" hlink="hlink" folHlink="folHlink"/>
  <p:sldLayoutIdLst>
    <p:sldLayoutId id="2147483674" r:id="rId1"/>
    <p:sldLayoutId id="2147483672" r:id="rId2"/>
    <p:sldLayoutId id="2147483661" r:id="rId3"/>
    <p:sldLayoutId id="2147483675" r:id="rId4"/>
    <p:sldLayoutId id="2147483662" r:id="rId5"/>
    <p:sldLayoutId id="2147483663" r:id="rId6"/>
    <p:sldLayoutId id="2147483664" r:id="rId7"/>
    <p:sldLayoutId id="2147483666" r:id="rId8"/>
    <p:sldLayoutId id="2147483667" r:id="rId9"/>
    <p:sldLayoutId id="2147483665" r:id="rId10"/>
    <p:sldLayoutId id="2147483668" r:id="rId11"/>
    <p:sldLayoutId id="2147483669" r:id="rId12"/>
    <p:sldLayoutId id="2147483670" r:id="rId13"/>
    <p:sldLayoutId id="2147483671" r:id="rId14"/>
  </p:sldLayoutIdLst>
  <p:hf hdr="0" ftr="0"/>
  <p:txStyles>
    <p:titleStyle>
      <a:lvl1pPr algn="ctr" defTabSz="914400" rtl="0" eaLnBrk="1" latinLnBrk="0" hangingPunct="1">
        <a:lnSpc>
          <a:spcPct val="90000"/>
        </a:lnSpc>
        <a:spcBef>
          <a:spcPct val="0"/>
        </a:spcBef>
        <a:buNone/>
        <a:defRPr sz="3600" b="1" kern="1200">
          <a:solidFill>
            <a:schemeClr val="accent1">
              <a:lumMod val="50000"/>
            </a:schemeClr>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accent1">
              <a:lumMod val="50000"/>
            </a:schemeClr>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accent1">
              <a:lumMod val="50000"/>
            </a:schemeClr>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accent1">
              <a:lumMod val="50000"/>
            </a:schemeClr>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accent1">
              <a:lumMod val="50000"/>
            </a:schemeClr>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7.emf"/><Relationship Id="rId5" Type="http://schemas.openxmlformats.org/officeDocument/2006/relationships/image" Target="../media/image6.wmf"/><Relationship Id="rId4" Type="http://schemas.openxmlformats.org/officeDocument/2006/relationships/oleObject" Target="../embeddings/oleObject1.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9.wmf"/><Relationship Id="rId5" Type="http://schemas.openxmlformats.org/officeDocument/2006/relationships/oleObject" Target="../embeddings/oleObject3.bin"/><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slideLayout" Target="../slideLayouts/slideLayout3.xml"/><Relationship Id="rId1" Type="http://schemas.openxmlformats.org/officeDocument/2006/relationships/vmlDrawing" Target="../drawings/vmlDrawing3.vml"/><Relationship Id="rId6" Type="http://schemas.openxmlformats.org/officeDocument/2006/relationships/image" Target="../media/image11.wmf"/><Relationship Id="rId5" Type="http://schemas.openxmlformats.org/officeDocument/2006/relationships/oleObject" Target="../embeddings/oleObject5.bin"/><Relationship Id="rId4" Type="http://schemas.openxmlformats.org/officeDocument/2006/relationships/image" Target="../media/image10.wmf"/></Relationships>
</file>

<file path=ppt/slides/_rels/slide6.xml.rels><?xml version="1.0" encoding="UTF-8" standalone="yes"?>
<Relationships xmlns="http://schemas.openxmlformats.org/package/2006/relationships"><Relationship Id="rId8" Type="http://schemas.openxmlformats.org/officeDocument/2006/relationships/image" Target="../media/image15.e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slideLayout" Target="../slideLayouts/slideLayout3.xml"/><Relationship Id="rId1" Type="http://schemas.openxmlformats.org/officeDocument/2006/relationships/vmlDrawing" Target="../drawings/vmlDrawing4.vml"/><Relationship Id="rId6" Type="http://schemas.openxmlformats.org/officeDocument/2006/relationships/image" Target="../media/image14.emf"/><Relationship Id="rId5" Type="http://schemas.openxmlformats.org/officeDocument/2006/relationships/oleObject" Target="../embeddings/oleObject8.bin"/><Relationship Id="rId10" Type="http://schemas.openxmlformats.org/officeDocument/2006/relationships/image" Target="../media/image16.emf"/><Relationship Id="rId4" Type="http://schemas.openxmlformats.org/officeDocument/2006/relationships/image" Target="../media/image13.wmf"/><Relationship Id="rId9" Type="http://schemas.openxmlformats.org/officeDocument/2006/relationships/oleObject" Target="../embeddings/oleObject10.bin"/></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3.xml"/><Relationship Id="rId1" Type="http://schemas.openxmlformats.org/officeDocument/2006/relationships/vmlDrawing" Target="../drawings/vmlDrawing5.vml"/><Relationship Id="rId4" Type="http://schemas.openxmlformats.org/officeDocument/2006/relationships/image" Target="../media/image21.emf"/></Relationships>
</file>

<file path=ppt/slides/_rels/slide14.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slideLayout" Target="../slideLayouts/slideLayout3.xml"/><Relationship Id="rId1" Type="http://schemas.openxmlformats.org/officeDocument/2006/relationships/vmlDrawing" Target="../drawings/vmlDrawing6.vml"/><Relationship Id="rId5" Type="http://schemas.openxmlformats.org/officeDocument/2006/relationships/image" Target="../media/image22.wmf"/><Relationship Id="rId4" Type="http://schemas.openxmlformats.org/officeDocument/2006/relationships/oleObject" Target="../embeddings/oleObject11.bin"/></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3.xml"/><Relationship Id="rId1" Type="http://schemas.openxmlformats.org/officeDocument/2006/relationships/vmlDrawing" Target="../drawings/vmlDrawing7.vml"/><Relationship Id="rId5" Type="http://schemas.openxmlformats.org/officeDocument/2006/relationships/image" Target="../media/image25.emf"/><Relationship Id="rId4" Type="http://schemas.openxmlformats.org/officeDocument/2006/relationships/image" Target="../media/image24.wmf"/></Relationships>
</file>

<file path=ppt/slides/_rels/slide1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30.emf"/><Relationship Id="rId7" Type="http://schemas.openxmlformats.org/officeDocument/2006/relationships/image" Target="../media/image29.emf"/><Relationship Id="rId2" Type="http://schemas.openxmlformats.org/officeDocument/2006/relationships/slideLayout" Target="../slideLayouts/slideLayout3.xml"/><Relationship Id="rId1" Type="http://schemas.openxmlformats.org/officeDocument/2006/relationships/vmlDrawing" Target="../drawings/vmlDrawing8.vml"/><Relationship Id="rId6" Type="http://schemas.openxmlformats.org/officeDocument/2006/relationships/oleObject" Target="../embeddings/oleObject14.bin"/><Relationship Id="rId5" Type="http://schemas.openxmlformats.org/officeDocument/2006/relationships/image" Target="../media/image28.emf"/><Relationship Id="rId4" Type="http://schemas.openxmlformats.org/officeDocument/2006/relationships/oleObject" Target="../embeddings/oleObject13.bin"/></Relationships>
</file>

<file path=ppt/slides/_rels/slide19.xml.rels><?xml version="1.0" encoding="UTF-8" standalone="yes"?>
<Relationships xmlns="http://schemas.openxmlformats.org/package/2006/relationships"><Relationship Id="rId8" Type="http://schemas.openxmlformats.org/officeDocument/2006/relationships/image" Target="../media/image33.e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35.emf"/><Relationship Id="rId2" Type="http://schemas.openxmlformats.org/officeDocument/2006/relationships/slideLayout" Target="../slideLayouts/slideLayout3.xml"/><Relationship Id="rId1" Type="http://schemas.openxmlformats.org/officeDocument/2006/relationships/vmlDrawing" Target="../drawings/vmlDrawing9.vml"/><Relationship Id="rId6" Type="http://schemas.openxmlformats.org/officeDocument/2006/relationships/image" Target="../media/image32.e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34.emf"/><Relationship Id="rId4" Type="http://schemas.openxmlformats.org/officeDocument/2006/relationships/image" Target="../media/image31.emf"/><Relationship Id="rId9" Type="http://schemas.openxmlformats.org/officeDocument/2006/relationships/oleObject" Target="../embeddings/oleObject18.bin"/></Relationships>
</file>

<file path=ppt/slides/_rels/slide20.xml.rels><?xml version="1.0" encoding="UTF-8" standalone="yes"?>
<Relationships xmlns="http://schemas.openxmlformats.org/package/2006/relationships"><Relationship Id="rId8" Type="http://schemas.openxmlformats.org/officeDocument/2006/relationships/image" Target="../media/image38.emf"/><Relationship Id="rId13" Type="http://schemas.openxmlformats.org/officeDocument/2006/relationships/oleObject" Target="../embeddings/oleObject25.bin"/><Relationship Id="rId3" Type="http://schemas.openxmlformats.org/officeDocument/2006/relationships/oleObject" Target="../embeddings/oleObject20.bin"/><Relationship Id="rId7" Type="http://schemas.openxmlformats.org/officeDocument/2006/relationships/oleObject" Target="../embeddings/oleObject22.bin"/><Relationship Id="rId12" Type="http://schemas.openxmlformats.org/officeDocument/2006/relationships/image" Target="../media/image40.emf"/><Relationship Id="rId2" Type="http://schemas.openxmlformats.org/officeDocument/2006/relationships/slideLayout" Target="../slideLayouts/slideLayout3.xml"/><Relationship Id="rId16" Type="http://schemas.openxmlformats.org/officeDocument/2006/relationships/image" Target="../media/image42.emf"/><Relationship Id="rId1" Type="http://schemas.openxmlformats.org/officeDocument/2006/relationships/vmlDrawing" Target="../drawings/vmlDrawing10.vml"/><Relationship Id="rId6" Type="http://schemas.openxmlformats.org/officeDocument/2006/relationships/image" Target="../media/image37.emf"/><Relationship Id="rId11" Type="http://schemas.openxmlformats.org/officeDocument/2006/relationships/oleObject" Target="../embeddings/oleObject24.bin"/><Relationship Id="rId5" Type="http://schemas.openxmlformats.org/officeDocument/2006/relationships/oleObject" Target="../embeddings/oleObject21.bin"/><Relationship Id="rId15" Type="http://schemas.openxmlformats.org/officeDocument/2006/relationships/oleObject" Target="../embeddings/oleObject26.bin"/><Relationship Id="rId10" Type="http://schemas.openxmlformats.org/officeDocument/2006/relationships/image" Target="../media/image39.emf"/><Relationship Id="rId4" Type="http://schemas.openxmlformats.org/officeDocument/2006/relationships/image" Target="../media/image36.emf"/><Relationship Id="rId9" Type="http://schemas.openxmlformats.org/officeDocument/2006/relationships/oleObject" Target="../embeddings/oleObject23.bin"/><Relationship Id="rId14" Type="http://schemas.openxmlformats.org/officeDocument/2006/relationships/image" Target="../media/image41.emf"/></Relationships>
</file>

<file path=ppt/slides/_rels/slide21.xml.rels><?xml version="1.0" encoding="UTF-8" standalone="yes"?>
<Relationships xmlns="http://schemas.openxmlformats.org/package/2006/relationships"><Relationship Id="rId8" Type="http://schemas.openxmlformats.org/officeDocument/2006/relationships/image" Target="../media/image45.emf"/><Relationship Id="rId3" Type="http://schemas.openxmlformats.org/officeDocument/2006/relationships/package" Target="../embeddings/Microsoft_Visio_Drawing1.vsdx"/><Relationship Id="rId7" Type="http://schemas.openxmlformats.org/officeDocument/2006/relationships/oleObject" Target="../embeddings/oleObject28.bin"/><Relationship Id="rId2" Type="http://schemas.openxmlformats.org/officeDocument/2006/relationships/slideLayout" Target="../slideLayouts/slideLayout3.xml"/><Relationship Id="rId1" Type="http://schemas.openxmlformats.org/officeDocument/2006/relationships/vmlDrawing" Target="../drawings/vmlDrawing11.vml"/><Relationship Id="rId6" Type="http://schemas.openxmlformats.org/officeDocument/2006/relationships/image" Target="../media/image44.wmf"/><Relationship Id="rId5" Type="http://schemas.openxmlformats.org/officeDocument/2006/relationships/oleObject" Target="../embeddings/oleObject27.bin"/><Relationship Id="rId4" Type="http://schemas.openxmlformats.org/officeDocument/2006/relationships/image" Target="../media/image43.emf"/></Relationships>
</file>

<file path=ppt/slides/_rels/slide22.xml.rels><?xml version="1.0" encoding="UTF-8" standalone="yes"?>
<Relationships xmlns="http://schemas.openxmlformats.org/package/2006/relationships"><Relationship Id="rId8" Type="http://schemas.openxmlformats.org/officeDocument/2006/relationships/image" Target="../media/image48.emf"/><Relationship Id="rId13" Type="http://schemas.openxmlformats.org/officeDocument/2006/relationships/oleObject" Target="../embeddings/oleObject34.bin"/><Relationship Id="rId3" Type="http://schemas.openxmlformats.org/officeDocument/2006/relationships/oleObject" Target="../embeddings/oleObject29.bin"/><Relationship Id="rId7" Type="http://schemas.openxmlformats.org/officeDocument/2006/relationships/oleObject" Target="../embeddings/oleObject31.bin"/><Relationship Id="rId12" Type="http://schemas.openxmlformats.org/officeDocument/2006/relationships/image" Target="../media/image50.emf"/><Relationship Id="rId2" Type="http://schemas.openxmlformats.org/officeDocument/2006/relationships/slideLayout" Target="../slideLayouts/slideLayout3.xml"/><Relationship Id="rId16" Type="http://schemas.openxmlformats.org/officeDocument/2006/relationships/image" Target="../media/image52.emf"/><Relationship Id="rId1" Type="http://schemas.openxmlformats.org/officeDocument/2006/relationships/vmlDrawing" Target="../drawings/vmlDrawing12.vml"/><Relationship Id="rId6" Type="http://schemas.openxmlformats.org/officeDocument/2006/relationships/image" Target="../media/image47.emf"/><Relationship Id="rId11" Type="http://schemas.openxmlformats.org/officeDocument/2006/relationships/oleObject" Target="../embeddings/oleObject33.bin"/><Relationship Id="rId5" Type="http://schemas.openxmlformats.org/officeDocument/2006/relationships/oleObject" Target="../embeddings/oleObject30.bin"/><Relationship Id="rId15" Type="http://schemas.openxmlformats.org/officeDocument/2006/relationships/oleObject" Target="../embeddings/oleObject35.bin"/><Relationship Id="rId10" Type="http://schemas.openxmlformats.org/officeDocument/2006/relationships/image" Target="../media/image49.emf"/><Relationship Id="rId4" Type="http://schemas.openxmlformats.org/officeDocument/2006/relationships/image" Target="../media/image46.emf"/><Relationship Id="rId9" Type="http://schemas.openxmlformats.org/officeDocument/2006/relationships/oleObject" Target="../embeddings/oleObject32.bin"/><Relationship Id="rId14" Type="http://schemas.openxmlformats.org/officeDocument/2006/relationships/image" Target="../media/image51.emf"/></Relationships>
</file>

<file path=ppt/slides/_rels/slide2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image" Target="../media/image59.jp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49" y="1373455"/>
            <a:ext cx="8897901" cy="2017372"/>
          </a:xfrm>
        </p:spPr>
        <p:txBody>
          <a:bodyPr/>
          <a:lstStyle/>
          <a:p>
            <a:pPr algn="ctr"/>
            <a:r>
              <a:rPr lang="en-US" dirty="0" err="1">
                <a:latin typeface="Arial"/>
                <a:cs typeface="Arial"/>
              </a:rPr>
              <a:t>Điều</a:t>
            </a:r>
            <a:r>
              <a:rPr lang="en-US" dirty="0">
                <a:latin typeface="Arial"/>
                <a:cs typeface="Arial"/>
              </a:rPr>
              <a:t> </a:t>
            </a:r>
            <a:r>
              <a:rPr lang="en-US" dirty="0" err="1">
                <a:latin typeface="Arial"/>
                <a:cs typeface="Arial"/>
              </a:rPr>
              <a:t>khiển</a:t>
            </a:r>
            <a:r>
              <a:rPr lang="en-US" dirty="0">
                <a:latin typeface="Arial"/>
                <a:cs typeface="Arial"/>
              </a:rPr>
              <a:t> </a:t>
            </a:r>
            <a:r>
              <a:rPr lang="en-US" dirty="0" err="1">
                <a:latin typeface="Arial"/>
                <a:cs typeface="Arial"/>
              </a:rPr>
              <a:t>động</a:t>
            </a:r>
            <a:r>
              <a:rPr lang="en-US" dirty="0">
                <a:latin typeface="Arial"/>
                <a:cs typeface="Arial"/>
              </a:rPr>
              <a:t> </a:t>
            </a:r>
            <a:r>
              <a:rPr lang="en-US" dirty="0" err="1">
                <a:latin typeface="Arial"/>
                <a:cs typeface="Arial"/>
              </a:rPr>
              <a:t>cơ</a:t>
            </a:r>
            <a:r>
              <a:rPr lang="en-US" dirty="0">
                <a:latin typeface="Arial"/>
                <a:cs typeface="Arial"/>
              </a:rPr>
              <a:t> </a:t>
            </a:r>
            <a:r>
              <a:rPr lang="en-US" dirty="0" err="1">
                <a:latin typeface="Arial"/>
                <a:cs typeface="Arial"/>
              </a:rPr>
              <a:t>đồng</a:t>
            </a:r>
            <a:r>
              <a:rPr lang="en-US" dirty="0">
                <a:latin typeface="Arial"/>
                <a:cs typeface="Arial"/>
              </a:rPr>
              <a:t> </a:t>
            </a:r>
            <a:r>
              <a:rPr lang="en-US" dirty="0" err="1">
                <a:latin typeface="Arial"/>
                <a:cs typeface="Arial"/>
              </a:rPr>
              <a:t>bộ</a:t>
            </a:r>
            <a:r>
              <a:rPr lang="en-US" dirty="0">
                <a:latin typeface="Arial"/>
                <a:cs typeface="Arial"/>
              </a:rPr>
              <a:t> </a:t>
            </a:r>
            <a:r>
              <a:rPr lang="en-US" dirty="0" err="1">
                <a:latin typeface="Arial"/>
                <a:cs typeface="Arial"/>
              </a:rPr>
              <a:t>nam</a:t>
            </a:r>
            <a:r>
              <a:rPr lang="en-US" dirty="0">
                <a:latin typeface="Arial"/>
                <a:cs typeface="Arial"/>
              </a:rPr>
              <a:t> </a:t>
            </a:r>
            <a:r>
              <a:rPr lang="en-US" dirty="0" err="1">
                <a:latin typeface="Arial"/>
                <a:cs typeface="Arial"/>
              </a:rPr>
              <a:t>châm</a:t>
            </a:r>
            <a:r>
              <a:rPr lang="en-US" dirty="0">
                <a:latin typeface="Arial"/>
                <a:cs typeface="Arial"/>
              </a:rPr>
              <a:t> </a:t>
            </a:r>
            <a:r>
              <a:rPr lang="en-US" dirty="0" err="1">
                <a:latin typeface="Arial"/>
                <a:cs typeface="Arial"/>
              </a:rPr>
              <a:t>vĩnh</a:t>
            </a:r>
            <a:r>
              <a:rPr lang="en-US" dirty="0">
                <a:latin typeface="Arial"/>
                <a:cs typeface="Arial"/>
              </a:rPr>
              <a:t> </a:t>
            </a:r>
            <a:r>
              <a:rPr lang="en-US" dirty="0" err="1">
                <a:latin typeface="Arial"/>
                <a:cs typeface="Arial"/>
              </a:rPr>
              <a:t>cửu</a:t>
            </a:r>
            <a:r>
              <a:rPr lang="en-US" dirty="0">
                <a:latin typeface="Arial"/>
                <a:cs typeface="Arial"/>
              </a:rPr>
              <a:t> </a:t>
            </a:r>
            <a:r>
              <a:rPr lang="en-US" dirty="0" err="1">
                <a:latin typeface="Arial"/>
                <a:cs typeface="Arial"/>
              </a:rPr>
              <a:t>theo</a:t>
            </a:r>
            <a:r>
              <a:rPr lang="en-US" dirty="0">
                <a:latin typeface="Arial"/>
                <a:cs typeface="Arial"/>
              </a:rPr>
              <a:t> </a:t>
            </a:r>
            <a:r>
              <a:rPr lang="en-US" dirty="0" err="1">
                <a:latin typeface="Arial"/>
                <a:cs typeface="Arial"/>
              </a:rPr>
              <a:t>nguyên</a:t>
            </a:r>
            <a:r>
              <a:rPr lang="en-US" dirty="0">
                <a:latin typeface="Arial"/>
                <a:cs typeface="Arial"/>
              </a:rPr>
              <a:t> </a:t>
            </a:r>
            <a:r>
              <a:rPr lang="en-US" dirty="0" err="1">
                <a:latin typeface="Arial"/>
                <a:cs typeface="Arial"/>
              </a:rPr>
              <a:t>lý</a:t>
            </a:r>
            <a:r>
              <a:rPr lang="en-US" dirty="0">
                <a:latin typeface="Arial"/>
                <a:cs typeface="Arial"/>
              </a:rPr>
              <a:t> vector</a:t>
            </a:r>
          </a:p>
        </p:txBody>
      </p:sp>
      <p:sp>
        <p:nvSpPr>
          <p:cNvPr id="3" name="Text Placeholder 2"/>
          <p:cNvSpPr>
            <a:spLocks noGrp="1"/>
          </p:cNvSpPr>
          <p:nvPr>
            <p:ph type="body" sz="quarter" idx="10"/>
          </p:nvPr>
        </p:nvSpPr>
        <p:spPr>
          <a:xfrm>
            <a:off x="1306803" y="4191520"/>
            <a:ext cx="7280202" cy="1704528"/>
          </a:xfrm>
        </p:spPr>
        <p:txBody>
          <a:bodyPr vert="horz" lIns="91440" tIns="45720" rIns="91440" bIns="45720" rtlCol="0" anchor="t">
            <a:noAutofit/>
          </a:bodyPr>
          <a:lstStyle/>
          <a:p>
            <a:r>
              <a:rPr lang="en-US" sz="2000" dirty="0" err="1">
                <a:latin typeface="Arial"/>
                <a:cs typeface="Arial"/>
              </a:rPr>
              <a:t>Giảng</a:t>
            </a:r>
            <a:r>
              <a:rPr lang="en-US" sz="2000" dirty="0">
                <a:latin typeface="Arial"/>
                <a:cs typeface="Arial"/>
              </a:rPr>
              <a:t> </a:t>
            </a:r>
            <a:r>
              <a:rPr lang="en-US" sz="2000" dirty="0" err="1">
                <a:latin typeface="Arial"/>
                <a:cs typeface="Arial"/>
              </a:rPr>
              <a:t>viên</a:t>
            </a:r>
            <a:r>
              <a:rPr lang="en-US" sz="2000" dirty="0">
                <a:latin typeface="Arial"/>
                <a:cs typeface="Arial"/>
              </a:rPr>
              <a:t> </a:t>
            </a:r>
            <a:r>
              <a:rPr lang="en-US" sz="2000" dirty="0" err="1">
                <a:latin typeface="Arial"/>
                <a:cs typeface="Arial"/>
              </a:rPr>
              <a:t>hướng</a:t>
            </a:r>
            <a:r>
              <a:rPr lang="en-US" sz="2000" dirty="0">
                <a:latin typeface="Arial"/>
                <a:cs typeface="Arial"/>
              </a:rPr>
              <a:t> </a:t>
            </a:r>
            <a:r>
              <a:rPr lang="en-US" sz="2000" dirty="0" err="1">
                <a:latin typeface="Arial"/>
                <a:cs typeface="Arial"/>
              </a:rPr>
              <a:t>dẫn</a:t>
            </a:r>
            <a:r>
              <a:rPr lang="en-US" sz="2000" dirty="0">
                <a:latin typeface="Arial"/>
                <a:cs typeface="Arial"/>
              </a:rPr>
              <a:t>: TS: </a:t>
            </a:r>
            <a:r>
              <a:rPr lang="en-US" sz="2000" dirty="0" err="1">
                <a:latin typeface="Arial"/>
                <a:cs typeface="Arial"/>
              </a:rPr>
              <a:t>Vũ</a:t>
            </a:r>
            <a:r>
              <a:rPr lang="en-US" sz="2000" dirty="0">
                <a:latin typeface="Arial"/>
                <a:cs typeface="Arial"/>
              </a:rPr>
              <a:t> </a:t>
            </a:r>
            <a:r>
              <a:rPr lang="en-US" sz="2000" dirty="0" err="1">
                <a:latin typeface="Arial"/>
                <a:cs typeface="Arial"/>
              </a:rPr>
              <a:t>Hoàng</a:t>
            </a:r>
            <a:r>
              <a:rPr lang="en-US" sz="2000" dirty="0">
                <a:latin typeface="Arial"/>
                <a:cs typeface="Arial"/>
              </a:rPr>
              <a:t> </a:t>
            </a:r>
            <a:r>
              <a:rPr lang="en-US" sz="2000" dirty="0" err="1">
                <a:latin typeface="Arial"/>
                <a:cs typeface="Arial"/>
              </a:rPr>
              <a:t>Phương</a:t>
            </a:r>
            <a:endParaRPr lang="en-US" sz="2000" dirty="0">
              <a:latin typeface="Arial"/>
              <a:cs typeface="Arial"/>
            </a:endParaRPr>
          </a:p>
          <a:p>
            <a:r>
              <a:rPr lang="en-US" sz="2000" dirty="0" err="1">
                <a:latin typeface="Arial"/>
                <a:cs typeface="Arial"/>
              </a:rPr>
              <a:t>Sinh</a:t>
            </a:r>
            <a:r>
              <a:rPr lang="en-US" sz="2000" dirty="0">
                <a:latin typeface="Arial"/>
                <a:cs typeface="Arial"/>
              </a:rPr>
              <a:t> </a:t>
            </a:r>
            <a:r>
              <a:rPr lang="en-US" sz="2000" dirty="0" err="1">
                <a:latin typeface="Arial"/>
                <a:cs typeface="Arial"/>
              </a:rPr>
              <a:t>viên</a:t>
            </a:r>
            <a:r>
              <a:rPr lang="en-US" sz="2000" dirty="0">
                <a:latin typeface="Arial"/>
                <a:cs typeface="Arial"/>
              </a:rPr>
              <a:t> </a:t>
            </a:r>
            <a:r>
              <a:rPr lang="en-US" sz="2000" dirty="0" err="1">
                <a:latin typeface="Arial"/>
                <a:cs typeface="Arial"/>
              </a:rPr>
              <a:t>thực</a:t>
            </a:r>
            <a:r>
              <a:rPr lang="en-US" sz="2000" dirty="0">
                <a:latin typeface="Arial"/>
                <a:cs typeface="Arial"/>
              </a:rPr>
              <a:t> </a:t>
            </a:r>
            <a:r>
              <a:rPr lang="en-US" sz="2000" dirty="0" err="1">
                <a:latin typeface="Arial"/>
                <a:cs typeface="Arial"/>
              </a:rPr>
              <a:t>hiện</a:t>
            </a:r>
            <a:r>
              <a:rPr lang="en-US" sz="2000" dirty="0">
                <a:latin typeface="Arial"/>
                <a:cs typeface="Arial"/>
              </a:rPr>
              <a:t>:</a:t>
            </a:r>
          </a:p>
          <a:p>
            <a:r>
              <a:rPr lang="en-US" sz="2000" dirty="0">
                <a:latin typeface="Arial"/>
                <a:cs typeface="Arial"/>
              </a:rPr>
              <a:t>- Lê Quang Linh - 20174016</a:t>
            </a:r>
            <a:endParaRPr lang="en-US" sz="2000" dirty="0"/>
          </a:p>
          <a:p>
            <a:r>
              <a:rPr lang="en-US" sz="2000" dirty="0">
                <a:latin typeface="Arial"/>
                <a:cs typeface="Arial"/>
              </a:rPr>
              <a:t>- </a:t>
            </a:r>
            <a:r>
              <a:rPr lang="en-US" sz="2000" dirty="0" err="1">
                <a:latin typeface="Arial"/>
                <a:cs typeface="Arial"/>
              </a:rPr>
              <a:t>Nguyễn</a:t>
            </a:r>
            <a:r>
              <a:rPr lang="en-US" sz="2000" dirty="0">
                <a:latin typeface="Arial"/>
                <a:cs typeface="Arial"/>
              </a:rPr>
              <a:t> </a:t>
            </a:r>
            <a:r>
              <a:rPr lang="en-US" sz="2000" dirty="0" err="1">
                <a:latin typeface="Arial"/>
                <a:cs typeface="Arial"/>
              </a:rPr>
              <a:t>Tiến</a:t>
            </a:r>
            <a:r>
              <a:rPr lang="en-US" sz="2000" dirty="0">
                <a:latin typeface="Arial"/>
                <a:cs typeface="Arial"/>
              </a:rPr>
              <a:t> </a:t>
            </a:r>
            <a:r>
              <a:rPr lang="en-US" sz="2000" dirty="0" err="1">
                <a:latin typeface="Arial"/>
                <a:cs typeface="Arial"/>
              </a:rPr>
              <a:t>Huy</a:t>
            </a:r>
            <a:r>
              <a:rPr lang="en-US" sz="2000" dirty="0">
                <a:latin typeface="Arial"/>
                <a:cs typeface="Arial"/>
              </a:rPr>
              <a:t> </a:t>
            </a:r>
            <a:r>
              <a:rPr lang="en-US" sz="2000" dirty="0" err="1">
                <a:latin typeface="Arial"/>
                <a:cs typeface="Arial"/>
              </a:rPr>
              <a:t>Công</a:t>
            </a:r>
            <a:r>
              <a:rPr lang="en-US" sz="2000" dirty="0">
                <a:latin typeface="Arial"/>
                <a:cs typeface="Arial"/>
              </a:rPr>
              <a:t> - 20173689</a:t>
            </a:r>
            <a:endParaRPr lang="en-US" sz="2000" dirty="0"/>
          </a:p>
        </p:txBody>
      </p:sp>
    </p:spTree>
    <p:extLst>
      <p:ext uri="{BB962C8B-B14F-4D97-AF65-F5344CB8AC3E}">
        <p14:creationId xmlns:p14="http://schemas.microsoft.com/office/powerpoint/2010/main" val="12237454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latin typeface="Arial"/>
                <a:cs typeface="Arial"/>
              </a:rPr>
              <a:t>Mục</a:t>
            </a:r>
            <a:r>
              <a:rPr lang="en-US">
                <a:latin typeface="Arial"/>
                <a:cs typeface="Arial"/>
              </a:rPr>
              <a:t> </a:t>
            </a:r>
            <a:r>
              <a:rPr lang="en-US" err="1">
                <a:latin typeface="Arial"/>
                <a:cs typeface="Arial"/>
              </a:rPr>
              <a:t>lục</a:t>
            </a:r>
            <a:endParaRPr lang="en-US" err="1"/>
          </a:p>
        </p:txBody>
      </p:sp>
      <p:sp>
        <p:nvSpPr>
          <p:cNvPr id="3" name="Date Placeholder 2"/>
          <p:cNvSpPr>
            <a:spLocks noGrp="1"/>
          </p:cNvSpPr>
          <p:nvPr>
            <p:ph type="dt" sz="half" idx="2"/>
          </p:nvPr>
        </p:nvSpPr>
        <p:spPr/>
        <p:txBody>
          <a:bodyPr/>
          <a:lstStyle/>
          <a:p>
            <a:fld id="{135DBA25-4FFD-4340-B7A2-38A9C9BE6135}" type="datetime1">
              <a:rPr lang="en-US" smtClean="0">
                <a:solidFill>
                  <a:srgbClr val="0070C0"/>
                </a:solidFill>
              </a:rPr>
              <a:pPr/>
              <a:t>7/5/2023</a:t>
            </a:fld>
            <a:endParaRPr lang="en-US">
              <a:solidFill>
                <a:srgbClr val="0070C0"/>
              </a:solidFill>
            </a:endParaRPr>
          </a:p>
        </p:txBody>
      </p:sp>
      <p:sp>
        <p:nvSpPr>
          <p:cNvPr id="4" name="Slide Number Placeholder 3"/>
          <p:cNvSpPr>
            <a:spLocks noGrp="1"/>
          </p:cNvSpPr>
          <p:nvPr>
            <p:ph type="sldNum" sz="quarter" idx="4"/>
          </p:nvPr>
        </p:nvSpPr>
        <p:spPr/>
        <p:txBody>
          <a:bodyPr/>
          <a:lstStyle/>
          <a:p>
            <a:fld id="{C4AED997-7CB6-4654-8505-4D4C6D081CC6}" type="slidenum">
              <a:rPr lang="en-US" smtClean="0"/>
              <a:pPr/>
              <a:t>2</a:t>
            </a:fld>
            <a:endParaRPr lang="en-US"/>
          </a:p>
        </p:txBody>
      </p:sp>
      <p:sp>
        <p:nvSpPr>
          <p:cNvPr id="37" name="Hexagon 36"/>
          <p:cNvSpPr/>
          <p:nvPr/>
        </p:nvSpPr>
        <p:spPr>
          <a:xfrm>
            <a:off x="1287261" y="2084958"/>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2</a:t>
            </a:r>
          </a:p>
        </p:txBody>
      </p:sp>
      <p:sp>
        <p:nvSpPr>
          <p:cNvPr id="38" name="Hexagon 37"/>
          <p:cNvSpPr/>
          <p:nvPr/>
        </p:nvSpPr>
        <p:spPr>
          <a:xfrm>
            <a:off x="1287262" y="2938385"/>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3</a:t>
            </a:r>
          </a:p>
        </p:txBody>
      </p:sp>
      <p:sp>
        <p:nvSpPr>
          <p:cNvPr id="39" name="Hexagon 38"/>
          <p:cNvSpPr/>
          <p:nvPr/>
        </p:nvSpPr>
        <p:spPr>
          <a:xfrm>
            <a:off x="1287261" y="3791811"/>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4</a:t>
            </a:r>
          </a:p>
        </p:txBody>
      </p:sp>
      <p:sp>
        <p:nvSpPr>
          <p:cNvPr id="40" name="Hexagon 39"/>
          <p:cNvSpPr/>
          <p:nvPr/>
        </p:nvSpPr>
        <p:spPr>
          <a:xfrm>
            <a:off x="1287261" y="4644566"/>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5</a:t>
            </a:r>
            <a:endParaRPr lang="en-US" b="1"/>
          </a:p>
        </p:txBody>
      </p:sp>
      <p:cxnSp>
        <p:nvCxnSpPr>
          <p:cNvPr id="41" name="Straight Connector 40"/>
          <p:cNvCxnSpPr>
            <a:stCxn id="37" idx="1"/>
          </p:cNvCxnSpPr>
          <p:nvPr/>
        </p:nvCxnSpPr>
        <p:spPr>
          <a:xfrm>
            <a:off x="1876073" y="2724154"/>
            <a:ext cx="6083019" cy="1"/>
          </a:xfrm>
          <a:prstGeom prst="line">
            <a:avLst/>
          </a:prstGeom>
          <a:ln w="12700" cmpd="sng">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38" idx="1"/>
          </p:cNvCxnSpPr>
          <p:nvPr/>
        </p:nvCxnSpPr>
        <p:spPr>
          <a:xfrm>
            <a:off x="1876074" y="3577581"/>
            <a:ext cx="6083019" cy="671"/>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39" idx="1"/>
          </p:cNvCxnSpPr>
          <p:nvPr/>
        </p:nvCxnSpPr>
        <p:spPr>
          <a:xfrm>
            <a:off x="1876069" y="4431007"/>
            <a:ext cx="6083020" cy="36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cxnSpLocks/>
            <a:stCxn id="40" idx="1"/>
          </p:cNvCxnSpPr>
          <p:nvPr/>
        </p:nvCxnSpPr>
        <p:spPr>
          <a:xfrm>
            <a:off x="1876069" y="5283762"/>
            <a:ext cx="6083020" cy="36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45" name="Rectangle 44"/>
          <p:cNvSpPr/>
          <p:nvPr/>
        </p:nvSpPr>
        <p:spPr>
          <a:xfrm>
            <a:off x="2209889" y="2084961"/>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dirty="0" err="1">
                <a:solidFill>
                  <a:srgbClr val="1F4E79"/>
                </a:solidFill>
                <a:latin typeface="Arial" panose="020B0604020202020204" pitchFamily="34" charset="0"/>
                <a:cs typeface="Arial" panose="020B0604020202020204" pitchFamily="34" charset="0"/>
              </a:rPr>
              <a:t>Mô</a:t>
            </a:r>
            <a:r>
              <a:rPr lang="en-US" sz="2000" b="1" dirty="0">
                <a:solidFill>
                  <a:srgbClr val="1F4E79"/>
                </a:solidFill>
                <a:latin typeface="Arial" panose="020B0604020202020204" pitchFamily="34" charset="0"/>
                <a:cs typeface="Arial" panose="020B0604020202020204" pitchFamily="34" charset="0"/>
              </a:rPr>
              <a:t> </a:t>
            </a:r>
            <a:r>
              <a:rPr lang="en-US" sz="2000" b="1" dirty="0" err="1">
                <a:solidFill>
                  <a:srgbClr val="1F4E79"/>
                </a:solidFill>
                <a:latin typeface="Arial" panose="020B0604020202020204" pitchFamily="34" charset="0"/>
                <a:cs typeface="Arial" panose="020B0604020202020204" pitchFamily="34" charset="0"/>
              </a:rPr>
              <a:t>hình</a:t>
            </a:r>
            <a:r>
              <a:rPr lang="en-US" sz="2000" b="1" dirty="0">
                <a:solidFill>
                  <a:srgbClr val="1F4E79"/>
                </a:solidFill>
                <a:latin typeface="Arial" panose="020B0604020202020204" pitchFamily="34" charset="0"/>
                <a:cs typeface="Arial" panose="020B0604020202020204" pitchFamily="34" charset="0"/>
              </a:rPr>
              <a:t> </a:t>
            </a:r>
            <a:r>
              <a:rPr lang="en-US" sz="2000" b="1" dirty="0" err="1">
                <a:solidFill>
                  <a:srgbClr val="1F4E79"/>
                </a:solidFill>
                <a:latin typeface="Arial" panose="020B0604020202020204" pitchFamily="34" charset="0"/>
                <a:cs typeface="Arial" panose="020B0604020202020204" pitchFamily="34" charset="0"/>
              </a:rPr>
              <a:t>động</a:t>
            </a:r>
            <a:r>
              <a:rPr lang="en-US" sz="2000" b="1" dirty="0">
                <a:solidFill>
                  <a:srgbClr val="1F4E79"/>
                </a:solidFill>
                <a:latin typeface="Arial" panose="020B0604020202020204" pitchFamily="34" charset="0"/>
                <a:cs typeface="Arial" panose="020B0604020202020204" pitchFamily="34" charset="0"/>
              </a:rPr>
              <a:t> </a:t>
            </a:r>
            <a:r>
              <a:rPr lang="en-US" sz="2000" b="1" dirty="0" err="1">
                <a:solidFill>
                  <a:srgbClr val="1F4E79"/>
                </a:solidFill>
                <a:latin typeface="Arial" panose="020B0604020202020204" pitchFamily="34" charset="0"/>
                <a:cs typeface="Arial" panose="020B0604020202020204" pitchFamily="34" charset="0"/>
              </a:rPr>
              <a:t>cơ</a:t>
            </a:r>
            <a:r>
              <a:rPr lang="en-US" sz="2000" b="1" dirty="0">
                <a:solidFill>
                  <a:srgbClr val="1F4E79"/>
                </a:solidFill>
                <a:latin typeface="Arial" panose="020B0604020202020204" pitchFamily="34" charset="0"/>
                <a:cs typeface="Arial" panose="020B0604020202020204" pitchFamily="34" charset="0"/>
              </a:rPr>
              <a:t> PMSM </a:t>
            </a:r>
            <a:r>
              <a:rPr lang="en-US" sz="2000" b="1" dirty="0" err="1">
                <a:solidFill>
                  <a:srgbClr val="1F4E79"/>
                </a:solidFill>
                <a:latin typeface="Arial" panose="020B0604020202020204" pitchFamily="34" charset="0"/>
                <a:cs typeface="Arial" panose="020B0604020202020204" pitchFamily="34" charset="0"/>
              </a:rPr>
              <a:t>trong</a:t>
            </a:r>
            <a:r>
              <a:rPr lang="en-US" sz="2000" b="1" dirty="0">
                <a:solidFill>
                  <a:srgbClr val="1F4E79"/>
                </a:solidFill>
                <a:latin typeface="Arial" panose="020B0604020202020204" pitchFamily="34" charset="0"/>
                <a:cs typeface="Arial" panose="020B0604020202020204" pitchFamily="34" charset="0"/>
              </a:rPr>
              <a:t> </a:t>
            </a:r>
            <a:r>
              <a:rPr lang="en-US" sz="2000" b="1" dirty="0" err="1">
                <a:solidFill>
                  <a:srgbClr val="1F4E79"/>
                </a:solidFill>
                <a:latin typeface="Arial" panose="020B0604020202020204" pitchFamily="34" charset="0"/>
                <a:cs typeface="Arial" panose="020B0604020202020204" pitchFamily="34" charset="0"/>
              </a:rPr>
              <a:t>không</a:t>
            </a:r>
            <a:r>
              <a:rPr lang="en-US" sz="2000" b="1" dirty="0">
                <a:solidFill>
                  <a:srgbClr val="1F4E79"/>
                </a:solidFill>
                <a:latin typeface="Arial" panose="020B0604020202020204" pitchFamily="34" charset="0"/>
                <a:cs typeface="Arial" panose="020B0604020202020204" pitchFamily="34" charset="0"/>
              </a:rPr>
              <a:t> </a:t>
            </a:r>
            <a:r>
              <a:rPr lang="en-US" sz="2000" b="1" dirty="0" err="1">
                <a:solidFill>
                  <a:srgbClr val="1F4E79"/>
                </a:solidFill>
                <a:latin typeface="Arial" panose="020B0604020202020204" pitchFamily="34" charset="0"/>
                <a:cs typeface="Arial" panose="020B0604020202020204" pitchFamily="34" charset="0"/>
              </a:rPr>
              <a:t>gian</a:t>
            </a:r>
            <a:r>
              <a:rPr lang="en-US" sz="2000" b="1" dirty="0">
                <a:solidFill>
                  <a:srgbClr val="1F4E79"/>
                </a:solidFill>
                <a:latin typeface="Arial" panose="020B0604020202020204" pitchFamily="34" charset="0"/>
                <a:cs typeface="Arial" panose="020B0604020202020204" pitchFamily="34" charset="0"/>
              </a:rPr>
              <a:t> vector</a:t>
            </a:r>
          </a:p>
        </p:txBody>
      </p:sp>
      <p:sp>
        <p:nvSpPr>
          <p:cNvPr id="47" name="Rectangle 46"/>
          <p:cNvSpPr/>
          <p:nvPr/>
        </p:nvSpPr>
        <p:spPr>
          <a:xfrm>
            <a:off x="2209889" y="3791815"/>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err="1">
                <a:solidFill>
                  <a:srgbClr val="1F4E79"/>
                </a:solidFill>
                <a:latin typeface="Arial" panose="020B0604020202020204" pitchFamily="34" charset="0"/>
                <a:cs typeface="Arial" panose="020B0604020202020204" pitchFamily="34" charset="0"/>
              </a:rPr>
              <a:t>Mô</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phỏng</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kiểm</a:t>
            </a:r>
            <a:r>
              <a:rPr lang="en-US" sz="2000" b="1">
                <a:solidFill>
                  <a:srgbClr val="1F4E79"/>
                </a:solidFill>
                <a:latin typeface="Arial" panose="020B0604020202020204" pitchFamily="34" charset="0"/>
                <a:cs typeface="Arial" panose="020B0604020202020204" pitchFamily="34" charset="0"/>
              </a:rPr>
              <a:t> chứng</a:t>
            </a:r>
            <a:endParaRPr lang="en-US" sz="2000" b="1" err="1">
              <a:solidFill>
                <a:srgbClr val="1F4E79"/>
              </a:solidFill>
              <a:latin typeface="Arial" panose="020B0604020202020204" pitchFamily="34" charset="0"/>
              <a:cs typeface="Arial" panose="020B0604020202020204" pitchFamily="34" charset="0"/>
            </a:endParaRPr>
          </a:p>
        </p:txBody>
      </p:sp>
      <p:sp>
        <p:nvSpPr>
          <p:cNvPr id="48" name="Rectangle 47"/>
          <p:cNvSpPr/>
          <p:nvPr/>
        </p:nvSpPr>
        <p:spPr>
          <a:xfrm>
            <a:off x="2209889" y="4643170"/>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err="1">
                <a:solidFill>
                  <a:srgbClr val="1F4E79"/>
                </a:solidFill>
                <a:latin typeface="Arial" panose="020B0604020202020204" pitchFamily="34" charset="0"/>
                <a:cs typeface="Arial" panose="020B0604020202020204" pitchFamily="34" charset="0"/>
              </a:rPr>
              <a:t>Nhận</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xét</a:t>
            </a:r>
          </a:p>
        </p:txBody>
      </p:sp>
      <p:sp>
        <p:nvSpPr>
          <p:cNvPr id="17" name="Rectangle 16">
            <a:extLst>
              <a:ext uri="{FF2B5EF4-FFF2-40B4-BE49-F238E27FC236}">
                <a16:creationId xmlns:a16="http://schemas.microsoft.com/office/drawing/2014/main" id="{D8D87D02-1656-480A-A263-B75B6FE38809}"/>
              </a:ext>
            </a:extLst>
          </p:cNvPr>
          <p:cNvSpPr/>
          <p:nvPr/>
        </p:nvSpPr>
        <p:spPr>
          <a:xfrm>
            <a:off x="2209889" y="2935955"/>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b="1" err="1">
                <a:solidFill>
                  <a:schemeClr val="tx1"/>
                </a:solidFill>
                <a:cs typeface="Calibri"/>
              </a:rPr>
              <a:t>Cấu</a:t>
            </a:r>
            <a:endParaRPr lang="en-US" b="1" err="1">
              <a:solidFill>
                <a:schemeClr val="tx1"/>
              </a:solidFill>
            </a:endParaRPr>
          </a:p>
        </p:txBody>
      </p:sp>
      <p:sp>
        <p:nvSpPr>
          <p:cNvPr id="18" name="Rectangle 17">
            <a:extLst>
              <a:ext uri="{FF2B5EF4-FFF2-40B4-BE49-F238E27FC236}">
                <a16:creationId xmlns:a16="http://schemas.microsoft.com/office/drawing/2014/main" id="{FA4AF0CF-72CC-4A86-8016-94B01FBCE680}"/>
              </a:ext>
            </a:extLst>
          </p:cNvPr>
          <p:cNvSpPr/>
          <p:nvPr/>
        </p:nvSpPr>
        <p:spPr>
          <a:xfrm>
            <a:off x="2209889" y="2951031"/>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Phương </a:t>
            </a:r>
            <a:r>
              <a:rPr lang="en-US" sz="2000" b="1" err="1">
                <a:solidFill>
                  <a:srgbClr val="1F4E79"/>
                </a:solidFill>
                <a:latin typeface="Arial" panose="020B0604020202020204" pitchFamily="34" charset="0"/>
                <a:cs typeface="Arial" panose="020B0604020202020204" pitchFamily="34" charset="0"/>
              </a:rPr>
              <a:t>pháp</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điều</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khiển</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động</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cơ</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tựa</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từ</a:t>
            </a:r>
            <a:r>
              <a:rPr lang="en-US" sz="2000" b="1">
                <a:solidFill>
                  <a:srgbClr val="1F4E79"/>
                </a:solidFill>
                <a:latin typeface="Arial" panose="020B0604020202020204" pitchFamily="34" charset="0"/>
                <a:cs typeface="Arial" panose="020B0604020202020204" pitchFamily="34" charset="0"/>
              </a:rPr>
              <a:t> </a:t>
            </a:r>
            <a:r>
              <a:rPr lang="en-US" sz="2000" b="1" err="1">
                <a:solidFill>
                  <a:srgbClr val="1F4E79"/>
                </a:solidFill>
                <a:latin typeface="Arial" panose="020B0604020202020204" pitchFamily="34" charset="0"/>
                <a:cs typeface="Arial" panose="020B0604020202020204" pitchFamily="34" charset="0"/>
              </a:rPr>
              <a:t>thông</a:t>
            </a:r>
            <a:r>
              <a:rPr lang="en-US" sz="2000" b="1">
                <a:solidFill>
                  <a:srgbClr val="1F4E79"/>
                </a:solidFill>
                <a:latin typeface="Arial" panose="020B0604020202020204" pitchFamily="34" charset="0"/>
                <a:cs typeface="Arial" panose="020B0604020202020204" pitchFamily="34" charset="0"/>
              </a:rPr>
              <a:t> roto (FOC)</a:t>
            </a:r>
          </a:p>
        </p:txBody>
      </p:sp>
      <p:sp>
        <p:nvSpPr>
          <p:cNvPr id="19" name="Hexagon 18">
            <a:extLst>
              <a:ext uri="{FF2B5EF4-FFF2-40B4-BE49-F238E27FC236}">
                <a16:creationId xmlns:a16="http://schemas.microsoft.com/office/drawing/2014/main" id="{5951A7F7-143A-478C-BEFB-8B0F5BD3EA0B}"/>
              </a:ext>
            </a:extLst>
          </p:cNvPr>
          <p:cNvSpPr/>
          <p:nvPr/>
        </p:nvSpPr>
        <p:spPr>
          <a:xfrm>
            <a:off x="1287261" y="1231532"/>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1</a:t>
            </a:r>
          </a:p>
        </p:txBody>
      </p:sp>
      <p:cxnSp>
        <p:nvCxnSpPr>
          <p:cNvPr id="20" name="Straight Connector 19">
            <a:extLst>
              <a:ext uri="{FF2B5EF4-FFF2-40B4-BE49-F238E27FC236}">
                <a16:creationId xmlns:a16="http://schemas.microsoft.com/office/drawing/2014/main" id="{05274FD6-7A33-4536-B4B3-D898D2CB2A4F}"/>
              </a:ext>
            </a:extLst>
          </p:cNvPr>
          <p:cNvCxnSpPr>
            <a:cxnSpLocks/>
          </p:cNvCxnSpPr>
          <p:nvPr/>
        </p:nvCxnSpPr>
        <p:spPr>
          <a:xfrm>
            <a:off x="1876073" y="1870727"/>
            <a:ext cx="6083019" cy="1"/>
          </a:xfrm>
          <a:prstGeom prst="line">
            <a:avLst/>
          </a:prstGeom>
          <a:ln w="12700" cmpd="sng">
            <a:solidFill>
              <a:schemeClr val="accent5">
                <a:lumMod val="75000"/>
              </a:schemeClr>
            </a:solidFill>
            <a:prstDash val="solid"/>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03B6FAC2-9A77-4F17-B18F-78FF9719FA1D}"/>
              </a:ext>
            </a:extLst>
          </p:cNvPr>
          <p:cNvSpPr/>
          <p:nvPr/>
        </p:nvSpPr>
        <p:spPr>
          <a:xfrm>
            <a:off x="2209889" y="1200271"/>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Đặt vấn đề</a:t>
            </a:r>
          </a:p>
        </p:txBody>
      </p:sp>
      <p:sp>
        <p:nvSpPr>
          <p:cNvPr id="25" name="Hexagon 24">
            <a:extLst>
              <a:ext uri="{FF2B5EF4-FFF2-40B4-BE49-F238E27FC236}">
                <a16:creationId xmlns:a16="http://schemas.microsoft.com/office/drawing/2014/main" id="{CEC28DA9-A69C-4697-BE4E-1AAE632B5BD1}"/>
              </a:ext>
            </a:extLst>
          </p:cNvPr>
          <p:cNvSpPr/>
          <p:nvPr/>
        </p:nvSpPr>
        <p:spPr>
          <a:xfrm>
            <a:off x="1287261" y="5490742"/>
            <a:ext cx="748606" cy="639192"/>
          </a:xfrm>
          <a:prstGeom prst="hexagon">
            <a:avLst/>
          </a:prstGeom>
          <a:solidFill>
            <a:schemeClr val="accent6">
              <a:lumMod val="75000"/>
            </a:schemeClr>
          </a:solid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a:t>6</a:t>
            </a:r>
            <a:endParaRPr lang="en-US" b="1"/>
          </a:p>
        </p:txBody>
      </p:sp>
      <p:cxnSp>
        <p:nvCxnSpPr>
          <p:cNvPr id="26" name="Straight Connector 25">
            <a:extLst>
              <a:ext uri="{FF2B5EF4-FFF2-40B4-BE49-F238E27FC236}">
                <a16:creationId xmlns:a16="http://schemas.microsoft.com/office/drawing/2014/main" id="{6744B1F8-F3F4-4B94-B2C2-5679916490A1}"/>
              </a:ext>
            </a:extLst>
          </p:cNvPr>
          <p:cNvCxnSpPr>
            <a:cxnSpLocks/>
            <a:stCxn id="25" idx="1"/>
          </p:cNvCxnSpPr>
          <p:nvPr/>
        </p:nvCxnSpPr>
        <p:spPr>
          <a:xfrm>
            <a:off x="1876069" y="6129938"/>
            <a:ext cx="6083020" cy="363"/>
          </a:xfrm>
          <a:prstGeom prst="line">
            <a:avLst/>
          </a:prstGeom>
          <a:ln w="12700">
            <a:solidFill>
              <a:schemeClr val="accent5">
                <a:lumMod val="75000"/>
              </a:schemeClr>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7263998D-7E2E-4824-A822-8899CBD247B4}"/>
              </a:ext>
            </a:extLst>
          </p:cNvPr>
          <p:cNvSpPr/>
          <p:nvPr/>
        </p:nvSpPr>
        <p:spPr>
          <a:xfrm>
            <a:off x="2209889" y="5489346"/>
            <a:ext cx="5575176" cy="609039"/>
          </a:xfrm>
          <a:prstGeom prst="rect">
            <a:avLst/>
          </a:prstGeom>
          <a:solidFill>
            <a:schemeClr val="bg1"/>
          </a:solidFill>
          <a:ln w="3175">
            <a:solidFill>
              <a:schemeClr val="bg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000" b="1">
                <a:solidFill>
                  <a:srgbClr val="1F4E79"/>
                </a:solidFill>
                <a:latin typeface="Arial" panose="020B0604020202020204" pitchFamily="34" charset="0"/>
                <a:cs typeface="Arial" panose="020B0604020202020204" pitchFamily="34" charset="0"/>
              </a:rPr>
              <a:t>Tài liệu tham khảo</a:t>
            </a:r>
            <a:endParaRPr lang="en-US" sz="2000" b="1" err="1">
              <a:solidFill>
                <a:srgbClr val="1F4E79"/>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56964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5585" y="949912"/>
            <a:ext cx="7818152" cy="948162"/>
          </a:xfrm>
        </p:spPr>
        <p:txBody>
          <a:bodyPr>
            <a:normAutofit/>
          </a:bodyPr>
          <a:lstStyle/>
          <a:p>
            <a:pPr algn="l"/>
            <a:r>
              <a:rPr lang="en-US" sz="2200" dirty="0"/>
              <a:t>2.1: </a:t>
            </a:r>
            <a:r>
              <a:rPr lang="en-US" sz="2200" dirty="0" err="1"/>
              <a:t>Mô</a:t>
            </a:r>
            <a:r>
              <a:rPr lang="en-US" sz="2200" dirty="0"/>
              <a:t> </a:t>
            </a:r>
            <a:r>
              <a:rPr lang="en-US" sz="2200" dirty="0" err="1"/>
              <a:t>hình</a:t>
            </a:r>
            <a:r>
              <a:rPr lang="en-US" sz="2200" dirty="0"/>
              <a:t> </a:t>
            </a:r>
            <a:r>
              <a:rPr lang="en-US" sz="2200" dirty="0" err="1"/>
              <a:t>động</a:t>
            </a:r>
            <a:r>
              <a:rPr lang="en-US" sz="2200" dirty="0"/>
              <a:t> </a:t>
            </a:r>
            <a:r>
              <a:rPr lang="en-US" sz="2200" dirty="0" err="1"/>
              <a:t>cơ</a:t>
            </a:r>
            <a:r>
              <a:rPr lang="en-US" sz="2200" dirty="0"/>
              <a:t> </a:t>
            </a:r>
            <a:r>
              <a:rPr lang="en-US" sz="2200" dirty="0" err="1"/>
              <a:t>đồng</a:t>
            </a:r>
            <a:r>
              <a:rPr lang="en-US" sz="2200" dirty="0"/>
              <a:t> </a:t>
            </a:r>
            <a:r>
              <a:rPr lang="en-US" sz="2200" dirty="0" err="1"/>
              <a:t>bộ</a:t>
            </a:r>
            <a:r>
              <a:rPr lang="en-US" sz="2200" dirty="0"/>
              <a:t> </a:t>
            </a:r>
            <a:r>
              <a:rPr lang="en-US" sz="2200" dirty="0" err="1"/>
              <a:t>kích</a:t>
            </a:r>
            <a:r>
              <a:rPr lang="en-US" sz="2200" dirty="0"/>
              <a:t> </a:t>
            </a:r>
            <a:r>
              <a:rPr lang="en-US" sz="2200" dirty="0" err="1"/>
              <a:t>từ</a:t>
            </a:r>
            <a:r>
              <a:rPr lang="en-US" sz="2200" dirty="0"/>
              <a:t> </a:t>
            </a:r>
            <a:r>
              <a:rPr lang="en-US" sz="2200" dirty="0" err="1"/>
              <a:t>nam</a:t>
            </a:r>
            <a:r>
              <a:rPr lang="en-US" sz="2200" dirty="0"/>
              <a:t> </a:t>
            </a:r>
            <a:r>
              <a:rPr lang="en-US" sz="2200" dirty="0" err="1"/>
              <a:t>châm</a:t>
            </a:r>
            <a:r>
              <a:rPr lang="en-US" sz="2200" dirty="0"/>
              <a:t> </a:t>
            </a:r>
            <a:r>
              <a:rPr lang="en-US" sz="2200" dirty="0" err="1"/>
              <a:t>vĩnh</a:t>
            </a:r>
            <a:r>
              <a:rPr lang="en-US" sz="2200" dirty="0"/>
              <a:t> </a:t>
            </a:r>
            <a:r>
              <a:rPr lang="en-US" sz="2200" dirty="0" err="1"/>
              <a:t>cửu</a:t>
            </a:r>
            <a:r>
              <a:rPr lang="en-US" sz="2200" dirty="0"/>
              <a:t> </a:t>
            </a:r>
            <a:r>
              <a:rPr lang="en-US" sz="2200" dirty="0" err="1"/>
              <a:t>trong</a:t>
            </a:r>
            <a:r>
              <a:rPr lang="en-US" sz="2200" dirty="0"/>
              <a:t> </a:t>
            </a:r>
            <a:r>
              <a:rPr lang="en-US" sz="2200" dirty="0" err="1"/>
              <a:t>không</a:t>
            </a:r>
            <a:r>
              <a:rPr lang="en-US" sz="2200" dirty="0"/>
              <a:t> </a:t>
            </a:r>
            <a:r>
              <a:rPr lang="en-US" sz="2200" dirty="0" err="1"/>
              <a:t>gian</a:t>
            </a:r>
            <a:r>
              <a:rPr lang="en-US" sz="2200" dirty="0"/>
              <a:t> vector</a:t>
            </a:r>
          </a:p>
          <a:p>
            <a:pPr algn="l"/>
            <a:endParaRPr lang="en-US" sz="2200" dirty="0"/>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dirty="0" err="1">
                <a:latin typeface="Arial"/>
                <a:cs typeface="Arial"/>
              </a:rPr>
              <a:t>Mô</a:t>
            </a:r>
            <a:r>
              <a:rPr lang="en-US" dirty="0">
                <a:latin typeface="Arial"/>
                <a:cs typeface="Arial"/>
              </a:rPr>
              <a:t> </a:t>
            </a:r>
            <a:r>
              <a:rPr lang="en-US" dirty="0" err="1">
                <a:latin typeface="Arial"/>
                <a:cs typeface="Arial"/>
              </a:rPr>
              <a:t>hình</a:t>
            </a:r>
            <a:r>
              <a:rPr lang="en-US" dirty="0">
                <a:latin typeface="Arial"/>
                <a:cs typeface="Arial"/>
              </a:rPr>
              <a:t> </a:t>
            </a:r>
            <a:r>
              <a:rPr lang="en-US" dirty="0" err="1">
                <a:latin typeface="Arial"/>
                <a:cs typeface="Arial"/>
              </a:rPr>
              <a:t>động</a:t>
            </a:r>
            <a:r>
              <a:rPr lang="en-US" dirty="0">
                <a:latin typeface="Arial"/>
                <a:cs typeface="Arial"/>
              </a:rPr>
              <a:t> </a:t>
            </a:r>
            <a:r>
              <a:rPr lang="en-US" dirty="0" err="1">
                <a:latin typeface="Arial"/>
                <a:cs typeface="Arial"/>
              </a:rPr>
              <a:t>cơ</a:t>
            </a:r>
            <a:r>
              <a:rPr lang="en-US" dirty="0">
                <a:latin typeface="Arial"/>
                <a:cs typeface="Arial"/>
              </a:rPr>
              <a:t> PMSM</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3</a:t>
            </a:fld>
            <a:endParaRPr lang="en-US"/>
          </a:p>
        </p:txBody>
      </p:sp>
      <p:graphicFrame>
        <p:nvGraphicFramePr>
          <p:cNvPr id="12" name="Object 11">
            <a:extLst>
              <a:ext uri="{FF2B5EF4-FFF2-40B4-BE49-F238E27FC236}">
                <a16:creationId xmlns:a16="http://schemas.microsoft.com/office/drawing/2014/main" id="{FBFD913C-7814-4471-9F32-B1C971AABD45}"/>
              </a:ext>
            </a:extLst>
          </p:cNvPr>
          <p:cNvGraphicFramePr>
            <a:graphicFrameLocks noChangeAspect="1"/>
          </p:cNvGraphicFramePr>
          <p:nvPr>
            <p:extLst>
              <p:ext uri="{D42A27DB-BD31-4B8C-83A1-F6EECF244321}">
                <p14:modId xmlns:p14="http://schemas.microsoft.com/office/powerpoint/2010/main" val="2961655484"/>
              </p:ext>
            </p:extLst>
          </p:nvPr>
        </p:nvGraphicFramePr>
        <p:xfrm>
          <a:off x="1893892" y="5868992"/>
          <a:ext cx="4300537" cy="712787"/>
        </p:xfrm>
        <a:graphic>
          <a:graphicData uri="http://schemas.openxmlformats.org/presentationml/2006/ole">
            <mc:AlternateContent xmlns:mc="http://schemas.openxmlformats.org/markup-compatibility/2006">
              <mc:Choice xmlns:v="urn:schemas-microsoft-com:vml" Requires="v">
                <p:oleObj spid="_x0000_s1026" name="Equation" r:id="rId4" imgW="2374560" imgH="393480" progId="Equation.DSMT4">
                  <p:embed/>
                </p:oleObj>
              </mc:Choice>
              <mc:Fallback>
                <p:oleObj name="Equation" r:id="rId4" imgW="2374560" imgH="393480" progId="Equation.DSMT4">
                  <p:embed/>
                  <p:pic>
                    <p:nvPicPr>
                      <p:cNvPr id="12" name="Object 11">
                        <a:extLst>
                          <a:ext uri="{FF2B5EF4-FFF2-40B4-BE49-F238E27FC236}">
                            <a16:creationId xmlns:a16="http://schemas.microsoft.com/office/drawing/2014/main" id="{FBFD913C-7814-4471-9F32-B1C971AABD45}"/>
                          </a:ext>
                        </a:extLst>
                      </p:cNvPr>
                      <p:cNvPicPr/>
                      <p:nvPr/>
                    </p:nvPicPr>
                    <p:blipFill>
                      <a:blip r:embed="rId5"/>
                      <a:stretch>
                        <a:fillRect/>
                      </a:stretch>
                    </p:blipFill>
                    <p:spPr>
                      <a:xfrm>
                        <a:off x="1893892" y="5868992"/>
                        <a:ext cx="4300537" cy="712787"/>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905B723B-07F7-4F95-86EE-8EAC785F65E4}"/>
              </a:ext>
            </a:extLst>
          </p:cNvPr>
          <p:cNvSpPr txBox="1"/>
          <p:nvPr/>
        </p:nvSpPr>
        <p:spPr>
          <a:xfrm>
            <a:off x="1511348" y="5566075"/>
            <a:ext cx="6506633" cy="369332"/>
          </a:xfrm>
          <a:prstGeom prst="rect">
            <a:avLst/>
          </a:prstGeom>
          <a:noFill/>
        </p:spPr>
        <p:txBody>
          <a:bodyPr wrap="square" rtlCol="0">
            <a:spAutoFit/>
          </a:bodyPr>
          <a:lstStyle/>
          <a:p>
            <a:r>
              <a:rPr lang="en-US">
                <a:solidFill>
                  <a:schemeClr val="accent1">
                    <a:lumMod val="50000"/>
                  </a:schemeClr>
                </a:solidFill>
              </a:rPr>
              <a:t>Hình 2.1: biểu diễn 3 dòng pha dưới dạng vector phức</a:t>
            </a:r>
          </a:p>
        </p:txBody>
      </p:sp>
      <p:pic>
        <p:nvPicPr>
          <p:cNvPr id="72" name="Picture 71">
            <a:extLst>
              <a:ext uri="{FF2B5EF4-FFF2-40B4-BE49-F238E27FC236}">
                <a16:creationId xmlns:a16="http://schemas.microsoft.com/office/drawing/2014/main" id="{49DAAFF9-F2DD-41EC-AD7F-3CCAF5BC1465}"/>
              </a:ext>
            </a:extLst>
          </p:cNvPr>
          <p:cNvPicPr>
            <a:picLocks noChangeAspect="1"/>
          </p:cNvPicPr>
          <p:nvPr/>
        </p:nvPicPr>
        <p:blipFill>
          <a:blip r:embed="rId6"/>
          <a:stretch>
            <a:fillRect/>
          </a:stretch>
        </p:blipFill>
        <p:spPr>
          <a:xfrm>
            <a:off x="1358284" y="1791964"/>
            <a:ext cx="6506634" cy="3709753"/>
          </a:xfrm>
          <a:prstGeom prst="rect">
            <a:avLst/>
          </a:prstGeom>
        </p:spPr>
      </p:pic>
    </p:spTree>
    <p:extLst>
      <p:ext uri="{BB962C8B-B14F-4D97-AF65-F5344CB8AC3E}">
        <p14:creationId xmlns:p14="http://schemas.microsoft.com/office/powerpoint/2010/main" val="28620192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5583" y="1703255"/>
            <a:ext cx="7432831" cy="4314552"/>
          </a:xfrm>
        </p:spPr>
        <p:txBody>
          <a:bodyPr>
            <a:normAutofit/>
          </a:bodyPr>
          <a:lstStyle/>
          <a:p>
            <a:pPr marL="800080" lvl="1" indent="-342891" algn="l">
              <a:buFont typeface="Wingdings" panose="05000000000000000000" pitchFamily="2" charset="2"/>
              <a:buChar char="v"/>
            </a:pPr>
            <a:r>
              <a:rPr lang="en-US" dirty="0" err="1"/>
              <a:t>Mối</a:t>
            </a:r>
            <a:r>
              <a:rPr lang="en-US" dirty="0"/>
              <a:t> </a:t>
            </a:r>
            <a:r>
              <a:rPr lang="en-US" dirty="0" err="1"/>
              <a:t>quan</a:t>
            </a:r>
            <a:r>
              <a:rPr lang="en-US" dirty="0"/>
              <a:t> </a:t>
            </a:r>
            <a:r>
              <a:rPr lang="en-US" dirty="0" err="1"/>
              <a:t>hệ</a:t>
            </a:r>
            <a:r>
              <a:rPr lang="en-US" dirty="0"/>
              <a:t> </a:t>
            </a:r>
            <a:r>
              <a:rPr lang="en-US" dirty="0" err="1"/>
              <a:t>giữa</a:t>
            </a:r>
            <a:r>
              <a:rPr lang="en-US" dirty="0"/>
              <a:t> </a:t>
            </a:r>
            <a:r>
              <a:rPr lang="en-US" dirty="0" err="1"/>
              <a:t>các</a:t>
            </a:r>
            <a:r>
              <a:rPr lang="en-US" dirty="0"/>
              <a:t> </a:t>
            </a:r>
            <a:r>
              <a:rPr lang="en-US" dirty="0" err="1"/>
              <a:t>đại</a:t>
            </a:r>
            <a:r>
              <a:rPr lang="en-US" dirty="0"/>
              <a:t> </a:t>
            </a:r>
            <a:r>
              <a:rPr lang="en-US" dirty="0" err="1"/>
              <a:t>lượng</a:t>
            </a:r>
            <a:r>
              <a:rPr lang="en-US" dirty="0"/>
              <a:t> vector </a:t>
            </a:r>
            <a:r>
              <a:rPr lang="en-US" dirty="0" err="1"/>
              <a:t>trong</a:t>
            </a:r>
            <a:r>
              <a:rPr lang="en-US" dirty="0"/>
              <a:t> </a:t>
            </a:r>
            <a:r>
              <a:rPr lang="en-US" dirty="0" err="1"/>
              <a:t>hệ</a:t>
            </a:r>
            <a:r>
              <a:rPr lang="en-US" dirty="0"/>
              <a:t> </a:t>
            </a:r>
            <a:r>
              <a:rPr lang="en-US" dirty="0" err="1"/>
              <a:t>tọa</a:t>
            </a:r>
            <a:r>
              <a:rPr lang="en-US" dirty="0"/>
              <a:t> </a:t>
            </a:r>
            <a:r>
              <a:rPr lang="en-US" dirty="0" err="1"/>
              <a:t>độ</a:t>
            </a:r>
            <a:r>
              <a:rPr lang="en-US" dirty="0"/>
              <a:t> </a:t>
            </a:r>
            <a:r>
              <a:rPr lang="en-US" dirty="0" err="1"/>
              <a:t>dq</a:t>
            </a:r>
            <a:r>
              <a:rPr lang="en-US" dirty="0"/>
              <a:t> </a:t>
            </a:r>
          </a:p>
          <a:p>
            <a:pPr marL="800080" lvl="1" indent="-342891" algn="l">
              <a:buFont typeface="Wingdings" panose="05000000000000000000" pitchFamily="2" charset="2"/>
              <a:buChar char="§"/>
            </a:pPr>
            <a:r>
              <a:rPr lang="en-US" dirty="0" err="1"/>
              <a:t>Phương</a:t>
            </a:r>
            <a:r>
              <a:rPr lang="en-US" dirty="0"/>
              <a:t> </a:t>
            </a:r>
            <a:r>
              <a:rPr lang="en-US" dirty="0" err="1"/>
              <a:t>trình</a:t>
            </a:r>
            <a:r>
              <a:rPr lang="en-US" dirty="0"/>
              <a:t> </a:t>
            </a:r>
            <a:r>
              <a:rPr lang="en-US" dirty="0" err="1"/>
              <a:t>điện</a:t>
            </a:r>
            <a:r>
              <a:rPr lang="en-US" dirty="0"/>
              <a:t> </a:t>
            </a:r>
            <a:r>
              <a:rPr lang="en-US" dirty="0" err="1"/>
              <a:t>áp</a:t>
            </a:r>
            <a:endParaRPr lang="en-US" dirty="0"/>
          </a:p>
          <a:p>
            <a:pPr marL="800080" lvl="1" indent="-342891" algn="l">
              <a:buFont typeface="Wingdings" panose="05000000000000000000" pitchFamily="2" charset="2"/>
              <a:buChar char="§"/>
            </a:pPr>
            <a:endParaRPr lang="en-US" dirty="0"/>
          </a:p>
          <a:p>
            <a:pPr marL="800080" lvl="1" indent="-342891" algn="l">
              <a:buFont typeface="Wingdings" panose="05000000000000000000" pitchFamily="2" charset="2"/>
              <a:buChar char="§"/>
            </a:pPr>
            <a:endParaRPr lang="en-US" dirty="0"/>
          </a:p>
          <a:p>
            <a:pPr marL="800080" lvl="1" indent="-342891" algn="l">
              <a:buFont typeface="Wingdings" panose="05000000000000000000" pitchFamily="2" charset="2"/>
              <a:buChar char="§"/>
            </a:pPr>
            <a:endParaRPr lang="en-US" dirty="0"/>
          </a:p>
          <a:p>
            <a:pPr lvl="1" algn="l"/>
            <a:endParaRPr lang="en-US" dirty="0"/>
          </a:p>
          <a:p>
            <a:pPr lvl="1" algn="l"/>
            <a:endParaRPr lang="en-US" dirty="0"/>
          </a:p>
          <a:p>
            <a:pPr marL="800100" lvl="1" indent="-342900" algn="l">
              <a:buFont typeface="Wingdings" panose="05000000000000000000" pitchFamily="2" charset="2"/>
              <a:buChar char="§"/>
            </a:pPr>
            <a:r>
              <a:rPr lang="en-US" dirty="0"/>
              <a:t>Ph</a:t>
            </a:r>
            <a:r>
              <a:rPr lang="vi-VN" dirty="0"/>
              <a:t>ươn</a:t>
            </a:r>
            <a:r>
              <a:rPr lang="en-US" dirty="0"/>
              <a:t>g </a:t>
            </a:r>
            <a:r>
              <a:rPr lang="en-US" dirty="0" err="1"/>
              <a:t>trình</a:t>
            </a:r>
            <a:r>
              <a:rPr lang="en-US" dirty="0"/>
              <a:t> </a:t>
            </a:r>
            <a:r>
              <a:rPr lang="en-US" dirty="0" err="1"/>
              <a:t>mô</a:t>
            </a:r>
            <a:r>
              <a:rPr lang="en-US" dirty="0"/>
              <a:t> </a:t>
            </a:r>
            <a:r>
              <a:rPr lang="en-US" dirty="0" err="1"/>
              <a:t>tả</a:t>
            </a:r>
            <a:r>
              <a:rPr lang="en-US" dirty="0"/>
              <a:t> </a:t>
            </a:r>
            <a:r>
              <a:rPr lang="en-US" dirty="0" err="1"/>
              <a:t>từ</a:t>
            </a:r>
            <a:r>
              <a:rPr lang="en-US" dirty="0"/>
              <a:t> </a:t>
            </a:r>
            <a:r>
              <a:rPr lang="en-US" dirty="0" err="1"/>
              <a:t>thông</a:t>
            </a:r>
            <a:r>
              <a:rPr lang="en-US" dirty="0"/>
              <a:t> </a:t>
            </a:r>
            <a:r>
              <a:rPr lang="en-US" dirty="0" err="1"/>
              <a:t>và</a:t>
            </a:r>
            <a:r>
              <a:rPr lang="en-US" dirty="0"/>
              <a:t> </a:t>
            </a:r>
            <a:r>
              <a:rPr lang="en-US" dirty="0" err="1"/>
              <a:t>tốc</a:t>
            </a:r>
            <a:r>
              <a:rPr lang="en-US" dirty="0"/>
              <a:t> </a:t>
            </a:r>
            <a:r>
              <a:rPr lang="en-US" dirty="0" err="1"/>
              <a:t>độ</a:t>
            </a:r>
            <a:r>
              <a:rPr lang="en-US" dirty="0"/>
              <a:t> </a:t>
            </a:r>
            <a:r>
              <a:rPr lang="en-US" dirty="0" err="1"/>
              <a:t>động</a:t>
            </a:r>
            <a:r>
              <a:rPr lang="en-US" dirty="0"/>
              <a:t> c</a:t>
            </a:r>
            <a:r>
              <a:rPr lang="vi-VN" dirty="0"/>
              <a:t>ơ</a:t>
            </a:r>
            <a:r>
              <a:rPr lang="en-US" dirty="0"/>
              <a:t> </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2</a:t>
            </a:r>
          </a:p>
        </p:txBody>
      </p:sp>
      <p:sp>
        <p:nvSpPr>
          <p:cNvPr id="4" name="Title 3"/>
          <p:cNvSpPr>
            <a:spLocks noGrp="1"/>
          </p:cNvSpPr>
          <p:nvPr>
            <p:ph type="title"/>
          </p:nvPr>
        </p:nvSpPr>
        <p:spPr/>
        <p:txBody>
          <a:bodyPr/>
          <a:lstStyle/>
          <a:p>
            <a:r>
              <a:rPr lang="en-US" dirty="0" err="1">
                <a:latin typeface="Arial"/>
                <a:cs typeface="Arial"/>
              </a:rPr>
              <a:t>Mô</a:t>
            </a:r>
            <a:r>
              <a:rPr lang="en-US" dirty="0">
                <a:latin typeface="Arial"/>
                <a:cs typeface="Arial"/>
              </a:rPr>
              <a:t> </a:t>
            </a:r>
            <a:r>
              <a:rPr lang="en-US" dirty="0" err="1">
                <a:latin typeface="Arial"/>
                <a:cs typeface="Arial"/>
              </a:rPr>
              <a:t>hình</a:t>
            </a:r>
            <a:r>
              <a:rPr lang="en-US" dirty="0">
                <a:latin typeface="Arial"/>
                <a:cs typeface="Arial"/>
              </a:rPr>
              <a:t> </a:t>
            </a:r>
            <a:r>
              <a:rPr lang="en-US" dirty="0" err="1">
                <a:latin typeface="Arial"/>
                <a:cs typeface="Arial"/>
              </a:rPr>
              <a:t>động</a:t>
            </a:r>
            <a:r>
              <a:rPr lang="en-US" dirty="0">
                <a:latin typeface="Arial"/>
                <a:cs typeface="Arial"/>
              </a:rPr>
              <a:t> </a:t>
            </a:r>
            <a:r>
              <a:rPr lang="en-US" dirty="0" err="1">
                <a:latin typeface="Arial"/>
                <a:cs typeface="Arial"/>
              </a:rPr>
              <a:t>cơ</a:t>
            </a:r>
            <a:r>
              <a:rPr lang="en-US" dirty="0">
                <a:latin typeface="Arial"/>
                <a:cs typeface="Arial"/>
              </a:rPr>
              <a:t> PMSM</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4</a:t>
            </a:fld>
            <a:endParaRPr lang="en-US"/>
          </a:p>
        </p:txBody>
      </p:sp>
      <p:sp>
        <p:nvSpPr>
          <p:cNvPr id="14" name="Subtitle 1">
            <a:extLst>
              <a:ext uri="{FF2B5EF4-FFF2-40B4-BE49-F238E27FC236}">
                <a16:creationId xmlns:a16="http://schemas.microsoft.com/office/drawing/2014/main" id="{F8A91D90-61C0-4F89-A81B-37401D35E386}"/>
              </a:ext>
            </a:extLst>
          </p:cNvPr>
          <p:cNvSpPr txBox="1">
            <a:spLocks/>
          </p:cNvSpPr>
          <p:nvPr/>
        </p:nvSpPr>
        <p:spPr>
          <a:xfrm>
            <a:off x="855585" y="949912"/>
            <a:ext cx="7818152" cy="9481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accent1">
                    <a:lumMod val="50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accent1">
                    <a:lumMod val="50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200" dirty="0"/>
              <a:t>2.1: </a:t>
            </a:r>
            <a:r>
              <a:rPr lang="en-US" sz="2200" dirty="0" err="1"/>
              <a:t>Mô</a:t>
            </a:r>
            <a:r>
              <a:rPr lang="en-US" sz="2200" dirty="0"/>
              <a:t> </a:t>
            </a:r>
            <a:r>
              <a:rPr lang="en-US" sz="2200" dirty="0" err="1"/>
              <a:t>hình</a:t>
            </a:r>
            <a:r>
              <a:rPr lang="en-US" sz="2200" dirty="0"/>
              <a:t> </a:t>
            </a:r>
            <a:r>
              <a:rPr lang="en-US" sz="2200" dirty="0" err="1"/>
              <a:t>động</a:t>
            </a:r>
            <a:r>
              <a:rPr lang="en-US" sz="2200" dirty="0"/>
              <a:t> </a:t>
            </a:r>
            <a:r>
              <a:rPr lang="en-US" sz="2200" dirty="0" err="1"/>
              <a:t>cơ</a:t>
            </a:r>
            <a:r>
              <a:rPr lang="en-US" sz="2200" dirty="0"/>
              <a:t> </a:t>
            </a:r>
            <a:r>
              <a:rPr lang="en-US" sz="2200" dirty="0" err="1"/>
              <a:t>đồng</a:t>
            </a:r>
            <a:r>
              <a:rPr lang="en-US" sz="2200" dirty="0"/>
              <a:t> </a:t>
            </a:r>
            <a:r>
              <a:rPr lang="en-US" sz="2200" dirty="0" err="1"/>
              <a:t>bộ</a:t>
            </a:r>
            <a:r>
              <a:rPr lang="en-US" sz="2200" dirty="0"/>
              <a:t> </a:t>
            </a:r>
            <a:r>
              <a:rPr lang="en-US" sz="2200" dirty="0" err="1"/>
              <a:t>kích</a:t>
            </a:r>
            <a:r>
              <a:rPr lang="en-US" sz="2200" dirty="0"/>
              <a:t> </a:t>
            </a:r>
            <a:r>
              <a:rPr lang="en-US" sz="2200" dirty="0" err="1"/>
              <a:t>từ</a:t>
            </a:r>
            <a:r>
              <a:rPr lang="en-US" sz="2200" dirty="0"/>
              <a:t> </a:t>
            </a:r>
            <a:r>
              <a:rPr lang="en-US" sz="2200" dirty="0" err="1"/>
              <a:t>nam</a:t>
            </a:r>
            <a:r>
              <a:rPr lang="en-US" sz="2200" dirty="0"/>
              <a:t> </a:t>
            </a:r>
            <a:r>
              <a:rPr lang="en-US" sz="2200" dirty="0" err="1"/>
              <a:t>châm</a:t>
            </a:r>
            <a:r>
              <a:rPr lang="en-US" sz="2200" dirty="0"/>
              <a:t> </a:t>
            </a:r>
            <a:r>
              <a:rPr lang="en-US" sz="2200" dirty="0" err="1"/>
              <a:t>vĩnh</a:t>
            </a:r>
            <a:r>
              <a:rPr lang="en-US" sz="2200" dirty="0"/>
              <a:t> </a:t>
            </a:r>
            <a:r>
              <a:rPr lang="en-US" sz="2200" dirty="0" err="1"/>
              <a:t>cửu</a:t>
            </a:r>
            <a:r>
              <a:rPr lang="en-US" sz="2200" dirty="0"/>
              <a:t> </a:t>
            </a:r>
            <a:r>
              <a:rPr lang="en-US" sz="2200" dirty="0" err="1"/>
              <a:t>trong</a:t>
            </a:r>
            <a:r>
              <a:rPr lang="en-US" sz="2200" dirty="0"/>
              <a:t> </a:t>
            </a:r>
            <a:r>
              <a:rPr lang="en-US" sz="2200" dirty="0" err="1"/>
              <a:t>không</a:t>
            </a:r>
            <a:r>
              <a:rPr lang="en-US" sz="2200" dirty="0"/>
              <a:t> </a:t>
            </a:r>
            <a:r>
              <a:rPr lang="en-US" sz="2200" dirty="0" err="1"/>
              <a:t>gian</a:t>
            </a:r>
            <a:r>
              <a:rPr lang="en-US" sz="2200" dirty="0"/>
              <a:t> vector</a:t>
            </a:r>
          </a:p>
          <a:p>
            <a:pPr algn="l"/>
            <a:endParaRPr lang="en-US" sz="2200" dirty="0"/>
          </a:p>
        </p:txBody>
      </p:sp>
      <p:graphicFrame>
        <p:nvGraphicFramePr>
          <p:cNvPr id="17" name="Object 16">
            <a:extLst>
              <a:ext uri="{FF2B5EF4-FFF2-40B4-BE49-F238E27FC236}">
                <a16:creationId xmlns:a16="http://schemas.microsoft.com/office/drawing/2014/main" id="{9279E8A5-D0FA-41A3-AC69-8B4E887DA6E5}"/>
              </a:ext>
            </a:extLst>
          </p:cNvPr>
          <p:cNvGraphicFramePr>
            <a:graphicFrameLocks noChangeAspect="1"/>
          </p:cNvGraphicFramePr>
          <p:nvPr>
            <p:extLst>
              <p:ext uri="{D42A27DB-BD31-4B8C-83A1-F6EECF244321}">
                <p14:modId xmlns:p14="http://schemas.microsoft.com/office/powerpoint/2010/main" val="521512812"/>
              </p:ext>
            </p:extLst>
          </p:nvPr>
        </p:nvGraphicFramePr>
        <p:xfrm>
          <a:off x="1341052" y="2704030"/>
          <a:ext cx="3814763" cy="1381125"/>
        </p:xfrm>
        <a:graphic>
          <a:graphicData uri="http://schemas.openxmlformats.org/presentationml/2006/ole">
            <mc:AlternateContent xmlns:mc="http://schemas.openxmlformats.org/markup-compatibility/2006">
              <mc:Choice xmlns:v="urn:schemas-microsoft-com:vml" Requires="v">
                <p:oleObj spid="_x0000_s2050" name="Equation" r:id="rId3" imgW="3814593" imgH="1380777" progId="Equation.DSMT4">
                  <p:embed/>
                </p:oleObj>
              </mc:Choice>
              <mc:Fallback>
                <p:oleObj name="Equation" r:id="rId3" imgW="3814593" imgH="1380777" progId="Equation.DSMT4">
                  <p:embed/>
                  <p:pic>
                    <p:nvPicPr>
                      <p:cNvPr id="17" name="Object 16">
                        <a:extLst>
                          <a:ext uri="{FF2B5EF4-FFF2-40B4-BE49-F238E27FC236}">
                            <a16:creationId xmlns:a16="http://schemas.microsoft.com/office/drawing/2014/main" id="{9279E8A5-D0FA-41A3-AC69-8B4E887DA6E5}"/>
                          </a:ext>
                        </a:extLst>
                      </p:cNvPr>
                      <p:cNvPicPr/>
                      <p:nvPr/>
                    </p:nvPicPr>
                    <p:blipFill>
                      <a:blip r:embed="rId4"/>
                      <a:stretch>
                        <a:fillRect/>
                      </a:stretch>
                    </p:blipFill>
                    <p:spPr>
                      <a:xfrm>
                        <a:off x="1341052" y="2704030"/>
                        <a:ext cx="3814763" cy="1381125"/>
                      </a:xfrm>
                      <a:prstGeom prst="rect">
                        <a:avLst/>
                      </a:prstGeom>
                    </p:spPr>
                  </p:pic>
                </p:oleObj>
              </mc:Fallback>
            </mc:AlternateContent>
          </a:graphicData>
        </a:graphic>
      </p:graphicFrame>
      <p:graphicFrame>
        <p:nvGraphicFramePr>
          <p:cNvPr id="18" name="Object 17">
            <a:extLst>
              <a:ext uri="{FF2B5EF4-FFF2-40B4-BE49-F238E27FC236}">
                <a16:creationId xmlns:a16="http://schemas.microsoft.com/office/drawing/2014/main" id="{9EE44692-3411-404D-9C96-98BD9B726D77}"/>
              </a:ext>
            </a:extLst>
          </p:cNvPr>
          <p:cNvGraphicFramePr>
            <a:graphicFrameLocks noChangeAspect="1"/>
          </p:cNvGraphicFramePr>
          <p:nvPr>
            <p:extLst>
              <p:ext uri="{D42A27DB-BD31-4B8C-83A1-F6EECF244321}">
                <p14:modId xmlns:p14="http://schemas.microsoft.com/office/powerpoint/2010/main" val="2867510491"/>
              </p:ext>
            </p:extLst>
          </p:nvPr>
        </p:nvGraphicFramePr>
        <p:xfrm>
          <a:off x="1341052" y="4615305"/>
          <a:ext cx="4757907" cy="1463971"/>
        </p:xfrm>
        <a:graphic>
          <a:graphicData uri="http://schemas.openxmlformats.org/presentationml/2006/ole">
            <mc:AlternateContent xmlns:mc="http://schemas.openxmlformats.org/markup-compatibility/2006">
              <mc:Choice xmlns:v="urn:schemas-microsoft-com:vml" Requires="v">
                <p:oleObj spid="_x0000_s2051" name="Equation" r:id="rId5" imgW="2971800" imgH="914400" progId="Equation.DSMT4">
                  <p:embed/>
                </p:oleObj>
              </mc:Choice>
              <mc:Fallback>
                <p:oleObj name="Equation" r:id="rId5" imgW="2971800" imgH="914400" progId="Equation.DSMT4">
                  <p:embed/>
                  <p:pic>
                    <p:nvPicPr>
                      <p:cNvPr id="18" name="Object 17">
                        <a:extLst>
                          <a:ext uri="{FF2B5EF4-FFF2-40B4-BE49-F238E27FC236}">
                            <a16:creationId xmlns:a16="http://schemas.microsoft.com/office/drawing/2014/main" id="{9EE44692-3411-404D-9C96-98BD9B726D77}"/>
                          </a:ext>
                        </a:extLst>
                      </p:cNvPr>
                      <p:cNvPicPr/>
                      <p:nvPr/>
                    </p:nvPicPr>
                    <p:blipFill>
                      <a:blip r:embed="rId6"/>
                      <a:stretch>
                        <a:fillRect/>
                      </a:stretch>
                    </p:blipFill>
                    <p:spPr>
                      <a:xfrm>
                        <a:off x="1341052" y="4615305"/>
                        <a:ext cx="4757907" cy="1463971"/>
                      </a:xfrm>
                      <a:prstGeom prst="rect">
                        <a:avLst/>
                      </a:prstGeom>
                    </p:spPr>
                  </p:pic>
                </p:oleObj>
              </mc:Fallback>
            </mc:AlternateContent>
          </a:graphicData>
        </a:graphic>
      </p:graphicFrame>
    </p:spTree>
    <p:extLst>
      <p:ext uri="{BB962C8B-B14F-4D97-AF65-F5344CB8AC3E}">
        <p14:creationId xmlns:p14="http://schemas.microsoft.com/office/powerpoint/2010/main" val="65015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p:txBody>
          <a:bodyPr>
            <a:normAutofit/>
          </a:bodyPr>
          <a:lstStyle/>
          <a:p>
            <a:pPr algn="l"/>
            <a:r>
              <a:rPr lang="en-US" sz="2000" dirty="0"/>
              <a:t>3.1: </a:t>
            </a:r>
            <a:r>
              <a:rPr lang="en-US" sz="2000" dirty="0" err="1"/>
              <a:t>Phương</a:t>
            </a:r>
            <a:r>
              <a:rPr lang="en-US" sz="2000" dirty="0"/>
              <a:t> </a:t>
            </a:r>
            <a:r>
              <a:rPr lang="en-US" sz="2000" dirty="0" err="1"/>
              <a:t>pháp</a:t>
            </a:r>
            <a:r>
              <a:rPr lang="en-US" sz="2000" dirty="0"/>
              <a:t> </a:t>
            </a:r>
            <a:r>
              <a:rPr lang="en-US" sz="2000" dirty="0" err="1"/>
              <a:t>điểu</a:t>
            </a:r>
            <a:r>
              <a:rPr lang="en-US" sz="2000" dirty="0"/>
              <a:t> </a:t>
            </a:r>
            <a:r>
              <a:rPr lang="en-US" sz="2000" dirty="0" err="1"/>
              <a:t>khiển</a:t>
            </a:r>
            <a:r>
              <a:rPr lang="en-US" sz="2000" dirty="0"/>
              <a:t> vector </a:t>
            </a:r>
            <a:r>
              <a:rPr lang="en-US" sz="2000" dirty="0" err="1"/>
              <a:t>tựa</a:t>
            </a:r>
            <a:r>
              <a:rPr lang="en-US" sz="2000" dirty="0"/>
              <a:t> </a:t>
            </a:r>
            <a:r>
              <a:rPr lang="en-US" sz="2000" dirty="0" err="1"/>
              <a:t>từ</a:t>
            </a:r>
            <a:r>
              <a:rPr lang="en-US" sz="2000" dirty="0"/>
              <a:t> </a:t>
            </a:r>
            <a:r>
              <a:rPr lang="en-US" sz="2000" dirty="0" err="1"/>
              <a:t>thông</a:t>
            </a:r>
            <a:r>
              <a:rPr lang="en-US" sz="2000" dirty="0"/>
              <a:t> rotor (FOC)</a:t>
            </a:r>
          </a:p>
          <a:p>
            <a:pPr marL="342900" indent="-342900" algn="l">
              <a:buFont typeface="Wingdings" panose="05000000000000000000" pitchFamily="2" charset="2"/>
              <a:buChar char="v"/>
            </a:pPr>
            <a:r>
              <a:rPr lang="en-US" sz="2000" dirty="0"/>
              <a:t>Khi </a:t>
            </a:r>
            <a:r>
              <a:rPr lang="en-US" sz="2000" dirty="0" err="1"/>
              <a:t>động</a:t>
            </a:r>
            <a:r>
              <a:rPr lang="en-US" sz="2000" dirty="0"/>
              <a:t> </a:t>
            </a:r>
            <a:r>
              <a:rPr lang="en-US" sz="2000" dirty="0" err="1"/>
              <a:t>cơ</a:t>
            </a:r>
            <a:r>
              <a:rPr lang="en-US" sz="2000" dirty="0"/>
              <a:t> </a:t>
            </a:r>
            <a:r>
              <a:rPr lang="en-US" sz="2000" dirty="0" err="1"/>
              <a:t>hoạt</a:t>
            </a:r>
            <a:r>
              <a:rPr lang="en-US" sz="2000" dirty="0"/>
              <a:t> </a:t>
            </a:r>
            <a:r>
              <a:rPr lang="en-US" sz="2000" dirty="0" err="1"/>
              <a:t>động</a:t>
            </a:r>
            <a:r>
              <a:rPr lang="en-US" sz="2000" dirty="0"/>
              <a:t> ở </a:t>
            </a:r>
            <a:r>
              <a:rPr lang="en-US" sz="2000" dirty="0" err="1"/>
              <a:t>chế</a:t>
            </a:r>
            <a:r>
              <a:rPr lang="en-US" sz="2000" dirty="0"/>
              <a:t> </a:t>
            </a:r>
            <a:r>
              <a:rPr lang="en-US" sz="2000" dirty="0" err="1"/>
              <a:t>độ</a:t>
            </a:r>
            <a:r>
              <a:rPr lang="en-US" sz="2000" dirty="0"/>
              <a:t> </a:t>
            </a:r>
            <a:r>
              <a:rPr lang="en-US" sz="2000" dirty="0" err="1"/>
              <a:t>xác</a:t>
            </a:r>
            <a:r>
              <a:rPr lang="en-US" sz="2000" dirty="0"/>
              <a:t> </a:t>
            </a:r>
            <a:r>
              <a:rPr lang="en-US" sz="2000" dirty="0" err="1"/>
              <a:t>lập</a:t>
            </a:r>
            <a:r>
              <a:rPr lang="en-US" sz="2000" dirty="0"/>
              <a:t>, </a:t>
            </a:r>
            <a:r>
              <a:rPr lang="en-US" sz="2000" dirty="0" err="1"/>
              <a:t>các</a:t>
            </a:r>
            <a:r>
              <a:rPr lang="en-US" sz="2000" dirty="0"/>
              <a:t> vector </a:t>
            </a:r>
            <a:r>
              <a:rPr lang="en-US" sz="2000" dirty="0" err="1"/>
              <a:t>từ</a:t>
            </a:r>
            <a:r>
              <a:rPr lang="en-US" sz="2000" dirty="0"/>
              <a:t> </a:t>
            </a:r>
            <a:r>
              <a:rPr lang="en-US" sz="2000" dirty="0" err="1"/>
              <a:t>thông</a:t>
            </a:r>
            <a:r>
              <a:rPr lang="en-US" sz="2000" dirty="0"/>
              <a:t>, </a:t>
            </a:r>
            <a:r>
              <a:rPr lang="en-US" sz="2000" dirty="0" err="1"/>
              <a:t>điện</a:t>
            </a:r>
            <a:r>
              <a:rPr lang="en-US" sz="2000" dirty="0"/>
              <a:t> </a:t>
            </a:r>
            <a:r>
              <a:rPr lang="en-US" sz="2000" dirty="0" err="1"/>
              <a:t>áp</a:t>
            </a:r>
            <a:r>
              <a:rPr lang="en-US" sz="2000" dirty="0"/>
              <a:t>, </a:t>
            </a:r>
            <a:r>
              <a:rPr lang="en-US" sz="2000" dirty="0" err="1"/>
              <a:t>dòng</a:t>
            </a:r>
            <a:r>
              <a:rPr lang="en-US" sz="2000" dirty="0"/>
              <a:t> </a:t>
            </a:r>
            <a:r>
              <a:rPr lang="en-US" sz="2000" dirty="0" err="1"/>
              <a:t>điện</a:t>
            </a:r>
            <a:r>
              <a:rPr lang="en-US" sz="2000" dirty="0"/>
              <a:t> </a:t>
            </a:r>
            <a:r>
              <a:rPr lang="en-US" sz="2000" dirty="0" err="1"/>
              <a:t>đều</a:t>
            </a:r>
            <a:r>
              <a:rPr lang="en-US" sz="2000" dirty="0"/>
              <a:t> quay </a:t>
            </a:r>
            <a:r>
              <a:rPr lang="en-US" sz="2000" dirty="0" err="1"/>
              <a:t>với</a:t>
            </a:r>
            <a:r>
              <a:rPr lang="en-US" sz="2000" dirty="0"/>
              <a:t> </a:t>
            </a:r>
            <a:r>
              <a:rPr lang="en-US" sz="2000" dirty="0" err="1"/>
              <a:t>tốc</a:t>
            </a:r>
            <a:r>
              <a:rPr lang="en-US" sz="2000" dirty="0"/>
              <a:t> </a:t>
            </a:r>
            <a:r>
              <a:rPr lang="en-US" sz="2000" dirty="0" err="1"/>
              <a:t>độ</a:t>
            </a:r>
            <a:r>
              <a:rPr lang="en-US" sz="2000" dirty="0"/>
              <a:t> </a:t>
            </a:r>
            <a:r>
              <a:rPr lang="el-GR" sz="2000" dirty="0"/>
              <a:t>ω</a:t>
            </a:r>
            <a:r>
              <a:rPr lang="en-US" sz="2000" baseline="-25000" dirty="0"/>
              <a:t>s</a:t>
            </a:r>
            <a:r>
              <a:rPr lang="en-US" sz="2000" dirty="0"/>
              <a:t>. </a:t>
            </a:r>
            <a:r>
              <a:rPr lang="en-US" sz="2000" dirty="0" err="1"/>
              <a:t>Vì</a:t>
            </a:r>
            <a:r>
              <a:rPr lang="en-US" sz="2000" dirty="0"/>
              <a:t> </a:t>
            </a:r>
            <a:r>
              <a:rPr lang="en-US" sz="2000" dirty="0" err="1"/>
              <a:t>vậy</a:t>
            </a:r>
            <a:r>
              <a:rPr lang="en-US" sz="2000" dirty="0"/>
              <a:t> </a:t>
            </a:r>
            <a:r>
              <a:rPr lang="en-US" sz="2000" dirty="0" err="1"/>
              <a:t>các</a:t>
            </a:r>
            <a:r>
              <a:rPr lang="en-US" sz="2000" dirty="0"/>
              <a:t> </a:t>
            </a:r>
            <a:r>
              <a:rPr lang="en-US" sz="2000" dirty="0" err="1"/>
              <a:t>thành</a:t>
            </a:r>
            <a:r>
              <a:rPr lang="en-US" sz="2000" dirty="0"/>
              <a:t> </a:t>
            </a:r>
            <a:r>
              <a:rPr lang="en-US" sz="2000" dirty="0" err="1"/>
              <a:t>phần</a:t>
            </a:r>
            <a:r>
              <a:rPr lang="en-US" sz="2000" dirty="0"/>
              <a:t> </a:t>
            </a:r>
            <a:r>
              <a:rPr lang="en-US" sz="2000" dirty="0" err="1"/>
              <a:t>chiếu</a:t>
            </a:r>
            <a:r>
              <a:rPr lang="en-US" sz="2000" dirty="0"/>
              <a:t> </a:t>
            </a:r>
            <a:r>
              <a:rPr lang="en-US" sz="2000" dirty="0" err="1"/>
              <a:t>lên</a:t>
            </a:r>
            <a:r>
              <a:rPr lang="en-US" sz="2000" dirty="0"/>
              <a:t> 2 </a:t>
            </a:r>
            <a:r>
              <a:rPr lang="en-US" sz="2000" dirty="0" err="1"/>
              <a:t>trục</a:t>
            </a:r>
            <a:r>
              <a:rPr lang="en-US" sz="2000" dirty="0"/>
              <a:t> d </a:t>
            </a:r>
            <a:r>
              <a:rPr lang="en-US" sz="2000" dirty="0" err="1"/>
              <a:t>và</a:t>
            </a:r>
            <a:r>
              <a:rPr lang="en-US" sz="2000" dirty="0"/>
              <a:t> q </a:t>
            </a:r>
            <a:r>
              <a:rPr lang="en-US" sz="2000" dirty="0" err="1"/>
              <a:t>là</a:t>
            </a:r>
            <a:r>
              <a:rPr lang="en-US" sz="2000" dirty="0"/>
              <a:t> </a:t>
            </a:r>
            <a:r>
              <a:rPr lang="en-US" sz="2000" dirty="0" err="1"/>
              <a:t>các</a:t>
            </a:r>
            <a:r>
              <a:rPr lang="en-US" sz="2000" dirty="0"/>
              <a:t> </a:t>
            </a:r>
            <a:r>
              <a:rPr lang="en-US" sz="2000" dirty="0" err="1"/>
              <a:t>thành</a:t>
            </a:r>
            <a:r>
              <a:rPr lang="en-US" sz="2000" dirty="0"/>
              <a:t> </a:t>
            </a:r>
            <a:r>
              <a:rPr lang="en-US" sz="2000" dirty="0" err="1"/>
              <a:t>phần</a:t>
            </a:r>
            <a:r>
              <a:rPr lang="en-US" sz="2000" dirty="0"/>
              <a:t> 1 </a:t>
            </a:r>
            <a:r>
              <a:rPr lang="en-US" sz="2000" dirty="0" err="1"/>
              <a:t>chiều</a:t>
            </a:r>
            <a:r>
              <a:rPr lang="en-US" sz="2000" dirty="0"/>
              <a:t>.</a:t>
            </a:r>
          </a:p>
          <a:p>
            <a:pPr marL="342900" indent="-342900" algn="l">
              <a:buFont typeface="Wingdings" panose="05000000000000000000" pitchFamily="2" charset="2"/>
              <a:buChar char="v"/>
            </a:pPr>
            <a:r>
              <a:rPr lang="en-US" sz="2000" dirty="0" err="1"/>
              <a:t>Nếu</a:t>
            </a:r>
            <a:r>
              <a:rPr lang="en-US" sz="2000" dirty="0"/>
              <a:t> </a:t>
            </a:r>
            <a:r>
              <a:rPr lang="en-US" sz="2000" dirty="0" err="1"/>
              <a:t>chọn</a:t>
            </a:r>
            <a:r>
              <a:rPr lang="en-US" sz="2000" dirty="0"/>
              <a:t> </a:t>
            </a:r>
            <a:r>
              <a:rPr lang="en-US" sz="2000" dirty="0" err="1"/>
              <a:t>trục</a:t>
            </a:r>
            <a:r>
              <a:rPr lang="en-US" sz="2000" dirty="0"/>
              <a:t> d </a:t>
            </a:r>
            <a:r>
              <a:rPr lang="en-US" sz="2000" dirty="0" err="1"/>
              <a:t>trùng</a:t>
            </a:r>
            <a:r>
              <a:rPr lang="en-US" sz="2000" dirty="0"/>
              <a:t> </a:t>
            </a:r>
            <a:r>
              <a:rPr lang="en-US" sz="2000" dirty="0" err="1"/>
              <a:t>với</a:t>
            </a:r>
            <a:r>
              <a:rPr lang="en-US" sz="2000" dirty="0"/>
              <a:t> </a:t>
            </a:r>
            <a:r>
              <a:rPr lang="en-US" sz="2000" dirty="0" err="1"/>
              <a:t>trục</a:t>
            </a:r>
            <a:r>
              <a:rPr lang="en-US" sz="2000" dirty="0"/>
              <a:t> </a:t>
            </a:r>
            <a:r>
              <a:rPr lang="en-US" sz="2000" dirty="0" err="1"/>
              <a:t>từ</a:t>
            </a:r>
            <a:r>
              <a:rPr lang="en-US" sz="2000" dirty="0"/>
              <a:t> </a:t>
            </a:r>
            <a:r>
              <a:rPr lang="en-US" sz="2000" dirty="0" err="1"/>
              <a:t>thông</a:t>
            </a:r>
            <a:r>
              <a:rPr lang="en-US" sz="2000" dirty="0"/>
              <a:t> rotor </a:t>
            </a:r>
            <a:r>
              <a:rPr lang="en-US" sz="2000" dirty="0" err="1"/>
              <a:t>thì</a:t>
            </a:r>
            <a:r>
              <a:rPr lang="en-US" sz="2000" dirty="0"/>
              <a:t> ta </a:t>
            </a:r>
            <a:r>
              <a:rPr lang="en-US" sz="2000" dirty="0" err="1"/>
              <a:t>sẽ</a:t>
            </a:r>
            <a:r>
              <a:rPr lang="en-US" sz="2000" dirty="0"/>
              <a:t> </a:t>
            </a:r>
            <a:r>
              <a:rPr lang="en-US" sz="2000" dirty="0" err="1"/>
              <a:t>thu</a:t>
            </a:r>
            <a:r>
              <a:rPr lang="en-US" sz="2000" dirty="0"/>
              <a:t> </a:t>
            </a:r>
            <a:r>
              <a:rPr lang="en-US" sz="2000" dirty="0" err="1"/>
              <a:t>được</a:t>
            </a:r>
            <a:r>
              <a:rPr lang="en-US" sz="2000" dirty="0"/>
              <a:t> </a:t>
            </a:r>
            <a:r>
              <a:rPr lang="en-US" sz="2000" dirty="0" err="1"/>
              <a:t>các</a:t>
            </a:r>
            <a:r>
              <a:rPr lang="en-US" sz="2000" dirty="0"/>
              <a:t> </a:t>
            </a:r>
            <a:r>
              <a:rPr lang="en-US" sz="2000" dirty="0" err="1"/>
              <a:t>kết</a:t>
            </a:r>
            <a:r>
              <a:rPr lang="en-US" sz="2000" dirty="0"/>
              <a:t> </a:t>
            </a:r>
            <a:r>
              <a:rPr lang="en-US" sz="2000" dirty="0" err="1"/>
              <a:t>quả</a:t>
            </a:r>
            <a:r>
              <a:rPr lang="en-US" sz="2000" dirty="0"/>
              <a:t> </a:t>
            </a:r>
            <a:r>
              <a:rPr lang="en-US" sz="2000" dirty="0" err="1"/>
              <a:t>sau</a:t>
            </a:r>
            <a:r>
              <a:rPr lang="en-US" sz="2000" dirty="0"/>
              <a:t>:</a:t>
            </a:r>
          </a:p>
          <a:p>
            <a:pPr algn="l"/>
            <a:endParaRPr lang="en-US" sz="2000" dirty="0"/>
          </a:p>
          <a:p>
            <a:pPr marL="800100" lvl="1" indent="-342900" algn="l">
              <a:buFont typeface="Arial" panose="020B0604020202020204" pitchFamily="34" charset="0"/>
              <a:buChar char="•"/>
            </a:pPr>
            <a:r>
              <a:rPr lang="en-US" dirty="0" err="1"/>
              <a:t>Momen</a:t>
            </a:r>
            <a:r>
              <a:rPr lang="en-US" dirty="0"/>
              <a:t> </a:t>
            </a:r>
            <a:r>
              <a:rPr lang="en-US" dirty="0" err="1"/>
              <a:t>động</a:t>
            </a:r>
            <a:r>
              <a:rPr lang="en-US" dirty="0"/>
              <a:t> </a:t>
            </a:r>
            <a:r>
              <a:rPr lang="en-US" dirty="0" err="1"/>
              <a:t>cơ</a:t>
            </a:r>
            <a:endParaRPr lang="en-US" dirty="0"/>
          </a:p>
          <a:p>
            <a:pPr marL="800100" lvl="1" indent="-342900" algn="l">
              <a:buFont typeface="Arial" panose="020B0604020202020204" pitchFamily="34" charset="0"/>
              <a:buChar char="•"/>
            </a:pPr>
            <a:endParaRPr lang="en-US" dirty="0"/>
          </a:p>
          <a:p>
            <a:pPr marL="800100" lvl="1" indent="-342900" algn="l">
              <a:buFont typeface="Arial" panose="020B0604020202020204" pitchFamily="34" charset="0"/>
              <a:buChar char="•"/>
            </a:pPr>
            <a:endParaRPr lang="en-US" dirty="0"/>
          </a:p>
          <a:p>
            <a:pPr marL="342900" indent="-342900" algn="l">
              <a:buFont typeface="Wingdings" panose="05000000000000000000" pitchFamily="2" charset="2"/>
              <a:buChar char="v"/>
            </a:pPr>
            <a:r>
              <a:rPr lang="en-US" sz="2000" dirty="0" err="1"/>
              <a:t>Nhận</a:t>
            </a:r>
            <a:r>
              <a:rPr lang="en-US" sz="2000" dirty="0"/>
              <a:t> </a:t>
            </a:r>
            <a:r>
              <a:rPr lang="en-US" sz="2000" dirty="0" err="1"/>
              <a:t>xét</a:t>
            </a:r>
            <a:r>
              <a:rPr lang="en-US" sz="2000" dirty="0"/>
              <a:t>: </a:t>
            </a:r>
            <a:r>
              <a:rPr lang="en-US" sz="2000" dirty="0" err="1"/>
              <a:t>Nếu</a:t>
            </a:r>
            <a:r>
              <a:rPr lang="en-US" sz="2000" dirty="0"/>
              <a:t> ta </a:t>
            </a:r>
            <a:r>
              <a:rPr lang="en-US" sz="2000" dirty="0" err="1"/>
              <a:t>giữ</a:t>
            </a:r>
            <a:r>
              <a:rPr lang="en-US" sz="2000" dirty="0"/>
              <a:t> </a:t>
            </a:r>
            <a:r>
              <a:rPr lang="en-US" sz="2000" dirty="0" err="1"/>
              <a:t>được</a:t>
            </a:r>
            <a:r>
              <a:rPr lang="en-US" sz="2000" dirty="0"/>
              <a:t> </a:t>
            </a:r>
            <a:r>
              <a:rPr lang="en-US" sz="2000" dirty="0" err="1"/>
              <a:t>biện</a:t>
            </a:r>
            <a:r>
              <a:rPr lang="en-US" sz="2000" dirty="0"/>
              <a:t> </a:t>
            </a:r>
            <a:r>
              <a:rPr lang="en-US" sz="2000" dirty="0" err="1"/>
              <a:t>độ</a:t>
            </a:r>
            <a:r>
              <a:rPr lang="en-US" sz="2000" dirty="0"/>
              <a:t> vector </a:t>
            </a:r>
            <a:r>
              <a:rPr lang="en-US" sz="2000" dirty="0" err="1"/>
              <a:t>từ</a:t>
            </a:r>
            <a:r>
              <a:rPr lang="en-US" sz="2000" dirty="0"/>
              <a:t> </a:t>
            </a:r>
            <a:r>
              <a:rPr lang="en-US" sz="2000" dirty="0" err="1"/>
              <a:t>thông</a:t>
            </a:r>
            <a:r>
              <a:rPr lang="en-US" sz="2000" dirty="0"/>
              <a:t> rotor </a:t>
            </a:r>
            <a:r>
              <a:rPr lang="en-US" sz="2000" dirty="0" err="1"/>
              <a:t>không</a:t>
            </a:r>
            <a:r>
              <a:rPr lang="en-US" sz="2000" dirty="0"/>
              <a:t> </a:t>
            </a:r>
            <a:r>
              <a:rPr lang="en-US" sz="2000" dirty="0" err="1"/>
              <a:t>đổi</a:t>
            </a:r>
            <a:r>
              <a:rPr lang="en-US" sz="2000" dirty="0"/>
              <a:t> </a:t>
            </a:r>
            <a:r>
              <a:rPr lang="en-US" sz="2000" dirty="0" err="1"/>
              <a:t>thì</a:t>
            </a:r>
            <a:r>
              <a:rPr lang="en-US" sz="2000" dirty="0"/>
              <a:t> </a:t>
            </a:r>
            <a:r>
              <a:rPr lang="en-US" sz="2000" dirty="0" err="1"/>
              <a:t>momen</a:t>
            </a:r>
            <a:r>
              <a:rPr lang="en-US" sz="2000" dirty="0"/>
              <a:t> </a:t>
            </a:r>
            <a:r>
              <a:rPr lang="en-US" sz="2000" dirty="0" err="1"/>
              <a:t>của</a:t>
            </a:r>
            <a:r>
              <a:rPr lang="en-US" sz="2000" dirty="0"/>
              <a:t> </a:t>
            </a:r>
            <a:r>
              <a:rPr lang="en-US" sz="2000" dirty="0" err="1"/>
              <a:t>động</a:t>
            </a:r>
            <a:r>
              <a:rPr lang="en-US" sz="2000" dirty="0"/>
              <a:t> </a:t>
            </a:r>
            <a:r>
              <a:rPr lang="en-US" sz="2000" dirty="0" err="1"/>
              <a:t>cơ</a:t>
            </a:r>
            <a:r>
              <a:rPr lang="en-US" sz="2000" dirty="0"/>
              <a:t> </a:t>
            </a:r>
            <a:r>
              <a:rPr lang="en-US" sz="2000" dirty="0" err="1"/>
              <a:t>chỉ</a:t>
            </a:r>
            <a:r>
              <a:rPr lang="en-US" sz="2000" dirty="0"/>
              <a:t> </a:t>
            </a:r>
            <a:r>
              <a:rPr lang="en-US" sz="2000" dirty="0" err="1"/>
              <a:t>phụ</a:t>
            </a:r>
            <a:r>
              <a:rPr lang="en-US" sz="2000" dirty="0"/>
              <a:t> </a:t>
            </a:r>
            <a:r>
              <a:rPr lang="en-US" sz="2000" dirty="0" err="1"/>
              <a:t>thuộc</a:t>
            </a:r>
            <a:r>
              <a:rPr lang="en-US" sz="2000" dirty="0"/>
              <a:t> </a:t>
            </a:r>
            <a:r>
              <a:rPr lang="en-US" sz="2000" dirty="0" err="1"/>
              <a:t>vào</a:t>
            </a:r>
            <a:r>
              <a:rPr lang="en-US" sz="2000" dirty="0"/>
              <a:t> </a:t>
            </a:r>
            <a:r>
              <a:rPr lang="en-US" sz="2000" dirty="0" err="1"/>
              <a:t>i</a:t>
            </a:r>
            <a:r>
              <a:rPr lang="en-US" sz="2000" baseline="-25000" dirty="0" err="1"/>
              <a:t>sq</a:t>
            </a:r>
            <a:r>
              <a:rPr lang="en-US" sz="2000" dirty="0"/>
              <a:t>.</a:t>
            </a:r>
          </a:p>
          <a:p>
            <a:pPr marL="342900" indent="-342900" algn="l">
              <a:buFont typeface="Wingdings" panose="05000000000000000000" pitchFamily="2" charset="2"/>
              <a:buChar char="v"/>
            </a:pPr>
            <a:r>
              <a:rPr lang="en-US" sz="2000" dirty="0" err="1"/>
              <a:t>Sử</a:t>
            </a:r>
            <a:r>
              <a:rPr lang="en-US" sz="2000" dirty="0"/>
              <a:t> </a:t>
            </a:r>
            <a:r>
              <a:rPr lang="en-US" sz="2000" dirty="0" err="1"/>
              <a:t>dụng</a:t>
            </a:r>
            <a:r>
              <a:rPr lang="en-US" sz="2000" dirty="0"/>
              <a:t> </a:t>
            </a:r>
            <a:r>
              <a:rPr lang="en-US" sz="2000" dirty="0" err="1"/>
              <a:t>phương</a:t>
            </a:r>
            <a:r>
              <a:rPr lang="en-US" sz="2000" dirty="0"/>
              <a:t> </a:t>
            </a:r>
            <a:r>
              <a:rPr lang="en-US" sz="2000" dirty="0" err="1"/>
              <a:t>pháp</a:t>
            </a:r>
            <a:r>
              <a:rPr lang="en-US" sz="2000" dirty="0"/>
              <a:t> Tustin </a:t>
            </a:r>
            <a:r>
              <a:rPr lang="en-US" sz="2000" dirty="0" err="1"/>
              <a:t>để</a:t>
            </a:r>
            <a:r>
              <a:rPr lang="en-US" sz="2000" dirty="0"/>
              <a:t> </a:t>
            </a:r>
            <a:r>
              <a:rPr lang="en-US" sz="2000" dirty="0" err="1"/>
              <a:t>tính</a:t>
            </a:r>
            <a:r>
              <a:rPr lang="en-US" sz="2000" dirty="0"/>
              <a:t> </a:t>
            </a:r>
            <a:r>
              <a:rPr lang="en-US" sz="2000" dirty="0" err="1"/>
              <a:t>toán</a:t>
            </a:r>
            <a:r>
              <a:rPr lang="en-US" sz="2000" dirty="0"/>
              <a:t> </a:t>
            </a:r>
            <a:r>
              <a:rPr lang="en-US" sz="2000" dirty="0" err="1"/>
              <a:t>các</a:t>
            </a:r>
            <a:r>
              <a:rPr lang="en-US" sz="2000" dirty="0"/>
              <a:t> </a:t>
            </a:r>
            <a:r>
              <a:rPr lang="en-US" sz="2000" dirty="0" err="1"/>
              <a:t>bộ</a:t>
            </a:r>
            <a:r>
              <a:rPr lang="en-US" sz="2000" dirty="0"/>
              <a:t> </a:t>
            </a:r>
            <a:r>
              <a:rPr lang="en-US" sz="2000" dirty="0" err="1"/>
              <a:t>điều</a:t>
            </a:r>
            <a:r>
              <a:rPr lang="en-US" sz="2000" dirty="0"/>
              <a:t> </a:t>
            </a:r>
            <a:r>
              <a:rPr lang="en-US" sz="2000" dirty="0" err="1"/>
              <a:t>khiển</a:t>
            </a:r>
            <a:r>
              <a:rPr lang="en-US" sz="2000" dirty="0"/>
              <a:t> </a:t>
            </a:r>
            <a:r>
              <a:rPr lang="en-US" sz="2000" dirty="0" err="1"/>
              <a:t>trên</a:t>
            </a:r>
            <a:r>
              <a:rPr lang="en-US" sz="2000" dirty="0"/>
              <a:t> </a:t>
            </a:r>
            <a:r>
              <a:rPr lang="en-US" sz="2000" dirty="0" err="1"/>
              <a:t>miền</a:t>
            </a:r>
            <a:r>
              <a:rPr lang="en-US" sz="2000" dirty="0"/>
              <a:t> </a:t>
            </a:r>
            <a:r>
              <a:rPr lang="en-US" sz="2000" dirty="0" err="1"/>
              <a:t>rời</a:t>
            </a:r>
            <a:r>
              <a:rPr lang="en-US" sz="2000" dirty="0"/>
              <a:t> </a:t>
            </a:r>
            <a:r>
              <a:rPr lang="en-US" sz="2000" dirty="0" err="1"/>
              <a:t>rạc</a:t>
            </a:r>
            <a:r>
              <a:rPr lang="en-US" sz="2000" dirty="0"/>
              <a:t>.</a:t>
            </a:r>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5</a:t>
            </a:fld>
            <a:endParaRPr lang="en-US"/>
          </a:p>
        </p:txBody>
      </p:sp>
      <p:graphicFrame>
        <p:nvGraphicFramePr>
          <p:cNvPr id="6" name="Object 5">
            <a:extLst>
              <a:ext uri="{FF2B5EF4-FFF2-40B4-BE49-F238E27FC236}">
                <a16:creationId xmlns:a16="http://schemas.microsoft.com/office/drawing/2014/main" id="{B95EAE7E-651B-45E8-8796-B0001153FD4F}"/>
              </a:ext>
            </a:extLst>
          </p:cNvPr>
          <p:cNvGraphicFramePr>
            <a:graphicFrameLocks noChangeAspect="1"/>
          </p:cNvGraphicFramePr>
          <p:nvPr>
            <p:extLst>
              <p:ext uri="{D42A27DB-BD31-4B8C-83A1-F6EECF244321}">
                <p14:modId xmlns:p14="http://schemas.microsoft.com/office/powerpoint/2010/main" val="574743122"/>
              </p:ext>
            </p:extLst>
          </p:nvPr>
        </p:nvGraphicFramePr>
        <p:xfrm>
          <a:off x="1284152" y="2917375"/>
          <a:ext cx="2003880" cy="511629"/>
        </p:xfrm>
        <a:graphic>
          <a:graphicData uri="http://schemas.openxmlformats.org/presentationml/2006/ole">
            <mc:AlternateContent xmlns:mc="http://schemas.openxmlformats.org/markup-compatibility/2006">
              <mc:Choice xmlns:v="urn:schemas-microsoft-com:vml" Requires="v">
                <p:oleObj spid="_x0000_s3074" name="Equation" r:id="rId3" imgW="1193760" imgH="304560" progId="Equation.DSMT4">
                  <p:embed/>
                </p:oleObj>
              </mc:Choice>
              <mc:Fallback>
                <p:oleObj name="Equation" r:id="rId3" imgW="1193760" imgH="304560" progId="Equation.DSMT4">
                  <p:embed/>
                  <p:pic>
                    <p:nvPicPr>
                      <p:cNvPr id="6" name="Object 5">
                        <a:extLst>
                          <a:ext uri="{FF2B5EF4-FFF2-40B4-BE49-F238E27FC236}">
                            <a16:creationId xmlns:a16="http://schemas.microsoft.com/office/drawing/2014/main" id="{B95EAE7E-651B-45E8-8796-B0001153FD4F}"/>
                          </a:ext>
                        </a:extLst>
                      </p:cNvPr>
                      <p:cNvPicPr/>
                      <p:nvPr/>
                    </p:nvPicPr>
                    <p:blipFill>
                      <a:blip r:embed="rId4"/>
                      <a:stretch>
                        <a:fillRect/>
                      </a:stretch>
                    </p:blipFill>
                    <p:spPr>
                      <a:xfrm>
                        <a:off x="1284152" y="2917375"/>
                        <a:ext cx="2003880" cy="511629"/>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CC53DA88-FBB7-4D6C-A908-6633CE6FF154}"/>
              </a:ext>
            </a:extLst>
          </p:cNvPr>
          <p:cNvGraphicFramePr>
            <a:graphicFrameLocks noChangeAspect="1"/>
          </p:cNvGraphicFramePr>
          <p:nvPr>
            <p:extLst>
              <p:ext uri="{D42A27DB-BD31-4B8C-83A1-F6EECF244321}">
                <p14:modId xmlns:p14="http://schemas.microsoft.com/office/powerpoint/2010/main" val="2023598204"/>
              </p:ext>
            </p:extLst>
          </p:nvPr>
        </p:nvGraphicFramePr>
        <p:xfrm>
          <a:off x="1361440" y="3680670"/>
          <a:ext cx="1777760" cy="688882"/>
        </p:xfrm>
        <a:graphic>
          <a:graphicData uri="http://schemas.openxmlformats.org/presentationml/2006/ole">
            <mc:AlternateContent xmlns:mc="http://schemas.openxmlformats.org/markup-compatibility/2006">
              <mc:Choice xmlns:v="urn:schemas-microsoft-com:vml" Requires="v">
                <p:oleObj spid="_x0000_s3075" name="Equation" r:id="rId5" imgW="1015920" imgH="393480" progId="Equation.DSMT4">
                  <p:embed/>
                </p:oleObj>
              </mc:Choice>
              <mc:Fallback>
                <p:oleObj name="Equation" r:id="rId5" imgW="1015920" imgH="393480" progId="Equation.DSMT4">
                  <p:embed/>
                  <p:pic>
                    <p:nvPicPr>
                      <p:cNvPr id="8" name="Object 7">
                        <a:extLst>
                          <a:ext uri="{FF2B5EF4-FFF2-40B4-BE49-F238E27FC236}">
                            <a16:creationId xmlns:a16="http://schemas.microsoft.com/office/drawing/2014/main" id="{CC53DA88-FBB7-4D6C-A908-6633CE6FF154}"/>
                          </a:ext>
                        </a:extLst>
                      </p:cNvPr>
                      <p:cNvPicPr/>
                      <p:nvPr/>
                    </p:nvPicPr>
                    <p:blipFill>
                      <a:blip r:embed="rId6"/>
                      <a:stretch>
                        <a:fillRect/>
                      </a:stretch>
                    </p:blipFill>
                    <p:spPr>
                      <a:xfrm>
                        <a:off x="1361440" y="3680670"/>
                        <a:ext cx="1777760" cy="688882"/>
                      </a:xfrm>
                      <a:prstGeom prst="rect">
                        <a:avLst/>
                      </a:prstGeom>
                    </p:spPr>
                  </p:pic>
                </p:oleObj>
              </mc:Fallback>
            </mc:AlternateContent>
          </a:graphicData>
        </a:graphic>
      </p:graphicFrame>
      <p:graphicFrame>
        <p:nvGraphicFramePr>
          <p:cNvPr id="17" name="Object 16">
            <a:extLst>
              <a:ext uri="{FF2B5EF4-FFF2-40B4-BE49-F238E27FC236}">
                <a16:creationId xmlns:a16="http://schemas.microsoft.com/office/drawing/2014/main" id="{3F07FE59-DF0E-47DD-B883-88D1D201F059}"/>
              </a:ext>
            </a:extLst>
          </p:cNvPr>
          <p:cNvGraphicFramePr>
            <a:graphicFrameLocks noChangeAspect="1"/>
          </p:cNvGraphicFramePr>
          <p:nvPr>
            <p:extLst>
              <p:ext uri="{D42A27DB-BD31-4B8C-83A1-F6EECF244321}">
                <p14:modId xmlns:p14="http://schemas.microsoft.com/office/powerpoint/2010/main" val="1109294129"/>
              </p:ext>
            </p:extLst>
          </p:nvPr>
        </p:nvGraphicFramePr>
        <p:xfrm>
          <a:off x="3645050" y="3828650"/>
          <a:ext cx="368150" cy="418352"/>
        </p:xfrm>
        <a:graphic>
          <a:graphicData uri="http://schemas.openxmlformats.org/presentationml/2006/ole">
            <mc:AlternateContent xmlns:mc="http://schemas.openxmlformats.org/markup-compatibility/2006">
              <mc:Choice xmlns:v="urn:schemas-microsoft-com:vml" Requires="v">
                <p:oleObj spid="_x0000_s3076" name="Equation" r:id="rId7" imgW="209423" imgH="238301" progId="Equation.DSMT4">
                  <p:embed/>
                </p:oleObj>
              </mc:Choice>
              <mc:Fallback>
                <p:oleObj name="Equation" r:id="rId7" imgW="209423" imgH="238301" progId="Equation.DSMT4">
                  <p:embed/>
                  <p:pic>
                    <p:nvPicPr>
                      <p:cNvPr id="17" name="Object 16">
                        <a:extLst>
                          <a:ext uri="{FF2B5EF4-FFF2-40B4-BE49-F238E27FC236}">
                            <a16:creationId xmlns:a16="http://schemas.microsoft.com/office/drawing/2014/main" id="{3F07FE59-DF0E-47DD-B883-88D1D201F059}"/>
                          </a:ext>
                        </a:extLst>
                      </p:cNvPr>
                      <p:cNvPicPr/>
                      <p:nvPr/>
                    </p:nvPicPr>
                    <p:blipFill>
                      <a:blip r:embed="rId8"/>
                      <a:stretch>
                        <a:fillRect/>
                      </a:stretch>
                    </p:blipFill>
                    <p:spPr>
                      <a:xfrm>
                        <a:off x="3645050" y="3828650"/>
                        <a:ext cx="368150" cy="418352"/>
                      </a:xfrm>
                      <a:prstGeom prst="rect">
                        <a:avLst/>
                      </a:prstGeom>
                    </p:spPr>
                  </p:pic>
                </p:oleObj>
              </mc:Fallback>
            </mc:AlternateContent>
          </a:graphicData>
        </a:graphic>
      </p:graphicFrame>
      <p:sp>
        <p:nvSpPr>
          <p:cNvPr id="18" name="TextBox 17">
            <a:extLst>
              <a:ext uri="{FF2B5EF4-FFF2-40B4-BE49-F238E27FC236}">
                <a16:creationId xmlns:a16="http://schemas.microsoft.com/office/drawing/2014/main" id="{EC031AE9-C9F4-4D9E-853A-C9B0493236BA}"/>
              </a:ext>
            </a:extLst>
          </p:cNvPr>
          <p:cNvSpPr txBox="1"/>
          <p:nvPr/>
        </p:nvSpPr>
        <p:spPr>
          <a:xfrm>
            <a:off x="4145280" y="3887952"/>
            <a:ext cx="1971040" cy="369332"/>
          </a:xfrm>
          <a:prstGeom prst="rect">
            <a:avLst/>
          </a:prstGeom>
          <a:noFill/>
        </p:spPr>
        <p:txBody>
          <a:bodyPr wrap="square" rtlCol="0">
            <a:spAutoFit/>
          </a:bodyPr>
          <a:lstStyle/>
          <a:p>
            <a:r>
              <a:rPr lang="en-US" dirty="0" err="1"/>
              <a:t>Từ</a:t>
            </a:r>
            <a:r>
              <a:rPr lang="en-US" dirty="0"/>
              <a:t> </a:t>
            </a:r>
            <a:r>
              <a:rPr lang="en-US" dirty="0" err="1"/>
              <a:t>thông</a:t>
            </a:r>
            <a:r>
              <a:rPr lang="en-US" dirty="0"/>
              <a:t> </a:t>
            </a:r>
            <a:r>
              <a:rPr lang="en-US" dirty="0" err="1"/>
              <a:t>kích</a:t>
            </a:r>
            <a:r>
              <a:rPr lang="en-US" dirty="0"/>
              <a:t> </a:t>
            </a:r>
            <a:r>
              <a:rPr lang="en-US" dirty="0" err="1"/>
              <a:t>từ</a:t>
            </a:r>
            <a:r>
              <a:rPr lang="en-US" dirty="0"/>
              <a:t> </a:t>
            </a:r>
          </a:p>
        </p:txBody>
      </p:sp>
    </p:spTree>
    <p:extLst>
      <p:ext uri="{BB962C8B-B14F-4D97-AF65-F5344CB8AC3E}">
        <p14:creationId xmlns:p14="http://schemas.microsoft.com/office/powerpoint/2010/main" val="1463390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p:txBody>
          <a:bodyPr>
            <a:normAutofit/>
          </a:bodyPr>
          <a:lstStyle/>
          <a:p>
            <a:pPr algn="l"/>
            <a:r>
              <a:rPr lang="en-US" sz="2000" dirty="0"/>
              <a:t>3.1: </a:t>
            </a:r>
            <a:r>
              <a:rPr lang="en-US" sz="2000" dirty="0" err="1"/>
              <a:t>Phương</a:t>
            </a:r>
            <a:r>
              <a:rPr lang="en-US" sz="2000" dirty="0"/>
              <a:t> </a:t>
            </a:r>
            <a:r>
              <a:rPr lang="en-US" sz="2000" dirty="0" err="1"/>
              <a:t>pháp</a:t>
            </a:r>
            <a:r>
              <a:rPr lang="en-US" sz="2000" dirty="0"/>
              <a:t> </a:t>
            </a:r>
            <a:r>
              <a:rPr lang="en-US" sz="2000" dirty="0" err="1"/>
              <a:t>điểu</a:t>
            </a:r>
            <a:r>
              <a:rPr lang="en-US" sz="2000" dirty="0"/>
              <a:t> </a:t>
            </a:r>
            <a:r>
              <a:rPr lang="en-US" sz="2000" dirty="0" err="1"/>
              <a:t>khiển</a:t>
            </a:r>
            <a:r>
              <a:rPr lang="en-US" sz="2000" dirty="0"/>
              <a:t> vector </a:t>
            </a:r>
            <a:r>
              <a:rPr lang="en-US" sz="2000" dirty="0" err="1"/>
              <a:t>tựa</a:t>
            </a:r>
            <a:r>
              <a:rPr lang="en-US" sz="2000" dirty="0"/>
              <a:t> </a:t>
            </a:r>
            <a:r>
              <a:rPr lang="en-US" sz="2000" dirty="0" err="1"/>
              <a:t>từ</a:t>
            </a:r>
            <a:r>
              <a:rPr lang="en-US" sz="2000" dirty="0"/>
              <a:t> </a:t>
            </a:r>
            <a:r>
              <a:rPr lang="en-US" sz="2000" dirty="0" err="1"/>
              <a:t>thông</a:t>
            </a:r>
            <a:r>
              <a:rPr lang="en-US" sz="2000" dirty="0"/>
              <a:t> rotor (FOC)</a:t>
            </a:r>
          </a:p>
          <a:p>
            <a:pPr marL="342900" indent="-342900" algn="l">
              <a:buFont typeface="Wingdings" panose="05000000000000000000" pitchFamily="2" charset="2"/>
              <a:buChar char="v"/>
            </a:pPr>
            <a:r>
              <a:rPr lang="en-US" sz="2000" dirty="0" err="1"/>
              <a:t>Vì</a:t>
            </a:r>
            <a:r>
              <a:rPr lang="en-US" sz="2000" dirty="0"/>
              <a:t>             </a:t>
            </a:r>
            <a:r>
              <a:rPr lang="en-US" sz="2000" dirty="0" err="1"/>
              <a:t>nên</a:t>
            </a:r>
            <a:r>
              <a:rPr lang="en-US" sz="2000" dirty="0"/>
              <a:t> </a:t>
            </a:r>
            <a:r>
              <a:rPr lang="en-US" sz="2000" dirty="0" err="1"/>
              <a:t>hệ</a:t>
            </a:r>
            <a:r>
              <a:rPr lang="en-US" sz="2000" dirty="0"/>
              <a:t>  </a:t>
            </a:r>
            <a:r>
              <a:rPr lang="en-US" sz="2000" dirty="0" err="1"/>
              <a:t>phương</a:t>
            </a:r>
            <a:r>
              <a:rPr lang="en-US" sz="2000" dirty="0"/>
              <a:t> </a:t>
            </a:r>
            <a:r>
              <a:rPr lang="en-US" sz="2000" dirty="0" err="1"/>
              <a:t>trình</a:t>
            </a:r>
            <a:r>
              <a:rPr lang="en-US" sz="2000" dirty="0"/>
              <a:t> </a:t>
            </a:r>
            <a:r>
              <a:rPr lang="en-US" sz="2000" dirty="0" err="1"/>
              <a:t>mô</a:t>
            </a:r>
            <a:r>
              <a:rPr lang="en-US" sz="2000" dirty="0"/>
              <a:t> </a:t>
            </a:r>
            <a:r>
              <a:rPr lang="en-US" sz="2000" dirty="0" err="1"/>
              <a:t>hình</a:t>
            </a:r>
            <a:r>
              <a:rPr lang="en-US" sz="2000" dirty="0"/>
              <a:t> </a:t>
            </a:r>
            <a:r>
              <a:rPr lang="en-US" sz="2000" dirty="0" err="1"/>
              <a:t>động</a:t>
            </a:r>
            <a:r>
              <a:rPr lang="en-US" sz="2000" dirty="0"/>
              <a:t> </a:t>
            </a:r>
            <a:r>
              <a:rPr lang="en-US" sz="2000" dirty="0" err="1"/>
              <a:t>cơ</a:t>
            </a:r>
            <a:r>
              <a:rPr lang="en-US" sz="2000" dirty="0"/>
              <a:t> </a:t>
            </a:r>
            <a:r>
              <a:rPr lang="en-US" sz="2000" dirty="0" err="1"/>
              <a:t>được</a:t>
            </a:r>
            <a:r>
              <a:rPr lang="en-US" sz="2000" dirty="0"/>
              <a:t> </a:t>
            </a:r>
            <a:r>
              <a:rPr lang="en-US" sz="2000" dirty="0" err="1"/>
              <a:t>rút</a:t>
            </a:r>
            <a:r>
              <a:rPr lang="en-US" sz="2000" dirty="0"/>
              <a:t> </a:t>
            </a:r>
            <a:r>
              <a:rPr lang="en-US" sz="2000" dirty="0" err="1"/>
              <a:t>gọn</a:t>
            </a:r>
            <a:r>
              <a:rPr lang="en-US" sz="2000" dirty="0"/>
              <a:t> </a:t>
            </a:r>
            <a:r>
              <a:rPr lang="en-US" sz="2000" dirty="0" err="1"/>
              <a:t>lại</a:t>
            </a:r>
            <a:r>
              <a:rPr lang="en-US" sz="2000" dirty="0"/>
              <a:t> </a:t>
            </a:r>
            <a:r>
              <a:rPr lang="en-US" sz="2000" dirty="0" err="1"/>
              <a:t>như</a:t>
            </a:r>
            <a:r>
              <a:rPr lang="en-US" sz="2000" dirty="0"/>
              <a:t> </a:t>
            </a:r>
            <a:r>
              <a:rPr lang="en-US" sz="2000" dirty="0" err="1"/>
              <a:t>sau</a:t>
            </a:r>
            <a:r>
              <a:rPr lang="en-US" sz="2000" dirty="0"/>
              <a:t>: </a:t>
            </a:r>
          </a:p>
          <a:p>
            <a:pPr marL="342900" indent="-342900" algn="l">
              <a:buFont typeface="Wingdings" panose="05000000000000000000" pitchFamily="2" charset="2"/>
              <a:buChar char="v"/>
            </a:pPr>
            <a:endParaRPr lang="en-US" sz="2000" dirty="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6</a:t>
            </a:fld>
            <a:endParaRPr lang="en-US"/>
          </a:p>
        </p:txBody>
      </p:sp>
      <p:graphicFrame>
        <p:nvGraphicFramePr>
          <p:cNvPr id="8" name="Object 7">
            <a:extLst>
              <a:ext uri="{FF2B5EF4-FFF2-40B4-BE49-F238E27FC236}">
                <a16:creationId xmlns:a16="http://schemas.microsoft.com/office/drawing/2014/main" id="{6F320647-573E-4F1A-BEEB-B4F081DFF28D}"/>
              </a:ext>
            </a:extLst>
          </p:cNvPr>
          <p:cNvGraphicFramePr>
            <a:graphicFrameLocks noChangeAspect="1"/>
          </p:cNvGraphicFramePr>
          <p:nvPr>
            <p:extLst>
              <p:ext uri="{D42A27DB-BD31-4B8C-83A1-F6EECF244321}">
                <p14:modId xmlns:p14="http://schemas.microsoft.com/office/powerpoint/2010/main" val="928449410"/>
              </p:ext>
            </p:extLst>
          </p:nvPr>
        </p:nvGraphicFramePr>
        <p:xfrm>
          <a:off x="1631632" y="1312635"/>
          <a:ext cx="664528" cy="359205"/>
        </p:xfrm>
        <a:graphic>
          <a:graphicData uri="http://schemas.openxmlformats.org/presentationml/2006/ole">
            <mc:AlternateContent xmlns:mc="http://schemas.openxmlformats.org/markup-compatibility/2006">
              <mc:Choice xmlns:v="urn:schemas-microsoft-com:vml" Requires="v">
                <p:oleObj spid="_x0000_s4098" name="Equation" r:id="rId3" imgW="469800" imgH="253800" progId="Equation.DSMT4">
                  <p:embed/>
                </p:oleObj>
              </mc:Choice>
              <mc:Fallback>
                <p:oleObj name="Equation" r:id="rId3" imgW="469800" imgH="253800" progId="Equation.DSMT4">
                  <p:embed/>
                  <p:pic>
                    <p:nvPicPr>
                      <p:cNvPr id="8" name="Object 7">
                        <a:extLst>
                          <a:ext uri="{FF2B5EF4-FFF2-40B4-BE49-F238E27FC236}">
                            <a16:creationId xmlns:a16="http://schemas.microsoft.com/office/drawing/2014/main" id="{6F320647-573E-4F1A-BEEB-B4F081DFF28D}"/>
                          </a:ext>
                        </a:extLst>
                      </p:cNvPr>
                      <p:cNvPicPr/>
                      <p:nvPr/>
                    </p:nvPicPr>
                    <p:blipFill>
                      <a:blip r:embed="rId4"/>
                      <a:stretch>
                        <a:fillRect/>
                      </a:stretch>
                    </p:blipFill>
                    <p:spPr>
                      <a:xfrm>
                        <a:off x="1631632" y="1312635"/>
                        <a:ext cx="664528" cy="359205"/>
                      </a:xfrm>
                      <a:prstGeom prst="rect">
                        <a:avLst/>
                      </a:prstGeom>
                    </p:spPr>
                  </p:pic>
                </p:oleObj>
              </mc:Fallback>
            </mc:AlternateContent>
          </a:graphicData>
        </a:graphic>
      </p:graphicFrame>
      <p:graphicFrame>
        <p:nvGraphicFramePr>
          <p:cNvPr id="6" name="Object 5">
            <a:extLst>
              <a:ext uri="{FF2B5EF4-FFF2-40B4-BE49-F238E27FC236}">
                <a16:creationId xmlns:a16="http://schemas.microsoft.com/office/drawing/2014/main" id="{D525F2FD-B9A7-4E51-B3ED-5548C6FD92A5}"/>
              </a:ext>
            </a:extLst>
          </p:cNvPr>
          <p:cNvGraphicFramePr>
            <a:graphicFrameLocks noChangeAspect="1"/>
          </p:cNvGraphicFramePr>
          <p:nvPr>
            <p:extLst>
              <p:ext uri="{D42A27DB-BD31-4B8C-83A1-F6EECF244321}">
                <p14:modId xmlns:p14="http://schemas.microsoft.com/office/powerpoint/2010/main" val="1704571234"/>
              </p:ext>
            </p:extLst>
          </p:nvPr>
        </p:nvGraphicFramePr>
        <p:xfrm>
          <a:off x="1148201" y="2176734"/>
          <a:ext cx="2353036" cy="1000040"/>
        </p:xfrm>
        <a:graphic>
          <a:graphicData uri="http://schemas.openxmlformats.org/presentationml/2006/ole">
            <mc:AlternateContent xmlns:mc="http://schemas.openxmlformats.org/markup-compatibility/2006">
              <mc:Choice xmlns:v="urn:schemas-microsoft-com:vml" Requires="v">
                <p:oleObj spid="_x0000_s4099" name="Equation" r:id="rId5" imgW="1142471" imgH="486336" progId="Equation.DSMT4">
                  <p:embed/>
                </p:oleObj>
              </mc:Choice>
              <mc:Fallback>
                <p:oleObj name="Equation" r:id="rId5" imgW="1142471" imgH="486336" progId="Equation.DSMT4">
                  <p:embed/>
                  <p:pic>
                    <p:nvPicPr>
                      <p:cNvPr id="6" name="Object 5">
                        <a:extLst>
                          <a:ext uri="{FF2B5EF4-FFF2-40B4-BE49-F238E27FC236}">
                            <a16:creationId xmlns:a16="http://schemas.microsoft.com/office/drawing/2014/main" id="{D525F2FD-B9A7-4E51-B3ED-5548C6FD92A5}"/>
                          </a:ext>
                        </a:extLst>
                      </p:cNvPr>
                      <p:cNvPicPr/>
                      <p:nvPr/>
                    </p:nvPicPr>
                    <p:blipFill>
                      <a:blip r:embed="rId6"/>
                      <a:stretch>
                        <a:fillRect/>
                      </a:stretch>
                    </p:blipFill>
                    <p:spPr>
                      <a:xfrm>
                        <a:off x="1148201" y="2176734"/>
                        <a:ext cx="2353036" cy="1000040"/>
                      </a:xfrm>
                      <a:prstGeom prst="rect">
                        <a:avLst/>
                      </a:prstGeom>
                    </p:spPr>
                  </p:pic>
                </p:oleObj>
              </mc:Fallback>
            </mc:AlternateContent>
          </a:graphicData>
        </a:graphic>
      </p:graphicFrame>
      <p:graphicFrame>
        <p:nvGraphicFramePr>
          <p:cNvPr id="7" name="Object 6">
            <a:extLst>
              <a:ext uri="{FF2B5EF4-FFF2-40B4-BE49-F238E27FC236}">
                <a16:creationId xmlns:a16="http://schemas.microsoft.com/office/drawing/2014/main" id="{B62C7FED-1A02-4D0C-8FF9-E830ED090151}"/>
              </a:ext>
            </a:extLst>
          </p:cNvPr>
          <p:cNvGraphicFramePr>
            <a:graphicFrameLocks noChangeAspect="1"/>
          </p:cNvGraphicFramePr>
          <p:nvPr>
            <p:extLst>
              <p:ext uri="{D42A27DB-BD31-4B8C-83A1-F6EECF244321}">
                <p14:modId xmlns:p14="http://schemas.microsoft.com/office/powerpoint/2010/main" val="2337692224"/>
              </p:ext>
            </p:extLst>
          </p:nvPr>
        </p:nvGraphicFramePr>
        <p:xfrm>
          <a:off x="1148201" y="3288534"/>
          <a:ext cx="4161694" cy="1456186"/>
        </p:xfrm>
        <a:graphic>
          <a:graphicData uri="http://schemas.openxmlformats.org/presentationml/2006/ole">
            <mc:AlternateContent xmlns:mc="http://schemas.openxmlformats.org/markup-compatibility/2006">
              <mc:Choice xmlns:v="urn:schemas-microsoft-com:vml" Requires="v">
                <p:oleObj spid="_x0000_s4100" name="Equation" r:id="rId7" imgW="2427795" imgH="849015" progId="Equation.DSMT4">
                  <p:embed/>
                </p:oleObj>
              </mc:Choice>
              <mc:Fallback>
                <p:oleObj name="Equation" r:id="rId7" imgW="2427795" imgH="849015" progId="Equation.DSMT4">
                  <p:embed/>
                  <p:pic>
                    <p:nvPicPr>
                      <p:cNvPr id="7" name="Object 6">
                        <a:extLst>
                          <a:ext uri="{FF2B5EF4-FFF2-40B4-BE49-F238E27FC236}">
                            <a16:creationId xmlns:a16="http://schemas.microsoft.com/office/drawing/2014/main" id="{B62C7FED-1A02-4D0C-8FF9-E830ED090151}"/>
                          </a:ext>
                        </a:extLst>
                      </p:cNvPr>
                      <p:cNvPicPr/>
                      <p:nvPr/>
                    </p:nvPicPr>
                    <p:blipFill>
                      <a:blip r:embed="rId8"/>
                      <a:stretch>
                        <a:fillRect/>
                      </a:stretch>
                    </p:blipFill>
                    <p:spPr>
                      <a:xfrm>
                        <a:off x="1148201" y="3288534"/>
                        <a:ext cx="4161694" cy="1456186"/>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8C2AAF8F-F013-4BB0-8AE9-7D0D77B9351E}"/>
              </a:ext>
            </a:extLst>
          </p:cNvPr>
          <p:cNvGraphicFramePr>
            <a:graphicFrameLocks noChangeAspect="1"/>
          </p:cNvGraphicFramePr>
          <p:nvPr>
            <p:extLst>
              <p:ext uri="{D42A27DB-BD31-4B8C-83A1-F6EECF244321}">
                <p14:modId xmlns:p14="http://schemas.microsoft.com/office/powerpoint/2010/main" val="2802301628"/>
              </p:ext>
            </p:extLst>
          </p:nvPr>
        </p:nvGraphicFramePr>
        <p:xfrm>
          <a:off x="1307148" y="4856480"/>
          <a:ext cx="1710372" cy="694310"/>
        </p:xfrm>
        <a:graphic>
          <a:graphicData uri="http://schemas.openxmlformats.org/presentationml/2006/ole">
            <mc:AlternateContent xmlns:mc="http://schemas.openxmlformats.org/markup-compatibility/2006">
              <mc:Choice xmlns:v="urn:schemas-microsoft-com:vml" Requires="v">
                <p:oleObj spid="_x0000_s4101" name="Equation" r:id="rId9" imgW="961475" imgH="391160" progId="Equation.DSMT4">
                  <p:embed/>
                </p:oleObj>
              </mc:Choice>
              <mc:Fallback>
                <p:oleObj name="Equation" r:id="rId9" imgW="961475" imgH="391160" progId="Equation.DSMT4">
                  <p:embed/>
                  <p:pic>
                    <p:nvPicPr>
                      <p:cNvPr id="11" name="Object 10">
                        <a:extLst>
                          <a:ext uri="{FF2B5EF4-FFF2-40B4-BE49-F238E27FC236}">
                            <a16:creationId xmlns:a16="http://schemas.microsoft.com/office/drawing/2014/main" id="{8C2AAF8F-F013-4BB0-8AE9-7D0D77B9351E}"/>
                          </a:ext>
                        </a:extLst>
                      </p:cNvPr>
                      <p:cNvPicPr/>
                      <p:nvPr/>
                    </p:nvPicPr>
                    <p:blipFill>
                      <a:blip r:embed="rId10"/>
                      <a:stretch>
                        <a:fillRect/>
                      </a:stretch>
                    </p:blipFill>
                    <p:spPr>
                      <a:xfrm>
                        <a:off x="1307148" y="4856480"/>
                        <a:ext cx="1710372" cy="694310"/>
                      </a:xfrm>
                      <a:prstGeom prst="rect">
                        <a:avLst/>
                      </a:prstGeom>
                    </p:spPr>
                  </p:pic>
                </p:oleObj>
              </mc:Fallback>
            </mc:AlternateContent>
          </a:graphicData>
        </a:graphic>
      </p:graphicFrame>
    </p:spTree>
    <p:extLst>
      <p:ext uri="{BB962C8B-B14F-4D97-AF65-F5344CB8AC3E}">
        <p14:creationId xmlns:p14="http://schemas.microsoft.com/office/powerpoint/2010/main" val="29179205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dirty="0"/>
              <a:t>3.2. </a:t>
            </a:r>
            <a:r>
              <a:rPr lang="en-US" sz="2000" dirty="0" err="1"/>
              <a:t>Tại</a:t>
            </a:r>
            <a:r>
              <a:rPr lang="en-US" sz="2000" dirty="0"/>
              <a:t> </a:t>
            </a:r>
            <a:r>
              <a:rPr lang="en-US" sz="2000" dirty="0" err="1"/>
              <a:t>sao</a:t>
            </a:r>
            <a:r>
              <a:rPr lang="en-US" sz="2000" dirty="0"/>
              <a:t> </a:t>
            </a:r>
            <a:r>
              <a:rPr lang="en-US" sz="2000" dirty="0" err="1"/>
              <a:t>có</a:t>
            </a:r>
            <a:r>
              <a:rPr lang="en-US" sz="2000" dirty="0"/>
              <a:t> </a:t>
            </a:r>
            <a:r>
              <a:rPr lang="en-US" sz="2000" dirty="0" err="1"/>
              <a:t>cấu</a:t>
            </a:r>
            <a:r>
              <a:rPr lang="en-US" sz="2000" dirty="0"/>
              <a:t> </a:t>
            </a:r>
            <a:r>
              <a:rPr lang="en-US" sz="2000" dirty="0" err="1"/>
              <a:t>trúc</a:t>
            </a:r>
            <a:r>
              <a:rPr lang="en-US" sz="2000" dirty="0"/>
              <a:t> </a:t>
            </a:r>
            <a:r>
              <a:rPr lang="en-US" sz="2000" dirty="0" err="1"/>
              <a:t>điều</a:t>
            </a:r>
            <a:r>
              <a:rPr lang="en-US" sz="2000" dirty="0"/>
              <a:t> </a:t>
            </a:r>
            <a:r>
              <a:rPr lang="en-US" sz="2000" dirty="0" err="1"/>
              <a:t>khiển</a:t>
            </a:r>
            <a:r>
              <a:rPr lang="en-US" sz="2000" dirty="0"/>
              <a:t> FOC </a:t>
            </a:r>
            <a:r>
              <a:rPr lang="en-US" sz="2000" dirty="0" err="1"/>
              <a:t>cho</a:t>
            </a:r>
            <a:r>
              <a:rPr lang="en-US" sz="2000" dirty="0"/>
              <a:t> PMSM, IM</a:t>
            </a:r>
          </a:p>
          <a:p>
            <a:pPr marL="800100" lvl="1" indent="-342900" algn="l">
              <a:buFont typeface="Arial" panose="020B0604020202020204" pitchFamily="34" charset="0"/>
              <a:buChar char="•"/>
            </a:pPr>
            <a:r>
              <a:rPr lang="en-US" sz="1800" dirty="0" err="1"/>
              <a:t>Động</a:t>
            </a:r>
            <a:r>
              <a:rPr lang="en-US" sz="1800" dirty="0"/>
              <a:t> </a:t>
            </a:r>
            <a:r>
              <a:rPr lang="en-US" sz="1800" dirty="0" err="1"/>
              <a:t>cơ</a:t>
            </a:r>
            <a:r>
              <a:rPr lang="en-US" sz="1800" dirty="0"/>
              <a:t> </a:t>
            </a:r>
            <a:r>
              <a:rPr lang="en-US" sz="1800" dirty="0" err="1"/>
              <a:t>điện</a:t>
            </a:r>
            <a:r>
              <a:rPr lang="en-US" sz="1800" dirty="0"/>
              <a:t> </a:t>
            </a:r>
            <a:r>
              <a:rPr lang="en-US" sz="1800" dirty="0" err="1"/>
              <a:t>xoay</a:t>
            </a:r>
            <a:r>
              <a:rPr lang="en-US" sz="1800" dirty="0"/>
              <a:t> </a:t>
            </a:r>
            <a:r>
              <a:rPr lang="en-US" sz="1800" dirty="0" err="1"/>
              <a:t>chiều</a:t>
            </a:r>
            <a:r>
              <a:rPr lang="en-US" sz="1800" dirty="0"/>
              <a:t> </a:t>
            </a:r>
            <a:r>
              <a:rPr lang="en-US" sz="1800" dirty="0" err="1"/>
              <a:t>được</a:t>
            </a:r>
            <a:r>
              <a:rPr lang="en-US" sz="1800" dirty="0"/>
              <a:t> </a:t>
            </a:r>
            <a:r>
              <a:rPr lang="en-US" sz="1800" dirty="0" err="1"/>
              <a:t>sử</a:t>
            </a:r>
            <a:r>
              <a:rPr lang="en-US" sz="1800" dirty="0"/>
              <a:t> </a:t>
            </a:r>
            <a:r>
              <a:rPr lang="en-US" sz="1800" dirty="0" err="1"/>
              <a:t>dụng</a:t>
            </a:r>
            <a:r>
              <a:rPr lang="en-US" sz="1800" dirty="0"/>
              <a:t> </a:t>
            </a:r>
            <a:r>
              <a:rPr lang="en-US" sz="1800" dirty="0" err="1"/>
              <a:t>rộng</a:t>
            </a:r>
            <a:r>
              <a:rPr lang="en-US" sz="1800" dirty="0"/>
              <a:t> </a:t>
            </a:r>
            <a:r>
              <a:rPr lang="en-US" sz="1800" dirty="0" err="1"/>
              <a:t>rãi</a:t>
            </a:r>
            <a:r>
              <a:rPr lang="en-US" sz="1800" dirty="0"/>
              <a:t> </a:t>
            </a:r>
            <a:r>
              <a:rPr lang="en-US" sz="1800" dirty="0" err="1"/>
              <a:t>trong</a:t>
            </a:r>
            <a:r>
              <a:rPr lang="en-US" sz="1800" dirty="0"/>
              <a:t> </a:t>
            </a:r>
            <a:r>
              <a:rPr lang="en-US" sz="1800" dirty="0" err="1"/>
              <a:t>nhiều</a:t>
            </a:r>
            <a:r>
              <a:rPr lang="en-US" sz="1800" dirty="0"/>
              <a:t> </a:t>
            </a:r>
            <a:r>
              <a:rPr lang="en-US" sz="1800" dirty="0" err="1"/>
              <a:t>ứng</a:t>
            </a:r>
            <a:r>
              <a:rPr lang="en-US" sz="1800" dirty="0"/>
              <a:t> </a:t>
            </a:r>
            <a:r>
              <a:rPr lang="en-US" sz="1800" dirty="0" err="1"/>
              <a:t>dụng</a:t>
            </a:r>
            <a:r>
              <a:rPr lang="en-US" sz="1800" dirty="0"/>
              <a:t> </a:t>
            </a:r>
            <a:r>
              <a:rPr lang="en-US" sz="1800" dirty="0" err="1"/>
              <a:t>khác</a:t>
            </a:r>
            <a:r>
              <a:rPr lang="en-US" sz="1800" dirty="0"/>
              <a:t> </a:t>
            </a:r>
            <a:r>
              <a:rPr lang="en-US" sz="1800" dirty="0" err="1"/>
              <a:t>nhau</a:t>
            </a:r>
            <a:r>
              <a:rPr lang="en-US" sz="1800" dirty="0"/>
              <a:t>.</a:t>
            </a:r>
          </a:p>
          <a:p>
            <a:pPr marL="800100" lvl="1" indent="-342900" algn="l">
              <a:buFont typeface="Arial" panose="020B0604020202020204" pitchFamily="34" charset="0"/>
              <a:buChar char="•"/>
            </a:pPr>
            <a:r>
              <a:rPr lang="vi-VN" sz="1800" dirty="0"/>
              <a:t>Tuy nhiên, việc sử dụng động cơ cảm ứng ở hiệu quả cao nhất là một nhiệm vụ đầy thách thức vì mô hình toán học phức tạp và đặc điểm phi tuyến tính của chúng trong quá trình bão hòa.</a:t>
            </a:r>
          </a:p>
          <a:p>
            <a:pPr marL="800100" lvl="1" indent="-342900" algn="l">
              <a:buFont typeface="Arial" panose="020B0604020202020204" pitchFamily="34" charset="0"/>
              <a:buChar char="•"/>
            </a:pPr>
            <a:r>
              <a:rPr lang="vi-VN" sz="1800" dirty="0"/>
              <a:t>Những yếu tố này làm cho việc kiểm soát động cơ cảm ứng trở nên khó </a:t>
            </a:r>
            <a:r>
              <a:rPr lang="en-US" sz="1800" dirty="0" err="1"/>
              <a:t>khăn</a:t>
            </a:r>
            <a:r>
              <a:rPr lang="en-US" sz="1800" dirty="0"/>
              <a:t>, </a:t>
            </a:r>
            <a:r>
              <a:rPr lang="en-US" sz="1800" dirty="0" err="1"/>
              <a:t>dẫn</a:t>
            </a:r>
            <a:r>
              <a:rPr lang="en-US" sz="1800" dirty="0"/>
              <a:t> </a:t>
            </a:r>
            <a:r>
              <a:rPr lang="en-US" sz="1800" dirty="0" err="1"/>
              <a:t>đến</a:t>
            </a:r>
            <a:r>
              <a:rPr lang="en-US" sz="1800" dirty="0"/>
              <a:t> </a:t>
            </a:r>
            <a:r>
              <a:rPr lang="en-US" sz="1800" dirty="0" err="1"/>
              <a:t>sự</a:t>
            </a:r>
            <a:r>
              <a:rPr lang="en-US" sz="1800" dirty="0"/>
              <a:t> ra </a:t>
            </a:r>
            <a:r>
              <a:rPr lang="en-US" sz="1800" dirty="0" err="1"/>
              <a:t>đời</a:t>
            </a:r>
            <a:r>
              <a:rPr lang="en-US" sz="1800" dirty="0"/>
              <a:t> </a:t>
            </a:r>
            <a:r>
              <a:rPr lang="en-US" sz="1800" dirty="0" err="1"/>
              <a:t>của</a:t>
            </a:r>
            <a:r>
              <a:rPr lang="en-US" sz="1800" dirty="0"/>
              <a:t> </a:t>
            </a:r>
            <a:r>
              <a:rPr lang="vi-VN" sz="1800" dirty="0"/>
              <a:t>các thuật toán điều khiển hiệu suất cao như điều khiển vector.</a:t>
            </a:r>
            <a:endParaRPr lang="en-US" sz="1800" dirty="0"/>
          </a:p>
          <a:p>
            <a:pPr marL="800100" lvl="1" indent="-342900" algn="l">
              <a:buFont typeface="Arial" panose="020B0604020202020204" pitchFamily="34" charset="0"/>
              <a:buChar char="•"/>
            </a:pPr>
            <a:r>
              <a:rPr lang="en-US" sz="1800" dirty="0" err="1"/>
              <a:t>Phương</a:t>
            </a:r>
            <a:r>
              <a:rPr lang="en-US" sz="1800" dirty="0"/>
              <a:t> </a:t>
            </a:r>
            <a:r>
              <a:rPr lang="en-US" sz="1800" dirty="0" err="1"/>
              <a:t>pháp</a:t>
            </a:r>
            <a:r>
              <a:rPr lang="en-US" sz="1800" dirty="0"/>
              <a:t> </a:t>
            </a:r>
            <a:r>
              <a:rPr lang="en-US" sz="1800" dirty="0" err="1"/>
              <a:t>điều</a:t>
            </a:r>
            <a:r>
              <a:rPr lang="en-US" sz="1800" dirty="0"/>
              <a:t> </a:t>
            </a:r>
            <a:r>
              <a:rPr lang="en-US" sz="1800" dirty="0" err="1"/>
              <a:t>khiển</a:t>
            </a:r>
            <a:r>
              <a:rPr lang="en-US" sz="1800" dirty="0"/>
              <a:t> </a:t>
            </a:r>
            <a:r>
              <a:rPr lang="en-US" sz="1800" dirty="0" err="1"/>
              <a:t>vô</a:t>
            </a:r>
            <a:r>
              <a:rPr lang="en-US" sz="1800" dirty="0"/>
              <a:t> </a:t>
            </a:r>
            <a:r>
              <a:rPr lang="en-US" sz="1800" dirty="0" err="1"/>
              <a:t>hướng</a:t>
            </a:r>
            <a:r>
              <a:rPr lang="en-US" sz="1800" dirty="0"/>
              <a:t> U/f </a:t>
            </a:r>
            <a:r>
              <a:rPr lang="en-US" sz="1800" dirty="0" err="1"/>
              <a:t>có</a:t>
            </a:r>
            <a:r>
              <a:rPr lang="en-US" sz="1800" dirty="0"/>
              <a:t> </a:t>
            </a:r>
            <a:r>
              <a:rPr lang="en-US" sz="1800" dirty="0" err="1"/>
              <a:t>những</a:t>
            </a:r>
            <a:r>
              <a:rPr lang="en-US" sz="1800" dirty="0"/>
              <a:t> </a:t>
            </a:r>
            <a:r>
              <a:rPr lang="en-US" sz="1800" dirty="0" err="1"/>
              <a:t>hạn</a:t>
            </a:r>
            <a:r>
              <a:rPr lang="en-US" sz="1800" dirty="0"/>
              <a:t> </a:t>
            </a:r>
            <a:r>
              <a:rPr lang="en-US" sz="1800" dirty="0" err="1"/>
              <a:t>chế</a:t>
            </a:r>
            <a:r>
              <a:rPr lang="en-US" sz="1800" dirty="0"/>
              <a:t> </a:t>
            </a:r>
            <a:r>
              <a:rPr lang="en-US" sz="1800" dirty="0" err="1"/>
              <a:t>về</a:t>
            </a:r>
            <a:r>
              <a:rPr lang="en-US" sz="1800" dirty="0"/>
              <a:t> </a:t>
            </a:r>
            <a:r>
              <a:rPr lang="en-US" sz="1800" dirty="0" err="1"/>
              <a:t>mặt</a:t>
            </a:r>
            <a:r>
              <a:rPr lang="en-US" sz="1800" dirty="0"/>
              <a:t> </a:t>
            </a:r>
            <a:r>
              <a:rPr lang="en-US" sz="1800" dirty="0" err="1"/>
              <a:t>hiệu</a:t>
            </a:r>
            <a:r>
              <a:rPr lang="en-US" sz="1800" dirty="0"/>
              <a:t> </a:t>
            </a:r>
            <a:r>
              <a:rPr lang="en-US" sz="1800" dirty="0" err="1"/>
              <a:t>suất</a:t>
            </a:r>
            <a:r>
              <a:rPr lang="en-US" sz="1800" dirty="0"/>
              <a:t>, </a:t>
            </a:r>
            <a:r>
              <a:rPr lang="en-US" sz="1800" dirty="0" err="1"/>
              <a:t>momen</a:t>
            </a:r>
            <a:r>
              <a:rPr lang="en-US" sz="1800" dirty="0"/>
              <a:t> </a:t>
            </a:r>
            <a:r>
              <a:rPr lang="en-US" sz="1800" dirty="0" err="1"/>
              <a:t>xoắn</a:t>
            </a:r>
            <a:r>
              <a:rPr lang="en-US" sz="1800" dirty="0"/>
              <a:t> </a:t>
            </a:r>
            <a:r>
              <a:rPr lang="en-US" sz="1800" dirty="0" err="1"/>
              <a:t>sinh</a:t>
            </a:r>
            <a:r>
              <a:rPr lang="en-US" sz="1800" dirty="0"/>
              <a:t> ra </a:t>
            </a:r>
            <a:r>
              <a:rPr lang="en-US" sz="1800" dirty="0" err="1"/>
              <a:t>có</a:t>
            </a:r>
            <a:r>
              <a:rPr lang="en-US" sz="1800" dirty="0"/>
              <a:t> </a:t>
            </a:r>
            <a:r>
              <a:rPr lang="en-US" sz="1800" dirty="0" err="1"/>
              <a:t>dao</a:t>
            </a:r>
            <a:r>
              <a:rPr lang="en-US" sz="1800" dirty="0"/>
              <a:t> </a:t>
            </a:r>
            <a:r>
              <a:rPr lang="en-US" sz="1800" dirty="0" err="1"/>
              <a:t>động</a:t>
            </a:r>
            <a:r>
              <a:rPr lang="en-US" dirty="0"/>
              <a:t>.</a:t>
            </a:r>
          </a:p>
          <a:p>
            <a:pPr marL="800100" lvl="1" indent="-342900" algn="l">
              <a:buFont typeface="Arial" panose="020B0604020202020204" pitchFamily="34" charset="0"/>
              <a:buChar char="•"/>
            </a:pPr>
            <a:endParaRPr lang="en-US" sz="1800" dirty="0"/>
          </a:p>
          <a:p>
            <a:pPr marL="800100" lvl="1" indent="-342900" algn="l">
              <a:buFont typeface="Arial" panose="020B0604020202020204" pitchFamily="34" charset="0"/>
              <a:buChar char="•"/>
            </a:pPr>
            <a:endParaRPr lang="vi-VN" sz="1800" dirty="0"/>
          </a:p>
          <a:p>
            <a:pPr marL="800100" lvl="1" indent="-342900" algn="l">
              <a:buFont typeface="Arial" panose="020B0604020202020204" pitchFamily="34" charset="0"/>
              <a:buChar char="•"/>
            </a:pPr>
            <a:endParaRPr lang="en-US" sz="1800" dirty="0"/>
          </a:p>
          <a:p>
            <a:pPr algn="l"/>
            <a:endParaRPr lang="en-US" sz="2000" dirty="0"/>
          </a:p>
        </p:txBody>
      </p:sp>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7</a:t>
            </a:fld>
            <a:endParaRPr lang="en-US" dirty="0"/>
          </a:p>
        </p:txBody>
      </p:sp>
    </p:spTree>
    <p:extLst>
      <p:ext uri="{BB962C8B-B14F-4D97-AF65-F5344CB8AC3E}">
        <p14:creationId xmlns:p14="http://schemas.microsoft.com/office/powerpoint/2010/main" val="34036867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dirty="0"/>
              <a:t>3.2. </a:t>
            </a:r>
            <a:r>
              <a:rPr lang="en-US" sz="2000" dirty="0" err="1"/>
              <a:t>Tại</a:t>
            </a:r>
            <a:r>
              <a:rPr lang="en-US" sz="2000" dirty="0"/>
              <a:t> </a:t>
            </a:r>
            <a:r>
              <a:rPr lang="en-US" sz="2000" dirty="0" err="1"/>
              <a:t>sao</a:t>
            </a:r>
            <a:r>
              <a:rPr lang="en-US" sz="2000" dirty="0"/>
              <a:t> </a:t>
            </a:r>
            <a:r>
              <a:rPr lang="en-US" sz="2000" dirty="0" err="1"/>
              <a:t>có</a:t>
            </a:r>
            <a:r>
              <a:rPr lang="en-US" sz="2000" dirty="0"/>
              <a:t> </a:t>
            </a:r>
            <a:r>
              <a:rPr lang="en-US" sz="2000" dirty="0" err="1"/>
              <a:t>cấu</a:t>
            </a:r>
            <a:r>
              <a:rPr lang="en-US" sz="2000" dirty="0"/>
              <a:t> </a:t>
            </a:r>
            <a:r>
              <a:rPr lang="en-US" sz="2000" dirty="0" err="1"/>
              <a:t>trúc</a:t>
            </a:r>
            <a:r>
              <a:rPr lang="en-US" sz="2000" dirty="0"/>
              <a:t> </a:t>
            </a:r>
            <a:r>
              <a:rPr lang="en-US" sz="2000" dirty="0" err="1"/>
              <a:t>điều</a:t>
            </a:r>
            <a:r>
              <a:rPr lang="en-US" sz="2000" dirty="0"/>
              <a:t> </a:t>
            </a:r>
            <a:r>
              <a:rPr lang="en-US" sz="2000" dirty="0" err="1"/>
              <a:t>khiển</a:t>
            </a:r>
            <a:r>
              <a:rPr lang="en-US" sz="2000" dirty="0"/>
              <a:t> FOC </a:t>
            </a:r>
            <a:r>
              <a:rPr lang="en-US" sz="2000" dirty="0" err="1"/>
              <a:t>cho</a:t>
            </a:r>
            <a:r>
              <a:rPr lang="en-US" sz="2000" dirty="0"/>
              <a:t> PMSM, IM</a:t>
            </a:r>
          </a:p>
          <a:p>
            <a:pPr marL="800100" lvl="1" indent="-342900" algn="l">
              <a:buFont typeface="Arial" panose="020B0604020202020204" pitchFamily="34" charset="0"/>
              <a:buChar char="•"/>
            </a:pPr>
            <a:r>
              <a:rPr lang="en-US" sz="1800" dirty="0"/>
              <a:t>Do </a:t>
            </a:r>
            <a:r>
              <a:rPr lang="en-US" sz="1800" dirty="0" err="1"/>
              <a:t>đó</a:t>
            </a:r>
            <a:r>
              <a:rPr lang="en-US" sz="1800" dirty="0"/>
              <a:t>, </a:t>
            </a:r>
            <a:r>
              <a:rPr lang="en-US" sz="1800" dirty="0" err="1"/>
              <a:t>để</a:t>
            </a:r>
            <a:r>
              <a:rPr lang="en-US" sz="1800" dirty="0"/>
              <a:t> </a:t>
            </a:r>
            <a:r>
              <a:rPr lang="en-US" sz="1800" dirty="0" err="1"/>
              <a:t>đạt</a:t>
            </a:r>
            <a:r>
              <a:rPr lang="en-US" sz="1800" dirty="0"/>
              <a:t> </a:t>
            </a:r>
            <a:r>
              <a:rPr lang="en-US" sz="1800" dirty="0" err="1"/>
              <a:t>được</a:t>
            </a:r>
            <a:r>
              <a:rPr lang="en-US" sz="1800" dirty="0"/>
              <a:t> </a:t>
            </a:r>
            <a:r>
              <a:rPr lang="en-US" sz="1800" dirty="0" err="1"/>
              <a:t>hiệu</a:t>
            </a:r>
            <a:r>
              <a:rPr lang="en-US" sz="1800" dirty="0"/>
              <a:t> </a:t>
            </a:r>
            <a:r>
              <a:rPr lang="en-US" sz="1800" dirty="0" err="1"/>
              <a:t>suất</a:t>
            </a:r>
            <a:r>
              <a:rPr lang="en-US" sz="1800" dirty="0"/>
              <a:t> </a:t>
            </a:r>
            <a:r>
              <a:rPr lang="en-US" sz="1800" dirty="0" err="1"/>
              <a:t>cao</a:t>
            </a:r>
            <a:r>
              <a:rPr lang="en-US" sz="1800" dirty="0"/>
              <a:t> </a:t>
            </a:r>
            <a:r>
              <a:rPr lang="en-US" sz="1800" dirty="0" err="1"/>
              <a:t>hơn</a:t>
            </a:r>
            <a:r>
              <a:rPr lang="en-US" sz="1800" dirty="0"/>
              <a:t>, </a:t>
            </a:r>
            <a:r>
              <a:rPr lang="en-US" sz="1800" dirty="0" err="1"/>
              <a:t>cần</a:t>
            </a:r>
            <a:r>
              <a:rPr lang="en-US" sz="1800" dirty="0"/>
              <a:t> </a:t>
            </a:r>
            <a:r>
              <a:rPr lang="en-US" sz="1800" dirty="0" err="1"/>
              <a:t>sử</a:t>
            </a:r>
            <a:r>
              <a:rPr lang="en-US" sz="1800" dirty="0"/>
              <a:t> </a:t>
            </a:r>
            <a:r>
              <a:rPr lang="en-US" sz="1800" dirty="0" err="1"/>
              <a:t>dụng</a:t>
            </a:r>
            <a:r>
              <a:rPr lang="en-US" sz="1800" dirty="0"/>
              <a:t> </a:t>
            </a:r>
            <a:r>
              <a:rPr lang="en-US" sz="1800" dirty="0" err="1"/>
              <a:t>một</a:t>
            </a:r>
            <a:r>
              <a:rPr lang="en-US" sz="1800" dirty="0"/>
              <a:t> </a:t>
            </a:r>
            <a:r>
              <a:rPr lang="en-US" sz="1800" dirty="0" err="1"/>
              <a:t>phương</a:t>
            </a:r>
            <a:r>
              <a:rPr lang="en-US" sz="1800" dirty="0"/>
              <a:t> </a:t>
            </a:r>
            <a:r>
              <a:rPr lang="en-US" sz="1800" dirty="0" err="1"/>
              <a:t>pháp</a:t>
            </a:r>
            <a:r>
              <a:rPr lang="en-US" sz="1800" dirty="0"/>
              <a:t> </a:t>
            </a:r>
            <a:r>
              <a:rPr lang="en-US" sz="1800" dirty="0" err="1"/>
              <a:t>điều</a:t>
            </a:r>
            <a:r>
              <a:rPr lang="en-US" sz="1800" dirty="0"/>
              <a:t> </a:t>
            </a:r>
            <a:r>
              <a:rPr lang="en-US" sz="1800" dirty="0" err="1"/>
              <a:t>khiển</a:t>
            </a:r>
            <a:r>
              <a:rPr lang="en-US" sz="1800" dirty="0"/>
              <a:t> </a:t>
            </a:r>
            <a:r>
              <a:rPr lang="en-US" sz="1800" dirty="0" err="1"/>
              <a:t>khác</a:t>
            </a:r>
            <a:r>
              <a:rPr lang="en-US" sz="1800" dirty="0"/>
              <a:t>.</a:t>
            </a:r>
          </a:p>
          <a:p>
            <a:pPr marL="800100" lvl="1" indent="-342900" algn="l">
              <a:buFont typeface="Arial" panose="020B0604020202020204" pitchFamily="34" charset="0"/>
              <a:buChar char="•"/>
            </a:pPr>
            <a:r>
              <a:rPr lang="en-US" sz="1800" dirty="0" err="1"/>
              <a:t>Sự</a:t>
            </a:r>
            <a:r>
              <a:rPr lang="en-US" sz="1800" dirty="0"/>
              <a:t> </a:t>
            </a:r>
            <a:r>
              <a:rPr lang="en-US" sz="1800" dirty="0" err="1"/>
              <a:t>phát</a:t>
            </a:r>
            <a:r>
              <a:rPr lang="en-US" sz="1800" dirty="0"/>
              <a:t> </a:t>
            </a:r>
            <a:r>
              <a:rPr lang="en-US" sz="1800" dirty="0" err="1"/>
              <a:t>triển</a:t>
            </a:r>
            <a:r>
              <a:rPr lang="en-US" sz="1800" dirty="0"/>
              <a:t> </a:t>
            </a:r>
            <a:r>
              <a:rPr lang="en-US" sz="1800" dirty="0" err="1"/>
              <a:t>của</a:t>
            </a:r>
            <a:r>
              <a:rPr lang="en-US" sz="1800" dirty="0"/>
              <a:t> </a:t>
            </a:r>
            <a:r>
              <a:rPr lang="en-US" sz="1800" dirty="0" err="1"/>
              <a:t>ngành</a:t>
            </a:r>
            <a:r>
              <a:rPr lang="en-US" sz="1800" dirty="0"/>
              <a:t> </a:t>
            </a:r>
            <a:r>
              <a:rPr lang="en-US" sz="1800" dirty="0" err="1"/>
              <a:t>công</a:t>
            </a:r>
            <a:r>
              <a:rPr lang="en-US" sz="1800" dirty="0"/>
              <a:t> </a:t>
            </a:r>
            <a:r>
              <a:rPr lang="en-US" sz="1800" dirty="0" err="1"/>
              <a:t>nghiệp</a:t>
            </a:r>
            <a:r>
              <a:rPr lang="en-US" sz="1800" dirty="0"/>
              <a:t> </a:t>
            </a:r>
            <a:r>
              <a:rPr lang="en-US" sz="1800" dirty="0" err="1"/>
              <a:t>bán</a:t>
            </a:r>
            <a:r>
              <a:rPr lang="en-US" sz="1800" dirty="0"/>
              <a:t> </a:t>
            </a:r>
            <a:r>
              <a:rPr lang="en-US" sz="1800" dirty="0" err="1"/>
              <a:t>dẫn</a:t>
            </a:r>
            <a:r>
              <a:rPr lang="en-US" sz="1800" dirty="0"/>
              <a:t> </a:t>
            </a:r>
            <a:r>
              <a:rPr lang="en-US" sz="1800" dirty="0" err="1"/>
              <a:t>cũng</a:t>
            </a:r>
            <a:r>
              <a:rPr lang="en-US" sz="1800" dirty="0"/>
              <a:t> </a:t>
            </a:r>
            <a:r>
              <a:rPr lang="en-US" sz="1800" dirty="0" err="1"/>
              <a:t>như</a:t>
            </a:r>
            <a:r>
              <a:rPr lang="en-US" sz="1800" dirty="0"/>
              <a:t> </a:t>
            </a:r>
            <a:r>
              <a:rPr lang="en-US" sz="1800" dirty="0" err="1"/>
              <a:t>các</a:t>
            </a:r>
            <a:r>
              <a:rPr lang="en-US" sz="1800" dirty="0"/>
              <a:t> vi </a:t>
            </a:r>
            <a:r>
              <a:rPr lang="en-US" sz="1800" dirty="0" err="1"/>
              <a:t>điều</a:t>
            </a:r>
            <a:r>
              <a:rPr lang="en-US" sz="1800" dirty="0"/>
              <a:t> </a:t>
            </a:r>
            <a:r>
              <a:rPr lang="en-US" sz="1800" dirty="0" err="1"/>
              <a:t>khiển</a:t>
            </a:r>
            <a:r>
              <a:rPr lang="en-US" sz="1800" dirty="0"/>
              <a:t>, </a:t>
            </a:r>
            <a:r>
              <a:rPr lang="en-US" sz="1800" dirty="0" err="1"/>
              <a:t>các</a:t>
            </a:r>
            <a:r>
              <a:rPr lang="en-US" sz="1800" dirty="0"/>
              <a:t> </a:t>
            </a:r>
            <a:r>
              <a:rPr lang="en-US" sz="1800" dirty="0" err="1"/>
              <a:t>bộ</a:t>
            </a:r>
            <a:r>
              <a:rPr lang="en-US" sz="1800" dirty="0"/>
              <a:t> </a:t>
            </a:r>
            <a:r>
              <a:rPr lang="en-US" sz="1800" dirty="0" err="1"/>
              <a:t>xử</a:t>
            </a:r>
            <a:r>
              <a:rPr lang="en-US" sz="1800" dirty="0"/>
              <a:t> </a:t>
            </a:r>
            <a:r>
              <a:rPr lang="en-US" sz="1800" dirty="0" err="1"/>
              <a:t>lý</a:t>
            </a:r>
            <a:r>
              <a:rPr lang="en-US" sz="1800" dirty="0"/>
              <a:t> </a:t>
            </a:r>
            <a:r>
              <a:rPr lang="en-US" sz="1800" dirty="0" err="1"/>
              <a:t>tín</a:t>
            </a:r>
            <a:r>
              <a:rPr lang="en-US" sz="1800" dirty="0"/>
              <a:t> </a:t>
            </a:r>
            <a:r>
              <a:rPr lang="en-US" sz="1800" dirty="0" err="1"/>
              <a:t>hiệu</a:t>
            </a:r>
            <a:r>
              <a:rPr lang="en-US" sz="1800" dirty="0"/>
              <a:t> </a:t>
            </a:r>
            <a:r>
              <a:rPr lang="en-US" sz="1800" dirty="0" err="1"/>
              <a:t>số</a:t>
            </a:r>
            <a:r>
              <a:rPr lang="en-US" sz="1800" dirty="0"/>
              <a:t> (DSP) </a:t>
            </a:r>
            <a:r>
              <a:rPr lang="en-US" sz="1800" dirty="0" err="1"/>
              <a:t>và</a:t>
            </a:r>
            <a:r>
              <a:rPr lang="en-US" sz="1800" dirty="0"/>
              <a:t> FPGA </a:t>
            </a:r>
            <a:r>
              <a:rPr lang="en-US" sz="1800" dirty="0" err="1"/>
              <a:t>đã</a:t>
            </a:r>
            <a:r>
              <a:rPr lang="en-US" sz="1800" dirty="0"/>
              <a:t> </a:t>
            </a:r>
            <a:r>
              <a:rPr lang="en-US" sz="1800" dirty="0" err="1"/>
              <a:t>tạo</a:t>
            </a:r>
            <a:r>
              <a:rPr lang="en-US" sz="1800" dirty="0"/>
              <a:t> </a:t>
            </a:r>
            <a:r>
              <a:rPr lang="en-US" sz="1800" dirty="0" err="1"/>
              <a:t>điều</a:t>
            </a:r>
            <a:r>
              <a:rPr lang="en-US" sz="1800" dirty="0"/>
              <a:t> </a:t>
            </a:r>
            <a:r>
              <a:rPr lang="en-US" sz="1800" dirty="0" err="1"/>
              <a:t>kiện</a:t>
            </a:r>
            <a:r>
              <a:rPr lang="en-US" sz="1800" dirty="0"/>
              <a:t> </a:t>
            </a:r>
            <a:r>
              <a:rPr lang="en-US" sz="1800" dirty="0" err="1"/>
              <a:t>để</a:t>
            </a:r>
            <a:r>
              <a:rPr lang="en-US" sz="1800" dirty="0"/>
              <a:t> </a:t>
            </a:r>
            <a:r>
              <a:rPr lang="en-US" sz="1800" dirty="0" err="1"/>
              <a:t>các</a:t>
            </a:r>
            <a:r>
              <a:rPr lang="en-US" sz="1800" dirty="0"/>
              <a:t> </a:t>
            </a:r>
            <a:r>
              <a:rPr lang="en-US" sz="1800" dirty="0" err="1"/>
              <a:t>phương</a:t>
            </a:r>
            <a:r>
              <a:rPr lang="en-US" sz="1800" dirty="0"/>
              <a:t> </a:t>
            </a:r>
            <a:r>
              <a:rPr lang="en-US" sz="1800" dirty="0" err="1"/>
              <a:t>pháp</a:t>
            </a:r>
            <a:r>
              <a:rPr lang="en-US" sz="1800" dirty="0"/>
              <a:t> </a:t>
            </a:r>
            <a:r>
              <a:rPr lang="en-US" sz="1800" dirty="0" err="1"/>
              <a:t>điều</a:t>
            </a:r>
            <a:r>
              <a:rPr lang="en-US" sz="1800" dirty="0"/>
              <a:t> </a:t>
            </a:r>
            <a:r>
              <a:rPr lang="en-US" sz="1800" dirty="0" err="1"/>
              <a:t>khiển</a:t>
            </a:r>
            <a:r>
              <a:rPr lang="en-US" sz="1800" dirty="0"/>
              <a:t> </a:t>
            </a:r>
            <a:r>
              <a:rPr lang="en-US" sz="1800" dirty="0" err="1"/>
              <a:t>phức</a:t>
            </a:r>
            <a:r>
              <a:rPr lang="en-US" sz="1800" dirty="0"/>
              <a:t> </a:t>
            </a:r>
            <a:r>
              <a:rPr lang="en-US" sz="1800" dirty="0" err="1"/>
              <a:t>tạp</a:t>
            </a:r>
            <a:r>
              <a:rPr lang="en-US" sz="1800" dirty="0"/>
              <a:t> </a:t>
            </a:r>
            <a:r>
              <a:rPr lang="en-US" sz="1800" dirty="0" err="1"/>
              <a:t>hơn</a:t>
            </a:r>
            <a:r>
              <a:rPr lang="en-US" sz="1800" dirty="0"/>
              <a:t> </a:t>
            </a:r>
            <a:r>
              <a:rPr lang="en-US" sz="1800" dirty="0" err="1"/>
              <a:t>như</a:t>
            </a:r>
            <a:r>
              <a:rPr lang="en-US" sz="1800" dirty="0"/>
              <a:t> FOC </a:t>
            </a:r>
            <a:r>
              <a:rPr lang="en-US" sz="1800" dirty="0" err="1"/>
              <a:t>có</a:t>
            </a:r>
            <a:r>
              <a:rPr lang="en-US" sz="1800" dirty="0"/>
              <a:t> </a:t>
            </a:r>
            <a:r>
              <a:rPr lang="en-US" sz="1800" dirty="0" err="1"/>
              <a:t>thể</a:t>
            </a:r>
            <a:r>
              <a:rPr lang="en-US" sz="1800" dirty="0"/>
              <a:t> </a:t>
            </a:r>
            <a:r>
              <a:rPr lang="en-US" sz="1800" dirty="0" err="1"/>
              <a:t>thực</a:t>
            </a:r>
            <a:r>
              <a:rPr lang="en-US" sz="1800" dirty="0"/>
              <a:t> </a:t>
            </a:r>
            <a:r>
              <a:rPr lang="en-US" sz="1800" dirty="0" err="1"/>
              <a:t>hiện</a:t>
            </a:r>
            <a:r>
              <a:rPr lang="en-US" sz="1800" dirty="0"/>
              <a:t> </a:t>
            </a:r>
            <a:r>
              <a:rPr lang="en-US" sz="1800" dirty="0" err="1"/>
              <a:t>được</a:t>
            </a:r>
            <a:endParaRPr lang="en-US" sz="1800" dirty="0"/>
          </a:p>
          <a:p>
            <a:pPr marL="800100" lvl="1" indent="-342900" algn="l">
              <a:buFont typeface="Arial" panose="020B0604020202020204" pitchFamily="34" charset="0"/>
              <a:buChar char="•"/>
            </a:pPr>
            <a:r>
              <a:rPr lang="en-US" sz="1800" dirty="0" err="1"/>
              <a:t>Phương</a:t>
            </a:r>
            <a:r>
              <a:rPr lang="en-US" sz="1800" dirty="0"/>
              <a:t> </a:t>
            </a:r>
            <a:r>
              <a:rPr lang="en-US" sz="1800" dirty="0" err="1"/>
              <a:t>pháp</a:t>
            </a:r>
            <a:r>
              <a:rPr lang="en-US" sz="1800" dirty="0"/>
              <a:t> </a:t>
            </a:r>
            <a:r>
              <a:rPr lang="en-US" sz="1800" dirty="0" err="1"/>
              <a:t>điều</a:t>
            </a:r>
            <a:r>
              <a:rPr lang="en-US" sz="1800" dirty="0"/>
              <a:t> </a:t>
            </a:r>
            <a:r>
              <a:rPr lang="en-US" sz="1800" dirty="0" err="1"/>
              <a:t>khiển</a:t>
            </a:r>
            <a:r>
              <a:rPr lang="en-US" sz="1800" dirty="0"/>
              <a:t> </a:t>
            </a:r>
            <a:r>
              <a:rPr lang="en-US" sz="1800" dirty="0" err="1"/>
              <a:t>động</a:t>
            </a:r>
            <a:r>
              <a:rPr lang="en-US" sz="1800" dirty="0"/>
              <a:t> </a:t>
            </a:r>
            <a:r>
              <a:rPr lang="en-US" sz="1800" dirty="0" err="1"/>
              <a:t>cơ</a:t>
            </a:r>
            <a:r>
              <a:rPr lang="en-US" sz="1800" dirty="0"/>
              <a:t> </a:t>
            </a:r>
            <a:r>
              <a:rPr lang="en-US" sz="1800" dirty="0" err="1"/>
              <a:t>tựa</a:t>
            </a:r>
            <a:r>
              <a:rPr lang="en-US" sz="1800" dirty="0"/>
              <a:t> </a:t>
            </a:r>
            <a:r>
              <a:rPr lang="en-US" sz="1800" dirty="0" err="1"/>
              <a:t>từ</a:t>
            </a:r>
            <a:r>
              <a:rPr lang="en-US" sz="1800" dirty="0"/>
              <a:t> </a:t>
            </a:r>
            <a:r>
              <a:rPr lang="en-US" sz="1800" dirty="0" err="1"/>
              <a:t>thông</a:t>
            </a:r>
            <a:r>
              <a:rPr lang="en-US" sz="1800" dirty="0"/>
              <a:t> rotor (FOC) </a:t>
            </a:r>
            <a:r>
              <a:rPr lang="en-US" sz="1800" dirty="0" err="1"/>
              <a:t>tách</a:t>
            </a:r>
            <a:r>
              <a:rPr lang="en-US" sz="1800" dirty="0"/>
              <a:t> </a:t>
            </a:r>
            <a:r>
              <a:rPr lang="en-US" sz="1800" dirty="0" err="1"/>
              <a:t>biệt</a:t>
            </a:r>
            <a:r>
              <a:rPr lang="en-US" sz="1800" dirty="0"/>
              <a:t> </a:t>
            </a:r>
            <a:r>
              <a:rPr lang="en-US" sz="1800" dirty="0" err="1"/>
              <a:t>thành</a:t>
            </a:r>
            <a:r>
              <a:rPr lang="en-US" sz="1800" dirty="0"/>
              <a:t> </a:t>
            </a:r>
            <a:r>
              <a:rPr lang="en-US" sz="1800" dirty="0" err="1"/>
              <a:t>phần</a:t>
            </a:r>
            <a:r>
              <a:rPr lang="en-US" sz="1800" dirty="0"/>
              <a:t> </a:t>
            </a:r>
            <a:r>
              <a:rPr lang="en-US" sz="1800" dirty="0" err="1"/>
              <a:t>sinh</a:t>
            </a:r>
            <a:r>
              <a:rPr lang="en-US" sz="1800" dirty="0"/>
              <a:t> </a:t>
            </a:r>
            <a:r>
              <a:rPr lang="en-US" sz="1800" dirty="0" err="1"/>
              <a:t>momen</a:t>
            </a:r>
            <a:r>
              <a:rPr lang="en-US" sz="1800" dirty="0"/>
              <a:t> </a:t>
            </a:r>
            <a:r>
              <a:rPr lang="en-US" sz="1800" dirty="0" err="1"/>
              <a:t>xoắn</a:t>
            </a:r>
            <a:r>
              <a:rPr lang="en-US" sz="1800" dirty="0"/>
              <a:t> </a:t>
            </a:r>
            <a:r>
              <a:rPr lang="en-US" sz="1800" dirty="0" err="1"/>
              <a:t>và</a:t>
            </a:r>
            <a:r>
              <a:rPr lang="en-US" sz="1800" dirty="0"/>
              <a:t> </a:t>
            </a:r>
            <a:r>
              <a:rPr lang="en-US" sz="1800" dirty="0" err="1"/>
              <a:t>thành</a:t>
            </a:r>
            <a:r>
              <a:rPr lang="en-US" sz="1800" dirty="0"/>
              <a:t> </a:t>
            </a:r>
            <a:r>
              <a:rPr lang="en-US" sz="1800" dirty="0" err="1"/>
              <a:t>phần</a:t>
            </a:r>
            <a:r>
              <a:rPr lang="en-US" sz="1800" dirty="0"/>
              <a:t> </a:t>
            </a:r>
            <a:r>
              <a:rPr lang="en-US" sz="1800" dirty="0" err="1"/>
              <a:t>sinh</a:t>
            </a:r>
            <a:r>
              <a:rPr lang="en-US" sz="1800" dirty="0"/>
              <a:t> </a:t>
            </a:r>
            <a:r>
              <a:rPr lang="en-US" sz="1800" dirty="0" err="1"/>
              <a:t>từ</a:t>
            </a:r>
            <a:r>
              <a:rPr lang="en-US" sz="1800" dirty="0"/>
              <a:t> </a:t>
            </a:r>
            <a:r>
              <a:rPr lang="en-US" sz="1800" dirty="0" err="1"/>
              <a:t>thông</a:t>
            </a:r>
            <a:r>
              <a:rPr lang="en-US" sz="1800" dirty="0"/>
              <a:t> </a:t>
            </a:r>
            <a:r>
              <a:rPr lang="en-US" sz="1800" dirty="0" err="1"/>
              <a:t>của</a:t>
            </a:r>
            <a:r>
              <a:rPr lang="en-US" sz="1800" dirty="0"/>
              <a:t> </a:t>
            </a:r>
            <a:r>
              <a:rPr lang="en-US" sz="1800" dirty="0" err="1"/>
              <a:t>động</a:t>
            </a:r>
            <a:r>
              <a:rPr lang="en-US" sz="1800" dirty="0"/>
              <a:t> </a:t>
            </a:r>
            <a:r>
              <a:rPr lang="en-US" sz="1800" dirty="0" err="1"/>
              <a:t>cơ</a:t>
            </a:r>
            <a:r>
              <a:rPr lang="en-US" sz="1800" dirty="0"/>
              <a:t> </a:t>
            </a:r>
            <a:r>
              <a:rPr lang="en-US" sz="1800" dirty="0" err="1"/>
              <a:t>xoay</a:t>
            </a:r>
            <a:r>
              <a:rPr lang="en-US" sz="1800" dirty="0"/>
              <a:t> </a:t>
            </a:r>
            <a:r>
              <a:rPr lang="en-US" sz="1800" dirty="0" err="1"/>
              <a:t>chiều</a:t>
            </a:r>
            <a:r>
              <a:rPr lang="en-US" sz="1800" dirty="0"/>
              <a:t>, </a:t>
            </a:r>
            <a:r>
              <a:rPr lang="en-US" sz="1800" dirty="0" err="1"/>
              <a:t>giúp</a:t>
            </a:r>
            <a:r>
              <a:rPr lang="en-US" sz="1800" dirty="0"/>
              <a:t> </a:t>
            </a:r>
            <a:r>
              <a:rPr lang="en-US" sz="1800" dirty="0" err="1"/>
              <a:t>mô</a:t>
            </a:r>
            <a:r>
              <a:rPr lang="en-US" sz="1800" dirty="0"/>
              <a:t> </a:t>
            </a:r>
            <a:r>
              <a:rPr lang="en-US" sz="1800" dirty="0" err="1"/>
              <a:t>hình</a:t>
            </a:r>
            <a:r>
              <a:rPr lang="en-US" sz="1800" dirty="0"/>
              <a:t> </a:t>
            </a:r>
            <a:r>
              <a:rPr lang="en-US" sz="1800" dirty="0" err="1"/>
              <a:t>hóa</a:t>
            </a:r>
            <a:r>
              <a:rPr lang="en-US" sz="1800" dirty="0"/>
              <a:t> </a:t>
            </a:r>
            <a:r>
              <a:rPr lang="en-US" sz="1800" dirty="0" err="1"/>
              <a:t>động</a:t>
            </a:r>
            <a:r>
              <a:rPr lang="en-US" sz="1800" dirty="0"/>
              <a:t> </a:t>
            </a:r>
            <a:r>
              <a:rPr lang="en-US" sz="1800" dirty="0" err="1"/>
              <a:t>cơ</a:t>
            </a:r>
            <a:r>
              <a:rPr lang="en-US" sz="1800" dirty="0"/>
              <a:t> </a:t>
            </a:r>
            <a:r>
              <a:rPr lang="en-US" sz="1800" dirty="0" err="1"/>
              <a:t>điện</a:t>
            </a:r>
            <a:r>
              <a:rPr lang="en-US" sz="1800" dirty="0"/>
              <a:t> </a:t>
            </a:r>
            <a:r>
              <a:rPr lang="en-US" sz="1800" dirty="0" err="1"/>
              <a:t>xoay</a:t>
            </a:r>
            <a:r>
              <a:rPr lang="en-US" sz="1800" dirty="0"/>
              <a:t> </a:t>
            </a:r>
            <a:r>
              <a:rPr lang="en-US" sz="1800" dirty="0" err="1"/>
              <a:t>chiều</a:t>
            </a:r>
            <a:r>
              <a:rPr lang="en-US" sz="1800" dirty="0"/>
              <a:t> </a:t>
            </a:r>
            <a:r>
              <a:rPr lang="en-US" sz="1800" dirty="0" err="1"/>
              <a:t>giống</a:t>
            </a:r>
            <a:r>
              <a:rPr lang="en-US" sz="1800" dirty="0"/>
              <a:t> </a:t>
            </a:r>
            <a:r>
              <a:rPr lang="en-US" sz="1800" dirty="0" err="1"/>
              <a:t>với</a:t>
            </a:r>
            <a:r>
              <a:rPr lang="en-US" sz="1800" dirty="0"/>
              <a:t> </a:t>
            </a:r>
            <a:r>
              <a:rPr lang="en-US" sz="1800" dirty="0" err="1"/>
              <a:t>động</a:t>
            </a:r>
            <a:r>
              <a:rPr lang="en-US" sz="1800" dirty="0"/>
              <a:t> </a:t>
            </a:r>
            <a:r>
              <a:rPr lang="en-US" sz="1800" dirty="0" err="1"/>
              <a:t>cơ</a:t>
            </a:r>
            <a:r>
              <a:rPr lang="en-US" sz="1800" dirty="0"/>
              <a:t> </a:t>
            </a:r>
            <a:r>
              <a:rPr lang="en-US" sz="1800" dirty="0" err="1"/>
              <a:t>điện</a:t>
            </a:r>
            <a:r>
              <a:rPr lang="en-US" sz="1800" dirty="0"/>
              <a:t> 1 </a:t>
            </a:r>
            <a:r>
              <a:rPr lang="en-US" sz="1800" dirty="0" err="1"/>
              <a:t>chiều</a:t>
            </a:r>
            <a:r>
              <a:rPr lang="en-US" sz="1800" dirty="0"/>
              <a:t> </a:t>
            </a:r>
            <a:r>
              <a:rPr lang="en-US" sz="1800" dirty="0" err="1"/>
              <a:t>để</a:t>
            </a:r>
            <a:r>
              <a:rPr lang="en-US" sz="1800" dirty="0"/>
              <a:t> </a:t>
            </a:r>
            <a:r>
              <a:rPr lang="en-US" sz="1800" dirty="0" err="1"/>
              <a:t>áp</a:t>
            </a:r>
            <a:r>
              <a:rPr lang="en-US" sz="1800" dirty="0"/>
              <a:t> </a:t>
            </a:r>
            <a:r>
              <a:rPr lang="en-US" sz="1800" dirty="0" err="1"/>
              <a:t>dụng</a:t>
            </a:r>
            <a:r>
              <a:rPr lang="en-US" sz="1800" dirty="0"/>
              <a:t> </a:t>
            </a:r>
            <a:r>
              <a:rPr lang="en-US" sz="1800" dirty="0" err="1"/>
              <a:t>các</a:t>
            </a:r>
            <a:r>
              <a:rPr lang="en-US" sz="1800" dirty="0"/>
              <a:t> </a:t>
            </a:r>
            <a:r>
              <a:rPr lang="en-US" sz="1800" dirty="0" err="1"/>
              <a:t>nguyên</a:t>
            </a:r>
            <a:r>
              <a:rPr lang="en-US" sz="1800" dirty="0"/>
              <a:t> </a:t>
            </a:r>
            <a:r>
              <a:rPr lang="en-US" sz="1800" dirty="0" err="1"/>
              <a:t>lý</a:t>
            </a:r>
            <a:r>
              <a:rPr lang="en-US" sz="1800" dirty="0"/>
              <a:t> </a:t>
            </a:r>
            <a:r>
              <a:rPr lang="en-US" sz="1800" dirty="0" err="1"/>
              <a:t>điều</a:t>
            </a:r>
            <a:r>
              <a:rPr lang="en-US" sz="1800" dirty="0"/>
              <a:t> </a:t>
            </a:r>
            <a:r>
              <a:rPr lang="en-US" sz="1800" dirty="0" err="1"/>
              <a:t>khiển</a:t>
            </a:r>
            <a:r>
              <a:rPr lang="en-US" sz="1800" dirty="0"/>
              <a:t> </a:t>
            </a:r>
            <a:r>
              <a:rPr lang="en-US" sz="1800" dirty="0" err="1"/>
              <a:t>của</a:t>
            </a:r>
            <a:r>
              <a:rPr lang="en-US" sz="1800" dirty="0"/>
              <a:t> </a:t>
            </a:r>
            <a:r>
              <a:rPr lang="en-US" sz="1800" dirty="0" err="1"/>
              <a:t>động</a:t>
            </a:r>
            <a:r>
              <a:rPr lang="en-US" sz="1800" dirty="0"/>
              <a:t> </a:t>
            </a:r>
            <a:r>
              <a:rPr lang="en-US" sz="1800" dirty="0" err="1"/>
              <a:t>cơ</a:t>
            </a:r>
            <a:r>
              <a:rPr lang="en-US" sz="1800" dirty="0"/>
              <a:t> </a:t>
            </a:r>
            <a:r>
              <a:rPr lang="en-US" sz="1800" dirty="0" err="1"/>
              <a:t>điện</a:t>
            </a:r>
            <a:r>
              <a:rPr lang="en-US" sz="1800" dirty="0"/>
              <a:t> 1 </a:t>
            </a:r>
            <a:r>
              <a:rPr lang="en-US" sz="1800" dirty="0" err="1"/>
              <a:t>chiều</a:t>
            </a:r>
            <a:r>
              <a:rPr lang="en-US" sz="1800" dirty="0"/>
              <a:t> </a:t>
            </a:r>
            <a:r>
              <a:rPr lang="en-US" sz="1800" dirty="0" err="1"/>
              <a:t>vào</a:t>
            </a:r>
            <a:r>
              <a:rPr lang="en-US" sz="1800" dirty="0"/>
              <a:t> </a:t>
            </a:r>
            <a:r>
              <a:rPr lang="en-US" sz="1800" dirty="0" err="1"/>
              <a:t>động</a:t>
            </a:r>
            <a:r>
              <a:rPr lang="en-US" sz="1800" dirty="0"/>
              <a:t> </a:t>
            </a:r>
            <a:r>
              <a:rPr lang="en-US" sz="1800" dirty="0" err="1"/>
              <a:t>cơ</a:t>
            </a:r>
            <a:r>
              <a:rPr lang="en-US" sz="1800" dirty="0"/>
              <a:t> </a:t>
            </a:r>
            <a:r>
              <a:rPr lang="en-US" sz="1800" dirty="0" err="1"/>
              <a:t>điện</a:t>
            </a:r>
            <a:r>
              <a:rPr lang="en-US" sz="1800" dirty="0"/>
              <a:t> </a:t>
            </a:r>
            <a:r>
              <a:rPr lang="en-US" sz="1800" dirty="0" err="1"/>
              <a:t>xoay</a:t>
            </a:r>
            <a:r>
              <a:rPr lang="en-US" sz="1800" dirty="0"/>
              <a:t> </a:t>
            </a:r>
            <a:r>
              <a:rPr lang="en-US" sz="1800" dirty="0" err="1"/>
              <a:t>chiều</a:t>
            </a:r>
            <a:r>
              <a:rPr lang="en-US" sz="1800" dirty="0"/>
              <a:t>.</a:t>
            </a:r>
          </a:p>
        </p:txBody>
      </p:sp>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8</a:t>
            </a:fld>
            <a:endParaRPr lang="en-US" dirty="0"/>
          </a:p>
        </p:txBody>
      </p:sp>
    </p:spTree>
    <p:extLst>
      <p:ext uri="{BB962C8B-B14F-4D97-AF65-F5344CB8AC3E}">
        <p14:creationId xmlns:p14="http://schemas.microsoft.com/office/powerpoint/2010/main" val="15363927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p:txBody>
          <a:bodyPr>
            <a:normAutofit/>
          </a:bodyPr>
          <a:lstStyle/>
          <a:p>
            <a:pPr algn="l"/>
            <a:r>
              <a:rPr lang="en-US" sz="2000" dirty="0"/>
              <a:t>3.2. </a:t>
            </a:r>
            <a:r>
              <a:rPr lang="en-US" sz="2000" dirty="0" err="1"/>
              <a:t>Tại</a:t>
            </a:r>
            <a:r>
              <a:rPr lang="en-US" sz="2000" dirty="0"/>
              <a:t> </a:t>
            </a:r>
            <a:r>
              <a:rPr lang="en-US" sz="2000" dirty="0" err="1"/>
              <a:t>sao</a:t>
            </a:r>
            <a:r>
              <a:rPr lang="en-US" sz="2000" dirty="0"/>
              <a:t> </a:t>
            </a:r>
            <a:r>
              <a:rPr lang="en-US" sz="2000" dirty="0" err="1"/>
              <a:t>có</a:t>
            </a:r>
            <a:r>
              <a:rPr lang="en-US" sz="2000" dirty="0"/>
              <a:t> </a:t>
            </a:r>
            <a:r>
              <a:rPr lang="en-US" sz="2000" dirty="0" err="1"/>
              <a:t>cấu</a:t>
            </a:r>
            <a:r>
              <a:rPr lang="en-US" sz="2000" dirty="0"/>
              <a:t> </a:t>
            </a:r>
            <a:r>
              <a:rPr lang="en-US" sz="2000" dirty="0" err="1"/>
              <a:t>trúc</a:t>
            </a:r>
            <a:r>
              <a:rPr lang="en-US" sz="2000" dirty="0"/>
              <a:t> </a:t>
            </a:r>
            <a:r>
              <a:rPr lang="en-US" sz="2000" dirty="0" err="1"/>
              <a:t>điều</a:t>
            </a:r>
            <a:r>
              <a:rPr lang="en-US" sz="2000" dirty="0"/>
              <a:t> </a:t>
            </a:r>
            <a:r>
              <a:rPr lang="en-US" sz="2000" dirty="0" err="1"/>
              <a:t>khiển</a:t>
            </a:r>
            <a:r>
              <a:rPr lang="en-US" sz="2000" dirty="0"/>
              <a:t> FOC </a:t>
            </a:r>
            <a:r>
              <a:rPr lang="en-US" sz="2000" dirty="0" err="1"/>
              <a:t>cho</a:t>
            </a:r>
            <a:r>
              <a:rPr lang="en-US" sz="2000" dirty="0"/>
              <a:t> PMSM, IM</a:t>
            </a:r>
          </a:p>
          <a:p>
            <a:pPr marL="742950" lvl="1" indent="-285750" algn="l">
              <a:buFont typeface="Wingdings" panose="05000000000000000000" pitchFamily="2" charset="2"/>
              <a:buChar char="Ø"/>
            </a:pPr>
            <a:r>
              <a:rPr lang="en-US" sz="1800" dirty="0" err="1"/>
              <a:t>Ưu</a:t>
            </a:r>
            <a:r>
              <a:rPr lang="en-US" sz="1800" dirty="0"/>
              <a:t> </a:t>
            </a:r>
            <a:r>
              <a:rPr lang="en-US" sz="1800" dirty="0" err="1"/>
              <a:t>điểm</a:t>
            </a:r>
            <a:r>
              <a:rPr lang="en-US" sz="1800" dirty="0"/>
              <a:t> </a:t>
            </a:r>
            <a:r>
              <a:rPr lang="en-US" sz="1800" dirty="0" err="1"/>
              <a:t>của</a:t>
            </a:r>
            <a:r>
              <a:rPr lang="en-US" sz="1800" dirty="0"/>
              <a:t> </a:t>
            </a:r>
            <a:r>
              <a:rPr lang="en-US" sz="1800" dirty="0" err="1"/>
              <a:t>phương</a:t>
            </a:r>
            <a:r>
              <a:rPr lang="en-US" sz="1800" dirty="0"/>
              <a:t> </a:t>
            </a:r>
            <a:r>
              <a:rPr lang="en-US" sz="1800" dirty="0" err="1"/>
              <a:t>pháp</a:t>
            </a:r>
            <a:r>
              <a:rPr lang="en-US" sz="1800" dirty="0"/>
              <a:t> FOC</a:t>
            </a:r>
          </a:p>
          <a:p>
            <a:pPr marL="1200150" lvl="2" indent="-285750" algn="l">
              <a:buFont typeface="Wingdings" panose="05000000000000000000" pitchFamily="2" charset="2"/>
              <a:buChar char="ü"/>
            </a:pPr>
            <a:r>
              <a:rPr lang="en-US" sz="1600" dirty="0" err="1"/>
              <a:t>Giảm</a:t>
            </a:r>
            <a:r>
              <a:rPr lang="en-US" sz="1600" dirty="0"/>
              <a:t> </a:t>
            </a:r>
            <a:r>
              <a:rPr lang="en-US" sz="1600" dirty="0" err="1"/>
              <a:t>sự</a:t>
            </a:r>
            <a:r>
              <a:rPr lang="en-US" sz="1600" dirty="0"/>
              <a:t> </a:t>
            </a:r>
            <a:r>
              <a:rPr lang="en-US" sz="1600" dirty="0" err="1"/>
              <a:t>dao</a:t>
            </a:r>
            <a:r>
              <a:rPr lang="en-US" sz="1600" dirty="0"/>
              <a:t> </a:t>
            </a:r>
            <a:r>
              <a:rPr lang="en-US" sz="1600" dirty="0" err="1"/>
              <a:t>động</a:t>
            </a:r>
            <a:r>
              <a:rPr lang="en-US" sz="1600" dirty="0"/>
              <a:t> </a:t>
            </a:r>
            <a:r>
              <a:rPr lang="en-US" sz="1600" dirty="0" err="1"/>
              <a:t>của</a:t>
            </a:r>
            <a:r>
              <a:rPr lang="en-US" sz="1600" dirty="0"/>
              <a:t> </a:t>
            </a:r>
            <a:r>
              <a:rPr lang="en-US" sz="1600" dirty="0" err="1"/>
              <a:t>momen</a:t>
            </a:r>
            <a:r>
              <a:rPr lang="en-US" sz="1600" dirty="0"/>
              <a:t> </a:t>
            </a:r>
            <a:r>
              <a:rPr lang="en-US" sz="1600" dirty="0" err="1"/>
              <a:t>xoắn</a:t>
            </a:r>
            <a:r>
              <a:rPr lang="en-US" sz="1600" dirty="0"/>
              <a:t> </a:t>
            </a:r>
            <a:r>
              <a:rPr lang="en-US" sz="1600" dirty="0" err="1"/>
              <a:t>sinh</a:t>
            </a:r>
            <a:r>
              <a:rPr lang="en-US" sz="1600" dirty="0"/>
              <a:t> ra</a:t>
            </a:r>
          </a:p>
          <a:p>
            <a:pPr marL="1200150" lvl="2" indent="-285750" algn="l">
              <a:buFont typeface="Wingdings" panose="05000000000000000000" pitchFamily="2" charset="2"/>
              <a:buChar char="ü"/>
            </a:pPr>
            <a:r>
              <a:rPr lang="en-US" sz="1600" dirty="0" err="1"/>
              <a:t>Dải</a:t>
            </a:r>
            <a:r>
              <a:rPr lang="en-US" sz="1600" dirty="0"/>
              <a:t> </a:t>
            </a:r>
            <a:r>
              <a:rPr lang="en-US" sz="1600" dirty="0" err="1"/>
              <a:t>điều</a:t>
            </a:r>
            <a:r>
              <a:rPr lang="en-US" sz="1600" dirty="0"/>
              <a:t> </a:t>
            </a:r>
            <a:r>
              <a:rPr lang="en-US" sz="1600" dirty="0" err="1"/>
              <a:t>chỉnh</a:t>
            </a:r>
            <a:r>
              <a:rPr lang="en-US" sz="1600" dirty="0"/>
              <a:t> </a:t>
            </a:r>
            <a:r>
              <a:rPr lang="en-US" sz="1600" dirty="0" err="1"/>
              <a:t>tốc</a:t>
            </a:r>
            <a:r>
              <a:rPr lang="en-US" sz="1600" dirty="0"/>
              <a:t> </a:t>
            </a:r>
            <a:r>
              <a:rPr lang="en-US" sz="1600" dirty="0" err="1"/>
              <a:t>độ</a:t>
            </a:r>
            <a:r>
              <a:rPr lang="en-US" sz="1600" dirty="0"/>
              <a:t> </a:t>
            </a:r>
            <a:r>
              <a:rPr lang="en-US" sz="1600" dirty="0" err="1"/>
              <a:t>lớn</a:t>
            </a:r>
            <a:endParaRPr lang="en-US" sz="1600" dirty="0"/>
          </a:p>
          <a:p>
            <a:pPr marL="1200150" lvl="2" indent="-285750" algn="l">
              <a:buFont typeface="Wingdings" panose="05000000000000000000" pitchFamily="2" charset="2"/>
              <a:buChar char="ü"/>
            </a:pPr>
            <a:r>
              <a:rPr lang="en-US" sz="1600" dirty="0" err="1"/>
              <a:t>Điều</a:t>
            </a:r>
            <a:r>
              <a:rPr lang="en-US" sz="1600" dirty="0"/>
              <a:t> </a:t>
            </a:r>
            <a:r>
              <a:rPr lang="en-US" sz="1600" dirty="0" err="1"/>
              <a:t>khiển</a:t>
            </a:r>
            <a:r>
              <a:rPr lang="en-US" sz="1600" dirty="0"/>
              <a:t> </a:t>
            </a:r>
            <a:r>
              <a:rPr lang="en-US" sz="1600" dirty="0" err="1"/>
              <a:t>tốc</a:t>
            </a:r>
            <a:r>
              <a:rPr lang="en-US" sz="1600" dirty="0"/>
              <a:t> </a:t>
            </a:r>
            <a:r>
              <a:rPr lang="en-US" sz="1600" dirty="0" err="1"/>
              <a:t>độ</a:t>
            </a:r>
            <a:r>
              <a:rPr lang="en-US" sz="1600" dirty="0"/>
              <a:t> </a:t>
            </a:r>
            <a:r>
              <a:rPr lang="en-US" sz="1600" dirty="0" err="1"/>
              <a:t>chính</a:t>
            </a:r>
            <a:r>
              <a:rPr lang="en-US" sz="1600" dirty="0"/>
              <a:t> </a:t>
            </a:r>
            <a:r>
              <a:rPr lang="en-US" sz="1600" dirty="0" err="1"/>
              <a:t>xác</a:t>
            </a:r>
            <a:endParaRPr lang="en-US" sz="1600" dirty="0"/>
          </a:p>
          <a:p>
            <a:pPr marL="1200150" lvl="2" indent="-285750" algn="l">
              <a:buFont typeface="Wingdings" panose="05000000000000000000" pitchFamily="2" charset="2"/>
              <a:buChar char="ü"/>
            </a:pPr>
            <a:r>
              <a:rPr lang="en-US" sz="1600" dirty="0" err="1"/>
              <a:t>Hoạt</a:t>
            </a:r>
            <a:r>
              <a:rPr lang="en-US" sz="1600" dirty="0"/>
              <a:t> </a:t>
            </a:r>
            <a:r>
              <a:rPr lang="en-US" sz="1600" dirty="0" err="1"/>
              <a:t>động</a:t>
            </a:r>
            <a:r>
              <a:rPr lang="en-US" sz="1600" dirty="0"/>
              <a:t> </a:t>
            </a:r>
            <a:r>
              <a:rPr lang="en-US" sz="1600" dirty="0" err="1"/>
              <a:t>được</a:t>
            </a:r>
            <a:r>
              <a:rPr lang="en-US" sz="1600" dirty="0"/>
              <a:t> ở </a:t>
            </a:r>
            <a:r>
              <a:rPr lang="en-US" sz="1600" dirty="0" err="1"/>
              <a:t>trong</a:t>
            </a:r>
            <a:r>
              <a:rPr lang="en-US" sz="1600" dirty="0"/>
              <a:t> </a:t>
            </a:r>
            <a:r>
              <a:rPr lang="en-US" sz="1600" dirty="0" err="1"/>
              <a:t>cả</a:t>
            </a:r>
            <a:r>
              <a:rPr lang="en-US" sz="1600" dirty="0"/>
              <a:t> 4 </a:t>
            </a:r>
            <a:r>
              <a:rPr lang="en-US" sz="1600" dirty="0" err="1"/>
              <a:t>góc</a:t>
            </a:r>
            <a:r>
              <a:rPr lang="en-US" sz="1600" dirty="0"/>
              <a:t> </a:t>
            </a:r>
            <a:r>
              <a:rPr lang="en-US" sz="1600" dirty="0" err="1"/>
              <a:t>phần</a:t>
            </a:r>
            <a:r>
              <a:rPr lang="en-US" sz="1600" dirty="0"/>
              <a:t> </a:t>
            </a:r>
            <a:r>
              <a:rPr lang="en-US" sz="1600" dirty="0" err="1"/>
              <a:t>tư</a:t>
            </a:r>
            <a:r>
              <a:rPr lang="en-US" sz="1600" dirty="0"/>
              <a:t>.</a:t>
            </a:r>
          </a:p>
          <a:p>
            <a:pPr marL="800100" lvl="1" indent="-342900" algn="l">
              <a:buFont typeface="Wingdings" panose="05000000000000000000" pitchFamily="2" charset="2"/>
              <a:buChar char="ü"/>
            </a:pPr>
            <a:endParaRPr lang="en-US" sz="1800" dirty="0"/>
          </a:p>
        </p:txBody>
      </p:sp>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9</a:t>
            </a:fld>
            <a:endParaRPr lang="en-US" dirty="0"/>
          </a:p>
        </p:txBody>
      </p:sp>
    </p:spTree>
    <p:extLst>
      <p:ext uri="{BB962C8B-B14F-4D97-AF65-F5344CB8AC3E}">
        <p14:creationId xmlns:p14="http://schemas.microsoft.com/office/powerpoint/2010/main" val="25934998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10</a:t>
            </a:fld>
            <a:endParaRPr lang="en-US" dirty="0"/>
          </a:p>
        </p:txBody>
      </p:sp>
      <p:pic>
        <p:nvPicPr>
          <p:cNvPr id="8" name="Picture 7">
            <a:extLst>
              <a:ext uri="{FF2B5EF4-FFF2-40B4-BE49-F238E27FC236}">
                <a16:creationId xmlns:a16="http://schemas.microsoft.com/office/drawing/2014/main" id="{120B1FA9-E961-4BA7-B925-C33812397C4A}"/>
              </a:ext>
            </a:extLst>
          </p:cNvPr>
          <p:cNvPicPr>
            <a:picLocks noChangeAspect="1"/>
          </p:cNvPicPr>
          <p:nvPr/>
        </p:nvPicPr>
        <p:blipFill>
          <a:blip r:embed="rId2"/>
          <a:stretch>
            <a:fillRect/>
          </a:stretch>
        </p:blipFill>
        <p:spPr>
          <a:xfrm>
            <a:off x="490536" y="1504950"/>
            <a:ext cx="8162925" cy="4133850"/>
          </a:xfrm>
          <a:prstGeom prst="rect">
            <a:avLst/>
          </a:prstGeom>
        </p:spPr>
      </p:pic>
      <p:pic>
        <p:nvPicPr>
          <p:cNvPr id="9" name="Picture 8">
            <a:extLst>
              <a:ext uri="{FF2B5EF4-FFF2-40B4-BE49-F238E27FC236}">
                <a16:creationId xmlns:a16="http://schemas.microsoft.com/office/drawing/2014/main" id="{F6795CB6-C748-4715-9750-83AD5D9A71B3}"/>
              </a:ext>
            </a:extLst>
          </p:cNvPr>
          <p:cNvPicPr>
            <a:picLocks noChangeAspect="1"/>
          </p:cNvPicPr>
          <p:nvPr/>
        </p:nvPicPr>
        <p:blipFill>
          <a:blip r:embed="rId3"/>
          <a:stretch>
            <a:fillRect/>
          </a:stretch>
        </p:blipFill>
        <p:spPr>
          <a:xfrm>
            <a:off x="2615612" y="5671948"/>
            <a:ext cx="6200775" cy="876300"/>
          </a:xfrm>
          <a:prstGeom prst="rect">
            <a:avLst/>
          </a:prstGeom>
        </p:spPr>
      </p:pic>
    </p:spTree>
    <p:extLst>
      <p:ext uri="{BB962C8B-B14F-4D97-AF65-F5344CB8AC3E}">
        <p14:creationId xmlns:p14="http://schemas.microsoft.com/office/powerpoint/2010/main" val="4120105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11</a:t>
            </a:fld>
            <a:endParaRPr lang="en-US" dirty="0"/>
          </a:p>
        </p:txBody>
      </p:sp>
      <p:pic>
        <p:nvPicPr>
          <p:cNvPr id="2" name="Picture 1">
            <a:extLst>
              <a:ext uri="{FF2B5EF4-FFF2-40B4-BE49-F238E27FC236}">
                <a16:creationId xmlns:a16="http://schemas.microsoft.com/office/drawing/2014/main" id="{F6400F7E-7684-4E70-BC03-A9B029AD81A4}"/>
              </a:ext>
            </a:extLst>
          </p:cNvPr>
          <p:cNvPicPr>
            <a:picLocks noChangeAspect="1"/>
          </p:cNvPicPr>
          <p:nvPr/>
        </p:nvPicPr>
        <p:blipFill>
          <a:blip r:embed="rId2"/>
          <a:stretch>
            <a:fillRect/>
          </a:stretch>
        </p:blipFill>
        <p:spPr>
          <a:xfrm>
            <a:off x="216397" y="914400"/>
            <a:ext cx="8420100" cy="2647950"/>
          </a:xfrm>
          <a:prstGeom prst="rect">
            <a:avLst/>
          </a:prstGeom>
        </p:spPr>
      </p:pic>
    </p:spTree>
    <p:extLst>
      <p:ext uri="{BB962C8B-B14F-4D97-AF65-F5344CB8AC3E}">
        <p14:creationId xmlns:p14="http://schemas.microsoft.com/office/powerpoint/2010/main" val="33000998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a:lstStyle/>
          <a:p>
            <a:r>
              <a:rPr lang="en-US"/>
              <a:t>3</a:t>
            </a:r>
          </a:p>
        </p:txBody>
      </p:sp>
      <p:sp>
        <p:nvSpPr>
          <p:cNvPr id="4" name="Title 3"/>
          <p:cNvSpPr>
            <a:spLocks noGrp="1"/>
          </p:cNvSpPr>
          <p:nvPr>
            <p:ph type="title"/>
          </p:nvPr>
        </p:nvSpPr>
        <p:spPr/>
        <p:txBody>
          <a:bodyPr/>
          <a:lstStyle/>
          <a:p>
            <a:r>
              <a:rPr lang="en-US"/>
              <a:t>Phương pháp điều khiển FOC</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12</a:t>
            </a:fld>
            <a:endParaRPr lang="en-US" dirty="0"/>
          </a:p>
        </p:txBody>
      </p:sp>
      <p:pic>
        <p:nvPicPr>
          <p:cNvPr id="6" name="Picture 5">
            <a:extLst>
              <a:ext uri="{FF2B5EF4-FFF2-40B4-BE49-F238E27FC236}">
                <a16:creationId xmlns:a16="http://schemas.microsoft.com/office/drawing/2014/main" id="{D47A79BA-6676-4375-A102-298D3780C90F}"/>
              </a:ext>
            </a:extLst>
          </p:cNvPr>
          <p:cNvPicPr>
            <a:picLocks noChangeAspect="1"/>
          </p:cNvPicPr>
          <p:nvPr/>
        </p:nvPicPr>
        <p:blipFill>
          <a:blip r:embed="rId2"/>
          <a:stretch>
            <a:fillRect/>
          </a:stretch>
        </p:blipFill>
        <p:spPr>
          <a:xfrm>
            <a:off x="587989" y="1513899"/>
            <a:ext cx="7995797" cy="3482511"/>
          </a:xfrm>
          <a:prstGeom prst="rect">
            <a:avLst/>
          </a:prstGeom>
        </p:spPr>
      </p:pic>
      <p:sp>
        <p:nvSpPr>
          <p:cNvPr id="7" name="TextBox 6">
            <a:extLst>
              <a:ext uri="{FF2B5EF4-FFF2-40B4-BE49-F238E27FC236}">
                <a16:creationId xmlns:a16="http://schemas.microsoft.com/office/drawing/2014/main" id="{CB12C36B-D976-4F8A-B6B0-354273FCE938}"/>
              </a:ext>
            </a:extLst>
          </p:cNvPr>
          <p:cNvSpPr txBox="1"/>
          <p:nvPr/>
        </p:nvSpPr>
        <p:spPr>
          <a:xfrm>
            <a:off x="1148201" y="5745892"/>
            <a:ext cx="6847596" cy="400110"/>
          </a:xfrm>
          <a:prstGeom prst="rect">
            <a:avLst/>
          </a:prstGeom>
          <a:noFill/>
        </p:spPr>
        <p:txBody>
          <a:bodyPr wrap="square" rtlCol="0">
            <a:spAutoFit/>
          </a:bodyPr>
          <a:lstStyle/>
          <a:p>
            <a:pPr algn="ctr"/>
            <a:r>
              <a:rPr lang="en-US" sz="2000" dirty="0" err="1">
                <a:solidFill>
                  <a:schemeClr val="accent1">
                    <a:lumMod val="50000"/>
                  </a:schemeClr>
                </a:solidFill>
                <a:latin typeface="Arial" panose="020B0604020202020204" pitchFamily="34" charset="0"/>
                <a:cs typeface="Arial" panose="020B0604020202020204" pitchFamily="34" charset="0"/>
              </a:rPr>
              <a:t>Mô</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hình</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động</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cơ</a:t>
            </a:r>
            <a:r>
              <a:rPr lang="en-US" sz="2000" dirty="0">
                <a:solidFill>
                  <a:schemeClr val="accent1">
                    <a:lumMod val="50000"/>
                  </a:schemeClr>
                </a:solidFill>
                <a:latin typeface="Arial" panose="020B0604020202020204" pitchFamily="34" charset="0"/>
                <a:cs typeface="Arial" panose="020B0604020202020204" pitchFamily="34" charset="0"/>
              </a:rPr>
              <a:t> PMSM </a:t>
            </a:r>
            <a:r>
              <a:rPr lang="en-US" sz="2000" dirty="0" err="1">
                <a:solidFill>
                  <a:schemeClr val="accent1">
                    <a:lumMod val="50000"/>
                  </a:schemeClr>
                </a:solidFill>
                <a:latin typeface="Arial" panose="020B0604020202020204" pitchFamily="34" charset="0"/>
                <a:cs typeface="Arial" panose="020B0604020202020204" pitchFamily="34" charset="0"/>
              </a:rPr>
              <a:t>trên</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hệ</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tọa</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độ</a:t>
            </a:r>
            <a:r>
              <a:rPr lang="en-US" sz="2000" dirty="0">
                <a:solidFill>
                  <a:schemeClr val="accent1">
                    <a:lumMod val="50000"/>
                  </a:schemeClr>
                </a:solidFill>
                <a:latin typeface="Arial" panose="020B0604020202020204" pitchFamily="34" charset="0"/>
                <a:cs typeface="Arial" panose="020B0604020202020204" pitchFamily="34" charset="0"/>
              </a:rPr>
              <a:t> quay</a:t>
            </a:r>
          </a:p>
        </p:txBody>
      </p:sp>
    </p:spTree>
    <p:extLst>
      <p:ext uri="{BB962C8B-B14F-4D97-AF65-F5344CB8AC3E}">
        <p14:creationId xmlns:p14="http://schemas.microsoft.com/office/powerpoint/2010/main" val="7631575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744EE1-B900-4AA8-B841-6B549A89D587}"/>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359D6648-5766-4657-B1C9-0C8077164A09}"/>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9123D850-A98F-4F36-9B6F-B4E59E5EF34F}"/>
              </a:ext>
            </a:extLst>
          </p:cNvPr>
          <p:cNvSpPr>
            <a:spLocks noGrp="1"/>
          </p:cNvSpPr>
          <p:nvPr>
            <p:ph type="sldNum" sz="quarter" idx="4"/>
          </p:nvPr>
        </p:nvSpPr>
        <p:spPr/>
        <p:txBody>
          <a:bodyPr/>
          <a:lstStyle/>
          <a:p>
            <a:fld id="{C4AED997-7CB6-4654-8505-4D4C6D081CC6}" type="slidenum">
              <a:rPr lang="en-US" smtClean="0"/>
              <a:pPr/>
              <a:t>13</a:t>
            </a:fld>
            <a:endParaRPr lang="en-US"/>
          </a:p>
        </p:txBody>
      </p:sp>
      <p:sp>
        <p:nvSpPr>
          <p:cNvPr id="8" name="TextBox 7">
            <a:extLst>
              <a:ext uri="{FF2B5EF4-FFF2-40B4-BE49-F238E27FC236}">
                <a16:creationId xmlns:a16="http://schemas.microsoft.com/office/drawing/2014/main" id="{C369CBC9-DC76-4B31-B67E-E1BFE1622F38}"/>
              </a:ext>
            </a:extLst>
          </p:cNvPr>
          <p:cNvSpPr txBox="1"/>
          <p:nvPr/>
        </p:nvSpPr>
        <p:spPr>
          <a:xfrm>
            <a:off x="1148201" y="5745892"/>
            <a:ext cx="6847596" cy="400110"/>
          </a:xfrm>
          <a:prstGeom prst="rect">
            <a:avLst/>
          </a:prstGeom>
          <a:noFill/>
        </p:spPr>
        <p:txBody>
          <a:bodyPr wrap="square" rtlCol="0">
            <a:spAutoFit/>
          </a:bodyPr>
          <a:lstStyle/>
          <a:p>
            <a:pPr algn="ctr"/>
            <a:r>
              <a:rPr lang="en-US" sz="2000" dirty="0" err="1">
                <a:solidFill>
                  <a:schemeClr val="accent1">
                    <a:lumMod val="50000"/>
                  </a:schemeClr>
                </a:solidFill>
                <a:latin typeface="Arial" panose="020B0604020202020204" pitchFamily="34" charset="0"/>
                <a:cs typeface="Arial" panose="020B0604020202020204" pitchFamily="34" charset="0"/>
              </a:rPr>
              <a:t>Mô</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hình</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bộ</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điều</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khiển</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tựa</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từ</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thông</a:t>
            </a:r>
            <a:r>
              <a:rPr lang="en-US" sz="2000" dirty="0">
                <a:solidFill>
                  <a:schemeClr val="accent1">
                    <a:lumMod val="50000"/>
                  </a:schemeClr>
                </a:solidFill>
                <a:latin typeface="Arial" panose="020B0604020202020204" pitchFamily="34" charset="0"/>
                <a:cs typeface="Arial" panose="020B0604020202020204" pitchFamily="34" charset="0"/>
              </a:rPr>
              <a:t> rotor </a:t>
            </a:r>
          </a:p>
        </p:txBody>
      </p:sp>
      <p:sp>
        <p:nvSpPr>
          <p:cNvPr id="6" name="Rectangle 2">
            <a:extLst>
              <a:ext uri="{FF2B5EF4-FFF2-40B4-BE49-F238E27FC236}">
                <a16:creationId xmlns:a16="http://schemas.microsoft.com/office/drawing/2014/main" id="{3FF34098-AB41-40D9-AB00-3FDB14DFDA6F}"/>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aphicFrame>
        <p:nvGraphicFramePr>
          <p:cNvPr id="7" name="Object 6">
            <a:extLst>
              <a:ext uri="{FF2B5EF4-FFF2-40B4-BE49-F238E27FC236}">
                <a16:creationId xmlns:a16="http://schemas.microsoft.com/office/drawing/2014/main" id="{91049B44-3358-48B2-A7A4-7BCABB9B41FF}"/>
              </a:ext>
            </a:extLst>
          </p:cNvPr>
          <p:cNvGraphicFramePr>
            <a:graphicFrameLocks noChangeAspect="1"/>
          </p:cNvGraphicFramePr>
          <p:nvPr>
            <p:extLst>
              <p:ext uri="{D42A27DB-BD31-4B8C-83A1-F6EECF244321}">
                <p14:modId xmlns:p14="http://schemas.microsoft.com/office/powerpoint/2010/main" val="165187958"/>
              </p:ext>
            </p:extLst>
          </p:nvPr>
        </p:nvGraphicFramePr>
        <p:xfrm>
          <a:off x="24525" y="1068237"/>
          <a:ext cx="8791862" cy="4610367"/>
        </p:xfrm>
        <a:graphic>
          <a:graphicData uri="http://schemas.openxmlformats.org/presentationml/2006/ole">
            <mc:AlternateContent xmlns:mc="http://schemas.openxmlformats.org/markup-compatibility/2006">
              <mc:Choice xmlns:v="urn:schemas-microsoft-com:vml" Requires="v">
                <p:oleObj spid="_x0000_s5122" name="Visio" r:id="rId3" imgW="10835427" imgH="5669043" progId="Visio.Drawing.15">
                  <p:embed/>
                </p:oleObj>
              </mc:Choice>
              <mc:Fallback>
                <p:oleObj name="Visio" r:id="rId3" imgW="10835427" imgH="5669043" progId="Visio.Drawing.15">
                  <p:embed/>
                  <p:pic>
                    <p:nvPicPr>
                      <p:cNvPr id="7" name="Object 6">
                        <a:extLst>
                          <a:ext uri="{FF2B5EF4-FFF2-40B4-BE49-F238E27FC236}">
                            <a16:creationId xmlns:a16="http://schemas.microsoft.com/office/drawing/2014/main" id="{91049B44-3358-48B2-A7A4-7BCABB9B41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525" y="1068237"/>
                        <a:ext cx="8791862" cy="4610367"/>
                      </a:xfrm>
                      <a:prstGeom prst="rect">
                        <a:avLst/>
                      </a:prstGeom>
                      <a:noFill/>
                    </p:spPr>
                  </p:pic>
                </p:oleObj>
              </mc:Fallback>
            </mc:AlternateContent>
          </a:graphicData>
        </a:graphic>
      </p:graphicFrame>
    </p:spTree>
    <p:extLst>
      <p:ext uri="{BB962C8B-B14F-4D97-AF65-F5344CB8AC3E}">
        <p14:creationId xmlns:p14="http://schemas.microsoft.com/office/powerpoint/2010/main" val="979483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1744EE1-B900-4AA8-B841-6B549A89D587}"/>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359D6648-5766-4657-B1C9-0C8077164A09}"/>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9123D850-A98F-4F36-9B6F-B4E59E5EF34F}"/>
              </a:ext>
            </a:extLst>
          </p:cNvPr>
          <p:cNvSpPr>
            <a:spLocks noGrp="1"/>
          </p:cNvSpPr>
          <p:nvPr>
            <p:ph type="sldNum" sz="quarter" idx="4"/>
          </p:nvPr>
        </p:nvSpPr>
        <p:spPr/>
        <p:txBody>
          <a:bodyPr/>
          <a:lstStyle/>
          <a:p>
            <a:fld id="{C4AED997-7CB6-4654-8505-4D4C6D081CC6}" type="slidenum">
              <a:rPr lang="en-US" smtClean="0"/>
              <a:pPr/>
              <a:t>14</a:t>
            </a:fld>
            <a:endParaRPr lang="en-US"/>
          </a:p>
        </p:txBody>
      </p:sp>
      <p:sp>
        <p:nvSpPr>
          <p:cNvPr id="8" name="TextBox 7">
            <a:extLst>
              <a:ext uri="{FF2B5EF4-FFF2-40B4-BE49-F238E27FC236}">
                <a16:creationId xmlns:a16="http://schemas.microsoft.com/office/drawing/2014/main" id="{C369CBC9-DC76-4B31-B67E-E1BFE1622F38}"/>
              </a:ext>
            </a:extLst>
          </p:cNvPr>
          <p:cNvSpPr txBox="1"/>
          <p:nvPr/>
        </p:nvSpPr>
        <p:spPr>
          <a:xfrm>
            <a:off x="855590" y="960828"/>
            <a:ext cx="6847596"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3.3: Khối chuyển hệ toạ độ</a:t>
            </a:r>
          </a:p>
        </p:txBody>
      </p:sp>
      <p:sp>
        <p:nvSpPr>
          <p:cNvPr id="7" name="TextBox 6">
            <a:extLst>
              <a:ext uri="{FF2B5EF4-FFF2-40B4-BE49-F238E27FC236}">
                <a16:creationId xmlns:a16="http://schemas.microsoft.com/office/drawing/2014/main" id="{200D5818-5A95-44B3-8BEF-7AEF0398739B}"/>
              </a:ext>
            </a:extLst>
          </p:cNvPr>
          <p:cNvSpPr txBox="1"/>
          <p:nvPr/>
        </p:nvSpPr>
        <p:spPr>
          <a:xfrm>
            <a:off x="4252404" y="1518082"/>
            <a:ext cx="4487487" cy="2554545"/>
          </a:xfrm>
          <a:prstGeom prst="rect">
            <a:avLst/>
          </a:prstGeom>
          <a:noFill/>
        </p:spPr>
        <p:txBody>
          <a:bodyPr wrap="square" rtlCol="0">
            <a:spAutoFit/>
          </a:bodyPr>
          <a:lstStyle/>
          <a:p>
            <a:r>
              <a:rPr lang="en-US" sz="2000">
                <a:solidFill>
                  <a:srgbClr val="1F4E79"/>
                </a:solidFill>
                <a:latin typeface="Arial" panose="020B0604020202020204" pitchFamily="34" charset="0"/>
                <a:cs typeface="Arial" panose="020B0604020202020204" pitchFamily="34" charset="0"/>
              </a:rPr>
              <a:t>- Khối chuyển hệ toạ độ nhận giá trị về dòng điện i</a:t>
            </a:r>
            <a:r>
              <a:rPr lang="en-US" sz="2000" baseline="-25000">
                <a:solidFill>
                  <a:srgbClr val="1F4E79"/>
                </a:solidFill>
                <a:latin typeface="Arial" panose="020B0604020202020204" pitchFamily="34" charset="0"/>
                <a:cs typeface="Arial" panose="020B0604020202020204" pitchFamily="34" charset="0"/>
              </a:rPr>
              <a:t>sa</a:t>
            </a:r>
            <a:r>
              <a:rPr lang="en-US" sz="2000">
                <a:solidFill>
                  <a:srgbClr val="1F4E79"/>
                </a:solidFill>
                <a:latin typeface="Arial" panose="020B0604020202020204" pitchFamily="34" charset="0"/>
                <a:cs typeface="Arial" panose="020B0604020202020204" pitchFamily="34" charset="0"/>
              </a:rPr>
              <a:t>, i</a:t>
            </a:r>
            <a:r>
              <a:rPr lang="en-US" sz="2000" baseline="-25000">
                <a:solidFill>
                  <a:srgbClr val="1F4E79"/>
                </a:solidFill>
                <a:latin typeface="Arial" panose="020B0604020202020204" pitchFamily="34" charset="0"/>
                <a:cs typeface="Arial" panose="020B0604020202020204" pitchFamily="34" charset="0"/>
              </a:rPr>
              <a:t>sb</a:t>
            </a:r>
            <a:r>
              <a:rPr lang="en-US" sz="2000">
                <a:solidFill>
                  <a:srgbClr val="1F4E79"/>
                </a:solidFill>
                <a:latin typeface="Arial" panose="020B0604020202020204" pitchFamily="34" charset="0"/>
                <a:cs typeface="Arial" panose="020B0604020202020204" pitchFamily="34" charset="0"/>
              </a:rPr>
              <a:t>, i</a:t>
            </a:r>
            <a:r>
              <a:rPr lang="en-US" sz="2000" baseline="-25000">
                <a:solidFill>
                  <a:srgbClr val="1F4E79"/>
                </a:solidFill>
                <a:latin typeface="Arial" panose="020B0604020202020204" pitchFamily="34" charset="0"/>
                <a:cs typeface="Arial" panose="020B0604020202020204" pitchFamily="34" charset="0"/>
              </a:rPr>
              <a:t>sc</a:t>
            </a:r>
            <a:r>
              <a:rPr lang="en-US" sz="2000">
                <a:solidFill>
                  <a:srgbClr val="1F4E79"/>
                </a:solidFill>
                <a:latin typeface="Arial" panose="020B0604020202020204" pitchFamily="34" charset="0"/>
                <a:cs typeface="Arial" panose="020B0604020202020204" pitchFamily="34" charset="0"/>
              </a:rPr>
              <a:t> và góc tựa từ thông rotor để chuyển dòng điện stator ở hệ trục tọa độ dq</a:t>
            </a:r>
          </a:p>
          <a:p>
            <a:pPr marL="285750" indent="-285750">
              <a:buFontTx/>
              <a:buChar char="-"/>
            </a:pPr>
            <a:endParaRPr lang="en-US" sz="2000">
              <a:solidFill>
                <a:srgbClr val="1F4E79"/>
              </a:solidFill>
              <a:latin typeface="Arial" panose="020B0604020202020204" pitchFamily="34" charset="0"/>
              <a:cs typeface="Arial" panose="020B0604020202020204" pitchFamily="34" charset="0"/>
            </a:endParaRPr>
          </a:p>
          <a:p>
            <a:r>
              <a:rPr lang="en-US" sz="2000">
                <a:solidFill>
                  <a:srgbClr val="1F4E79"/>
                </a:solidFill>
                <a:latin typeface="Arial" panose="020B0604020202020204" pitchFamily="34" charset="0"/>
                <a:cs typeface="Arial" panose="020B0604020202020204" pitchFamily="34" charset="0"/>
              </a:rPr>
              <a:t>- Điều này giúp ta tính toán cho động cơ xoay chiều như tính toán với động cơ 1 chiều.</a:t>
            </a:r>
          </a:p>
        </p:txBody>
      </p:sp>
      <p:pic>
        <p:nvPicPr>
          <p:cNvPr id="10" name="Picture 9">
            <a:extLst>
              <a:ext uri="{FF2B5EF4-FFF2-40B4-BE49-F238E27FC236}">
                <a16:creationId xmlns:a16="http://schemas.microsoft.com/office/drawing/2014/main" id="{D8B8E491-4A91-47A9-9F74-1B8B4B245721}"/>
              </a:ext>
            </a:extLst>
          </p:cNvPr>
          <p:cNvPicPr>
            <a:picLocks noChangeAspect="1"/>
          </p:cNvPicPr>
          <p:nvPr/>
        </p:nvPicPr>
        <p:blipFill>
          <a:blip r:embed="rId3"/>
          <a:stretch>
            <a:fillRect/>
          </a:stretch>
        </p:blipFill>
        <p:spPr>
          <a:xfrm>
            <a:off x="669674" y="1988598"/>
            <a:ext cx="3438284" cy="1814650"/>
          </a:xfrm>
          <a:prstGeom prst="rect">
            <a:avLst/>
          </a:prstGeom>
        </p:spPr>
      </p:pic>
      <p:graphicFrame>
        <p:nvGraphicFramePr>
          <p:cNvPr id="6" name="Object 5">
            <a:extLst>
              <a:ext uri="{FF2B5EF4-FFF2-40B4-BE49-F238E27FC236}">
                <a16:creationId xmlns:a16="http://schemas.microsoft.com/office/drawing/2014/main" id="{A9551D97-2BC7-4C3F-9D50-3F828F8A19B5}"/>
              </a:ext>
            </a:extLst>
          </p:cNvPr>
          <p:cNvGraphicFramePr>
            <a:graphicFrameLocks noChangeAspect="1"/>
          </p:cNvGraphicFramePr>
          <p:nvPr>
            <p:extLst>
              <p:ext uri="{D42A27DB-BD31-4B8C-83A1-F6EECF244321}">
                <p14:modId xmlns:p14="http://schemas.microsoft.com/office/powerpoint/2010/main" val="1598505946"/>
              </p:ext>
            </p:extLst>
          </p:nvPr>
        </p:nvGraphicFramePr>
        <p:xfrm>
          <a:off x="1579561" y="4656988"/>
          <a:ext cx="5984875" cy="1647825"/>
        </p:xfrm>
        <a:graphic>
          <a:graphicData uri="http://schemas.openxmlformats.org/presentationml/2006/ole">
            <mc:AlternateContent xmlns:mc="http://schemas.openxmlformats.org/markup-compatibility/2006">
              <mc:Choice xmlns:v="urn:schemas-microsoft-com:vml" Requires="v">
                <p:oleObj spid="_x0000_s6146" name="Equation" r:id="rId4" imgW="3504960" imgH="965160" progId="Equation.DSMT4">
                  <p:embed/>
                </p:oleObj>
              </mc:Choice>
              <mc:Fallback>
                <p:oleObj name="Equation" r:id="rId4" imgW="3504960" imgH="965160" progId="Equation.DSMT4">
                  <p:embed/>
                  <p:pic>
                    <p:nvPicPr>
                      <p:cNvPr id="6" name="Object 5">
                        <a:extLst>
                          <a:ext uri="{FF2B5EF4-FFF2-40B4-BE49-F238E27FC236}">
                            <a16:creationId xmlns:a16="http://schemas.microsoft.com/office/drawing/2014/main" id="{A9551D97-2BC7-4C3F-9D50-3F828F8A19B5}"/>
                          </a:ext>
                        </a:extLst>
                      </p:cNvPr>
                      <p:cNvPicPr/>
                      <p:nvPr/>
                    </p:nvPicPr>
                    <p:blipFill>
                      <a:blip r:embed="rId5"/>
                      <a:stretch>
                        <a:fillRect/>
                      </a:stretch>
                    </p:blipFill>
                    <p:spPr>
                      <a:xfrm>
                        <a:off x="1579561" y="4656988"/>
                        <a:ext cx="5984875" cy="1647825"/>
                      </a:xfrm>
                      <a:prstGeom prst="rect">
                        <a:avLst/>
                      </a:prstGeom>
                    </p:spPr>
                  </p:pic>
                </p:oleObj>
              </mc:Fallback>
            </mc:AlternateContent>
          </a:graphicData>
        </a:graphic>
      </p:graphicFrame>
    </p:spTree>
    <p:extLst>
      <p:ext uri="{BB962C8B-B14F-4D97-AF65-F5344CB8AC3E}">
        <p14:creationId xmlns:p14="http://schemas.microsoft.com/office/powerpoint/2010/main" val="4148611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a:xfrm>
            <a:off x="3328481" y="1740292"/>
            <a:ext cx="5022705" cy="4391530"/>
          </a:xfrm>
        </p:spPr>
        <p:txBody>
          <a:bodyPr>
            <a:normAutofit/>
          </a:bodyPr>
          <a:lstStyle/>
          <a:p>
            <a:pPr algn="l"/>
            <a:r>
              <a:rPr lang="en-US" sz="2000" dirty="0"/>
              <a:t>- </a:t>
            </a:r>
            <a:r>
              <a:rPr lang="en-US" sz="2000" dirty="0" err="1"/>
              <a:t>Bộ</a:t>
            </a:r>
            <a:r>
              <a:rPr lang="en-US" sz="2000" dirty="0"/>
              <a:t> </a:t>
            </a:r>
            <a:r>
              <a:rPr lang="en-US" sz="2000" dirty="0" err="1"/>
              <a:t>điều</a:t>
            </a:r>
            <a:r>
              <a:rPr lang="en-US" sz="2000" dirty="0"/>
              <a:t> </a:t>
            </a:r>
            <a:r>
              <a:rPr lang="en-US" sz="2000" dirty="0" err="1"/>
              <a:t>chỉnh</a:t>
            </a:r>
            <a:r>
              <a:rPr lang="en-US" sz="2000" dirty="0"/>
              <a:t> Ri </a:t>
            </a:r>
            <a:r>
              <a:rPr lang="en-US" sz="2000" dirty="0" err="1"/>
              <a:t>làm</a:t>
            </a:r>
            <a:r>
              <a:rPr lang="en-US" sz="2000" dirty="0"/>
              <a:t> </a:t>
            </a:r>
            <a:r>
              <a:rPr lang="en-US" sz="2000" dirty="0" err="1"/>
              <a:t>tăng</a:t>
            </a:r>
            <a:r>
              <a:rPr lang="en-US" sz="2000" dirty="0"/>
              <a:t> </a:t>
            </a:r>
            <a:r>
              <a:rPr lang="en-US" sz="2000" dirty="0" err="1"/>
              <a:t>chất</a:t>
            </a:r>
            <a:r>
              <a:rPr lang="en-US" sz="2000" dirty="0"/>
              <a:t> </a:t>
            </a:r>
            <a:r>
              <a:rPr lang="en-US" sz="2000" dirty="0" err="1"/>
              <a:t>lượng</a:t>
            </a:r>
            <a:r>
              <a:rPr lang="en-US" sz="2000" dirty="0"/>
              <a:t> </a:t>
            </a:r>
            <a:r>
              <a:rPr lang="en-US" sz="2000" dirty="0" err="1"/>
              <a:t>dòng</a:t>
            </a:r>
            <a:r>
              <a:rPr lang="en-US" sz="2000" dirty="0"/>
              <a:t> </a:t>
            </a:r>
            <a:r>
              <a:rPr lang="en-US" sz="2000" dirty="0" err="1"/>
              <a:t>điện</a:t>
            </a:r>
            <a:r>
              <a:rPr lang="en-US" sz="2000" dirty="0"/>
              <a:t> stator </a:t>
            </a:r>
            <a:r>
              <a:rPr lang="en-US" sz="2000" dirty="0" err="1"/>
              <a:t>bằng</a:t>
            </a:r>
            <a:r>
              <a:rPr lang="en-US" sz="2000" dirty="0"/>
              <a:t> </a:t>
            </a:r>
            <a:r>
              <a:rPr lang="en-US" sz="2000" dirty="0" err="1"/>
              <a:t>việc</a:t>
            </a:r>
            <a:r>
              <a:rPr lang="en-US" sz="2000" dirty="0"/>
              <a:t> </a:t>
            </a:r>
            <a:r>
              <a:rPr lang="en-US" sz="2000" dirty="0" err="1"/>
              <a:t>điều</a:t>
            </a:r>
            <a:r>
              <a:rPr lang="en-US" sz="2000" dirty="0"/>
              <a:t> </a:t>
            </a:r>
            <a:r>
              <a:rPr lang="en-US" sz="2000" dirty="0" err="1"/>
              <a:t>chỉnh</a:t>
            </a:r>
            <a:r>
              <a:rPr lang="en-US" sz="2000" dirty="0"/>
              <a:t> </a:t>
            </a:r>
            <a:r>
              <a:rPr lang="en-US" sz="2000" dirty="0" err="1"/>
              <a:t>hai</a:t>
            </a:r>
            <a:r>
              <a:rPr lang="en-US" sz="2000" dirty="0"/>
              <a:t> </a:t>
            </a:r>
            <a:r>
              <a:rPr lang="en-US" sz="2000" dirty="0" err="1"/>
              <a:t>dòng</a:t>
            </a:r>
            <a:r>
              <a:rPr lang="en-US" sz="2000" dirty="0"/>
              <a:t> </a:t>
            </a:r>
            <a:r>
              <a:rPr lang="en-US" sz="2000" dirty="0" err="1"/>
              <a:t>điện</a:t>
            </a:r>
            <a:r>
              <a:rPr lang="en-US" sz="2000" dirty="0"/>
              <a:t> </a:t>
            </a:r>
            <a:r>
              <a:rPr lang="en-US" sz="2000" dirty="0" err="1"/>
              <a:t>quy</a:t>
            </a:r>
            <a:r>
              <a:rPr lang="en-US" sz="2000" dirty="0"/>
              <a:t> </a:t>
            </a:r>
            <a:r>
              <a:rPr lang="en-US" sz="2000" dirty="0" err="1"/>
              <a:t>đổi</a:t>
            </a:r>
            <a:r>
              <a:rPr lang="en-US" sz="2000" dirty="0"/>
              <a:t> </a:t>
            </a:r>
            <a:r>
              <a:rPr lang="en-US" sz="2000" dirty="0" err="1"/>
              <a:t>i</a:t>
            </a:r>
            <a:r>
              <a:rPr lang="en-US" sz="2000" baseline="-25000" dirty="0" err="1"/>
              <a:t>sd</a:t>
            </a:r>
            <a:r>
              <a:rPr lang="en-US" sz="2000" dirty="0"/>
              <a:t> </a:t>
            </a:r>
            <a:r>
              <a:rPr lang="en-US" sz="2000" dirty="0" err="1"/>
              <a:t>và</a:t>
            </a:r>
            <a:r>
              <a:rPr lang="en-US" sz="2000" dirty="0"/>
              <a:t> </a:t>
            </a:r>
            <a:r>
              <a:rPr lang="en-US" sz="2000" dirty="0" err="1"/>
              <a:t>i</a:t>
            </a:r>
            <a:r>
              <a:rPr lang="en-US" sz="2000" baseline="-25000" dirty="0" err="1"/>
              <a:t>sq</a:t>
            </a:r>
            <a:r>
              <a:rPr lang="en-US" sz="2000" dirty="0"/>
              <a:t>.</a:t>
            </a:r>
          </a:p>
          <a:p>
            <a:pPr algn="l"/>
            <a:r>
              <a:rPr lang="en-US" sz="2000" dirty="0"/>
              <a:t>- </a:t>
            </a:r>
            <a:r>
              <a:rPr lang="en-US" sz="2000" dirty="0" err="1"/>
              <a:t>Nếu</a:t>
            </a:r>
            <a:r>
              <a:rPr lang="en-US" sz="2000" dirty="0"/>
              <a:t> ta </a:t>
            </a:r>
            <a:r>
              <a:rPr lang="en-US" sz="2000" dirty="0" err="1"/>
              <a:t>giữ</a:t>
            </a:r>
            <a:r>
              <a:rPr lang="en-US" sz="2000" dirty="0"/>
              <a:t> </a:t>
            </a:r>
            <a:r>
              <a:rPr lang="en-US" sz="2000" dirty="0" err="1"/>
              <a:t>nguyên</a:t>
            </a:r>
            <a:r>
              <a:rPr lang="en-US" sz="2000" dirty="0"/>
              <a:t> </a:t>
            </a:r>
            <a:r>
              <a:rPr lang="en-US" sz="2000" dirty="0" err="1"/>
              <a:t>được</a:t>
            </a:r>
            <a:r>
              <a:rPr lang="en-US" sz="2000" dirty="0"/>
              <a:t> </a:t>
            </a:r>
            <a:r>
              <a:rPr lang="en-US" sz="2000" dirty="0" err="1"/>
              <a:t>i</a:t>
            </a:r>
            <a:r>
              <a:rPr lang="en-US" sz="2000" baseline="-25000" dirty="0" err="1"/>
              <a:t>sd</a:t>
            </a:r>
            <a:r>
              <a:rPr lang="en-US" sz="2000" dirty="0"/>
              <a:t> </a:t>
            </a:r>
            <a:r>
              <a:rPr lang="en-US" sz="2000" dirty="0" err="1"/>
              <a:t>và</a:t>
            </a:r>
            <a:r>
              <a:rPr lang="en-US" sz="2000" dirty="0"/>
              <a:t> </a:t>
            </a:r>
            <a:r>
              <a:rPr lang="en-US" sz="2000" dirty="0" err="1"/>
              <a:t>i</a:t>
            </a:r>
            <a:r>
              <a:rPr lang="en-US" sz="2000" baseline="-25000" dirty="0" err="1"/>
              <a:t>sq</a:t>
            </a:r>
            <a:r>
              <a:rPr lang="en-US" sz="2000" dirty="0"/>
              <a:t> </a:t>
            </a:r>
            <a:r>
              <a:rPr lang="en-US" sz="2000" dirty="0" err="1"/>
              <a:t>thì</a:t>
            </a:r>
            <a:r>
              <a:rPr lang="en-US" sz="2000" dirty="0"/>
              <a:t> </a:t>
            </a:r>
            <a:r>
              <a:rPr lang="en-US" sz="2000" dirty="0" err="1"/>
              <a:t>Momen</a:t>
            </a:r>
            <a:r>
              <a:rPr lang="en-US" sz="2000" dirty="0"/>
              <a:t> </a:t>
            </a:r>
            <a:r>
              <a:rPr lang="en-US" sz="2000" dirty="0" err="1"/>
              <a:t>động</a:t>
            </a:r>
            <a:r>
              <a:rPr lang="en-US" sz="2000" dirty="0"/>
              <a:t> </a:t>
            </a:r>
            <a:r>
              <a:rPr lang="en-US" sz="2000" dirty="0" err="1"/>
              <a:t>cơ</a:t>
            </a:r>
            <a:r>
              <a:rPr lang="en-US" sz="2000" dirty="0"/>
              <a:t> </a:t>
            </a:r>
            <a:r>
              <a:rPr lang="en-US" sz="2000" dirty="0" err="1"/>
              <a:t>sinh</a:t>
            </a:r>
            <a:r>
              <a:rPr lang="en-US" sz="2000" dirty="0"/>
              <a:t> ra </a:t>
            </a:r>
            <a:r>
              <a:rPr lang="en-US" sz="2000" dirty="0" err="1"/>
              <a:t>ổn</a:t>
            </a:r>
            <a:r>
              <a:rPr lang="en-US" sz="2000" dirty="0"/>
              <a:t> </a:t>
            </a:r>
            <a:r>
              <a:rPr lang="en-US" sz="2000" dirty="0" err="1"/>
              <a:t>định</a:t>
            </a:r>
            <a:r>
              <a:rPr lang="en-US" sz="2000" dirty="0"/>
              <a:t>.</a:t>
            </a:r>
          </a:p>
          <a:p>
            <a:pPr algn="l"/>
            <a:r>
              <a:rPr lang="en-US" sz="2000" dirty="0"/>
              <a:t>- </a:t>
            </a:r>
            <a:r>
              <a:rPr lang="en-US" sz="2000" dirty="0" err="1"/>
              <a:t>Đầu</a:t>
            </a:r>
            <a:r>
              <a:rPr lang="en-US" sz="2000" dirty="0"/>
              <a:t> ra </a:t>
            </a:r>
            <a:r>
              <a:rPr lang="en-US" sz="2000" dirty="0" err="1"/>
              <a:t>của</a:t>
            </a:r>
            <a:r>
              <a:rPr lang="en-US" sz="2000" dirty="0"/>
              <a:t> Ri </a:t>
            </a:r>
            <a:r>
              <a:rPr lang="en-US" sz="2000" dirty="0" err="1"/>
              <a:t>là</a:t>
            </a:r>
            <a:r>
              <a:rPr lang="en-US" sz="2000" dirty="0"/>
              <a:t> </a:t>
            </a:r>
            <a:r>
              <a:rPr lang="en-US" sz="2000" dirty="0" err="1"/>
              <a:t>u</a:t>
            </a:r>
            <a:r>
              <a:rPr lang="en-US" sz="2000" baseline="-25000" dirty="0" err="1"/>
              <a:t>sd</a:t>
            </a:r>
            <a:r>
              <a:rPr lang="en-US" sz="2000" dirty="0"/>
              <a:t> </a:t>
            </a:r>
            <a:r>
              <a:rPr lang="en-US" sz="2000" dirty="0" err="1"/>
              <a:t>và</a:t>
            </a:r>
            <a:r>
              <a:rPr lang="en-US" sz="2000" dirty="0"/>
              <a:t> </a:t>
            </a:r>
            <a:r>
              <a:rPr lang="en-US" sz="2000" dirty="0" err="1"/>
              <a:t>u</a:t>
            </a:r>
            <a:r>
              <a:rPr lang="en-US" sz="2000" baseline="-25000" dirty="0" err="1"/>
              <a:t>sq</a:t>
            </a:r>
            <a:r>
              <a:rPr lang="en-US" sz="2000" dirty="0"/>
              <a:t>, </a:t>
            </a:r>
            <a:r>
              <a:rPr lang="en-US" sz="2000" dirty="0" err="1"/>
              <a:t>được</a:t>
            </a:r>
            <a:r>
              <a:rPr lang="en-US" sz="2000" dirty="0"/>
              <a:t> </a:t>
            </a:r>
            <a:r>
              <a:rPr lang="en-US" sz="2000" dirty="0" err="1"/>
              <a:t>sử</a:t>
            </a:r>
            <a:r>
              <a:rPr lang="en-US" sz="2000" dirty="0"/>
              <a:t> </a:t>
            </a:r>
            <a:r>
              <a:rPr lang="en-US" sz="2000" dirty="0" err="1"/>
              <a:t>dụng</a:t>
            </a:r>
            <a:r>
              <a:rPr lang="en-US" sz="2000" dirty="0"/>
              <a:t> </a:t>
            </a:r>
            <a:r>
              <a:rPr lang="en-US" sz="2000" dirty="0" err="1"/>
              <a:t>để</a:t>
            </a:r>
            <a:r>
              <a:rPr lang="en-US" sz="2000" dirty="0"/>
              <a:t> </a:t>
            </a:r>
            <a:r>
              <a:rPr lang="en-US" sz="2000" dirty="0" err="1"/>
              <a:t>phục</a:t>
            </a:r>
            <a:r>
              <a:rPr lang="en-US" sz="2000" dirty="0"/>
              <a:t> </a:t>
            </a:r>
            <a:r>
              <a:rPr lang="en-US" sz="2000" dirty="0" err="1"/>
              <a:t>vụ</a:t>
            </a:r>
            <a:r>
              <a:rPr lang="en-US" sz="2000" dirty="0"/>
              <a:t> </a:t>
            </a:r>
            <a:r>
              <a:rPr lang="en-US" sz="2000" dirty="0" err="1"/>
              <a:t>khâu</a:t>
            </a:r>
            <a:r>
              <a:rPr lang="en-US" sz="2000" dirty="0"/>
              <a:t> </a:t>
            </a:r>
            <a:r>
              <a:rPr lang="en-US" sz="2000" dirty="0" err="1"/>
              <a:t>điều</a:t>
            </a:r>
            <a:r>
              <a:rPr lang="en-US" sz="2000" dirty="0"/>
              <a:t> </a:t>
            </a:r>
            <a:r>
              <a:rPr lang="en-US" sz="2000" dirty="0" err="1"/>
              <a:t>chế</a:t>
            </a:r>
            <a:r>
              <a:rPr lang="en-US" sz="2000" dirty="0"/>
              <a:t> SVM </a:t>
            </a:r>
          </a:p>
          <a:p>
            <a:pPr algn="l"/>
            <a:r>
              <a:rPr lang="en-US" sz="2000" dirty="0"/>
              <a:t>- </a:t>
            </a:r>
            <a:r>
              <a:rPr lang="en-US" sz="2000" dirty="0" err="1"/>
              <a:t>Lượng</a:t>
            </a:r>
            <a:r>
              <a:rPr lang="en-US" sz="2000" dirty="0"/>
              <a:t> </a:t>
            </a:r>
            <a:r>
              <a:rPr lang="en-US" sz="2000" dirty="0" err="1"/>
              <a:t>đặt</a:t>
            </a:r>
            <a:r>
              <a:rPr lang="en-US" sz="2000" dirty="0"/>
              <a:t> </a:t>
            </a:r>
            <a:r>
              <a:rPr lang="en-US" sz="2000" dirty="0" err="1"/>
              <a:t>cho</a:t>
            </a:r>
            <a:r>
              <a:rPr lang="en-US" sz="2000" dirty="0"/>
              <a:t> </a:t>
            </a:r>
            <a:r>
              <a:rPr lang="en-US" sz="2000" dirty="0" err="1"/>
              <a:t>dòng</a:t>
            </a:r>
            <a:r>
              <a:rPr lang="en-US" sz="2000" dirty="0"/>
              <a:t> </a:t>
            </a:r>
            <a:r>
              <a:rPr lang="en-US" sz="2000" dirty="0" err="1"/>
              <a:t>điện</a:t>
            </a:r>
            <a:r>
              <a:rPr lang="en-US" sz="2000" dirty="0"/>
              <a:t> </a:t>
            </a:r>
            <a:r>
              <a:rPr lang="en-US" sz="2000" dirty="0" err="1"/>
              <a:t>là</a:t>
            </a:r>
            <a:r>
              <a:rPr lang="en-US" sz="2000" dirty="0"/>
              <a:t>        </a:t>
            </a:r>
            <a:r>
              <a:rPr lang="en-US" sz="2000" dirty="0" err="1"/>
              <a:t>được</a:t>
            </a:r>
            <a:r>
              <a:rPr lang="en-US" sz="2000" dirty="0"/>
              <a:t> </a:t>
            </a:r>
            <a:r>
              <a:rPr lang="en-US" sz="2000" dirty="0" err="1"/>
              <a:t>tính</a:t>
            </a:r>
            <a:r>
              <a:rPr lang="en-US" sz="2000" dirty="0"/>
              <a:t> </a:t>
            </a:r>
            <a:r>
              <a:rPr lang="en-US" sz="2000" dirty="0" err="1"/>
              <a:t>toán</a:t>
            </a:r>
            <a:r>
              <a:rPr lang="en-US" sz="2000" dirty="0"/>
              <a:t> </a:t>
            </a:r>
            <a:r>
              <a:rPr lang="en-US" sz="2000" dirty="0" err="1"/>
              <a:t>từ</a:t>
            </a:r>
            <a:r>
              <a:rPr lang="en-US" sz="2000" dirty="0"/>
              <a:t> </a:t>
            </a:r>
            <a:r>
              <a:rPr lang="en-US" sz="2000" dirty="0" err="1"/>
              <a:t>hai</a:t>
            </a:r>
            <a:r>
              <a:rPr lang="en-US" sz="2000" dirty="0"/>
              <a:t>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tốc</a:t>
            </a:r>
            <a:r>
              <a:rPr lang="en-US" sz="2000" dirty="0"/>
              <a:t> </a:t>
            </a:r>
            <a:r>
              <a:rPr lang="en-US" sz="2000" dirty="0" err="1"/>
              <a:t>độ</a:t>
            </a:r>
            <a:endParaRPr lang="en-US" sz="2000" dirty="0"/>
          </a:p>
          <a:p>
            <a:pPr algn="l"/>
            <a:endParaRPr lang="en-US" sz="2000" dirty="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15</a:t>
            </a:fld>
            <a:endParaRPr lang="en-US"/>
          </a:p>
        </p:txBody>
      </p:sp>
      <p:graphicFrame>
        <p:nvGraphicFramePr>
          <p:cNvPr id="7" name="Object 6">
            <a:extLst>
              <a:ext uri="{FF2B5EF4-FFF2-40B4-BE49-F238E27FC236}">
                <a16:creationId xmlns:a16="http://schemas.microsoft.com/office/drawing/2014/main" id="{F62917A8-A629-4F89-9503-B91F5A0865A8}"/>
              </a:ext>
            </a:extLst>
          </p:cNvPr>
          <p:cNvGraphicFramePr>
            <a:graphicFrameLocks noChangeAspect="1"/>
          </p:cNvGraphicFramePr>
          <p:nvPr>
            <p:extLst>
              <p:ext uri="{D42A27DB-BD31-4B8C-83A1-F6EECF244321}">
                <p14:modId xmlns:p14="http://schemas.microsoft.com/office/powerpoint/2010/main" val="1227221127"/>
              </p:ext>
            </p:extLst>
          </p:nvPr>
        </p:nvGraphicFramePr>
        <p:xfrm>
          <a:off x="6810177" y="3936057"/>
          <a:ext cx="330200" cy="509588"/>
        </p:xfrm>
        <a:graphic>
          <a:graphicData uri="http://schemas.openxmlformats.org/presentationml/2006/ole">
            <mc:AlternateContent xmlns:mc="http://schemas.openxmlformats.org/markup-compatibility/2006">
              <mc:Choice xmlns:v="urn:schemas-microsoft-com:vml" Requires="v">
                <p:oleObj spid="_x0000_s7170" name="Equation" r:id="rId3" imgW="164880" imgH="253800" progId="Equation.DSMT4">
                  <p:embed/>
                </p:oleObj>
              </mc:Choice>
              <mc:Fallback>
                <p:oleObj name="Equation" r:id="rId3" imgW="164880" imgH="253800" progId="Equation.DSMT4">
                  <p:embed/>
                  <p:pic>
                    <p:nvPicPr>
                      <p:cNvPr id="7" name="Object 6">
                        <a:extLst>
                          <a:ext uri="{FF2B5EF4-FFF2-40B4-BE49-F238E27FC236}">
                            <a16:creationId xmlns:a16="http://schemas.microsoft.com/office/drawing/2014/main" id="{F62917A8-A629-4F89-9503-B91F5A0865A8}"/>
                          </a:ext>
                        </a:extLst>
                      </p:cNvPr>
                      <p:cNvPicPr/>
                      <p:nvPr/>
                    </p:nvPicPr>
                    <p:blipFill>
                      <a:blip r:embed="rId4"/>
                      <a:stretch>
                        <a:fillRect/>
                      </a:stretch>
                    </p:blipFill>
                    <p:spPr>
                      <a:xfrm>
                        <a:off x="6810177" y="3936057"/>
                        <a:ext cx="330200" cy="509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id="{1F0BEE22-B03E-4B8A-91EC-0EFD73ADE027}"/>
              </a:ext>
            </a:extLst>
          </p:cNvPr>
          <p:cNvPicPr>
            <a:picLocks noChangeAspect="1"/>
          </p:cNvPicPr>
          <p:nvPr/>
        </p:nvPicPr>
        <p:blipFill>
          <a:blip r:embed="rId5"/>
          <a:stretch>
            <a:fillRect/>
          </a:stretch>
        </p:blipFill>
        <p:spPr>
          <a:xfrm>
            <a:off x="356884" y="1920503"/>
            <a:ext cx="2879500" cy="3237647"/>
          </a:xfrm>
          <a:prstGeom prst="rect">
            <a:avLst/>
          </a:prstGeom>
        </p:spPr>
      </p:pic>
      <p:sp>
        <p:nvSpPr>
          <p:cNvPr id="12" name="TextBox 11">
            <a:extLst>
              <a:ext uri="{FF2B5EF4-FFF2-40B4-BE49-F238E27FC236}">
                <a16:creationId xmlns:a16="http://schemas.microsoft.com/office/drawing/2014/main" id="{572028C6-8C62-41A3-AACB-9AAD28D07159}"/>
              </a:ext>
            </a:extLst>
          </p:cNvPr>
          <p:cNvSpPr txBox="1"/>
          <p:nvPr/>
        </p:nvSpPr>
        <p:spPr>
          <a:xfrm>
            <a:off x="535993" y="979714"/>
            <a:ext cx="7038724" cy="400110"/>
          </a:xfrm>
          <a:prstGeom prst="rect">
            <a:avLst/>
          </a:prstGeom>
          <a:noFill/>
        </p:spPr>
        <p:txBody>
          <a:bodyPr wrap="square" rtlCol="0">
            <a:spAutoFit/>
          </a:bodyPr>
          <a:lstStyle/>
          <a:p>
            <a:pPr algn="l"/>
            <a:r>
              <a:rPr lang="en-US" sz="2000" dirty="0">
                <a:solidFill>
                  <a:schemeClr val="accent1">
                    <a:lumMod val="50000"/>
                  </a:schemeClr>
                </a:solidFill>
                <a:latin typeface="Arial" panose="020B0604020202020204" pitchFamily="34" charset="0"/>
                <a:cs typeface="Arial" panose="020B0604020202020204" pitchFamily="34" charset="0"/>
              </a:rPr>
              <a:t>3.3: </a:t>
            </a:r>
            <a:r>
              <a:rPr lang="en-US" sz="2000" dirty="0" err="1">
                <a:solidFill>
                  <a:schemeClr val="accent1">
                    <a:lumMod val="50000"/>
                  </a:schemeClr>
                </a:solidFill>
                <a:latin typeface="Arial" panose="020B0604020202020204" pitchFamily="34" charset="0"/>
                <a:cs typeface="Arial" panose="020B0604020202020204" pitchFamily="34" charset="0"/>
              </a:rPr>
              <a:t>Bộ</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điều</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chỉnh</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dòng</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điện</a:t>
            </a:r>
            <a:r>
              <a:rPr lang="en-US" sz="2000" dirty="0">
                <a:solidFill>
                  <a:schemeClr val="accent1">
                    <a:lumMod val="50000"/>
                  </a:schemeClr>
                </a:solidFill>
                <a:latin typeface="Arial" panose="020B0604020202020204" pitchFamily="34" charset="0"/>
                <a:cs typeface="Arial" panose="020B0604020202020204" pitchFamily="34" charset="0"/>
              </a:rPr>
              <a:t> (Ri)</a:t>
            </a:r>
          </a:p>
        </p:txBody>
      </p:sp>
    </p:spTree>
    <p:extLst>
      <p:ext uri="{BB962C8B-B14F-4D97-AF65-F5344CB8AC3E}">
        <p14:creationId xmlns:p14="http://schemas.microsoft.com/office/powerpoint/2010/main" val="14264540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a:xfrm>
            <a:off x="3412473" y="1819341"/>
            <a:ext cx="5022705" cy="4391530"/>
          </a:xfrm>
        </p:spPr>
        <p:txBody>
          <a:bodyPr>
            <a:normAutofit/>
          </a:bodyPr>
          <a:lstStyle/>
          <a:p>
            <a:pPr algn="l"/>
            <a:r>
              <a:rPr lang="en-US" sz="1800" dirty="0"/>
              <a:t>- </a:t>
            </a:r>
            <a:r>
              <a:rPr lang="en-US" sz="1800" dirty="0" err="1"/>
              <a:t>Từ</a:t>
            </a:r>
            <a:r>
              <a:rPr lang="en-US" sz="1800" dirty="0"/>
              <a:t> </a:t>
            </a:r>
            <a:r>
              <a:rPr lang="en-US" sz="1800" dirty="0" err="1"/>
              <a:t>mô</a:t>
            </a:r>
            <a:r>
              <a:rPr lang="en-US" sz="1800" dirty="0"/>
              <a:t> </a:t>
            </a:r>
            <a:r>
              <a:rPr lang="en-US" sz="1800" dirty="0" err="1"/>
              <a:t>hình</a:t>
            </a:r>
            <a:r>
              <a:rPr lang="en-US" sz="1800" dirty="0"/>
              <a:t> </a:t>
            </a:r>
            <a:r>
              <a:rPr lang="en-US" sz="1800" dirty="0" err="1"/>
              <a:t>dòng</a:t>
            </a:r>
            <a:r>
              <a:rPr lang="en-US" sz="1800" dirty="0"/>
              <a:t> </a:t>
            </a:r>
            <a:r>
              <a:rPr lang="en-US" sz="1800" dirty="0" err="1"/>
              <a:t>điện</a:t>
            </a:r>
            <a:r>
              <a:rPr lang="en-US" sz="1800" dirty="0"/>
              <a:t> ta </a:t>
            </a:r>
            <a:r>
              <a:rPr lang="en-US" sz="1800" dirty="0" err="1"/>
              <a:t>thấy</a:t>
            </a:r>
            <a:r>
              <a:rPr lang="en-US" sz="1800" dirty="0"/>
              <a:t> </a:t>
            </a:r>
            <a:r>
              <a:rPr lang="en-US" sz="1800" dirty="0" err="1"/>
              <a:t>có</a:t>
            </a:r>
            <a:r>
              <a:rPr lang="en-US" sz="1800" dirty="0"/>
              <a:t> </a:t>
            </a:r>
            <a:r>
              <a:rPr lang="en-US" sz="1800" dirty="0" err="1"/>
              <a:t>thành</a:t>
            </a:r>
            <a:r>
              <a:rPr lang="en-US" sz="1800" dirty="0"/>
              <a:t> </a:t>
            </a:r>
            <a:r>
              <a:rPr lang="en-US" sz="1800" dirty="0" err="1"/>
              <a:t>phần</a:t>
            </a:r>
            <a:r>
              <a:rPr lang="en-US" sz="1800" dirty="0"/>
              <a:t> xen </a:t>
            </a:r>
            <a:r>
              <a:rPr lang="en-US" sz="1800" dirty="0" err="1"/>
              <a:t>kênh</a:t>
            </a:r>
            <a:r>
              <a:rPr lang="en-US" sz="1800" dirty="0"/>
              <a:t>. </a:t>
            </a:r>
            <a:r>
              <a:rPr lang="en-US" sz="1800" dirty="0" err="1"/>
              <a:t>Vì</a:t>
            </a:r>
            <a:r>
              <a:rPr lang="en-US" sz="1800" dirty="0"/>
              <a:t> </a:t>
            </a:r>
            <a:r>
              <a:rPr lang="en-US" sz="1800" dirty="0" err="1"/>
              <a:t>vậy</a:t>
            </a:r>
            <a:r>
              <a:rPr lang="en-US" sz="1800" dirty="0"/>
              <a:t> </a:t>
            </a:r>
            <a:r>
              <a:rPr lang="en-US" sz="1800" dirty="0" err="1"/>
              <a:t>khi</a:t>
            </a:r>
            <a:r>
              <a:rPr lang="en-US" sz="1800" dirty="0"/>
              <a:t> </a:t>
            </a:r>
            <a:r>
              <a:rPr lang="en-US" sz="1800" dirty="0" err="1"/>
              <a:t>thiết</a:t>
            </a:r>
            <a:r>
              <a:rPr lang="en-US" sz="1800" dirty="0"/>
              <a:t> </a:t>
            </a:r>
            <a:r>
              <a:rPr lang="en-US" sz="1800" dirty="0" err="1"/>
              <a:t>kế</a:t>
            </a:r>
            <a:r>
              <a:rPr lang="en-US" sz="1800" dirty="0"/>
              <a:t> </a:t>
            </a:r>
            <a:r>
              <a:rPr lang="en-US" sz="1800" dirty="0" err="1"/>
              <a:t>bộ</a:t>
            </a:r>
            <a:r>
              <a:rPr lang="en-US" sz="1800" dirty="0"/>
              <a:t> </a:t>
            </a:r>
            <a:r>
              <a:rPr lang="en-US" sz="1800" dirty="0" err="1"/>
              <a:t>điều</a:t>
            </a:r>
            <a:r>
              <a:rPr lang="en-US" sz="1800" dirty="0"/>
              <a:t> </a:t>
            </a:r>
            <a:r>
              <a:rPr lang="en-US" sz="1800" dirty="0" err="1"/>
              <a:t>khiển</a:t>
            </a:r>
            <a:r>
              <a:rPr lang="en-US" sz="1800" dirty="0"/>
              <a:t> ta </a:t>
            </a:r>
            <a:r>
              <a:rPr lang="en-US" sz="1800" dirty="0" err="1"/>
              <a:t>phải</a:t>
            </a:r>
            <a:r>
              <a:rPr lang="en-US" sz="1800" dirty="0"/>
              <a:t> </a:t>
            </a:r>
            <a:r>
              <a:rPr lang="en-US" sz="1800" dirty="0" err="1"/>
              <a:t>khử</a:t>
            </a:r>
            <a:r>
              <a:rPr lang="en-US" sz="1800" dirty="0"/>
              <a:t> </a:t>
            </a:r>
            <a:r>
              <a:rPr lang="en-US" sz="1800" dirty="0" err="1"/>
              <a:t>thành</a:t>
            </a:r>
            <a:r>
              <a:rPr lang="en-US" sz="1800" dirty="0"/>
              <a:t> </a:t>
            </a:r>
            <a:r>
              <a:rPr lang="en-US" sz="1800" dirty="0" err="1"/>
              <a:t>phần</a:t>
            </a:r>
            <a:r>
              <a:rPr lang="en-US" sz="1800" dirty="0"/>
              <a:t> xen </a:t>
            </a:r>
            <a:r>
              <a:rPr lang="en-US" sz="1800" dirty="0" err="1"/>
              <a:t>kênh</a:t>
            </a:r>
            <a:r>
              <a:rPr lang="en-US" sz="1800" dirty="0"/>
              <a:t> </a:t>
            </a:r>
            <a:r>
              <a:rPr lang="en-US" sz="1800" dirty="0" err="1"/>
              <a:t>này</a:t>
            </a:r>
            <a:r>
              <a:rPr lang="en-US" sz="1800" dirty="0"/>
              <a:t>.</a:t>
            </a:r>
          </a:p>
          <a:p>
            <a:pPr algn="l"/>
            <a:r>
              <a:rPr lang="en-US" sz="1800" dirty="0"/>
              <a:t>- Sau </a:t>
            </a:r>
            <a:r>
              <a:rPr lang="en-US" sz="1800" dirty="0" err="1"/>
              <a:t>cùng</a:t>
            </a:r>
            <a:r>
              <a:rPr lang="en-US" sz="1800" dirty="0"/>
              <a:t>, ta </a:t>
            </a:r>
            <a:r>
              <a:rPr lang="en-US" sz="1800" dirty="0" err="1"/>
              <a:t>thấy</a:t>
            </a:r>
            <a:r>
              <a:rPr lang="en-US" sz="1800" dirty="0"/>
              <a:t> </a:t>
            </a:r>
            <a:r>
              <a:rPr lang="en-US" sz="1800" dirty="0" err="1"/>
              <a:t>quan</a:t>
            </a:r>
            <a:r>
              <a:rPr lang="en-US" sz="1800" dirty="0"/>
              <a:t> </a:t>
            </a:r>
            <a:r>
              <a:rPr lang="en-US" sz="1800" dirty="0" err="1"/>
              <a:t>hệ</a:t>
            </a:r>
            <a:r>
              <a:rPr lang="en-US" sz="1800" dirty="0"/>
              <a:t> </a:t>
            </a:r>
            <a:r>
              <a:rPr lang="en-US" sz="1800" dirty="0" err="1"/>
              <a:t>giữa</a:t>
            </a:r>
            <a:r>
              <a:rPr lang="en-US" sz="1800" dirty="0"/>
              <a:t> </a:t>
            </a:r>
            <a:r>
              <a:rPr lang="en-US" sz="1800" dirty="0" err="1"/>
              <a:t>i</a:t>
            </a:r>
            <a:r>
              <a:rPr lang="en-US" sz="1800" baseline="-25000" dirty="0" err="1"/>
              <a:t>sd</a:t>
            </a:r>
            <a:r>
              <a:rPr lang="en-US" sz="1800" dirty="0"/>
              <a:t> </a:t>
            </a:r>
            <a:r>
              <a:rPr lang="en-US" sz="1800" dirty="0" err="1"/>
              <a:t>và</a:t>
            </a:r>
            <a:r>
              <a:rPr lang="en-US" sz="1800" dirty="0"/>
              <a:t> </a:t>
            </a:r>
            <a:r>
              <a:rPr lang="en-US" sz="1800" dirty="0" err="1"/>
              <a:t>u</a:t>
            </a:r>
            <a:r>
              <a:rPr lang="en-US" sz="1800" baseline="-25000" dirty="0" err="1"/>
              <a:t>sd</a:t>
            </a:r>
            <a:r>
              <a:rPr lang="en-US" sz="1800" dirty="0"/>
              <a:t>, </a:t>
            </a:r>
            <a:r>
              <a:rPr lang="en-US" sz="1800" dirty="0" err="1"/>
              <a:t>i</a:t>
            </a:r>
            <a:r>
              <a:rPr lang="en-US" sz="1800" baseline="-25000" dirty="0" err="1"/>
              <a:t>sq</a:t>
            </a:r>
            <a:r>
              <a:rPr lang="en-US" sz="1800" dirty="0"/>
              <a:t> </a:t>
            </a:r>
            <a:r>
              <a:rPr lang="en-US" sz="1800" dirty="0" err="1"/>
              <a:t>và</a:t>
            </a:r>
            <a:r>
              <a:rPr lang="en-US" sz="1800" dirty="0"/>
              <a:t> </a:t>
            </a:r>
            <a:r>
              <a:rPr lang="en-US" sz="1800" dirty="0" err="1"/>
              <a:t>u</a:t>
            </a:r>
            <a:r>
              <a:rPr lang="en-US" sz="1800" baseline="-25000" dirty="0" err="1"/>
              <a:t>sq</a:t>
            </a:r>
            <a:r>
              <a:rPr lang="en-US" sz="1800" dirty="0"/>
              <a:t> </a:t>
            </a:r>
            <a:r>
              <a:rPr lang="en-US" sz="1800" dirty="0" err="1"/>
              <a:t>là</a:t>
            </a:r>
            <a:r>
              <a:rPr lang="en-US" sz="1800" dirty="0"/>
              <a:t> </a:t>
            </a:r>
            <a:r>
              <a:rPr lang="en-US" sz="1800" dirty="0" err="1"/>
              <a:t>khâu</a:t>
            </a:r>
            <a:r>
              <a:rPr lang="en-US" sz="1800" dirty="0"/>
              <a:t> </a:t>
            </a:r>
            <a:r>
              <a:rPr lang="en-US" sz="1800" dirty="0" err="1"/>
              <a:t>quán</a:t>
            </a:r>
            <a:r>
              <a:rPr lang="en-US" sz="1800" dirty="0"/>
              <a:t> </a:t>
            </a:r>
            <a:r>
              <a:rPr lang="en-US" sz="1800" dirty="0" err="1"/>
              <a:t>tính</a:t>
            </a:r>
            <a:r>
              <a:rPr lang="en-US" sz="1800" dirty="0"/>
              <a:t> </a:t>
            </a:r>
            <a:r>
              <a:rPr lang="en-US" sz="1800" dirty="0" err="1"/>
              <a:t>bậc</a:t>
            </a:r>
            <a:r>
              <a:rPr lang="en-US" sz="1800" dirty="0"/>
              <a:t> </a:t>
            </a:r>
            <a:r>
              <a:rPr lang="en-US" sz="1800" dirty="0" err="1"/>
              <a:t>nhất</a:t>
            </a:r>
            <a:r>
              <a:rPr lang="en-US" sz="1800" dirty="0"/>
              <a:t>. Ta </a:t>
            </a:r>
            <a:r>
              <a:rPr lang="en-US" sz="1800" dirty="0" err="1"/>
              <a:t>thiết</a:t>
            </a:r>
            <a:r>
              <a:rPr lang="en-US" sz="1800" dirty="0"/>
              <a:t> </a:t>
            </a:r>
            <a:r>
              <a:rPr lang="en-US" sz="1800" dirty="0" err="1"/>
              <a:t>kế</a:t>
            </a:r>
            <a:r>
              <a:rPr lang="en-US" sz="1800" dirty="0"/>
              <a:t> </a:t>
            </a:r>
            <a:r>
              <a:rPr lang="en-US" sz="1800" dirty="0" err="1"/>
              <a:t>bộ</a:t>
            </a:r>
            <a:r>
              <a:rPr lang="en-US" sz="1800" dirty="0"/>
              <a:t> </a:t>
            </a:r>
            <a:r>
              <a:rPr lang="en-US" sz="1800" dirty="0" err="1"/>
              <a:t>điều</a:t>
            </a:r>
            <a:r>
              <a:rPr lang="en-US" sz="1800" dirty="0"/>
              <a:t> </a:t>
            </a:r>
            <a:r>
              <a:rPr lang="en-US" sz="1800" dirty="0" err="1"/>
              <a:t>khiển</a:t>
            </a:r>
            <a:r>
              <a:rPr lang="en-US" sz="1800" dirty="0"/>
              <a:t> PI </a:t>
            </a:r>
            <a:r>
              <a:rPr lang="en-US" sz="1800" dirty="0" err="1"/>
              <a:t>dựa</a:t>
            </a:r>
            <a:r>
              <a:rPr lang="en-US" sz="1800" dirty="0"/>
              <a:t> </a:t>
            </a:r>
            <a:r>
              <a:rPr lang="en-US" sz="1800" dirty="0" err="1"/>
              <a:t>theo</a:t>
            </a:r>
            <a:r>
              <a:rPr lang="en-US" sz="1800" dirty="0"/>
              <a:t> </a:t>
            </a:r>
            <a:r>
              <a:rPr lang="en-US" sz="1800" dirty="0" err="1"/>
              <a:t>mô</a:t>
            </a:r>
            <a:r>
              <a:rPr lang="en-US" sz="1800" dirty="0"/>
              <a:t> </a:t>
            </a:r>
            <a:r>
              <a:rPr lang="en-US" sz="1800" dirty="0" err="1"/>
              <a:t>hình</a:t>
            </a:r>
            <a:r>
              <a:rPr lang="en-US" sz="1800" dirty="0"/>
              <a:t> </a:t>
            </a:r>
            <a:r>
              <a:rPr lang="en-US" sz="1800" dirty="0" err="1"/>
              <a:t>sau</a:t>
            </a:r>
            <a:r>
              <a:rPr lang="en-US" sz="1800" dirty="0"/>
              <a:t>:</a:t>
            </a:r>
          </a:p>
          <a:p>
            <a:pPr algn="l"/>
            <a:endParaRPr lang="en-US" sz="2000" dirty="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16</a:t>
            </a:fld>
            <a:endParaRPr lang="en-US"/>
          </a:p>
        </p:txBody>
      </p:sp>
      <p:pic>
        <p:nvPicPr>
          <p:cNvPr id="11" name="Picture 10">
            <a:extLst>
              <a:ext uri="{FF2B5EF4-FFF2-40B4-BE49-F238E27FC236}">
                <a16:creationId xmlns:a16="http://schemas.microsoft.com/office/drawing/2014/main" id="{1F0BEE22-B03E-4B8A-91EC-0EFD73ADE027}"/>
              </a:ext>
            </a:extLst>
          </p:cNvPr>
          <p:cNvPicPr>
            <a:picLocks noChangeAspect="1"/>
          </p:cNvPicPr>
          <p:nvPr/>
        </p:nvPicPr>
        <p:blipFill>
          <a:blip r:embed="rId2"/>
          <a:stretch>
            <a:fillRect/>
          </a:stretch>
        </p:blipFill>
        <p:spPr>
          <a:xfrm>
            <a:off x="340676" y="1649294"/>
            <a:ext cx="2879500" cy="3237647"/>
          </a:xfrm>
          <a:prstGeom prst="rect">
            <a:avLst/>
          </a:prstGeom>
        </p:spPr>
      </p:pic>
      <p:sp>
        <p:nvSpPr>
          <p:cNvPr id="12" name="TextBox 11">
            <a:extLst>
              <a:ext uri="{FF2B5EF4-FFF2-40B4-BE49-F238E27FC236}">
                <a16:creationId xmlns:a16="http://schemas.microsoft.com/office/drawing/2014/main" id="{572028C6-8C62-41A3-AACB-9AAD28D07159}"/>
              </a:ext>
            </a:extLst>
          </p:cNvPr>
          <p:cNvSpPr txBox="1"/>
          <p:nvPr/>
        </p:nvSpPr>
        <p:spPr>
          <a:xfrm>
            <a:off x="535993" y="979714"/>
            <a:ext cx="7038724" cy="400110"/>
          </a:xfrm>
          <a:prstGeom prst="rect">
            <a:avLst/>
          </a:prstGeom>
          <a:noFill/>
        </p:spPr>
        <p:txBody>
          <a:bodyPr wrap="square" rtlCol="0">
            <a:spAutoFit/>
          </a:bodyPr>
          <a:lstStyle/>
          <a:p>
            <a:pPr algn="l"/>
            <a:r>
              <a:rPr lang="en-US" sz="2000" dirty="0">
                <a:solidFill>
                  <a:schemeClr val="accent1">
                    <a:lumMod val="50000"/>
                  </a:schemeClr>
                </a:solidFill>
                <a:latin typeface="Arial" panose="020B0604020202020204" pitchFamily="34" charset="0"/>
                <a:cs typeface="Arial" panose="020B0604020202020204" pitchFamily="34" charset="0"/>
              </a:rPr>
              <a:t>3.3: </a:t>
            </a:r>
            <a:r>
              <a:rPr lang="en-US" sz="2000" dirty="0" err="1">
                <a:solidFill>
                  <a:schemeClr val="accent1">
                    <a:lumMod val="50000"/>
                  </a:schemeClr>
                </a:solidFill>
                <a:latin typeface="Arial" panose="020B0604020202020204" pitchFamily="34" charset="0"/>
                <a:cs typeface="Arial" panose="020B0604020202020204" pitchFamily="34" charset="0"/>
              </a:rPr>
              <a:t>Bộ</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điều</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chỉnh</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dòng</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điện</a:t>
            </a:r>
            <a:r>
              <a:rPr lang="en-US" sz="2000" dirty="0">
                <a:solidFill>
                  <a:schemeClr val="accent1">
                    <a:lumMod val="50000"/>
                  </a:schemeClr>
                </a:solidFill>
                <a:latin typeface="Arial" panose="020B0604020202020204" pitchFamily="34" charset="0"/>
                <a:cs typeface="Arial" panose="020B0604020202020204" pitchFamily="34" charset="0"/>
              </a:rPr>
              <a:t> (Ri)</a:t>
            </a:r>
          </a:p>
        </p:txBody>
      </p:sp>
      <p:pic>
        <p:nvPicPr>
          <p:cNvPr id="10" name="Picture 9">
            <a:extLst>
              <a:ext uri="{FF2B5EF4-FFF2-40B4-BE49-F238E27FC236}">
                <a16:creationId xmlns:a16="http://schemas.microsoft.com/office/drawing/2014/main" id="{7EBD575A-792D-48DB-A833-346EB8D3498A}"/>
              </a:ext>
            </a:extLst>
          </p:cNvPr>
          <p:cNvPicPr>
            <a:picLocks noChangeAspect="1"/>
          </p:cNvPicPr>
          <p:nvPr/>
        </p:nvPicPr>
        <p:blipFill>
          <a:blip r:embed="rId3"/>
          <a:stretch>
            <a:fillRect/>
          </a:stretch>
        </p:blipFill>
        <p:spPr>
          <a:xfrm>
            <a:off x="1695480" y="4723145"/>
            <a:ext cx="6300317" cy="1487726"/>
          </a:xfrm>
          <a:prstGeom prst="rect">
            <a:avLst/>
          </a:prstGeom>
        </p:spPr>
      </p:pic>
    </p:spTree>
    <p:extLst>
      <p:ext uri="{BB962C8B-B14F-4D97-AF65-F5344CB8AC3E}">
        <p14:creationId xmlns:p14="http://schemas.microsoft.com/office/powerpoint/2010/main" val="41131459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950E6412-61DD-4003-A155-FA0CC19E4F52}"/>
              </a:ext>
            </a:extLst>
          </p:cNvPr>
          <p:cNvSpPr>
            <a:spLocks noGrp="1"/>
          </p:cNvSpPr>
          <p:nvPr>
            <p:ph type="subTitle" idx="1"/>
          </p:nvPr>
        </p:nvSpPr>
        <p:spPr/>
        <p:txBody>
          <a:bodyPr>
            <a:normAutofit/>
          </a:bodyPr>
          <a:lstStyle/>
          <a:p>
            <a:pPr algn="l"/>
            <a:r>
              <a:rPr lang="en-US" sz="2000" dirty="0"/>
              <a:t>3.4: </a:t>
            </a:r>
            <a:r>
              <a:rPr lang="en-US" sz="2000" dirty="0" err="1"/>
              <a:t>Khâu</a:t>
            </a:r>
            <a:r>
              <a:rPr lang="en-US" sz="2000" dirty="0"/>
              <a:t> SVM</a:t>
            </a:r>
          </a:p>
          <a:p>
            <a:pPr algn="l"/>
            <a:endParaRPr lang="en-US" sz="2000" dirty="0"/>
          </a:p>
          <a:p>
            <a:pPr algn="l"/>
            <a:endParaRPr lang="en-US" sz="2000" dirty="0"/>
          </a:p>
          <a:p>
            <a:pPr algn="l"/>
            <a:endParaRPr lang="en-US" sz="2000" dirty="0"/>
          </a:p>
          <a:p>
            <a:pPr algn="l"/>
            <a:endParaRPr lang="en-US" sz="2000" dirty="0"/>
          </a:p>
          <a:p>
            <a:pPr algn="l"/>
            <a:endParaRPr lang="en-US" sz="2000" dirty="0"/>
          </a:p>
          <a:p>
            <a:pPr algn="l"/>
            <a:endParaRPr lang="en-US" sz="2000" dirty="0"/>
          </a:p>
          <a:p>
            <a:pPr algn="l"/>
            <a:r>
              <a:rPr lang="en-US" sz="2000" dirty="0" err="1"/>
              <a:t>Khối</a:t>
            </a:r>
            <a:r>
              <a:rPr lang="en-US" sz="2000" dirty="0"/>
              <a:t> SVM </a:t>
            </a:r>
            <a:r>
              <a:rPr lang="en-US" sz="2000" dirty="0" err="1"/>
              <a:t>sử</a:t>
            </a:r>
            <a:r>
              <a:rPr lang="en-US" sz="2000" dirty="0"/>
              <a:t> </a:t>
            </a:r>
            <a:r>
              <a:rPr lang="en-US" sz="2000" dirty="0" err="1"/>
              <a:t>dụng</a:t>
            </a:r>
            <a:r>
              <a:rPr lang="en-US" sz="2000" dirty="0"/>
              <a:t> </a:t>
            </a:r>
            <a:r>
              <a:rPr lang="en-US" sz="2000" dirty="0" err="1"/>
              <a:t>phương</a:t>
            </a:r>
            <a:r>
              <a:rPr lang="en-US" sz="2000" dirty="0"/>
              <a:t> </a:t>
            </a:r>
            <a:r>
              <a:rPr lang="en-US" sz="2000" dirty="0" err="1"/>
              <a:t>pháp</a:t>
            </a:r>
            <a:r>
              <a:rPr lang="en-US" sz="2000" dirty="0"/>
              <a:t> </a:t>
            </a:r>
            <a:r>
              <a:rPr lang="en-US" sz="2000" dirty="0" err="1"/>
              <a:t>điều</a:t>
            </a:r>
            <a:r>
              <a:rPr lang="en-US" sz="2000" dirty="0"/>
              <a:t> </a:t>
            </a:r>
            <a:r>
              <a:rPr lang="en-US" sz="2000" dirty="0" err="1"/>
              <a:t>chế</a:t>
            </a:r>
            <a:r>
              <a:rPr lang="en-US" sz="2000" dirty="0"/>
              <a:t> SVM </a:t>
            </a:r>
            <a:r>
              <a:rPr lang="en-US" sz="2000" dirty="0" err="1"/>
              <a:t>để</a:t>
            </a:r>
            <a:r>
              <a:rPr lang="en-US" sz="2000" dirty="0"/>
              <a:t> </a:t>
            </a:r>
            <a:r>
              <a:rPr lang="en-US" sz="2000" dirty="0" err="1"/>
              <a:t>phát</a:t>
            </a:r>
            <a:r>
              <a:rPr lang="en-US" sz="2000" dirty="0"/>
              <a:t> </a:t>
            </a:r>
            <a:r>
              <a:rPr lang="en-US" sz="2000" dirty="0" err="1"/>
              <a:t>xung</a:t>
            </a:r>
            <a:r>
              <a:rPr lang="en-US" sz="2000" dirty="0"/>
              <a:t> </a:t>
            </a:r>
            <a:r>
              <a:rPr lang="en-US" sz="2000" dirty="0" err="1"/>
              <a:t>điều</a:t>
            </a:r>
            <a:r>
              <a:rPr lang="en-US" sz="2000" dirty="0"/>
              <a:t> </a:t>
            </a:r>
            <a:r>
              <a:rPr lang="en-US" sz="2000" dirty="0" err="1"/>
              <a:t>khiển</a:t>
            </a:r>
            <a:r>
              <a:rPr lang="en-US" sz="2000" dirty="0"/>
              <a:t> van </a:t>
            </a:r>
            <a:r>
              <a:rPr lang="en-US" sz="2000" dirty="0" err="1"/>
              <a:t>bán</a:t>
            </a:r>
            <a:r>
              <a:rPr lang="en-US" sz="2000" dirty="0"/>
              <a:t> </a:t>
            </a:r>
            <a:r>
              <a:rPr lang="en-US" sz="2000" dirty="0" err="1"/>
              <a:t>dẫn</a:t>
            </a:r>
            <a:r>
              <a:rPr lang="en-US" sz="2000" dirty="0"/>
              <a:t> </a:t>
            </a:r>
            <a:r>
              <a:rPr lang="en-US" sz="2000" dirty="0" err="1"/>
              <a:t>của</a:t>
            </a:r>
            <a:r>
              <a:rPr lang="en-US" sz="2000" dirty="0"/>
              <a:t> </a:t>
            </a:r>
            <a:r>
              <a:rPr lang="en-US" sz="2000" dirty="0" err="1"/>
              <a:t>mạch</a:t>
            </a:r>
            <a:r>
              <a:rPr lang="en-US" sz="2000" dirty="0"/>
              <a:t> </a:t>
            </a:r>
            <a:r>
              <a:rPr lang="en-US" sz="2000" dirty="0" err="1"/>
              <a:t>nghịch</a:t>
            </a:r>
            <a:r>
              <a:rPr lang="en-US" sz="2000" dirty="0"/>
              <a:t> </a:t>
            </a:r>
            <a:r>
              <a:rPr lang="en-US" sz="2000" dirty="0" err="1"/>
              <a:t>lưu</a:t>
            </a:r>
            <a:r>
              <a:rPr lang="en-US" sz="2000" dirty="0"/>
              <a:t> </a:t>
            </a:r>
            <a:r>
              <a:rPr lang="en-US" sz="2000" dirty="0" err="1"/>
              <a:t>nguồn</a:t>
            </a:r>
            <a:r>
              <a:rPr lang="en-US" sz="2000" dirty="0"/>
              <a:t> </a:t>
            </a:r>
            <a:r>
              <a:rPr lang="en-US" sz="2000" dirty="0" err="1"/>
              <a:t>áp</a:t>
            </a:r>
            <a:r>
              <a:rPr lang="en-US" sz="2000" dirty="0"/>
              <a:t>.</a:t>
            </a:r>
          </a:p>
          <a:p>
            <a:pPr algn="l"/>
            <a:r>
              <a:rPr lang="en-US" sz="2000" dirty="0" err="1"/>
              <a:t>Đầu</a:t>
            </a:r>
            <a:r>
              <a:rPr lang="en-US" sz="2000" dirty="0"/>
              <a:t> </a:t>
            </a:r>
            <a:r>
              <a:rPr lang="en-US" sz="2000" dirty="0" err="1"/>
              <a:t>vào</a:t>
            </a:r>
            <a:r>
              <a:rPr lang="en-US" sz="2000" dirty="0"/>
              <a:t> </a:t>
            </a:r>
            <a:r>
              <a:rPr lang="en-US" sz="2000" dirty="0" err="1"/>
              <a:t>của</a:t>
            </a:r>
            <a:r>
              <a:rPr lang="en-US" sz="2000" dirty="0"/>
              <a:t> </a:t>
            </a:r>
            <a:r>
              <a:rPr lang="en-US" sz="2000" dirty="0" err="1"/>
              <a:t>khối</a:t>
            </a:r>
            <a:r>
              <a:rPr lang="en-US" sz="2000" dirty="0"/>
              <a:t> SVM </a:t>
            </a:r>
            <a:r>
              <a:rPr lang="en-US" sz="2000" dirty="0" err="1"/>
              <a:t>là</a:t>
            </a:r>
            <a:r>
              <a:rPr lang="en-US" sz="2000" dirty="0"/>
              <a:t> </a:t>
            </a:r>
            <a:r>
              <a:rPr lang="en-US" sz="2000" dirty="0" err="1"/>
              <a:t>điện</a:t>
            </a:r>
            <a:r>
              <a:rPr lang="en-US" sz="2000" dirty="0"/>
              <a:t> </a:t>
            </a:r>
            <a:r>
              <a:rPr lang="en-US" sz="2000" dirty="0" err="1"/>
              <a:t>áp</a:t>
            </a:r>
            <a:r>
              <a:rPr lang="en-US" sz="2000" dirty="0"/>
              <a:t> u</a:t>
            </a:r>
            <a:r>
              <a:rPr lang="en-US" sz="2000" baseline="-25000" dirty="0"/>
              <a:t>s</a:t>
            </a:r>
            <a:r>
              <a:rPr lang="el-GR" sz="2000" baseline="-25000" dirty="0"/>
              <a:t>α</a:t>
            </a:r>
            <a:r>
              <a:rPr lang="en-US" sz="2000" baseline="-25000" dirty="0"/>
              <a:t> </a:t>
            </a:r>
            <a:r>
              <a:rPr lang="en-US" sz="2000" dirty="0" err="1"/>
              <a:t>và</a:t>
            </a:r>
            <a:r>
              <a:rPr lang="en-US" sz="2000" dirty="0"/>
              <a:t> u</a:t>
            </a:r>
            <a:r>
              <a:rPr lang="en-US" sz="2000" baseline="-25000" dirty="0"/>
              <a:t>s</a:t>
            </a:r>
            <a:r>
              <a:rPr lang="el-GR" sz="2000" baseline="-25000" dirty="0"/>
              <a:t>β</a:t>
            </a:r>
            <a:r>
              <a:rPr lang="en-US" sz="2000" baseline="-25000" dirty="0"/>
              <a:t> </a:t>
            </a:r>
            <a:r>
              <a:rPr lang="en-US" sz="2000" dirty="0" err="1"/>
              <a:t>được</a:t>
            </a:r>
            <a:r>
              <a:rPr lang="en-US" sz="2000" dirty="0"/>
              <a:t> </a:t>
            </a:r>
            <a:r>
              <a:rPr lang="en-US" sz="2000" dirty="0" err="1"/>
              <a:t>tính</a:t>
            </a:r>
            <a:r>
              <a:rPr lang="en-US" sz="2000" dirty="0"/>
              <a:t> </a:t>
            </a:r>
            <a:r>
              <a:rPr lang="en-US" sz="2000" dirty="0" err="1"/>
              <a:t>toán</a:t>
            </a:r>
            <a:r>
              <a:rPr lang="en-US" sz="2000" dirty="0"/>
              <a:t> </a:t>
            </a:r>
            <a:r>
              <a:rPr lang="en-US" sz="2000" dirty="0" err="1"/>
              <a:t>từ</a:t>
            </a:r>
            <a:r>
              <a:rPr lang="en-US" sz="2000" dirty="0"/>
              <a:t> </a:t>
            </a:r>
            <a:r>
              <a:rPr lang="en-US" sz="2000" dirty="0" err="1"/>
              <a:t>đầu</a:t>
            </a:r>
            <a:r>
              <a:rPr lang="en-US" sz="2000" dirty="0"/>
              <a:t> ra </a:t>
            </a:r>
            <a:r>
              <a:rPr lang="en-US" sz="2000" dirty="0" err="1"/>
              <a:t>của</a:t>
            </a:r>
            <a:r>
              <a:rPr lang="en-US" sz="2000" dirty="0"/>
              <a:t>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dòng</a:t>
            </a:r>
            <a:r>
              <a:rPr lang="en-US" sz="2000" dirty="0"/>
              <a:t> </a:t>
            </a:r>
            <a:r>
              <a:rPr lang="en-US" sz="2000" dirty="0" err="1"/>
              <a:t>điện</a:t>
            </a:r>
            <a:r>
              <a:rPr lang="en-US" sz="2000" dirty="0"/>
              <a:t>.</a:t>
            </a:r>
          </a:p>
          <a:p>
            <a:pPr algn="l"/>
            <a:r>
              <a:rPr lang="en-US" sz="2000" dirty="0" err="1"/>
              <a:t>Đầu</a:t>
            </a:r>
            <a:r>
              <a:rPr lang="en-US" sz="2000" dirty="0"/>
              <a:t> ra </a:t>
            </a:r>
            <a:r>
              <a:rPr lang="en-US" sz="2000" dirty="0" err="1"/>
              <a:t>là</a:t>
            </a:r>
            <a:r>
              <a:rPr lang="en-US" sz="2000" dirty="0"/>
              <a:t> duty cycle </a:t>
            </a:r>
            <a:r>
              <a:rPr lang="en-US" sz="2000" dirty="0" err="1"/>
              <a:t>rồi</a:t>
            </a:r>
            <a:r>
              <a:rPr lang="en-US" sz="2000" dirty="0"/>
              <a:t> so </a:t>
            </a:r>
            <a:r>
              <a:rPr lang="en-US" sz="2000" dirty="0" err="1"/>
              <a:t>sánh</a:t>
            </a:r>
            <a:r>
              <a:rPr lang="en-US" sz="2000" dirty="0"/>
              <a:t> </a:t>
            </a:r>
            <a:r>
              <a:rPr lang="en-US" sz="2000" dirty="0" err="1"/>
              <a:t>với</a:t>
            </a:r>
            <a:r>
              <a:rPr lang="en-US" sz="2000" dirty="0"/>
              <a:t> </a:t>
            </a:r>
            <a:r>
              <a:rPr lang="en-US" sz="2000" dirty="0" err="1"/>
              <a:t>khâu</a:t>
            </a:r>
            <a:r>
              <a:rPr lang="en-US" sz="2000" dirty="0"/>
              <a:t> </a:t>
            </a:r>
            <a:r>
              <a:rPr lang="en-US" sz="2000" dirty="0" err="1"/>
              <a:t>răng</a:t>
            </a:r>
            <a:r>
              <a:rPr lang="en-US" sz="2000" dirty="0"/>
              <a:t> </a:t>
            </a:r>
            <a:r>
              <a:rPr lang="en-US" sz="2000" dirty="0" err="1"/>
              <a:t>cưa</a:t>
            </a:r>
            <a:r>
              <a:rPr lang="en-US" sz="2000" dirty="0"/>
              <a:t> </a:t>
            </a:r>
            <a:r>
              <a:rPr lang="en-US" sz="2000" dirty="0" err="1"/>
              <a:t>để</a:t>
            </a:r>
            <a:r>
              <a:rPr lang="en-US" sz="2000" dirty="0"/>
              <a:t> </a:t>
            </a:r>
            <a:r>
              <a:rPr lang="en-US" sz="2000" dirty="0" err="1"/>
              <a:t>phát</a:t>
            </a:r>
            <a:r>
              <a:rPr lang="en-US" sz="2000" dirty="0"/>
              <a:t> </a:t>
            </a:r>
            <a:r>
              <a:rPr lang="en-US" sz="2000" dirty="0" err="1"/>
              <a:t>xung</a:t>
            </a:r>
            <a:r>
              <a:rPr lang="en-US" sz="2000" dirty="0"/>
              <a:t> </a:t>
            </a:r>
            <a:r>
              <a:rPr lang="en-US" sz="2000" dirty="0" err="1"/>
              <a:t>cho</a:t>
            </a:r>
            <a:r>
              <a:rPr lang="en-US" sz="2000" dirty="0"/>
              <a:t> van.</a:t>
            </a:r>
          </a:p>
          <a:p>
            <a:pPr algn="l"/>
            <a:endParaRPr lang="en-US" sz="2000" dirty="0"/>
          </a:p>
        </p:txBody>
      </p:sp>
      <p:sp>
        <p:nvSpPr>
          <p:cNvPr id="3" name="Text Placeholder 2">
            <a:extLst>
              <a:ext uri="{FF2B5EF4-FFF2-40B4-BE49-F238E27FC236}">
                <a16:creationId xmlns:a16="http://schemas.microsoft.com/office/drawing/2014/main" id="{4A9BEAE0-D3A8-4D33-9147-614FD24E8B9B}"/>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A2068223-96A5-40E0-8CF9-F400775948CF}"/>
              </a:ext>
            </a:extLst>
          </p:cNvPr>
          <p:cNvSpPr>
            <a:spLocks noGrp="1"/>
          </p:cNvSpPr>
          <p:nvPr>
            <p:ph type="title"/>
          </p:nvPr>
        </p:nvSpPr>
        <p:spPr/>
        <p:txBody>
          <a:bodyPr/>
          <a:lstStyle/>
          <a:p>
            <a:r>
              <a:rPr lang="en-US"/>
              <a:t>Phương pháp điều khiển FOC</a:t>
            </a:r>
          </a:p>
        </p:txBody>
      </p:sp>
      <p:sp>
        <p:nvSpPr>
          <p:cNvPr id="5" name="Slide Number Placeholder 4">
            <a:extLst>
              <a:ext uri="{FF2B5EF4-FFF2-40B4-BE49-F238E27FC236}">
                <a16:creationId xmlns:a16="http://schemas.microsoft.com/office/drawing/2014/main" id="{438A632A-6305-4014-86BD-798BEADE0826}"/>
              </a:ext>
            </a:extLst>
          </p:cNvPr>
          <p:cNvSpPr>
            <a:spLocks noGrp="1"/>
          </p:cNvSpPr>
          <p:nvPr>
            <p:ph type="sldNum" sz="quarter" idx="4"/>
          </p:nvPr>
        </p:nvSpPr>
        <p:spPr/>
        <p:txBody>
          <a:bodyPr/>
          <a:lstStyle/>
          <a:p>
            <a:fld id="{C4AED997-7CB6-4654-8505-4D4C6D081CC6}" type="slidenum">
              <a:rPr lang="en-US" smtClean="0"/>
              <a:pPr/>
              <a:t>17</a:t>
            </a:fld>
            <a:endParaRPr lang="en-US"/>
          </a:p>
        </p:txBody>
      </p:sp>
      <p:pic>
        <p:nvPicPr>
          <p:cNvPr id="9" name="Picture 8">
            <a:extLst>
              <a:ext uri="{FF2B5EF4-FFF2-40B4-BE49-F238E27FC236}">
                <a16:creationId xmlns:a16="http://schemas.microsoft.com/office/drawing/2014/main" id="{0EB5237F-7749-41FF-8FE3-1E5493F692B3}"/>
              </a:ext>
            </a:extLst>
          </p:cNvPr>
          <p:cNvPicPr>
            <a:picLocks noChangeAspect="1"/>
          </p:cNvPicPr>
          <p:nvPr/>
        </p:nvPicPr>
        <p:blipFill>
          <a:blip r:embed="rId2"/>
          <a:stretch>
            <a:fillRect/>
          </a:stretch>
        </p:blipFill>
        <p:spPr>
          <a:xfrm>
            <a:off x="1682251" y="1378506"/>
            <a:ext cx="5071246" cy="2318284"/>
          </a:xfrm>
          <a:prstGeom prst="rect">
            <a:avLst/>
          </a:prstGeom>
        </p:spPr>
      </p:pic>
    </p:spTree>
    <p:extLst>
      <p:ext uri="{BB962C8B-B14F-4D97-AF65-F5344CB8AC3E}">
        <p14:creationId xmlns:p14="http://schemas.microsoft.com/office/powerpoint/2010/main" val="2373535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a:xfrm>
            <a:off x="855590" y="951470"/>
            <a:ext cx="7386043" cy="5714093"/>
          </a:xfrm>
        </p:spPr>
        <p:txBody>
          <a:bodyPr>
            <a:normAutofit/>
          </a:bodyPr>
          <a:lstStyle/>
          <a:p>
            <a:pPr algn="l"/>
            <a:r>
              <a:rPr lang="en-US" sz="2000" dirty="0"/>
              <a:t>3.5: </a:t>
            </a:r>
            <a:r>
              <a:rPr lang="en-US" sz="2000" dirty="0" err="1"/>
              <a:t>Thiết</a:t>
            </a:r>
            <a:r>
              <a:rPr lang="en-US" sz="2000" dirty="0"/>
              <a:t> </a:t>
            </a:r>
            <a:r>
              <a:rPr lang="en-US" sz="2000" dirty="0" err="1"/>
              <a:t>kế</a:t>
            </a:r>
            <a:r>
              <a:rPr lang="en-US" sz="2000" dirty="0"/>
              <a:t> </a:t>
            </a:r>
            <a:r>
              <a:rPr lang="en-US" sz="2000" dirty="0" err="1"/>
              <a:t>các</a:t>
            </a:r>
            <a:r>
              <a:rPr lang="en-US" sz="2000" dirty="0"/>
              <a:t> </a:t>
            </a:r>
            <a:r>
              <a:rPr lang="en-US" sz="2000" dirty="0" err="1"/>
              <a:t>bộ</a:t>
            </a:r>
            <a:r>
              <a:rPr lang="en-US" sz="2000" dirty="0"/>
              <a:t> </a:t>
            </a:r>
            <a:r>
              <a:rPr lang="en-US" sz="2000" dirty="0" err="1"/>
              <a:t>điều</a:t>
            </a:r>
            <a:r>
              <a:rPr lang="en-US" sz="2000" dirty="0"/>
              <a:t> </a:t>
            </a:r>
            <a:r>
              <a:rPr lang="en-US" sz="2000" dirty="0" err="1"/>
              <a:t>chỉnh</a:t>
            </a:r>
            <a:endParaRPr lang="en-US" sz="2000" dirty="0"/>
          </a:p>
          <a:p>
            <a:pPr algn="l"/>
            <a:r>
              <a:rPr lang="en-US" sz="2000" dirty="0"/>
              <a:t>3.5.1: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dòng</a:t>
            </a:r>
            <a:r>
              <a:rPr lang="en-US" sz="2000" dirty="0"/>
              <a:t> </a:t>
            </a:r>
            <a:r>
              <a:rPr lang="en-US" sz="2000" dirty="0" err="1"/>
              <a:t>điện</a:t>
            </a:r>
            <a:endParaRPr lang="en-US" sz="2000" dirty="0"/>
          </a:p>
          <a:p>
            <a:pPr algn="l"/>
            <a:endParaRPr lang="en-US" sz="2000" dirty="0"/>
          </a:p>
          <a:p>
            <a:pPr algn="l"/>
            <a:endParaRPr lang="en-US" sz="2000" dirty="0"/>
          </a:p>
          <a:p>
            <a:pPr algn="l"/>
            <a:endParaRPr lang="en-US" sz="2000" dirty="0"/>
          </a:p>
          <a:p>
            <a:pPr algn="l"/>
            <a:endParaRPr lang="en-US" sz="2000" dirty="0"/>
          </a:p>
          <a:p>
            <a:pPr marL="0" marR="0" indent="457200" algn="just">
              <a:lnSpc>
                <a:spcPct val="115000"/>
              </a:lnSpc>
              <a:spcBef>
                <a:spcPts val="600"/>
              </a:spcBef>
              <a:spcAft>
                <a:spcPts val="600"/>
              </a:spcAft>
            </a:pP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Để</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đơn</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giản</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cho</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cách</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thiết</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kế</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bộ</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PI, ta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thực</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hiện</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như</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sau</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Bỏ</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qua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thành</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phần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đan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kênh</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0"/>
              </a:spcAft>
              <a:buFont typeface="Symbol" panose="05050102010706020507" pitchFamily="18" charset="2"/>
              <a:buChar char=""/>
            </a:pP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Coi</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SVM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là</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khâu</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có</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hàm</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truyền</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bằng</a:t>
            </a:r>
            <a:r>
              <a:rPr lang="en-US" sz="18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 1</a:t>
            </a:r>
          </a:p>
          <a:p>
            <a:pPr marL="342900" marR="0" lvl="0" indent="-342900" algn="just">
              <a:lnSpc>
                <a:spcPct val="115000"/>
              </a:lnSpc>
              <a:spcBef>
                <a:spcPts val="0"/>
              </a:spcBef>
              <a:spcAft>
                <a:spcPts val="0"/>
              </a:spcAft>
              <a:buFont typeface="Symbol" panose="05050102010706020507" pitchFamily="18" charset="2"/>
              <a:buChar char=""/>
            </a:pPr>
            <a:r>
              <a:rPr lang="en-US" sz="18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Khi đ ó : </a:t>
            </a:r>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l">
              <a:buFont typeface="Wingdings" panose="05000000000000000000" pitchFamily="2" charset="2"/>
              <a:buChar char="v"/>
            </a:pPr>
            <a:endParaRPr lang="en-US" sz="2000" dirty="0"/>
          </a:p>
          <a:p>
            <a:pPr lvl="1" algn="l"/>
            <a:endParaRPr lang="en-US" sz="1700" dirty="0"/>
          </a:p>
          <a:p>
            <a:pPr lvl="1" algn="l"/>
            <a:endParaRPr lang="en-US" dirty="0"/>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a:t>Ph</a:t>
            </a:r>
            <a:r>
              <a:rPr lang="vi-VN"/>
              <a:t>ư</a:t>
            </a:r>
            <a:r>
              <a:rPr lang="en-US"/>
              <a:t>ơng pháp điều khiển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18</a:t>
            </a:fld>
            <a:endParaRPr lang="en-US"/>
          </a:p>
        </p:txBody>
      </p:sp>
      <p:pic>
        <p:nvPicPr>
          <p:cNvPr id="11" name="Hình ảnh 2">
            <a:extLst>
              <a:ext uri="{FF2B5EF4-FFF2-40B4-BE49-F238E27FC236}">
                <a16:creationId xmlns:a16="http://schemas.microsoft.com/office/drawing/2014/main" id="{DD94F13C-9847-478C-8E6B-B55B3B8FD8DF}"/>
              </a:ext>
            </a:extLst>
          </p:cNvPr>
          <p:cNvPicPr/>
          <p:nvPr/>
        </p:nvPicPr>
        <p:blipFill>
          <a:blip r:embed="rId3">
            <a:extLst>
              <a:ext uri="{28A0092B-C50C-407E-A947-70E740481C1C}">
                <a14:useLocalDpi xmlns:a14="http://schemas.microsoft.com/office/drawing/2010/main" val="0"/>
              </a:ext>
            </a:extLst>
          </a:blip>
          <a:srcRect l="6677"/>
          <a:stretch>
            <a:fillRect/>
          </a:stretch>
        </p:blipFill>
        <p:spPr bwMode="auto">
          <a:xfrm>
            <a:off x="1245458" y="1786898"/>
            <a:ext cx="5023261" cy="1413502"/>
          </a:xfrm>
          <a:prstGeom prst="rect">
            <a:avLst/>
          </a:prstGeom>
          <a:noFill/>
          <a:ln>
            <a:noFill/>
          </a:ln>
        </p:spPr>
      </p:pic>
      <p:graphicFrame>
        <p:nvGraphicFramePr>
          <p:cNvPr id="12" name="Object 11">
            <a:extLst>
              <a:ext uri="{FF2B5EF4-FFF2-40B4-BE49-F238E27FC236}">
                <a16:creationId xmlns:a16="http://schemas.microsoft.com/office/drawing/2014/main" id="{D9AF6063-52B4-4261-8D27-1616B0A177F8}"/>
              </a:ext>
            </a:extLst>
          </p:cNvPr>
          <p:cNvGraphicFramePr>
            <a:graphicFrameLocks noChangeAspect="1"/>
          </p:cNvGraphicFramePr>
          <p:nvPr>
            <p:extLst>
              <p:ext uri="{D42A27DB-BD31-4B8C-83A1-F6EECF244321}">
                <p14:modId xmlns:p14="http://schemas.microsoft.com/office/powerpoint/2010/main" val="1634684207"/>
              </p:ext>
            </p:extLst>
          </p:nvPr>
        </p:nvGraphicFramePr>
        <p:xfrm>
          <a:off x="1148201" y="4760913"/>
          <a:ext cx="2449179" cy="849715"/>
        </p:xfrm>
        <a:graphic>
          <a:graphicData uri="http://schemas.openxmlformats.org/presentationml/2006/ole">
            <mc:AlternateContent xmlns:mc="http://schemas.openxmlformats.org/markup-compatibility/2006">
              <mc:Choice xmlns:v="urn:schemas-microsoft-com:vml" Requires="v">
                <p:oleObj spid="_x0000_s8194" name="Equation" r:id="rId4" imgW="1399392" imgH="486336" progId="Equation.DSMT4">
                  <p:embed/>
                </p:oleObj>
              </mc:Choice>
              <mc:Fallback>
                <p:oleObj name="Equation" r:id="rId4" imgW="1399392" imgH="486336" progId="Equation.DSMT4">
                  <p:embed/>
                  <p:pic>
                    <p:nvPicPr>
                      <p:cNvPr id="12" name="Object 11">
                        <a:extLst>
                          <a:ext uri="{FF2B5EF4-FFF2-40B4-BE49-F238E27FC236}">
                            <a16:creationId xmlns:a16="http://schemas.microsoft.com/office/drawing/2014/main" id="{D9AF6063-52B4-4261-8D27-1616B0A177F8}"/>
                          </a:ext>
                        </a:extLst>
                      </p:cNvPr>
                      <p:cNvPicPr/>
                      <p:nvPr/>
                    </p:nvPicPr>
                    <p:blipFill>
                      <a:blip r:embed="rId5"/>
                      <a:stretch>
                        <a:fillRect/>
                      </a:stretch>
                    </p:blipFill>
                    <p:spPr>
                      <a:xfrm>
                        <a:off x="1148201" y="4760913"/>
                        <a:ext cx="2449179" cy="849715"/>
                      </a:xfrm>
                      <a:prstGeom prst="rect">
                        <a:avLst/>
                      </a:prstGeom>
                    </p:spPr>
                  </p:pic>
                </p:oleObj>
              </mc:Fallback>
            </mc:AlternateContent>
          </a:graphicData>
        </a:graphic>
      </p:graphicFrame>
      <p:graphicFrame>
        <p:nvGraphicFramePr>
          <p:cNvPr id="31" name="Object 30">
            <a:extLst>
              <a:ext uri="{FF2B5EF4-FFF2-40B4-BE49-F238E27FC236}">
                <a16:creationId xmlns:a16="http://schemas.microsoft.com/office/drawing/2014/main" id="{B1E57496-66A5-4315-92F3-33FA50DC396F}"/>
              </a:ext>
            </a:extLst>
          </p:cNvPr>
          <p:cNvGraphicFramePr>
            <a:graphicFrameLocks noChangeAspect="1"/>
          </p:cNvGraphicFramePr>
          <p:nvPr>
            <p:extLst>
              <p:ext uri="{D42A27DB-BD31-4B8C-83A1-F6EECF244321}">
                <p14:modId xmlns:p14="http://schemas.microsoft.com/office/powerpoint/2010/main" val="3407160560"/>
              </p:ext>
            </p:extLst>
          </p:nvPr>
        </p:nvGraphicFramePr>
        <p:xfrm>
          <a:off x="4572000" y="4261660"/>
          <a:ext cx="1906055" cy="1143089"/>
        </p:xfrm>
        <a:graphic>
          <a:graphicData uri="http://schemas.openxmlformats.org/presentationml/2006/ole">
            <mc:AlternateContent xmlns:mc="http://schemas.openxmlformats.org/markup-compatibility/2006">
              <mc:Choice xmlns:v="urn:schemas-microsoft-com:vml" Requires="v">
                <p:oleObj spid="_x0000_s8195" name="Equation" r:id="rId6" imgW="1114044" imgH="667676" progId="Equation.DSMT4">
                  <p:embed/>
                </p:oleObj>
              </mc:Choice>
              <mc:Fallback>
                <p:oleObj name="Equation" r:id="rId6" imgW="1114044" imgH="667676" progId="Equation.DSMT4">
                  <p:embed/>
                  <p:pic>
                    <p:nvPicPr>
                      <p:cNvPr id="31" name="Object 30">
                        <a:extLst>
                          <a:ext uri="{FF2B5EF4-FFF2-40B4-BE49-F238E27FC236}">
                            <a16:creationId xmlns:a16="http://schemas.microsoft.com/office/drawing/2014/main" id="{B1E57496-66A5-4315-92F3-33FA50DC396F}"/>
                          </a:ext>
                        </a:extLst>
                      </p:cNvPr>
                      <p:cNvPicPr/>
                      <p:nvPr/>
                    </p:nvPicPr>
                    <p:blipFill>
                      <a:blip r:embed="rId7"/>
                      <a:stretch>
                        <a:fillRect/>
                      </a:stretch>
                    </p:blipFill>
                    <p:spPr>
                      <a:xfrm>
                        <a:off x="4572000" y="4261660"/>
                        <a:ext cx="1906055" cy="1143089"/>
                      </a:xfrm>
                      <a:prstGeom prst="rect">
                        <a:avLst/>
                      </a:prstGeom>
                    </p:spPr>
                  </p:pic>
                </p:oleObj>
              </mc:Fallback>
            </mc:AlternateContent>
          </a:graphicData>
        </a:graphic>
      </p:graphicFrame>
    </p:spTree>
    <p:extLst>
      <p:ext uri="{BB962C8B-B14F-4D97-AF65-F5344CB8AC3E}">
        <p14:creationId xmlns:p14="http://schemas.microsoft.com/office/powerpoint/2010/main" val="3253582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FB0B8C97-F666-4466-AE4E-744C7667AB64}"/>
              </a:ext>
            </a:extLst>
          </p:cNvPr>
          <p:cNvSpPr>
            <a:spLocks noGrp="1"/>
          </p:cNvSpPr>
          <p:nvPr>
            <p:ph type="subTitle" idx="1"/>
          </p:nvPr>
        </p:nvSpPr>
        <p:spPr/>
        <p:txBody>
          <a:bodyPr/>
          <a:lstStyle/>
          <a:p>
            <a:pPr algn="l"/>
            <a:r>
              <a:rPr lang="en-US" sz="2000" dirty="0"/>
              <a:t>3.5: </a:t>
            </a:r>
            <a:r>
              <a:rPr lang="en-US" sz="2000" dirty="0" err="1"/>
              <a:t>Thiết</a:t>
            </a:r>
            <a:r>
              <a:rPr lang="en-US" sz="2000" dirty="0"/>
              <a:t> </a:t>
            </a:r>
            <a:r>
              <a:rPr lang="en-US" sz="2000" dirty="0" err="1"/>
              <a:t>kế</a:t>
            </a:r>
            <a:r>
              <a:rPr lang="en-US" sz="2000" dirty="0"/>
              <a:t> </a:t>
            </a:r>
            <a:r>
              <a:rPr lang="en-US" sz="2000" dirty="0" err="1"/>
              <a:t>các</a:t>
            </a:r>
            <a:r>
              <a:rPr lang="en-US" sz="2000" dirty="0"/>
              <a:t> </a:t>
            </a:r>
            <a:r>
              <a:rPr lang="en-US" sz="2000" dirty="0" err="1"/>
              <a:t>bộ</a:t>
            </a:r>
            <a:r>
              <a:rPr lang="en-US" sz="2000" dirty="0"/>
              <a:t> </a:t>
            </a:r>
            <a:r>
              <a:rPr lang="en-US" sz="2000" dirty="0" err="1"/>
              <a:t>điều</a:t>
            </a:r>
            <a:r>
              <a:rPr lang="en-US" sz="2000" dirty="0"/>
              <a:t> </a:t>
            </a:r>
            <a:r>
              <a:rPr lang="en-US" sz="2000" dirty="0" err="1"/>
              <a:t>chỉnh</a:t>
            </a:r>
            <a:endParaRPr lang="en-US" sz="2000" dirty="0"/>
          </a:p>
          <a:p>
            <a:pPr algn="l"/>
            <a:r>
              <a:rPr lang="en-US" sz="2000" dirty="0"/>
              <a:t>3.5.1: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dòng</a:t>
            </a:r>
            <a:r>
              <a:rPr lang="en-US" sz="2000" dirty="0"/>
              <a:t> </a:t>
            </a:r>
            <a:r>
              <a:rPr lang="en-US" sz="2000" dirty="0" err="1"/>
              <a:t>điện</a:t>
            </a:r>
            <a:endParaRPr lang="en-US" sz="2000" dirty="0"/>
          </a:p>
          <a:p>
            <a:pPr algn="l"/>
            <a:r>
              <a:rPr lang="en-US" sz="2000" dirty="0"/>
              <a:t>Ta </a:t>
            </a:r>
            <a:r>
              <a:rPr lang="en-US" sz="2000" dirty="0" err="1"/>
              <a:t>chọn</a:t>
            </a:r>
            <a:r>
              <a:rPr lang="en-US" sz="2000" dirty="0"/>
              <a:t>              </a:t>
            </a:r>
            <a:r>
              <a:rPr lang="en-US" sz="2000" dirty="0" err="1"/>
              <a:t>để</a:t>
            </a:r>
            <a:r>
              <a:rPr lang="en-US" sz="2000" dirty="0"/>
              <a:t> </a:t>
            </a:r>
            <a:r>
              <a:rPr lang="en-US" sz="2000" dirty="0" err="1"/>
              <a:t>triệt</a:t>
            </a:r>
            <a:r>
              <a:rPr lang="en-US" sz="2000" dirty="0"/>
              <a:t> </a:t>
            </a:r>
            <a:r>
              <a:rPr lang="en-US" sz="2000" dirty="0" err="1"/>
              <a:t>tiêu</a:t>
            </a:r>
            <a:r>
              <a:rPr lang="en-US" sz="2000" dirty="0"/>
              <a:t> </a:t>
            </a:r>
            <a:r>
              <a:rPr lang="en-US" sz="2000" dirty="0" err="1"/>
              <a:t>hằng</a:t>
            </a:r>
            <a:r>
              <a:rPr lang="en-US" sz="2000" dirty="0"/>
              <a:t> </a:t>
            </a:r>
            <a:r>
              <a:rPr lang="en-US" sz="2000" dirty="0" err="1"/>
              <a:t>số</a:t>
            </a:r>
            <a:r>
              <a:rPr lang="en-US" sz="2000" dirty="0"/>
              <a:t> </a:t>
            </a:r>
            <a:r>
              <a:rPr lang="en-US" sz="2000" dirty="0" err="1"/>
              <a:t>thời</a:t>
            </a:r>
            <a:r>
              <a:rPr lang="en-US" sz="2000" dirty="0"/>
              <a:t> </a:t>
            </a:r>
            <a:r>
              <a:rPr lang="en-US" sz="2000" dirty="0" err="1"/>
              <a:t>gian</a:t>
            </a:r>
            <a:r>
              <a:rPr lang="en-US" sz="2000" dirty="0"/>
              <a:t> </a:t>
            </a:r>
            <a:r>
              <a:rPr lang="en-US" sz="2000" dirty="0" err="1"/>
              <a:t>của</a:t>
            </a:r>
            <a:r>
              <a:rPr lang="en-US" sz="2000" dirty="0"/>
              <a:t> </a:t>
            </a:r>
            <a:r>
              <a:rPr lang="en-US" sz="2000" dirty="0" err="1"/>
              <a:t>đối</a:t>
            </a:r>
            <a:r>
              <a:rPr lang="en-US" sz="2000" dirty="0"/>
              <a:t> t</a:t>
            </a:r>
            <a:r>
              <a:rPr lang="vi-VN" sz="2000" dirty="0"/>
              <a:t>ượng</a:t>
            </a:r>
            <a:r>
              <a:rPr lang="en-US" sz="2000" dirty="0"/>
              <a:t> , </a:t>
            </a:r>
            <a:r>
              <a:rPr lang="en-US" sz="2000" dirty="0" err="1"/>
              <a:t>khi</a:t>
            </a:r>
            <a:r>
              <a:rPr lang="en-US" sz="2000" dirty="0"/>
              <a:t> </a:t>
            </a:r>
            <a:r>
              <a:rPr lang="en-US" sz="2000" dirty="0" err="1"/>
              <a:t>đó</a:t>
            </a:r>
            <a:r>
              <a:rPr lang="en-US" sz="2000" dirty="0"/>
              <a:t> ta </a:t>
            </a:r>
            <a:r>
              <a:rPr lang="en-US" sz="2000" dirty="0" err="1"/>
              <a:t>có</a:t>
            </a:r>
            <a:r>
              <a:rPr lang="en-US" sz="2000" dirty="0"/>
              <a:t> </a:t>
            </a:r>
            <a:r>
              <a:rPr lang="en-US" sz="2000" dirty="0" err="1"/>
              <a:t>hàm</a:t>
            </a:r>
            <a:r>
              <a:rPr lang="en-US" sz="2000" dirty="0"/>
              <a:t> </a:t>
            </a:r>
            <a:r>
              <a:rPr lang="en-US" sz="2000" dirty="0" err="1"/>
              <a:t>truyền</a:t>
            </a:r>
            <a:r>
              <a:rPr lang="en-US" sz="2000" dirty="0"/>
              <a:t> </a:t>
            </a:r>
            <a:r>
              <a:rPr lang="en-US" sz="2000" dirty="0" err="1"/>
              <a:t>hệ</a:t>
            </a:r>
            <a:r>
              <a:rPr lang="en-US" sz="2000" dirty="0"/>
              <a:t> </a:t>
            </a:r>
            <a:r>
              <a:rPr lang="en-US" sz="2000" dirty="0" err="1"/>
              <a:t>hở</a:t>
            </a:r>
            <a:r>
              <a:rPr lang="en-US" sz="2000" dirty="0"/>
              <a:t> </a:t>
            </a:r>
            <a:r>
              <a:rPr lang="en-US" sz="2000" dirty="0" err="1"/>
              <a:t>có</a:t>
            </a:r>
            <a:r>
              <a:rPr lang="en-US" sz="2000" dirty="0"/>
              <a:t> </a:t>
            </a:r>
            <a:r>
              <a:rPr lang="en-US" sz="2000" dirty="0" err="1"/>
              <a:t>dạng</a:t>
            </a:r>
            <a:r>
              <a:rPr lang="en-US" sz="2000" dirty="0"/>
              <a:t> : </a:t>
            </a:r>
          </a:p>
          <a:p>
            <a:pPr algn="l"/>
            <a:endParaRPr lang="en-US" sz="2000" dirty="0"/>
          </a:p>
          <a:p>
            <a:pPr algn="l"/>
            <a:endParaRPr lang="en-US" sz="2000" dirty="0"/>
          </a:p>
          <a:p>
            <a:pPr algn="l"/>
            <a:r>
              <a:rPr lang="en-US" sz="2000" dirty="0" err="1"/>
              <a:t>Với</a:t>
            </a:r>
            <a:r>
              <a:rPr lang="en-US" sz="2000" dirty="0"/>
              <a:t>: </a:t>
            </a:r>
          </a:p>
          <a:p>
            <a:pPr algn="l"/>
            <a:endParaRPr lang="en-US" sz="2000" dirty="0"/>
          </a:p>
          <a:p>
            <a:pPr algn="l"/>
            <a:endParaRPr lang="en-US" sz="2000" dirty="0"/>
          </a:p>
          <a:p>
            <a:pPr algn="l"/>
            <a:r>
              <a:rPr lang="en-US" sz="2000" dirty="0"/>
              <a:t>Ta </a:t>
            </a:r>
            <a:r>
              <a:rPr lang="en-US" sz="2000" dirty="0" err="1"/>
              <a:t>lựa</a:t>
            </a:r>
            <a:r>
              <a:rPr lang="en-US" sz="2000" dirty="0"/>
              <a:t> </a:t>
            </a:r>
            <a:r>
              <a:rPr lang="en-US" sz="2000" dirty="0" err="1"/>
              <a:t>chọn</a:t>
            </a:r>
            <a:r>
              <a:rPr lang="en-US" sz="2000" dirty="0"/>
              <a:t> </a:t>
            </a:r>
            <a:r>
              <a:rPr lang="en-US" sz="2000" dirty="0" err="1"/>
              <a:t>hằng</a:t>
            </a:r>
            <a:r>
              <a:rPr lang="en-US" sz="2000" dirty="0"/>
              <a:t> </a:t>
            </a:r>
            <a:r>
              <a:rPr lang="en-US" sz="2000" dirty="0" err="1"/>
              <a:t>số</a:t>
            </a:r>
            <a:r>
              <a:rPr lang="en-US" sz="2000" dirty="0"/>
              <a:t> </a:t>
            </a:r>
            <a:r>
              <a:rPr lang="en-US" sz="2000" dirty="0" err="1"/>
              <a:t>thời</a:t>
            </a:r>
            <a:r>
              <a:rPr lang="en-US" sz="2000" dirty="0"/>
              <a:t> </a:t>
            </a:r>
            <a:r>
              <a:rPr lang="en-US" sz="2000" dirty="0" err="1"/>
              <a:t>gian</a:t>
            </a:r>
            <a:r>
              <a:rPr lang="en-US" sz="2000" dirty="0"/>
              <a:t> </a:t>
            </a:r>
            <a:r>
              <a:rPr lang="en-US" sz="2000" dirty="0" err="1"/>
              <a:t>của</a:t>
            </a:r>
            <a:r>
              <a:rPr lang="en-US" sz="2000" dirty="0"/>
              <a:t> </a:t>
            </a:r>
            <a:r>
              <a:rPr lang="en-US" sz="2000" dirty="0" err="1"/>
              <a:t>hàm</a:t>
            </a:r>
            <a:r>
              <a:rPr lang="en-US" sz="2000" dirty="0"/>
              <a:t> </a:t>
            </a:r>
            <a:r>
              <a:rPr lang="en-US" sz="2000" dirty="0" err="1"/>
              <a:t>truyền</a:t>
            </a:r>
            <a:r>
              <a:rPr lang="en-US" sz="2000" dirty="0"/>
              <a:t> </a:t>
            </a:r>
            <a:r>
              <a:rPr lang="en-US" sz="2000" dirty="0" err="1"/>
              <a:t>hệ</a:t>
            </a:r>
            <a:r>
              <a:rPr lang="en-US" sz="2000" dirty="0"/>
              <a:t> </a:t>
            </a:r>
            <a:r>
              <a:rPr lang="en-US" sz="2000" dirty="0" err="1"/>
              <a:t>kín</a:t>
            </a:r>
            <a:r>
              <a:rPr lang="en-US" sz="2000" dirty="0"/>
              <a:t> </a:t>
            </a:r>
            <a:r>
              <a:rPr lang="en-US" sz="2000" dirty="0" err="1"/>
              <a:t>bằng</a:t>
            </a:r>
            <a:r>
              <a:rPr lang="en-US" sz="2000" dirty="0"/>
              <a:t> </a:t>
            </a:r>
            <a:r>
              <a:rPr lang="en-US" sz="2000" dirty="0" err="1"/>
              <a:t>số</a:t>
            </a:r>
            <a:r>
              <a:rPr lang="en-US" sz="2000" dirty="0"/>
              <a:t> </a:t>
            </a:r>
            <a:r>
              <a:rPr lang="en-US" sz="2000" dirty="0" err="1"/>
              <a:t>nguyên</a:t>
            </a:r>
            <a:r>
              <a:rPr lang="en-US" sz="2000" dirty="0"/>
              <a:t> </a:t>
            </a:r>
            <a:r>
              <a:rPr lang="en-US" sz="2000" dirty="0" err="1"/>
              <a:t>lần</a:t>
            </a:r>
            <a:r>
              <a:rPr lang="en-US" sz="2000" dirty="0"/>
              <a:t> chu </a:t>
            </a:r>
            <a:r>
              <a:rPr lang="en-US" sz="2000" dirty="0" err="1"/>
              <a:t>kì</a:t>
            </a:r>
            <a:r>
              <a:rPr lang="en-US" sz="2000" dirty="0"/>
              <a:t> </a:t>
            </a:r>
            <a:r>
              <a:rPr lang="en-US" sz="2000" dirty="0" err="1"/>
              <a:t>phát</a:t>
            </a:r>
            <a:r>
              <a:rPr lang="en-US" sz="2000" dirty="0"/>
              <a:t> </a:t>
            </a:r>
            <a:r>
              <a:rPr lang="en-US" sz="2000" dirty="0" err="1"/>
              <a:t>xung</a:t>
            </a:r>
            <a:r>
              <a:rPr lang="en-US" sz="2000" dirty="0"/>
              <a:t> </a:t>
            </a:r>
          </a:p>
          <a:p>
            <a:pPr algn="l"/>
            <a:endParaRPr lang="en-US" sz="2000" dirty="0"/>
          </a:p>
          <a:p>
            <a:pPr algn="l"/>
            <a:endParaRPr lang="en-US" sz="2000" dirty="0"/>
          </a:p>
          <a:p>
            <a:pPr algn="l"/>
            <a:endParaRPr lang="en-US" sz="2000" dirty="0"/>
          </a:p>
        </p:txBody>
      </p:sp>
      <p:sp>
        <p:nvSpPr>
          <p:cNvPr id="3" name="Text Placeholder 2">
            <a:extLst>
              <a:ext uri="{FF2B5EF4-FFF2-40B4-BE49-F238E27FC236}">
                <a16:creationId xmlns:a16="http://schemas.microsoft.com/office/drawing/2014/main" id="{8AF3C41B-6ECE-499F-B162-A53B92AD2370}"/>
              </a:ext>
            </a:extLst>
          </p:cNvPr>
          <p:cNvSpPr>
            <a:spLocks noGrp="1"/>
          </p:cNvSpPr>
          <p:nvPr>
            <p:ph type="body" sz="quarter" idx="12"/>
          </p:nvPr>
        </p:nvSpPr>
        <p:spPr/>
        <p:txBody>
          <a:bodyPr/>
          <a:lstStyle/>
          <a:p>
            <a:r>
              <a:rPr lang="en-US" dirty="0"/>
              <a:t>3</a:t>
            </a:r>
          </a:p>
        </p:txBody>
      </p:sp>
      <p:sp>
        <p:nvSpPr>
          <p:cNvPr id="5" name="Slide Number Placeholder 4">
            <a:extLst>
              <a:ext uri="{FF2B5EF4-FFF2-40B4-BE49-F238E27FC236}">
                <a16:creationId xmlns:a16="http://schemas.microsoft.com/office/drawing/2014/main" id="{145F4E9F-CD03-415A-B1C9-0D550816124B}"/>
              </a:ext>
            </a:extLst>
          </p:cNvPr>
          <p:cNvSpPr>
            <a:spLocks noGrp="1"/>
          </p:cNvSpPr>
          <p:nvPr>
            <p:ph type="sldNum" sz="quarter" idx="4"/>
          </p:nvPr>
        </p:nvSpPr>
        <p:spPr/>
        <p:txBody>
          <a:bodyPr/>
          <a:lstStyle/>
          <a:p>
            <a:fld id="{C4AED997-7CB6-4654-8505-4D4C6D081CC6}" type="slidenum">
              <a:rPr lang="en-US" smtClean="0"/>
              <a:pPr/>
              <a:t>19</a:t>
            </a:fld>
            <a:endParaRPr lang="en-US"/>
          </a:p>
        </p:txBody>
      </p:sp>
      <p:sp>
        <p:nvSpPr>
          <p:cNvPr id="6" name="Title 3">
            <a:extLst>
              <a:ext uri="{FF2B5EF4-FFF2-40B4-BE49-F238E27FC236}">
                <a16:creationId xmlns:a16="http://schemas.microsoft.com/office/drawing/2014/main" id="{F429E6F5-A12D-46D7-BAB6-42FE28ACECC6}"/>
              </a:ext>
            </a:extLst>
          </p:cNvPr>
          <p:cNvSpPr>
            <a:spLocks noGrp="1"/>
          </p:cNvSpPr>
          <p:nvPr>
            <p:ph type="title"/>
          </p:nvPr>
        </p:nvSpPr>
        <p:spPr>
          <a:xfrm>
            <a:off x="1147763" y="192088"/>
            <a:ext cx="6848475" cy="517525"/>
          </a:xfrm>
        </p:spPr>
        <p:txBody>
          <a:bodyPr/>
          <a:lstStyle/>
          <a:p>
            <a:r>
              <a:rPr lang="en-US"/>
              <a:t>Ph</a:t>
            </a:r>
            <a:r>
              <a:rPr lang="vi-VN"/>
              <a:t>ư</a:t>
            </a:r>
            <a:r>
              <a:rPr lang="en-US"/>
              <a:t>ơng pháp điều khiển FOC</a:t>
            </a:r>
          </a:p>
        </p:txBody>
      </p:sp>
      <p:graphicFrame>
        <p:nvGraphicFramePr>
          <p:cNvPr id="11" name="Object 10">
            <a:extLst>
              <a:ext uri="{FF2B5EF4-FFF2-40B4-BE49-F238E27FC236}">
                <a16:creationId xmlns:a16="http://schemas.microsoft.com/office/drawing/2014/main" id="{95E396DC-71B5-4C98-BA25-7A2AA67915CB}"/>
              </a:ext>
            </a:extLst>
          </p:cNvPr>
          <p:cNvGraphicFramePr>
            <a:graphicFrameLocks noChangeAspect="1"/>
          </p:cNvGraphicFramePr>
          <p:nvPr>
            <p:extLst>
              <p:ext uri="{D42A27DB-BD31-4B8C-83A1-F6EECF244321}">
                <p14:modId xmlns:p14="http://schemas.microsoft.com/office/powerpoint/2010/main" val="4130413892"/>
              </p:ext>
            </p:extLst>
          </p:nvPr>
        </p:nvGraphicFramePr>
        <p:xfrm>
          <a:off x="1952943" y="1770380"/>
          <a:ext cx="785813" cy="342900"/>
        </p:xfrm>
        <a:graphic>
          <a:graphicData uri="http://schemas.openxmlformats.org/presentationml/2006/ole">
            <mc:AlternateContent xmlns:mc="http://schemas.openxmlformats.org/markup-compatibility/2006">
              <mc:Choice xmlns:v="urn:schemas-microsoft-com:vml" Requires="v">
                <p:oleObj spid="_x0000_s9218" name="Equation" r:id="rId3" imgW="523558" imgH="228928" progId="Equation.DSMT4">
                  <p:embed/>
                </p:oleObj>
              </mc:Choice>
              <mc:Fallback>
                <p:oleObj name="Equation" r:id="rId3" imgW="523558" imgH="228928" progId="Equation.DSMT4">
                  <p:embed/>
                  <p:pic>
                    <p:nvPicPr>
                      <p:cNvPr id="11" name="Object 10">
                        <a:extLst>
                          <a:ext uri="{FF2B5EF4-FFF2-40B4-BE49-F238E27FC236}">
                            <a16:creationId xmlns:a16="http://schemas.microsoft.com/office/drawing/2014/main" id="{95E396DC-71B5-4C98-BA25-7A2AA67915CB}"/>
                          </a:ext>
                        </a:extLst>
                      </p:cNvPr>
                      <p:cNvPicPr/>
                      <p:nvPr/>
                    </p:nvPicPr>
                    <p:blipFill>
                      <a:blip r:embed="rId4"/>
                      <a:stretch>
                        <a:fillRect/>
                      </a:stretch>
                    </p:blipFill>
                    <p:spPr>
                      <a:xfrm>
                        <a:off x="1952943" y="1770380"/>
                        <a:ext cx="785813" cy="342900"/>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155E306-0D54-42FA-AAC3-BAE571DEE650}"/>
              </a:ext>
            </a:extLst>
          </p:cNvPr>
          <p:cNvGraphicFramePr>
            <a:graphicFrameLocks noChangeAspect="1"/>
          </p:cNvGraphicFramePr>
          <p:nvPr>
            <p:extLst>
              <p:ext uri="{D42A27DB-BD31-4B8C-83A1-F6EECF244321}">
                <p14:modId xmlns:p14="http://schemas.microsoft.com/office/powerpoint/2010/main" val="238048163"/>
              </p:ext>
            </p:extLst>
          </p:nvPr>
        </p:nvGraphicFramePr>
        <p:xfrm>
          <a:off x="855581" y="2570678"/>
          <a:ext cx="4335015" cy="761802"/>
        </p:xfrm>
        <a:graphic>
          <a:graphicData uri="http://schemas.openxmlformats.org/presentationml/2006/ole">
            <mc:AlternateContent xmlns:mc="http://schemas.openxmlformats.org/markup-compatibility/2006">
              <mc:Choice xmlns:v="urn:schemas-microsoft-com:vml" Requires="v">
                <p:oleObj spid="_x0000_s9219" name="Equation" r:id="rId5" imgW="2656290" imgH="467229" progId="Equation.DSMT4">
                  <p:embed/>
                </p:oleObj>
              </mc:Choice>
              <mc:Fallback>
                <p:oleObj name="Equation" r:id="rId5" imgW="2656290" imgH="467229" progId="Equation.DSMT4">
                  <p:embed/>
                  <p:pic>
                    <p:nvPicPr>
                      <p:cNvPr id="12" name="Object 11">
                        <a:extLst>
                          <a:ext uri="{FF2B5EF4-FFF2-40B4-BE49-F238E27FC236}">
                            <a16:creationId xmlns:a16="http://schemas.microsoft.com/office/drawing/2014/main" id="{9155E306-0D54-42FA-AAC3-BAE571DEE650}"/>
                          </a:ext>
                        </a:extLst>
                      </p:cNvPr>
                      <p:cNvPicPr/>
                      <p:nvPr/>
                    </p:nvPicPr>
                    <p:blipFill>
                      <a:blip r:embed="rId6"/>
                      <a:stretch>
                        <a:fillRect/>
                      </a:stretch>
                    </p:blipFill>
                    <p:spPr>
                      <a:xfrm>
                        <a:off x="855581" y="2570678"/>
                        <a:ext cx="4335015" cy="76180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3B1E5DFA-C354-47C1-B756-D6415CAD7DC3}"/>
              </a:ext>
            </a:extLst>
          </p:cNvPr>
          <p:cNvGraphicFramePr>
            <a:graphicFrameLocks noChangeAspect="1"/>
          </p:cNvGraphicFramePr>
          <p:nvPr>
            <p:extLst>
              <p:ext uri="{D42A27DB-BD31-4B8C-83A1-F6EECF244321}">
                <p14:modId xmlns:p14="http://schemas.microsoft.com/office/powerpoint/2010/main" val="1908947739"/>
              </p:ext>
            </p:extLst>
          </p:nvPr>
        </p:nvGraphicFramePr>
        <p:xfrm>
          <a:off x="948315" y="3525521"/>
          <a:ext cx="2316464" cy="919162"/>
        </p:xfrm>
        <a:graphic>
          <a:graphicData uri="http://schemas.openxmlformats.org/presentationml/2006/ole">
            <mc:AlternateContent xmlns:mc="http://schemas.openxmlformats.org/markup-compatibility/2006">
              <mc:Choice xmlns:v="urn:schemas-microsoft-com:vml" Requires="v">
                <p:oleObj spid="_x0000_s9220" name="Equation" r:id="rId7" imgW="1685099" imgH="667676" progId="Equation.DSMT4">
                  <p:embed/>
                </p:oleObj>
              </mc:Choice>
              <mc:Fallback>
                <p:oleObj name="Equation" r:id="rId7" imgW="1685099" imgH="667676" progId="Equation.DSMT4">
                  <p:embed/>
                  <p:pic>
                    <p:nvPicPr>
                      <p:cNvPr id="13" name="Object 12">
                        <a:extLst>
                          <a:ext uri="{FF2B5EF4-FFF2-40B4-BE49-F238E27FC236}">
                            <a16:creationId xmlns:a16="http://schemas.microsoft.com/office/drawing/2014/main" id="{3B1E5DFA-C354-47C1-B756-D6415CAD7DC3}"/>
                          </a:ext>
                        </a:extLst>
                      </p:cNvPr>
                      <p:cNvPicPr/>
                      <p:nvPr/>
                    </p:nvPicPr>
                    <p:blipFill>
                      <a:blip r:embed="rId8"/>
                      <a:stretch>
                        <a:fillRect/>
                      </a:stretch>
                    </p:blipFill>
                    <p:spPr>
                      <a:xfrm>
                        <a:off x="948315" y="3525521"/>
                        <a:ext cx="2316464" cy="919162"/>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B0DAA5EE-21AA-4362-93C4-7D2B7D3DD548}"/>
              </a:ext>
            </a:extLst>
          </p:cNvPr>
          <p:cNvGraphicFramePr>
            <a:graphicFrameLocks noChangeAspect="1"/>
          </p:cNvGraphicFramePr>
          <p:nvPr>
            <p:extLst>
              <p:ext uri="{D42A27DB-BD31-4B8C-83A1-F6EECF244321}">
                <p14:modId xmlns:p14="http://schemas.microsoft.com/office/powerpoint/2010/main" val="742805653"/>
              </p:ext>
            </p:extLst>
          </p:nvPr>
        </p:nvGraphicFramePr>
        <p:xfrm>
          <a:off x="948315" y="5115226"/>
          <a:ext cx="3728685" cy="761802"/>
        </p:xfrm>
        <a:graphic>
          <a:graphicData uri="http://schemas.openxmlformats.org/presentationml/2006/ole">
            <mc:AlternateContent xmlns:mc="http://schemas.openxmlformats.org/markup-compatibility/2006">
              <mc:Choice xmlns:v="urn:schemas-microsoft-com:vml" Requires="v">
                <p:oleObj spid="_x0000_s9221" name="Equation" r:id="rId9" imgW="2284942" imgH="467229" progId="Equation.DSMT4">
                  <p:embed/>
                </p:oleObj>
              </mc:Choice>
              <mc:Fallback>
                <p:oleObj name="Equation" r:id="rId9" imgW="2284942" imgH="467229" progId="Equation.DSMT4">
                  <p:embed/>
                  <p:pic>
                    <p:nvPicPr>
                      <p:cNvPr id="14" name="Object 13">
                        <a:extLst>
                          <a:ext uri="{FF2B5EF4-FFF2-40B4-BE49-F238E27FC236}">
                            <a16:creationId xmlns:a16="http://schemas.microsoft.com/office/drawing/2014/main" id="{B0DAA5EE-21AA-4362-93C4-7D2B7D3DD548}"/>
                          </a:ext>
                        </a:extLst>
                      </p:cNvPr>
                      <p:cNvPicPr/>
                      <p:nvPr/>
                    </p:nvPicPr>
                    <p:blipFill>
                      <a:blip r:embed="rId10"/>
                      <a:stretch>
                        <a:fillRect/>
                      </a:stretch>
                    </p:blipFill>
                    <p:spPr>
                      <a:xfrm>
                        <a:off x="948315" y="5115226"/>
                        <a:ext cx="3728685" cy="761802"/>
                      </a:xfrm>
                      <a:prstGeom prst="rect">
                        <a:avLst/>
                      </a:prstGeom>
                    </p:spPr>
                  </p:pic>
                </p:oleObj>
              </mc:Fallback>
            </mc:AlternateContent>
          </a:graphicData>
        </a:graphic>
      </p:graphicFrame>
      <p:sp>
        <p:nvSpPr>
          <p:cNvPr id="15" name="TextBox 14">
            <a:extLst>
              <a:ext uri="{FF2B5EF4-FFF2-40B4-BE49-F238E27FC236}">
                <a16:creationId xmlns:a16="http://schemas.microsoft.com/office/drawing/2014/main" id="{B785F559-C864-4CCE-8E3C-F74D352558C6}"/>
              </a:ext>
            </a:extLst>
          </p:cNvPr>
          <p:cNvSpPr txBox="1"/>
          <p:nvPr/>
        </p:nvSpPr>
        <p:spPr>
          <a:xfrm>
            <a:off x="4876800" y="5293360"/>
            <a:ext cx="1645920" cy="369332"/>
          </a:xfrm>
          <a:prstGeom prst="rect">
            <a:avLst/>
          </a:prstGeom>
          <a:noFill/>
        </p:spPr>
        <p:txBody>
          <a:bodyPr wrap="square" rtlCol="0">
            <a:spAutoFit/>
          </a:bodyPr>
          <a:lstStyle/>
          <a:p>
            <a:r>
              <a:rPr lang="en-US" dirty="0" err="1"/>
              <a:t>Thông</a:t>
            </a:r>
            <a:r>
              <a:rPr lang="en-US" dirty="0"/>
              <a:t> </a:t>
            </a:r>
            <a:r>
              <a:rPr lang="en-US" dirty="0" err="1"/>
              <a:t>số</a:t>
            </a:r>
            <a:r>
              <a:rPr lang="en-US" dirty="0"/>
              <a:t> </a:t>
            </a:r>
            <a:r>
              <a:rPr lang="en-US" dirty="0" err="1"/>
              <a:t>bộ</a:t>
            </a:r>
            <a:r>
              <a:rPr lang="en-US" dirty="0"/>
              <a:t> PI </a:t>
            </a:r>
          </a:p>
        </p:txBody>
      </p:sp>
      <p:graphicFrame>
        <p:nvGraphicFramePr>
          <p:cNvPr id="16" name="Object 15">
            <a:extLst>
              <a:ext uri="{FF2B5EF4-FFF2-40B4-BE49-F238E27FC236}">
                <a16:creationId xmlns:a16="http://schemas.microsoft.com/office/drawing/2014/main" id="{2E3C372B-A662-4094-8CFA-D4BA0BF3B77C}"/>
              </a:ext>
            </a:extLst>
          </p:cNvPr>
          <p:cNvGraphicFramePr>
            <a:graphicFrameLocks noChangeAspect="1"/>
          </p:cNvGraphicFramePr>
          <p:nvPr>
            <p:extLst>
              <p:ext uri="{D42A27DB-BD31-4B8C-83A1-F6EECF244321}">
                <p14:modId xmlns:p14="http://schemas.microsoft.com/office/powerpoint/2010/main" val="2639283756"/>
              </p:ext>
            </p:extLst>
          </p:nvPr>
        </p:nvGraphicFramePr>
        <p:xfrm>
          <a:off x="6522720" y="4858208"/>
          <a:ext cx="1473518" cy="1349554"/>
        </p:xfrm>
        <a:graphic>
          <a:graphicData uri="http://schemas.openxmlformats.org/presentationml/2006/ole">
            <mc:AlternateContent xmlns:mc="http://schemas.openxmlformats.org/markup-compatibility/2006">
              <mc:Choice xmlns:v="urn:schemas-microsoft-com:vml" Requires="v">
                <p:oleObj spid="_x0000_s9222" name="Equation" r:id="rId11" imgW="999617" imgH="915711" progId="Equation.DSMT4">
                  <p:embed/>
                </p:oleObj>
              </mc:Choice>
              <mc:Fallback>
                <p:oleObj name="Equation" r:id="rId11" imgW="999617" imgH="915711" progId="Equation.DSMT4">
                  <p:embed/>
                  <p:pic>
                    <p:nvPicPr>
                      <p:cNvPr id="16" name="Object 15">
                        <a:extLst>
                          <a:ext uri="{FF2B5EF4-FFF2-40B4-BE49-F238E27FC236}">
                            <a16:creationId xmlns:a16="http://schemas.microsoft.com/office/drawing/2014/main" id="{2E3C372B-A662-4094-8CFA-D4BA0BF3B77C}"/>
                          </a:ext>
                        </a:extLst>
                      </p:cNvPr>
                      <p:cNvPicPr/>
                      <p:nvPr/>
                    </p:nvPicPr>
                    <p:blipFill>
                      <a:blip r:embed="rId12"/>
                      <a:stretch>
                        <a:fillRect/>
                      </a:stretch>
                    </p:blipFill>
                    <p:spPr>
                      <a:xfrm>
                        <a:off x="6522720" y="4858208"/>
                        <a:ext cx="1473518" cy="1349554"/>
                      </a:xfrm>
                      <a:prstGeom prst="rect">
                        <a:avLst/>
                      </a:prstGeom>
                    </p:spPr>
                  </p:pic>
                </p:oleObj>
              </mc:Fallback>
            </mc:AlternateContent>
          </a:graphicData>
        </a:graphic>
      </p:graphicFrame>
    </p:spTree>
    <p:extLst>
      <p:ext uri="{BB962C8B-B14F-4D97-AF65-F5344CB8AC3E}">
        <p14:creationId xmlns:p14="http://schemas.microsoft.com/office/powerpoint/2010/main" val="3817128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683C229-328B-44F0-BD17-8D9D721E9DB6}"/>
              </a:ext>
            </a:extLst>
          </p:cNvPr>
          <p:cNvSpPr>
            <a:spLocks noGrp="1"/>
          </p:cNvSpPr>
          <p:nvPr>
            <p:ph type="subTitle" idx="1"/>
          </p:nvPr>
        </p:nvSpPr>
        <p:spPr/>
        <p:txBody>
          <a:bodyPr>
            <a:normAutofit/>
          </a:bodyPr>
          <a:lstStyle/>
          <a:p>
            <a:pPr algn="l"/>
            <a:r>
              <a:rPr lang="en-US" sz="2000" dirty="0"/>
              <a:t>3.5: </a:t>
            </a:r>
            <a:r>
              <a:rPr lang="en-US" sz="2000" dirty="0" err="1"/>
              <a:t>Thiết</a:t>
            </a:r>
            <a:r>
              <a:rPr lang="en-US" sz="2000" dirty="0"/>
              <a:t> </a:t>
            </a:r>
            <a:r>
              <a:rPr lang="en-US" sz="2000" dirty="0" err="1"/>
              <a:t>kế</a:t>
            </a:r>
            <a:r>
              <a:rPr lang="en-US" sz="2000" dirty="0"/>
              <a:t> </a:t>
            </a:r>
            <a:r>
              <a:rPr lang="en-US" sz="2000" dirty="0" err="1"/>
              <a:t>các</a:t>
            </a:r>
            <a:r>
              <a:rPr lang="en-US" sz="2000" dirty="0"/>
              <a:t> </a:t>
            </a:r>
            <a:r>
              <a:rPr lang="en-US" sz="2000" dirty="0" err="1"/>
              <a:t>bộ</a:t>
            </a:r>
            <a:r>
              <a:rPr lang="en-US" sz="2000" dirty="0"/>
              <a:t> </a:t>
            </a:r>
            <a:r>
              <a:rPr lang="en-US" sz="2000" dirty="0" err="1"/>
              <a:t>điều</a:t>
            </a:r>
            <a:r>
              <a:rPr lang="en-US" sz="2000" dirty="0"/>
              <a:t> </a:t>
            </a:r>
            <a:r>
              <a:rPr lang="en-US" sz="2000" dirty="0" err="1"/>
              <a:t>chỉnh</a:t>
            </a:r>
            <a:endParaRPr lang="en-US" sz="2000" dirty="0"/>
          </a:p>
          <a:p>
            <a:pPr algn="l"/>
            <a:r>
              <a:rPr lang="en-US" sz="2000" dirty="0"/>
              <a:t>3.5.2: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tốc</a:t>
            </a:r>
            <a:r>
              <a:rPr lang="en-US" sz="2000" dirty="0"/>
              <a:t> </a:t>
            </a:r>
            <a:r>
              <a:rPr lang="en-US" sz="2000" dirty="0" err="1"/>
              <a:t>độ</a:t>
            </a:r>
            <a:endParaRPr lang="en-US" sz="2000" dirty="0"/>
          </a:p>
          <a:p>
            <a:pPr algn="l"/>
            <a:r>
              <a:rPr lang="en-US" sz="2000" dirty="0" err="1"/>
              <a:t>Xuất</a:t>
            </a:r>
            <a:r>
              <a:rPr lang="en-US" sz="2000" dirty="0"/>
              <a:t> </a:t>
            </a:r>
            <a:r>
              <a:rPr lang="en-US" sz="2000" dirty="0" err="1"/>
              <a:t>phát</a:t>
            </a:r>
            <a:r>
              <a:rPr lang="en-US" sz="2000" dirty="0"/>
              <a:t> </a:t>
            </a:r>
            <a:r>
              <a:rPr lang="en-US" sz="2000" dirty="0" err="1"/>
              <a:t>từ</a:t>
            </a:r>
            <a:r>
              <a:rPr lang="en-US" sz="2000" dirty="0"/>
              <a:t> </a:t>
            </a:r>
            <a:r>
              <a:rPr lang="en-US" sz="2000" dirty="0" err="1"/>
              <a:t>ph</a:t>
            </a:r>
            <a:r>
              <a:rPr lang="vi-VN" sz="2000" dirty="0"/>
              <a:t>ươ</a:t>
            </a:r>
            <a:r>
              <a:rPr lang="en-US" sz="2000" dirty="0"/>
              <a:t>ng </a:t>
            </a:r>
            <a:r>
              <a:rPr lang="en-US" sz="2000" dirty="0" err="1"/>
              <a:t>trình</a:t>
            </a:r>
            <a:r>
              <a:rPr lang="en-US" sz="2000" dirty="0"/>
              <a:t> </a:t>
            </a:r>
            <a:r>
              <a:rPr lang="en-US" sz="2000" dirty="0" err="1"/>
              <a:t>chuyển</a:t>
            </a:r>
            <a:r>
              <a:rPr lang="en-US" sz="2000" dirty="0"/>
              <a:t> </a:t>
            </a:r>
            <a:r>
              <a:rPr lang="en-US" sz="2000" dirty="0" err="1"/>
              <a:t>động</a:t>
            </a:r>
            <a:r>
              <a:rPr lang="en-US" sz="2000" dirty="0"/>
              <a:t>:</a:t>
            </a:r>
          </a:p>
          <a:p>
            <a:pPr algn="l"/>
            <a:endParaRPr lang="en-US" sz="2000" dirty="0"/>
          </a:p>
          <a:p>
            <a:pPr algn="l"/>
            <a:endParaRPr lang="en-US" sz="2000" dirty="0"/>
          </a:p>
          <a:p>
            <a:pPr algn="l"/>
            <a:r>
              <a:rPr lang="en-US" sz="2000" dirty="0" err="1"/>
              <a:t>Chuyển</a:t>
            </a:r>
            <a:r>
              <a:rPr lang="en-US" sz="2000" dirty="0"/>
              <a:t> </a:t>
            </a:r>
            <a:r>
              <a:rPr lang="en-US" sz="2000" dirty="0" err="1"/>
              <a:t>về</a:t>
            </a:r>
            <a:r>
              <a:rPr lang="en-US" sz="2000" dirty="0"/>
              <a:t> </a:t>
            </a:r>
            <a:r>
              <a:rPr lang="en-US" sz="2000" dirty="0" err="1"/>
              <a:t>miền</a:t>
            </a:r>
            <a:r>
              <a:rPr lang="en-US" sz="2000" dirty="0"/>
              <a:t> </a:t>
            </a:r>
            <a:r>
              <a:rPr lang="en-US" sz="2000" dirty="0" err="1"/>
              <a:t>ảnh</a:t>
            </a:r>
            <a:r>
              <a:rPr lang="en-US" sz="2000" dirty="0"/>
              <a:t> </a:t>
            </a:r>
            <a:r>
              <a:rPr lang="en-US" sz="2000" dirty="0" err="1"/>
              <a:t>laplace</a:t>
            </a:r>
            <a:r>
              <a:rPr lang="en-US" sz="2000" dirty="0"/>
              <a:t> ta đ</a:t>
            </a:r>
            <a:r>
              <a:rPr lang="vi-VN" sz="2000" dirty="0"/>
              <a:t>ược</a:t>
            </a:r>
            <a:r>
              <a:rPr lang="en-US" sz="2000" dirty="0"/>
              <a:t>  :</a:t>
            </a:r>
          </a:p>
          <a:p>
            <a:pPr algn="l"/>
            <a:endParaRPr lang="en-US" sz="2000" dirty="0"/>
          </a:p>
          <a:p>
            <a:pPr algn="l"/>
            <a:endParaRPr lang="en-US" sz="2000" dirty="0"/>
          </a:p>
          <a:p>
            <a:pPr algn="l"/>
            <a:endParaRPr lang="en-US" sz="2000" dirty="0"/>
          </a:p>
          <a:p>
            <a:pPr algn="l"/>
            <a:r>
              <a:rPr lang="en-US" sz="2000" dirty="0" err="1"/>
              <a:t>Hàm</a:t>
            </a:r>
            <a:r>
              <a:rPr lang="en-US" sz="2000" dirty="0"/>
              <a:t> </a:t>
            </a:r>
            <a:r>
              <a:rPr lang="en-US" sz="2000" dirty="0" err="1"/>
              <a:t>truyền</a:t>
            </a:r>
            <a:r>
              <a:rPr lang="en-US" sz="2000" dirty="0"/>
              <a:t> </a:t>
            </a:r>
            <a:r>
              <a:rPr lang="en-US" sz="2000" dirty="0" err="1"/>
              <a:t>đối</a:t>
            </a:r>
            <a:r>
              <a:rPr lang="en-US" sz="2000" dirty="0"/>
              <a:t> t</a:t>
            </a:r>
            <a:r>
              <a:rPr lang="vi-VN" sz="2000" dirty="0"/>
              <a:t>ượng</a:t>
            </a:r>
            <a:r>
              <a:rPr lang="en-US" sz="2000" dirty="0"/>
              <a:t>: </a:t>
            </a:r>
          </a:p>
          <a:p>
            <a:pPr algn="l"/>
            <a:endParaRPr lang="en-US" sz="2000" dirty="0"/>
          </a:p>
          <a:p>
            <a:pPr algn="l"/>
            <a:r>
              <a:rPr lang="en-US" sz="2000" dirty="0" err="1"/>
              <a:t>Với</a:t>
            </a:r>
            <a:r>
              <a:rPr lang="en-US" sz="2000" dirty="0"/>
              <a:t>       </a:t>
            </a:r>
            <a:r>
              <a:rPr lang="en-US" sz="2000" dirty="0" err="1"/>
              <a:t>là</a:t>
            </a:r>
            <a:r>
              <a:rPr lang="en-US" sz="2000" dirty="0"/>
              <a:t> </a:t>
            </a:r>
            <a:r>
              <a:rPr lang="en-US" sz="2000" dirty="0" err="1"/>
              <a:t>từ</a:t>
            </a:r>
            <a:r>
              <a:rPr lang="en-US" sz="2000" dirty="0"/>
              <a:t> </a:t>
            </a:r>
            <a:r>
              <a:rPr lang="en-US" sz="2000" dirty="0" err="1"/>
              <a:t>thông</a:t>
            </a:r>
            <a:r>
              <a:rPr lang="en-US" sz="2000" dirty="0"/>
              <a:t> roto đ</a:t>
            </a:r>
            <a:r>
              <a:rPr lang="vi-VN" sz="2000" dirty="0"/>
              <a:t>ược</a:t>
            </a:r>
            <a:r>
              <a:rPr lang="en-US" sz="2000" dirty="0"/>
              <a:t> </a:t>
            </a:r>
            <a:r>
              <a:rPr lang="en-US" sz="2000" dirty="0" err="1"/>
              <a:t>tính</a:t>
            </a:r>
            <a:r>
              <a:rPr lang="en-US" sz="2000" dirty="0"/>
              <a:t> : </a:t>
            </a:r>
          </a:p>
          <a:p>
            <a:pPr algn="l"/>
            <a:endParaRPr lang="en-US" sz="2000" dirty="0"/>
          </a:p>
          <a:p>
            <a:pPr marL="342900" indent="-342900" algn="l">
              <a:buFont typeface="Wingdings" panose="05000000000000000000" pitchFamily="2" charset="2"/>
              <a:buChar char="v"/>
            </a:pPr>
            <a:endParaRPr lang="en-US" sz="2000" dirty="0"/>
          </a:p>
        </p:txBody>
      </p:sp>
      <p:sp>
        <p:nvSpPr>
          <p:cNvPr id="3" name="Text Placeholder 2">
            <a:extLst>
              <a:ext uri="{FF2B5EF4-FFF2-40B4-BE49-F238E27FC236}">
                <a16:creationId xmlns:a16="http://schemas.microsoft.com/office/drawing/2014/main" id="{F3F24E70-36B1-4BCA-B021-DC093F34144F}"/>
              </a:ext>
            </a:extLst>
          </p:cNvPr>
          <p:cNvSpPr>
            <a:spLocks noGrp="1"/>
          </p:cNvSpPr>
          <p:nvPr>
            <p:ph type="body" sz="quarter" idx="12"/>
          </p:nvPr>
        </p:nvSpPr>
        <p:spPr/>
        <p:txBody>
          <a:bodyPr/>
          <a:lstStyle/>
          <a:p>
            <a:r>
              <a:rPr lang="en-US"/>
              <a:t>3</a:t>
            </a:r>
          </a:p>
        </p:txBody>
      </p:sp>
      <p:sp>
        <p:nvSpPr>
          <p:cNvPr id="4" name="Title 3">
            <a:extLst>
              <a:ext uri="{FF2B5EF4-FFF2-40B4-BE49-F238E27FC236}">
                <a16:creationId xmlns:a16="http://schemas.microsoft.com/office/drawing/2014/main" id="{FBDFA619-AC42-466D-A302-19C2D3B21FAD}"/>
              </a:ext>
            </a:extLst>
          </p:cNvPr>
          <p:cNvSpPr>
            <a:spLocks noGrp="1"/>
          </p:cNvSpPr>
          <p:nvPr>
            <p:ph type="title"/>
          </p:nvPr>
        </p:nvSpPr>
        <p:spPr/>
        <p:txBody>
          <a:bodyPr/>
          <a:lstStyle/>
          <a:p>
            <a:r>
              <a:rPr lang="en-US" dirty="0"/>
              <a:t>Ph</a:t>
            </a:r>
            <a:r>
              <a:rPr lang="vi-VN" dirty="0"/>
              <a:t>ư</a:t>
            </a:r>
            <a:r>
              <a:rPr lang="en-US" dirty="0" err="1"/>
              <a:t>ơng</a:t>
            </a:r>
            <a:r>
              <a:rPr lang="en-US" dirty="0"/>
              <a:t> </a:t>
            </a:r>
            <a:r>
              <a:rPr lang="en-US" dirty="0" err="1"/>
              <a:t>pháp</a:t>
            </a:r>
            <a:r>
              <a:rPr lang="en-US" dirty="0"/>
              <a:t> </a:t>
            </a:r>
            <a:r>
              <a:rPr lang="en-US" dirty="0" err="1"/>
              <a:t>điều</a:t>
            </a:r>
            <a:r>
              <a:rPr lang="en-US" dirty="0"/>
              <a:t> </a:t>
            </a:r>
            <a:r>
              <a:rPr lang="en-US" dirty="0" err="1"/>
              <a:t>khiển</a:t>
            </a:r>
            <a:r>
              <a:rPr lang="en-US" dirty="0"/>
              <a:t> FOC</a:t>
            </a:r>
          </a:p>
        </p:txBody>
      </p:sp>
      <p:sp>
        <p:nvSpPr>
          <p:cNvPr id="5" name="Slide Number Placeholder 4">
            <a:extLst>
              <a:ext uri="{FF2B5EF4-FFF2-40B4-BE49-F238E27FC236}">
                <a16:creationId xmlns:a16="http://schemas.microsoft.com/office/drawing/2014/main" id="{A63341AF-A05C-441F-9F99-C4E46E7EC0E8}"/>
              </a:ext>
            </a:extLst>
          </p:cNvPr>
          <p:cNvSpPr>
            <a:spLocks noGrp="1"/>
          </p:cNvSpPr>
          <p:nvPr>
            <p:ph type="sldNum" sz="quarter" idx="4"/>
          </p:nvPr>
        </p:nvSpPr>
        <p:spPr/>
        <p:txBody>
          <a:bodyPr/>
          <a:lstStyle/>
          <a:p>
            <a:fld id="{C4AED997-7CB6-4654-8505-4D4C6D081CC6}" type="slidenum">
              <a:rPr lang="en-US" smtClean="0"/>
              <a:pPr/>
              <a:t>20</a:t>
            </a:fld>
            <a:endParaRPr lang="en-US"/>
          </a:p>
        </p:txBody>
      </p:sp>
      <p:graphicFrame>
        <p:nvGraphicFramePr>
          <p:cNvPr id="8" name="Object 7">
            <a:extLst>
              <a:ext uri="{FF2B5EF4-FFF2-40B4-BE49-F238E27FC236}">
                <a16:creationId xmlns:a16="http://schemas.microsoft.com/office/drawing/2014/main" id="{1A4E5C8B-F535-4892-8A4A-12CE05DC90CF}"/>
              </a:ext>
            </a:extLst>
          </p:cNvPr>
          <p:cNvGraphicFramePr>
            <a:graphicFrameLocks noChangeAspect="1"/>
          </p:cNvGraphicFramePr>
          <p:nvPr>
            <p:extLst>
              <p:ext uri="{D42A27DB-BD31-4B8C-83A1-F6EECF244321}">
                <p14:modId xmlns:p14="http://schemas.microsoft.com/office/powerpoint/2010/main" val="3186686101"/>
              </p:ext>
            </p:extLst>
          </p:nvPr>
        </p:nvGraphicFramePr>
        <p:xfrm>
          <a:off x="855581" y="2127568"/>
          <a:ext cx="5245172" cy="735687"/>
        </p:xfrm>
        <a:graphic>
          <a:graphicData uri="http://schemas.openxmlformats.org/presentationml/2006/ole">
            <mc:AlternateContent xmlns:mc="http://schemas.openxmlformats.org/markup-compatibility/2006">
              <mc:Choice xmlns:v="urn:schemas-microsoft-com:vml" Requires="v">
                <p:oleObj spid="_x0000_s10242" name="Equation" r:id="rId3" imgW="3056064" imgH="429375" progId="Equation.DSMT4">
                  <p:embed/>
                </p:oleObj>
              </mc:Choice>
              <mc:Fallback>
                <p:oleObj name="Equation" r:id="rId3" imgW="3056064" imgH="429375" progId="Equation.DSMT4">
                  <p:embed/>
                  <p:pic>
                    <p:nvPicPr>
                      <p:cNvPr id="8" name="Object 7">
                        <a:extLst>
                          <a:ext uri="{FF2B5EF4-FFF2-40B4-BE49-F238E27FC236}">
                            <a16:creationId xmlns:a16="http://schemas.microsoft.com/office/drawing/2014/main" id="{1A4E5C8B-F535-4892-8A4A-12CE05DC90CF}"/>
                          </a:ext>
                        </a:extLst>
                      </p:cNvPr>
                      <p:cNvPicPr/>
                      <p:nvPr/>
                    </p:nvPicPr>
                    <p:blipFill>
                      <a:blip r:embed="rId4"/>
                      <a:stretch>
                        <a:fillRect/>
                      </a:stretch>
                    </p:blipFill>
                    <p:spPr>
                      <a:xfrm>
                        <a:off x="855581" y="2127568"/>
                        <a:ext cx="5245172" cy="735687"/>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C34F858F-274C-4F33-A819-CCE96CB55BD4}"/>
              </a:ext>
            </a:extLst>
          </p:cNvPr>
          <p:cNvGraphicFramePr>
            <a:graphicFrameLocks noChangeAspect="1"/>
          </p:cNvGraphicFramePr>
          <p:nvPr>
            <p:extLst>
              <p:ext uri="{D42A27DB-BD31-4B8C-83A1-F6EECF244321}">
                <p14:modId xmlns:p14="http://schemas.microsoft.com/office/powerpoint/2010/main" val="3378589151"/>
              </p:ext>
            </p:extLst>
          </p:nvPr>
        </p:nvGraphicFramePr>
        <p:xfrm>
          <a:off x="572134" y="3413473"/>
          <a:ext cx="3050409" cy="735687"/>
        </p:xfrm>
        <a:graphic>
          <a:graphicData uri="http://schemas.openxmlformats.org/presentationml/2006/ole">
            <mc:AlternateContent xmlns:mc="http://schemas.openxmlformats.org/markup-compatibility/2006">
              <mc:Choice xmlns:v="urn:schemas-microsoft-com:vml" Requires="v">
                <p:oleObj spid="_x0000_s10243" name="Equation" r:id="rId5" imgW="1618530" imgH="391160" progId="Equation.DSMT4">
                  <p:embed/>
                </p:oleObj>
              </mc:Choice>
              <mc:Fallback>
                <p:oleObj name="Equation" r:id="rId5" imgW="1618530" imgH="391160" progId="Equation.DSMT4">
                  <p:embed/>
                  <p:pic>
                    <p:nvPicPr>
                      <p:cNvPr id="9" name="Object 8">
                        <a:extLst>
                          <a:ext uri="{FF2B5EF4-FFF2-40B4-BE49-F238E27FC236}">
                            <a16:creationId xmlns:a16="http://schemas.microsoft.com/office/drawing/2014/main" id="{C34F858F-274C-4F33-A819-CCE96CB55BD4}"/>
                          </a:ext>
                        </a:extLst>
                      </p:cNvPr>
                      <p:cNvPicPr/>
                      <p:nvPr/>
                    </p:nvPicPr>
                    <p:blipFill>
                      <a:blip r:embed="rId6"/>
                      <a:stretch>
                        <a:fillRect/>
                      </a:stretch>
                    </p:blipFill>
                    <p:spPr>
                      <a:xfrm>
                        <a:off x="572134" y="3413473"/>
                        <a:ext cx="3050409" cy="735687"/>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1E491ACD-8D98-4706-91CC-1799DB498C3F}"/>
              </a:ext>
            </a:extLst>
          </p:cNvPr>
          <p:cNvGraphicFramePr>
            <a:graphicFrameLocks noChangeAspect="1"/>
          </p:cNvGraphicFramePr>
          <p:nvPr>
            <p:extLst>
              <p:ext uri="{D42A27DB-BD31-4B8C-83A1-F6EECF244321}">
                <p14:modId xmlns:p14="http://schemas.microsoft.com/office/powerpoint/2010/main" val="2392634858"/>
              </p:ext>
            </p:extLst>
          </p:nvPr>
        </p:nvGraphicFramePr>
        <p:xfrm>
          <a:off x="3741020" y="3326995"/>
          <a:ext cx="2183929" cy="908642"/>
        </p:xfrm>
        <a:graphic>
          <a:graphicData uri="http://schemas.openxmlformats.org/presentationml/2006/ole">
            <mc:AlternateContent xmlns:mc="http://schemas.openxmlformats.org/markup-compatibility/2006">
              <mc:Choice xmlns:v="urn:schemas-microsoft-com:vml" Requires="v">
                <p:oleObj spid="_x0000_s10244" name="Equation" r:id="rId7" imgW="1304396" imgH="543658" progId="Equation.DSMT4">
                  <p:embed/>
                </p:oleObj>
              </mc:Choice>
              <mc:Fallback>
                <p:oleObj name="Equation" r:id="rId7" imgW="1304396" imgH="543658" progId="Equation.DSMT4">
                  <p:embed/>
                  <p:pic>
                    <p:nvPicPr>
                      <p:cNvPr id="11" name="Object 10">
                        <a:extLst>
                          <a:ext uri="{FF2B5EF4-FFF2-40B4-BE49-F238E27FC236}">
                            <a16:creationId xmlns:a16="http://schemas.microsoft.com/office/drawing/2014/main" id="{1E491ACD-8D98-4706-91CC-1799DB498C3F}"/>
                          </a:ext>
                        </a:extLst>
                      </p:cNvPr>
                      <p:cNvPicPr/>
                      <p:nvPr/>
                    </p:nvPicPr>
                    <p:blipFill>
                      <a:blip r:embed="rId8"/>
                      <a:stretch>
                        <a:fillRect/>
                      </a:stretch>
                    </p:blipFill>
                    <p:spPr>
                      <a:xfrm>
                        <a:off x="3741020" y="3326995"/>
                        <a:ext cx="2183929" cy="908642"/>
                      </a:xfrm>
                      <a:prstGeom prst="rect">
                        <a:avLst/>
                      </a:prstGeom>
                    </p:spPr>
                  </p:pic>
                </p:oleObj>
              </mc:Fallback>
            </mc:AlternateContent>
          </a:graphicData>
        </a:graphic>
      </p:graphicFrame>
      <p:graphicFrame>
        <p:nvGraphicFramePr>
          <p:cNvPr id="13" name="Object 12">
            <a:extLst>
              <a:ext uri="{FF2B5EF4-FFF2-40B4-BE49-F238E27FC236}">
                <a16:creationId xmlns:a16="http://schemas.microsoft.com/office/drawing/2014/main" id="{8815EB72-5F31-4E40-B034-7F4610E633E8}"/>
              </a:ext>
            </a:extLst>
          </p:cNvPr>
          <p:cNvGraphicFramePr>
            <a:graphicFrameLocks noChangeAspect="1"/>
          </p:cNvGraphicFramePr>
          <p:nvPr>
            <p:extLst>
              <p:ext uri="{D42A27DB-BD31-4B8C-83A1-F6EECF244321}">
                <p14:modId xmlns:p14="http://schemas.microsoft.com/office/powerpoint/2010/main" val="2502740262"/>
              </p:ext>
            </p:extLst>
          </p:nvPr>
        </p:nvGraphicFramePr>
        <p:xfrm>
          <a:off x="5924949" y="3326995"/>
          <a:ext cx="2247693" cy="908642"/>
        </p:xfrm>
        <a:graphic>
          <a:graphicData uri="http://schemas.openxmlformats.org/presentationml/2006/ole">
            <mc:AlternateContent xmlns:mc="http://schemas.openxmlformats.org/markup-compatibility/2006">
              <mc:Choice xmlns:v="urn:schemas-microsoft-com:vml" Requires="v">
                <p:oleObj spid="_x0000_s10245" name="Equation" r:id="rId9" imgW="1342538" imgH="543658" progId="Equation.DSMT4">
                  <p:embed/>
                </p:oleObj>
              </mc:Choice>
              <mc:Fallback>
                <p:oleObj name="Equation" r:id="rId9" imgW="1342538" imgH="543658" progId="Equation.DSMT4">
                  <p:embed/>
                  <p:pic>
                    <p:nvPicPr>
                      <p:cNvPr id="13" name="Object 12">
                        <a:extLst>
                          <a:ext uri="{FF2B5EF4-FFF2-40B4-BE49-F238E27FC236}">
                            <a16:creationId xmlns:a16="http://schemas.microsoft.com/office/drawing/2014/main" id="{8815EB72-5F31-4E40-B034-7F4610E633E8}"/>
                          </a:ext>
                        </a:extLst>
                      </p:cNvPr>
                      <p:cNvPicPr/>
                      <p:nvPr/>
                    </p:nvPicPr>
                    <p:blipFill>
                      <a:blip r:embed="rId10"/>
                      <a:stretch>
                        <a:fillRect/>
                      </a:stretch>
                    </p:blipFill>
                    <p:spPr>
                      <a:xfrm>
                        <a:off x="5924949" y="3326995"/>
                        <a:ext cx="2247693" cy="908642"/>
                      </a:xfrm>
                      <a:prstGeom prst="rect">
                        <a:avLst/>
                      </a:prstGeom>
                    </p:spPr>
                  </p:pic>
                </p:oleObj>
              </mc:Fallback>
            </mc:AlternateContent>
          </a:graphicData>
        </a:graphic>
      </p:graphicFrame>
      <p:graphicFrame>
        <p:nvGraphicFramePr>
          <p:cNvPr id="14" name="Object 13">
            <a:extLst>
              <a:ext uri="{FF2B5EF4-FFF2-40B4-BE49-F238E27FC236}">
                <a16:creationId xmlns:a16="http://schemas.microsoft.com/office/drawing/2014/main" id="{B71E719D-99E6-464F-A93E-AB5F3B710BD5}"/>
              </a:ext>
            </a:extLst>
          </p:cNvPr>
          <p:cNvGraphicFramePr>
            <a:graphicFrameLocks noChangeAspect="1"/>
          </p:cNvGraphicFramePr>
          <p:nvPr>
            <p:extLst>
              <p:ext uri="{D42A27DB-BD31-4B8C-83A1-F6EECF244321}">
                <p14:modId xmlns:p14="http://schemas.microsoft.com/office/powerpoint/2010/main" val="2371730563"/>
              </p:ext>
            </p:extLst>
          </p:nvPr>
        </p:nvGraphicFramePr>
        <p:xfrm>
          <a:off x="3639278" y="4235637"/>
          <a:ext cx="2387413" cy="908642"/>
        </p:xfrm>
        <a:graphic>
          <a:graphicData uri="http://schemas.openxmlformats.org/presentationml/2006/ole">
            <mc:AlternateContent xmlns:mc="http://schemas.openxmlformats.org/markup-compatibility/2006">
              <mc:Choice xmlns:v="urn:schemas-microsoft-com:vml" Requires="v">
                <p:oleObj spid="_x0000_s10246" name="Equation" r:id="rId11" imgW="1275609" imgH="486336" progId="Equation.DSMT4">
                  <p:embed/>
                </p:oleObj>
              </mc:Choice>
              <mc:Fallback>
                <p:oleObj name="Equation" r:id="rId11" imgW="1275609" imgH="486336" progId="Equation.DSMT4">
                  <p:embed/>
                  <p:pic>
                    <p:nvPicPr>
                      <p:cNvPr id="14" name="Object 13">
                        <a:extLst>
                          <a:ext uri="{FF2B5EF4-FFF2-40B4-BE49-F238E27FC236}">
                            <a16:creationId xmlns:a16="http://schemas.microsoft.com/office/drawing/2014/main" id="{B71E719D-99E6-464F-A93E-AB5F3B710BD5}"/>
                          </a:ext>
                        </a:extLst>
                      </p:cNvPr>
                      <p:cNvPicPr/>
                      <p:nvPr/>
                    </p:nvPicPr>
                    <p:blipFill>
                      <a:blip r:embed="rId12"/>
                      <a:stretch>
                        <a:fillRect/>
                      </a:stretch>
                    </p:blipFill>
                    <p:spPr>
                      <a:xfrm>
                        <a:off x="3639278" y="4235637"/>
                        <a:ext cx="2387413" cy="908642"/>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65F12396-8FE6-4D54-8C5D-1D3F467AD6F8}"/>
              </a:ext>
            </a:extLst>
          </p:cNvPr>
          <p:cNvGraphicFramePr>
            <a:graphicFrameLocks noChangeAspect="1"/>
          </p:cNvGraphicFramePr>
          <p:nvPr>
            <p:extLst>
              <p:ext uri="{D42A27DB-BD31-4B8C-83A1-F6EECF244321}">
                <p14:modId xmlns:p14="http://schemas.microsoft.com/office/powerpoint/2010/main" val="2924146547"/>
              </p:ext>
            </p:extLst>
          </p:nvPr>
        </p:nvGraphicFramePr>
        <p:xfrm>
          <a:off x="1459864" y="5326807"/>
          <a:ext cx="358775" cy="407699"/>
        </p:xfrm>
        <a:graphic>
          <a:graphicData uri="http://schemas.openxmlformats.org/presentationml/2006/ole">
            <mc:AlternateContent xmlns:mc="http://schemas.openxmlformats.org/markup-compatibility/2006">
              <mc:Choice xmlns:v="urn:schemas-microsoft-com:vml" Requires="v">
                <p:oleObj spid="_x0000_s10247" name="Equation" r:id="rId13" imgW="209423" imgH="238301" progId="Equation.DSMT4">
                  <p:embed/>
                </p:oleObj>
              </mc:Choice>
              <mc:Fallback>
                <p:oleObj name="Equation" r:id="rId13" imgW="209423" imgH="238301" progId="Equation.DSMT4">
                  <p:embed/>
                  <p:pic>
                    <p:nvPicPr>
                      <p:cNvPr id="15" name="Object 14">
                        <a:extLst>
                          <a:ext uri="{FF2B5EF4-FFF2-40B4-BE49-F238E27FC236}">
                            <a16:creationId xmlns:a16="http://schemas.microsoft.com/office/drawing/2014/main" id="{65F12396-8FE6-4D54-8C5D-1D3F467AD6F8}"/>
                          </a:ext>
                        </a:extLst>
                      </p:cNvPr>
                      <p:cNvPicPr/>
                      <p:nvPr/>
                    </p:nvPicPr>
                    <p:blipFill>
                      <a:blip r:embed="rId14"/>
                      <a:stretch>
                        <a:fillRect/>
                      </a:stretch>
                    </p:blipFill>
                    <p:spPr>
                      <a:xfrm>
                        <a:off x="1459864" y="5326807"/>
                        <a:ext cx="358775" cy="407699"/>
                      </a:xfrm>
                      <a:prstGeom prst="rect">
                        <a:avLst/>
                      </a:prstGeom>
                    </p:spPr>
                  </p:pic>
                </p:oleObj>
              </mc:Fallback>
            </mc:AlternateContent>
          </a:graphicData>
        </a:graphic>
      </p:graphicFrame>
      <p:graphicFrame>
        <p:nvGraphicFramePr>
          <p:cNvPr id="16" name="Object 15">
            <a:extLst>
              <a:ext uri="{FF2B5EF4-FFF2-40B4-BE49-F238E27FC236}">
                <a16:creationId xmlns:a16="http://schemas.microsoft.com/office/drawing/2014/main" id="{8174A8DE-9083-422F-AE1A-1068054C6208}"/>
              </a:ext>
            </a:extLst>
          </p:cNvPr>
          <p:cNvGraphicFramePr>
            <a:graphicFrameLocks noChangeAspect="1"/>
          </p:cNvGraphicFramePr>
          <p:nvPr>
            <p:extLst>
              <p:ext uri="{D42A27DB-BD31-4B8C-83A1-F6EECF244321}">
                <p14:modId xmlns:p14="http://schemas.microsoft.com/office/powerpoint/2010/main" val="3515385599"/>
              </p:ext>
            </p:extLst>
          </p:nvPr>
        </p:nvGraphicFramePr>
        <p:xfrm>
          <a:off x="5099178" y="5139872"/>
          <a:ext cx="1651542" cy="735687"/>
        </p:xfrm>
        <a:graphic>
          <a:graphicData uri="http://schemas.openxmlformats.org/presentationml/2006/ole">
            <mc:AlternateContent xmlns:mc="http://schemas.openxmlformats.org/markup-compatibility/2006">
              <mc:Choice xmlns:v="urn:schemas-microsoft-com:vml" Requires="v">
                <p:oleObj spid="_x0000_s10248" name="Equation" r:id="rId15" imgW="1047115" imgH="467229" progId="Equation.DSMT4">
                  <p:embed/>
                </p:oleObj>
              </mc:Choice>
              <mc:Fallback>
                <p:oleObj name="Equation" r:id="rId15" imgW="1047115" imgH="467229" progId="Equation.DSMT4">
                  <p:embed/>
                  <p:pic>
                    <p:nvPicPr>
                      <p:cNvPr id="16" name="Object 15">
                        <a:extLst>
                          <a:ext uri="{FF2B5EF4-FFF2-40B4-BE49-F238E27FC236}">
                            <a16:creationId xmlns:a16="http://schemas.microsoft.com/office/drawing/2014/main" id="{8174A8DE-9083-422F-AE1A-1068054C6208}"/>
                          </a:ext>
                        </a:extLst>
                      </p:cNvPr>
                      <p:cNvPicPr/>
                      <p:nvPr/>
                    </p:nvPicPr>
                    <p:blipFill>
                      <a:blip r:embed="rId16"/>
                      <a:stretch>
                        <a:fillRect/>
                      </a:stretch>
                    </p:blipFill>
                    <p:spPr>
                      <a:xfrm>
                        <a:off x="5099178" y="5139872"/>
                        <a:ext cx="1651542" cy="735687"/>
                      </a:xfrm>
                      <a:prstGeom prst="rect">
                        <a:avLst/>
                      </a:prstGeom>
                    </p:spPr>
                  </p:pic>
                </p:oleObj>
              </mc:Fallback>
            </mc:AlternateContent>
          </a:graphicData>
        </a:graphic>
      </p:graphicFrame>
    </p:spTree>
    <p:extLst>
      <p:ext uri="{BB962C8B-B14F-4D97-AF65-F5344CB8AC3E}">
        <p14:creationId xmlns:p14="http://schemas.microsoft.com/office/powerpoint/2010/main" val="1215471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7247A49-7B6A-4A7F-8236-B6922D52D691}"/>
              </a:ext>
            </a:extLst>
          </p:cNvPr>
          <p:cNvSpPr>
            <a:spLocks noGrp="1"/>
          </p:cNvSpPr>
          <p:nvPr>
            <p:ph type="subTitle" idx="1"/>
          </p:nvPr>
        </p:nvSpPr>
        <p:spPr/>
        <p:txBody>
          <a:bodyPr/>
          <a:lstStyle/>
          <a:p>
            <a:pPr algn="l"/>
            <a:r>
              <a:rPr lang="en-US" sz="2000" dirty="0"/>
              <a:t>3.5: </a:t>
            </a:r>
            <a:r>
              <a:rPr lang="en-US" sz="2000" dirty="0" err="1"/>
              <a:t>Thiết</a:t>
            </a:r>
            <a:r>
              <a:rPr lang="en-US" sz="2000" dirty="0"/>
              <a:t> </a:t>
            </a:r>
            <a:r>
              <a:rPr lang="en-US" sz="2000" dirty="0" err="1"/>
              <a:t>kế</a:t>
            </a:r>
            <a:r>
              <a:rPr lang="en-US" sz="2000" dirty="0"/>
              <a:t> </a:t>
            </a:r>
            <a:r>
              <a:rPr lang="en-US" sz="2000" dirty="0" err="1"/>
              <a:t>các</a:t>
            </a:r>
            <a:r>
              <a:rPr lang="en-US" sz="2000" dirty="0"/>
              <a:t> </a:t>
            </a:r>
            <a:r>
              <a:rPr lang="en-US" sz="2000" dirty="0" err="1"/>
              <a:t>bộ</a:t>
            </a:r>
            <a:r>
              <a:rPr lang="en-US" sz="2000" dirty="0"/>
              <a:t> </a:t>
            </a:r>
            <a:r>
              <a:rPr lang="en-US" sz="2000" dirty="0" err="1"/>
              <a:t>điều</a:t>
            </a:r>
            <a:r>
              <a:rPr lang="en-US" sz="2000" dirty="0"/>
              <a:t> </a:t>
            </a:r>
            <a:r>
              <a:rPr lang="en-US" sz="2000" dirty="0" err="1"/>
              <a:t>chỉnh</a:t>
            </a:r>
            <a:endParaRPr lang="en-US" sz="2000" dirty="0"/>
          </a:p>
          <a:p>
            <a:pPr algn="l"/>
            <a:r>
              <a:rPr lang="en-US" sz="2000" dirty="0"/>
              <a:t>3.5.2: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tốc</a:t>
            </a:r>
            <a:r>
              <a:rPr lang="en-US" sz="2000" dirty="0"/>
              <a:t> </a:t>
            </a:r>
            <a:r>
              <a:rPr lang="en-US" sz="2000" dirty="0" err="1"/>
              <a:t>độ</a:t>
            </a:r>
            <a:endParaRPr lang="en-US" sz="2000" dirty="0"/>
          </a:p>
          <a:p>
            <a:pPr algn="l"/>
            <a:endParaRPr lang="en-US" sz="2000" dirty="0"/>
          </a:p>
          <a:p>
            <a:pPr algn="l"/>
            <a:endParaRPr lang="en-US" sz="2000" dirty="0"/>
          </a:p>
          <a:p>
            <a:pPr algn="l"/>
            <a:endParaRPr lang="en-US" sz="2000" dirty="0"/>
          </a:p>
          <a:p>
            <a:pPr algn="l"/>
            <a:endParaRPr lang="en-US" sz="2000" dirty="0"/>
          </a:p>
          <a:p>
            <a:pPr algn="l"/>
            <a:r>
              <a:rPr lang="en-US" sz="2000" dirty="0"/>
              <a:t>Ta </a:t>
            </a:r>
            <a:r>
              <a:rPr lang="en-US" sz="2000" dirty="0" err="1"/>
              <a:t>có</a:t>
            </a:r>
            <a:r>
              <a:rPr lang="en-US" sz="2000" dirty="0"/>
              <a:t> </a:t>
            </a:r>
            <a:r>
              <a:rPr lang="en-US" sz="2000" dirty="0" err="1"/>
              <a:t>hàm</a:t>
            </a:r>
            <a:r>
              <a:rPr lang="en-US" sz="2000" dirty="0"/>
              <a:t> </a:t>
            </a:r>
            <a:r>
              <a:rPr lang="en-US" sz="2000" dirty="0" err="1"/>
              <a:t>truyền</a:t>
            </a:r>
            <a:r>
              <a:rPr lang="en-US" sz="2000" dirty="0"/>
              <a:t> </a:t>
            </a:r>
            <a:r>
              <a:rPr lang="en-US" sz="2000" dirty="0" err="1"/>
              <a:t>hệ</a:t>
            </a:r>
            <a:r>
              <a:rPr lang="en-US" sz="2000" dirty="0"/>
              <a:t> </a:t>
            </a:r>
            <a:r>
              <a:rPr lang="en-US" sz="2000" dirty="0" err="1"/>
              <a:t>hở</a:t>
            </a:r>
            <a:r>
              <a:rPr lang="en-US" sz="2000" dirty="0"/>
              <a:t>:</a:t>
            </a:r>
          </a:p>
          <a:p>
            <a:pPr algn="l"/>
            <a:endParaRPr lang="en-US" sz="2000" dirty="0"/>
          </a:p>
          <a:p>
            <a:pPr algn="l"/>
            <a:endParaRPr lang="en-US" sz="2000" dirty="0"/>
          </a:p>
          <a:p>
            <a:pPr algn="l"/>
            <a:r>
              <a:rPr lang="en-US" sz="2000" dirty="0" err="1"/>
              <a:t>Hàm</a:t>
            </a:r>
            <a:r>
              <a:rPr lang="en-US" sz="2000" dirty="0"/>
              <a:t> </a:t>
            </a:r>
            <a:r>
              <a:rPr lang="en-US" sz="2000" dirty="0" err="1"/>
              <a:t>truyền</a:t>
            </a:r>
            <a:r>
              <a:rPr lang="en-US" sz="2000" dirty="0"/>
              <a:t> </a:t>
            </a:r>
            <a:r>
              <a:rPr lang="en-US" sz="2000" dirty="0" err="1"/>
              <a:t>hệ</a:t>
            </a:r>
            <a:r>
              <a:rPr lang="en-US" sz="2000" dirty="0"/>
              <a:t> </a:t>
            </a:r>
            <a:r>
              <a:rPr lang="en-US" sz="2000" dirty="0" err="1"/>
              <a:t>kín</a:t>
            </a:r>
            <a:r>
              <a:rPr lang="en-US" sz="2000" dirty="0"/>
              <a:t>:  </a:t>
            </a:r>
          </a:p>
          <a:p>
            <a:endParaRPr lang="en-US" dirty="0"/>
          </a:p>
        </p:txBody>
      </p:sp>
      <p:sp>
        <p:nvSpPr>
          <p:cNvPr id="3" name="Text Placeholder 2">
            <a:extLst>
              <a:ext uri="{FF2B5EF4-FFF2-40B4-BE49-F238E27FC236}">
                <a16:creationId xmlns:a16="http://schemas.microsoft.com/office/drawing/2014/main" id="{95D5B7F7-E3D7-40B0-BA23-C0885A5437D3}"/>
              </a:ext>
            </a:extLst>
          </p:cNvPr>
          <p:cNvSpPr>
            <a:spLocks noGrp="1"/>
          </p:cNvSpPr>
          <p:nvPr>
            <p:ph type="body" sz="quarter" idx="12"/>
          </p:nvPr>
        </p:nvSpPr>
        <p:spPr/>
        <p:txBody>
          <a:bodyPr/>
          <a:lstStyle/>
          <a:p>
            <a:r>
              <a:rPr lang="en-US" dirty="0"/>
              <a:t>3</a:t>
            </a:r>
          </a:p>
        </p:txBody>
      </p:sp>
      <p:sp>
        <p:nvSpPr>
          <p:cNvPr id="5" name="Slide Number Placeholder 4">
            <a:extLst>
              <a:ext uri="{FF2B5EF4-FFF2-40B4-BE49-F238E27FC236}">
                <a16:creationId xmlns:a16="http://schemas.microsoft.com/office/drawing/2014/main" id="{A00ED243-8CA5-4AEE-BDFD-82718FE3263E}"/>
              </a:ext>
            </a:extLst>
          </p:cNvPr>
          <p:cNvSpPr>
            <a:spLocks noGrp="1"/>
          </p:cNvSpPr>
          <p:nvPr>
            <p:ph type="sldNum" sz="quarter" idx="4"/>
          </p:nvPr>
        </p:nvSpPr>
        <p:spPr/>
        <p:txBody>
          <a:bodyPr/>
          <a:lstStyle/>
          <a:p>
            <a:fld id="{C4AED997-7CB6-4654-8505-4D4C6D081CC6}" type="slidenum">
              <a:rPr lang="en-US" smtClean="0"/>
              <a:pPr/>
              <a:t>21</a:t>
            </a:fld>
            <a:endParaRPr lang="en-US"/>
          </a:p>
        </p:txBody>
      </p:sp>
      <p:sp>
        <p:nvSpPr>
          <p:cNvPr id="7" name="Title 3">
            <a:extLst>
              <a:ext uri="{FF2B5EF4-FFF2-40B4-BE49-F238E27FC236}">
                <a16:creationId xmlns:a16="http://schemas.microsoft.com/office/drawing/2014/main" id="{DECC5DF7-43CE-413E-A8B5-0B58DAB7AB4C}"/>
              </a:ext>
            </a:extLst>
          </p:cNvPr>
          <p:cNvSpPr>
            <a:spLocks noGrp="1"/>
          </p:cNvSpPr>
          <p:nvPr>
            <p:ph type="title"/>
          </p:nvPr>
        </p:nvSpPr>
        <p:spPr>
          <a:xfrm>
            <a:off x="1147763" y="192088"/>
            <a:ext cx="6848475" cy="517525"/>
          </a:xfrm>
        </p:spPr>
        <p:txBody>
          <a:bodyPr/>
          <a:lstStyle/>
          <a:p>
            <a:r>
              <a:rPr lang="en-US" dirty="0"/>
              <a:t>Ph</a:t>
            </a:r>
            <a:r>
              <a:rPr lang="vi-VN" dirty="0"/>
              <a:t>ư</a:t>
            </a:r>
            <a:r>
              <a:rPr lang="en-US" dirty="0" err="1"/>
              <a:t>ơng</a:t>
            </a:r>
            <a:r>
              <a:rPr lang="en-US" dirty="0"/>
              <a:t> </a:t>
            </a:r>
            <a:r>
              <a:rPr lang="en-US" dirty="0" err="1"/>
              <a:t>pháp</a:t>
            </a:r>
            <a:r>
              <a:rPr lang="en-US" dirty="0"/>
              <a:t> </a:t>
            </a:r>
            <a:r>
              <a:rPr lang="en-US" dirty="0" err="1"/>
              <a:t>điều</a:t>
            </a:r>
            <a:r>
              <a:rPr lang="en-US" dirty="0"/>
              <a:t> </a:t>
            </a:r>
            <a:r>
              <a:rPr lang="en-US" dirty="0" err="1"/>
              <a:t>khiển</a:t>
            </a:r>
            <a:r>
              <a:rPr lang="en-US" dirty="0"/>
              <a:t> FOC</a:t>
            </a:r>
          </a:p>
        </p:txBody>
      </p:sp>
      <p:sp>
        <p:nvSpPr>
          <p:cNvPr id="9" name="Rectangle 2">
            <a:extLst>
              <a:ext uri="{FF2B5EF4-FFF2-40B4-BE49-F238E27FC236}">
                <a16:creationId xmlns:a16="http://schemas.microsoft.com/office/drawing/2014/main" id="{679FA38E-114A-40B4-8A7A-3EBD7632FE8A}"/>
              </a:ext>
            </a:extLst>
          </p:cNvPr>
          <p:cNvSpPr>
            <a:spLocks noChangeArrowheads="1"/>
          </p:cNvSpPr>
          <p:nvPr/>
        </p:nvSpPr>
        <p:spPr bwMode="auto">
          <a:xfrm>
            <a:off x="1350962" y="1788159"/>
            <a:ext cx="11027487"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graphicFrame>
        <p:nvGraphicFramePr>
          <p:cNvPr id="10" name="Object 9">
            <a:extLst>
              <a:ext uri="{FF2B5EF4-FFF2-40B4-BE49-F238E27FC236}">
                <a16:creationId xmlns:a16="http://schemas.microsoft.com/office/drawing/2014/main" id="{A45733F7-53E7-4ED1-BAD3-9DF2A89EAFE2}"/>
              </a:ext>
            </a:extLst>
          </p:cNvPr>
          <p:cNvGraphicFramePr>
            <a:graphicFrameLocks noChangeAspect="1"/>
          </p:cNvGraphicFramePr>
          <p:nvPr>
            <p:extLst>
              <p:ext uri="{D42A27DB-BD31-4B8C-83A1-F6EECF244321}">
                <p14:modId xmlns:p14="http://schemas.microsoft.com/office/powerpoint/2010/main" val="20741105"/>
              </p:ext>
            </p:extLst>
          </p:nvPr>
        </p:nvGraphicFramePr>
        <p:xfrm>
          <a:off x="1350963" y="1788160"/>
          <a:ext cx="5954077" cy="1286540"/>
        </p:xfrm>
        <a:graphic>
          <a:graphicData uri="http://schemas.openxmlformats.org/presentationml/2006/ole">
            <mc:AlternateContent xmlns:mc="http://schemas.openxmlformats.org/markup-compatibility/2006">
              <mc:Choice xmlns:v="urn:schemas-microsoft-com:vml" Requires="v">
                <p:oleObj spid="_x0000_s11266" name="Visio" r:id="rId3" imgW="4676757" imgH="1199952" progId="Visio.Drawing.15">
                  <p:embed/>
                </p:oleObj>
              </mc:Choice>
              <mc:Fallback>
                <p:oleObj name="Visio" r:id="rId3" imgW="4676757" imgH="1199952" progId="Visio.Drawing.15">
                  <p:embed/>
                  <p:pic>
                    <p:nvPicPr>
                      <p:cNvPr id="10" name="Object 9">
                        <a:extLst>
                          <a:ext uri="{FF2B5EF4-FFF2-40B4-BE49-F238E27FC236}">
                            <a16:creationId xmlns:a16="http://schemas.microsoft.com/office/drawing/2014/main" id="{A45733F7-53E7-4ED1-BAD3-9DF2A89EAF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8011" b="23216"/>
                      <a:stretch>
                        <a:fillRect/>
                      </a:stretch>
                    </p:blipFill>
                    <p:spPr bwMode="auto">
                      <a:xfrm>
                        <a:off x="1350963" y="1788160"/>
                        <a:ext cx="5954077" cy="1286540"/>
                      </a:xfrm>
                      <a:prstGeom prst="rect">
                        <a:avLst/>
                      </a:prstGeom>
                      <a:noFill/>
                    </p:spPr>
                  </p:pic>
                </p:oleObj>
              </mc:Fallback>
            </mc:AlternateContent>
          </a:graphicData>
        </a:graphic>
      </p:graphicFrame>
      <p:graphicFrame>
        <p:nvGraphicFramePr>
          <p:cNvPr id="11" name="Object 10">
            <a:extLst>
              <a:ext uri="{FF2B5EF4-FFF2-40B4-BE49-F238E27FC236}">
                <a16:creationId xmlns:a16="http://schemas.microsoft.com/office/drawing/2014/main" id="{76A8B05F-B940-494B-A57E-5252B5FAD85D}"/>
              </a:ext>
            </a:extLst>
          </p:cNvPr>
          <p:cNvGraphicFramePr>
            <a:graphicFrameLocks noChangeAspect="1"/>
          </p:cNvGraphicFramePr>
          <p:nvPr>
            <p:extLst>
              <p:ext uri="{D42A27DB-BD31-4B8C-83A1-F6EECF244321}">
                <p14:modId xmlns:p14="http://schemas.microsoft.com/office/powerpoint/2010/main" val="2573340022"/>
              </p:ext>
            </p:extLst>
          </p:nvPr>
        </p:nvGraphicFramePr>
        <p:xfrm>
          <a:off x="3797801" y="3176301"/>
          <a:ext cx="5118071" cy="1546772"/>
        </p:xfrm>
        <a:graphic>
          <a:graphicData uri="http://schemas.openxmlformats.org/presentationml/2006/ole">
            <mc:AlternateContent xmlns:mc="http://schemas.openxmlformats.org/markup-compatibility/2006">
              <mc:Choice xmlns:v="urn:schemas-microsoft-com:vml" Requires="v">
                <p:oleObj spid="_x0000_s11267" name="Equation" r:id="rId5" imgW="3530520" imgH="1066680" progId="Equation.DSMT4">
                  <p:embed/>
                </p:oleObj>
              </mc:Choice>
              <mc:Fallback>
                <p:oleObj name="Equation" r:id="rId5" imgW="3530520" imgH="1066680" progId="Equation.DSMT4">
                  <p:embed/>
                  <p:pic>
                    <p:nvPicPr>
                      <p:cNvPr id="11" name="Object 10">
                        <a:extLst>
                          <a:ext uri="{FF2B5EF4-FFF2-40B4-BE49-F238E27FC236}">
                            <a16:creationId xmlns:a16="http://schemas.microsoft.com/office/drawing/2014/main" id="{76A8B05F-B940-494B-A57E-5252B5FAD85D}"/>
                          </a:ext>
                        </a:extLst>
                      </p:cNvPr>
                      <p:cNvPicPr/>
                      <p:nvPr/>
                    </p:nvPicPr>
                    <p:blipFill>
                      <a:blip r:embed="rId6"/>
                      <a:stretch>
                        <a:fillRect/>
                      </a:stretch>
                    </p:blipFill>
                    <p:spPr>
                      <a:xfrm>
                        <a:off x="3797801" y="3176301"/>
                        <a:ext cx="5118071" cy="1546772"/>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3DCF2FB4-A8BD-4066-AA9F-A0E73A2923D7}"/>
              </a:ext>
            </a:extLst>
          </p:cNvPr>
          <p:cNvGraphicFramePr>
            <a:graphicFrameLocks noChangeAspect="1"/>
          </p:cNvGraphicFramePr>
          <p:nvPr>
            <p:extLst>
              <p:ext uri="{D42A27DB-BD31-4B8C-83A1-F6EECF244321}">
                <p14:modId xmlns:p14="http://schemas.microsoft.com/office/powerpoint/2010/main" val="1099070892"/>
              </p:ext>
            </p:extLst>
          </p:nvPr>
        </p:nvGraphicFramePr>
        <p:xfrm>
          <a:off x="855581" y="4897453"/>
          <a:ext cx="7554015" cy="1286540"/>
        </p:xfrm>
        <a:graphic>
          <a:graphicData uri="http://schemas.openxmlformats.org/presentationml/2006/ole">
            <mc:AlternateContent xmlns:mc="http://schemas.openxmlformats.org/markup-compatibility/2006">
              <mc:Choice xmlns:v="urn:schemas-microsoft-com:vml" Requires="v">
                <p:oleObj spid="_x0000_s11268" name="Equation" r:id="rId7" imgW="4427030" imgH="753479" progId="Equation.DSMT4">
                  <p:embed/>
                </p:oleObj>
              </mc:Choice>
              <mc:Fallback>
                <p:oleObj name="Equation" r:id="rId7" imgW="4427030" imgH="753479" progId="Equation.DSMT4">
                  <p:embed/>
                  <p:pic>
                    <p:nvPicPr>
                      <p:cNvPr id="12" name="Object 11">
                        <a:extLst>
                          <a:ext uri="{FF2B5EF4-FFF2-40B4-BE49-F238E27FC236}">
                            <a16:creationId xmlns:a16="http://schemas.microsoft.com/office/drawing/2014/main" id="{3DCF2FB4-A8BD-4066-AA9F-A0E73A2923D7}"/>
                          </a:ext>
                        </a:extLst>
                      </p:cNvPr>
                      <p:cNvPicPr/>
                      <p:nvPr/>
                    </p:nvPicPr>
                    <p:blipFill>
                      <a:blip r:embed="rId8"/>
                      <a:stretch>
                        <a:fillRect/>
                      </a:stretch>
                    </p:blipFill>
                    <p:spPr>
                      <a:xfrm>
                        <a:off x="855581" y="4897453"/>
                        <a:ext cx="7554015" cy="1286540"/>
                      </a:xfrm>
                      <a:prstGeom prst="rect">
                        <a:avLst/>
                      </a:prstGeom>
                    </p:spPr>
                  </p:pic>
                </p:oleObj>
              </mc:Fallback>
            </mc:AlternateContent>
          </a:graphicData>
        </a:graphic>
      </p:graphicFrame>
    </p:spTree>
    <p:extLst>
      <p:ext uri="{BB962C8B-B14F-4D97-AF65-F5344CB8AC3E}">
        <p14:creationId xmlns:p14="http://schemas.microsoft.com/office/powerpoint/2010/main" val="32173137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2652D5B-D3BD-4EC0-8894-E32D0AFCC44D}"/>
              </a:ext>
            </a:extLst>
          </p:cNvPr>
          <p:cNvSpPr>
            <a:spLocks noGrp="1"/>
          </p:cNvSpPr>
          <p:nvPr>
            <p:ph type="subTitle" idx="1"/>
          </p:nvPr>
        </p:nvSpPr>
        <p:spPr/>
        <p:txBody>
          <a:bodyPr/>
          <a:lstStyle/>
          <a:p>
            <a:pPr algn="l"/>
            <a:r>
              <a:rPr lang="en-US" sz="2000" dirty="0"/>
              <a:t>3.5: </a:t>
            </a:r>
            <a:r>
              <a:rPr lang="en-US" sz="2000" dirty="0" err="1"/>
              <a:t>Thiết</a:t>
            </a:r>
            <a:r>
              <a:rPr lang="en-US" sz="2000" dirty="0"/>
              <a:t> </a:t>
            </a:r>
            <a:r>
              <a:rPr lang="en-US" sz="2000" dirty="0" err="1"/>
              <a:t>kế</a:t>
            </a:r>
            <a:r>
              <a:rPr lang="en-US" sz="2000" dirty="0"/>
              <a:t> </a:t>
            </a:r>
            <a:r>
              <a:rPr lang="en-US" sz="2000" dirty="0" err="1"/>
              <a:t>các</a:t>
            </a:r>
            <a:r>
              <a:rPr lang="en-US" sz="2000" dirty="0"/>
              <a:t> </a:t>
            </a:r>
            <a:r>
              <a:rPr lang="en-US" sz="2000" dirty="0" err="1"/>
              <a:t>bộ</a:t>
            </a:r>
            <a:r>
              <a:rPr lang="en-US" sz="2000" dirty="0"/>
              <a:t> </a:t>
            </a:r>
            <a:r>
              <a:rPr lang="en-US" sz="2000" dirty="0" err="1"/>
              <a:t>điều</a:t>
            </a:r>
            <a:r>
              <a:rPr lang="en-US" sz="2000" dirty="0"/>
              <a:t> </a:t>
            </a:r>
            <a:r>
              <a:rPr lang="en-US" sz="2000" dirty="0" err="1"/>
              <a:t>chỉnh</a:t>
            </a:r>
            <a:endParaRPr lang="en-US" sz="2000" dirty="0"/>
          </a:p>
          <a:p>
            <a:pPr algn="l"/>
            <a:r>
              <a:rPr lang="en-US" sz="2000" dirty="0"/>
              <a:t>3.5.2: </a:t>
            </a:r>
            <a:r>
              <a:rPr lang="en-US" sz="2000" dirty="0" err="1"/>
              <a:t>Bộ</a:t>
            </a:r>
            <a:r>
              <a:rPr lang="en-US" sz="2000" dirty="0"/>
              <a:t> </a:t>
            </a:r>
            <a:r>
              <a:rPr lang="en-US" sz="2000" dirty="0" err="1"/>
              <a:t>điều</a:t>
            </a:r>
            <a:r>
              <a:rPr lang="en-US" sz="2000" dirty="0"/>
              <a:t> </a:t>
            </a:r>
            <a:r>
              <a:rPr lang="en-US" sz="2000" dirty="0" err="1"/>
              <a:t>chỉnh</a:t>
            </a:r>
            <a:r>
              <a:rPr lang="en-US" sz="2000" dirty="0"/>
              <a:t> </a:t>
            </a:r>
            <a:r>
              <a:rPr lang="en-US" sz="2000" dirty="0" err="1"/>
              <a:t>tốc</a:t>
            </a:r>
            <a:r>
              <a:rPr lang="en-US" sz="2000" dirty="0"/>
              <a:t> </a:t>
            </a:r>
            <a:r>
              <a:rPr lang="en-US" sz="2000" dirty="0" err="1"/>
              <a:t>độ</a:t>
            </a:r>
            <a:endParaRPr lang="en-US" sz="2000" dirty="0"/>
          </a:p>
          <a:p>
            <a:pPr algn="l"/>
            <a:r>
              <a:rPr lang="en-US" sz="2000" dirty="0"/>
              <a:t>Theo </a:t>
            </a:r>
            <a:r>
              <a:rPr lang="en-US" sz="2000" dirty="0" err="1"/>
              <a:t>dạng</a:t>
            </a:r>
            <a:r>
              <a:rPr lang="en-US" sz="2000" dirty="0"/>
              <a:t> </a:t>
            </a:r>
            <a:r>
              <a:rPr lang="en-US" sz="2000" dirty="0" err="1"/>
              <a:t>chuẩn</a:t>
            </a:r>
            <a:r>
              <a:rPr lang="en-US" sz="2000" dirty="0"/>
              <a:t> ta </a:t>
            </a:r>
            <a:r>
              <a:rPr lang="en-US" sz="2000" dirty="0" err="1"/>
              <a:t>có</a:t>
            </a:r>
            <a:r>
              <a:rPr lang="en-US" sz="2000" dirty="0"/>
              <a:t> : </a:t>
            </a:r>
          </a:p>
          <a:p>
            <a:pPr algn="l"/>
            <a:endParaRPr lang="en-US" sz="2000" dirty="0"/>
          </a:p>
          <a:p>
            <a:pPr algn="l"/>
            <a:r>
              <a:rPr lang="en-US" sz="2000" dirty="0"/>
              <a:t>        </a:t>
            </a:r>
            <a:r>
              <a:rPr lang="en-US" sz="2000" dirty="0" err="1"/>
              <a:t>tần</a:t>
            </a:r>
            <a:r>
              <a:rPr lang="en-US" sz="2000" dirty="0"/>
              <a:t> </a:t>
            </a:r>
            <a:r>
              <a:rPr lang="en-US" sz="2000" dirty="0" err="1"/>
              <a:t>số</a:t>
            </a:r>
            <a:r>
              <a:rPr lang="en-US" sz="2000" dirty="0"/>
              <a:t> </a:t>
            </a:r>
            <a:r>
              <a:rPr lang="en-US" sz="2000" dirty="0" err="1"/>
              <a:t>giao</a:t>
            </a:r>
            <a:r>
              <a:rPr lang="en-US" sz="2000" dirty="0"/>
              <a:t> </a:t>
            </a:r>
            <a:r>
              <a:rPr lang="en-US" sz="2000" dirty="0" err="1"/>
              <a:t>động</a:t>
            </a:r>
            <a:r>
              <a:rPr lang="en-US" sz="2000" dirty="0"/>
              <a:t> </a:t>
            </a:r>
            <a:r>
              <a:rPr lang="en-US" sz="2000" dirty="0" err="1"/>
              <a:t>riêng</a:t>
            </a:r>
            <a:r>
              <a:rPr lang="en-US" sz="2000" dirty="0"/>
              <a:t>, 0&lt;      &lt;1  </a:t>
            </a:r>
            <a:r>
              <a:rPr lang="en-US" sz="2000" dirty="0" err="1"/>
              <a:t>hệ</a:t>
            </a:r>
            <a:r>
              <a:rPr lang="en-US" sz="2000" dirty="0"/>
              <a:t> </a:t>
            </a:r>
            <a:r>
              <a:rPr lang="en-US" sz="2000" dirty="0" err="1"/>
              <a:t>số</a:t>
            </a:r>
            <a:r>
              <a:rPr lang="en-US" sz="2000" dirty="0"/>
              <a:t> </a:t>
            </a:r>
            <a:r>
              <a:rPr lang="en-US" sz="2000" dirty="0" err="1"/>
              <a:t>giao</a:t>
            </a:r>
            <a:r>
              <a:rPr lang="en-US" sz="2000" dirty="0"/>
              <a:t> </a:t>
            </a:r>
            <a:r>
              <a:rPr lang="en-US" sz="2000" dirty="0" err="1"/>
              <a:t>động</a:t>
            </a:r>
            <a:r>
              <a:rPr lang="en-US" sz="2000" dirty="0"/>
              <a:t> </a:t>
            </a:r>
            <a:r>
              <a:rPr lang="en-US" sz="2000" dirty="0" err="1"/>
              <a:t>tắt</a:t>
            </a:r>
            <a:r>
              <a:rPr lang="en-US" sz="2000" dirty="0"/>
              <a:t> </a:t>
            </a:r>
            <a:r>
              <a:rPr lang="en-US" sz="2000" dirty="0" err="1"/>
              <a:t>dần</a:t>
            </a:r>
            <a:endParaRPr lang="en-US" sz="2000" dirty="0"/>
          </a:p>
        </p:txBody>
      </p:sp>
      <p:sp>
        <p:nvSpPr>
          <p:cNvPr id="3" name="Text Placeholder 2">
            <a:extLst>
              <a:ext uri="{FF2B5EF4-FFF2-40B4-BE49-F238E27FC236}">
                <a16:creationId xmlns:a16="http://schemas.microsoft.com/office/drawing/2014/main" id="{F62E2D80-7923-41CD-B1D7-D591C062FC46}"/>
              </a:ext>
            </a:extLst>
          </p:cNvPr>
          <p:cNvSpPr>
            <a:spLocks noGrp="1"/>
          </p:cNvSpPr>
          <p:nvPr>
            <p:ph type="body" sz="quarter" idx="12"/>
          </p:nvPr>
        </p:nvSpPr>
        <p:spPr/>
        <p:txBody>
          <a:bodyPr/>
          <a:lstStyle/>
          <a:p>
            <a:r>
              <a:rPr lang="en-US" dirty="0"/>
              <a:t>3</a:t>
            </a:r>
          </a:p>
        </p:txBody>
      </p:sp>
      <p:sp>
        <p:nvSpPr>
          <p:cNvPr id="5" name="Slide Number Placeholder 4">
            <a:extLst>
              <a:ext uri="{FF2B5EF4-FFF2-40B4-BE49-F238E27FC236}">
                <a16:creationId xmlns:a16="http://schemas.microsoft.com/office/drawing/2014/main" id="{14E397EF-B1DE-48A4-ADA8-5C5EB4A9C3A2}"/>
              </a:ext>
            </a:extLst>
          </p:cNvPr>
          <p:cNvSpPr>
            <a:spLocks noGrp="1"/>
          </p:cNvSpPr>
          <p:nvPr>
            <p:ph type="sldNum" sz="quarter" idx="4"/>
          </p:nvPr>
        </p:nvSpPr>
        <p:spPr/>
        <p:txBody>
          <a:bodyPr/>
          <a:lstStyle/>
          <a:p>
            <a:fld id="{C4AED997-7CB6-4654-8505-4D4C6D081CC6}" type="slidenum">
              <a:rPr lang="en-US" smtClean="0"/>
              <a:pPr/>
              <a:t>22</a:t>
            </a:fld>
            <a:endParaRPr lang="en-US"/>
          </a:p>
        </p:txBody>
      </p:sp>
      <p:sp>
        <p:nvSpPr>
          <p:cNvPr id="6" name="Title 3">
            <a:extLst>
              <a:ext uri="{FF2B5EF4-FFF2-40B4-BE49-F238E27FC236}">
                <a16:creationId xmlns:a16="http://schemas.microsoft.com/office/drawing/2014/main" id="{5C972FF3-ADCF-49EC-AA72-F2CA3DEFC5AC}"/>
              </a:ext>
            </a:extLst>
          </p:cNvPr>
          <p:cNvSpPr>
            <a:spLocks noGrp="1"/>
          </p:cNvSpPr>
          <p:nvPr>
            <p:ph type="title"/>
          </p:nvPr>
        </p:nvSpPr>
        <p:spPr>
          <a:xfrm>
            <a:off x="1147763" y="192088"/>
            <a:ext cx="6848475" cy="517525"/>
          </a:xfrm>
        </p:spPr>
        <p:txBody>
          <a:bodyPr/>
          <a:lstStyle/>
          <a:p>
            <a:r>
              <a:rPr lang="en-US" dirty="0"/>
              <a:t>Ph</a:t>
            </a:r>
            <a:r>
              <a:rPr lang="vi-VN" dirty="0"/>
              <a:t>ư</a:t>
            </a:r>
            <a:r>
              <a:rPr lang="en-US" dirty="0" err="1"/>
              <a:t>ơng</a:t>
            </a:r>
            <a:r>
              <a:rPr lang="en-US" dirty="0"/>
              <a:t> </a:t>
            </a:r>
            <a:r>
              <a:rPr lang="en-US" dirty="0" err="1"/>
              <a:t>pháp</a:t>
            </a:r>
            <a:r>
              <a:rPr lang="en-US" dirty="0"/>
              <a:t> </a:t>
            </a:r>
            <a:r>
              <a:rPr lang="en-US" dirty="0" err="1"/>
              <a:t>điều</a:t>
            </a:r>
            <a:r>
              <a:rPr lang="en-US" dirty="0"/>
              <a:t> </a:t>
            </a:r>
            <a:r>
              <a:rPr lang="en-US" dirty="0" err="1"/>
              <a:t>khiển</a:t>
            </a:r>
            <a:r>
              <a:rPr lang="en-US" dirty="0"/>
              <a:t> FOC</a:t>
            </a:r>
          </a:p>
        </p:txBody>
      </p:sp>
      <p:graphicFrame>
        <p:nvGraphicFramePr>
          <p:cNvPr id="7" name="Object 6">
            <a:extLst>
              <a:ext uri="{FF2B5EF4-FFF2-40B4-BE49-F238E27FC236}">
                <a16:creationId xmlns:a16="http://schemas.microsoft.com/office/drawing/2014/main" id="{04C39DEB-5839-4CB7-A726-3EC6016EE546}"/>
              </a:ext>
            </a:extLst>
          </p:cNvPr>
          <p:cNvGraphicFramePr>
            <a:graphicFrameLocks noChangeAspect="1"/>
          </p:cNvGraphicFramePr>
          <p:nvPr>
            <p:extLst>
              <p:ext uri="{D42A27DB-BD31-4B8C-83A1-F6EECF244321}">
                <p14:modId xmlns:p14="http://schemas.microsoft.com/office/powerpoint/2010/main" val="2758500401"/>
              </p:ext>
            </p:extLst>
          </p:nvPr>
        </p:nvGraphicFramePr>
        <p:xfrm>
          <a:off x="3830002" y="1549718"/>
          <a:ext cx="3536773" cy="837882"/>
        </p:xfrm>
        <a:graphic>
          <a:graphicData uri="http://schemas.openxmlformats.org/presentationml/2006/ole">
            <mc:AlternateContent xmlns:mc="http://schemas.openxmlformats.org/markup-compatibility/2006">
              <mc:Choice xmlns:v="urn:schemas-microsoft-com:vml" Requires="v">
                <p:oleObj spid="_x0000_s12290" name="Equation" r:id="rId3" imgW="1970807" imgH="467229" progId="Equation.DSMT4">
                  <p:embed/>
                </p:oleObj>
              </mc:Choice>
              <mc:Fallback>
                <p:oleObj name="Equation" r:id="rId3" imgW="1970807" imgH="467229" progId="Equation.DSMT4">
                  <p:embed/>
                  <p:pic>
                    <p:nvPicPr>
                      <p:cNvPr id="7" name="Object 6">
                        <a:extLst>
                          <a:ext uri="{FF2B5EF4-FFF2-40B4-BE49-F238E27FC236}">
                            <a16:creationId xmlns:a16="http://schemas.microsoft.com/office/drawing/2014/main" id="{04C39DEB-5839-4CB7-A726-3EC6016EE546}"/>
                          </a:ext>
                        </a:extLst>
                      </p:cNvPr>
                      <p:cNvPicPr/>
                      <p:nvPr/>
                    </p:nvPicPr>
                    <p:blipFill>
                      <a:blip r:embed="rId4"/>
                      <a:stretch>
                        <a:fillRect/>
                      </a:stretch>
                    </p:blipFill>
                    <p:spPr>
                      <a:xfrm>
                        <a:off x="3830002" y="1549718"/>
                        <a:ext cx="3536773" cy="837882"/>
                      </a:xfrm>
                      <a:prstGeom prst="rect">
                        <a:avLst/>
                      </a:prstGeom>
                    </p:spPr>
                  </p:pic>
                </p:oleObj>
              </mc:Fallback>
            </mc:AlternateContent>
          </a:graphicData>
        </a:graphic>
      </p:graphicFrame>
      <p:graphicFrame>
        <p:nvGraphicFramePr>
          <p:cNvPr id="8" name="Object 7">
            <a:extLst>
              <a:ext uri="{FF2B5EF4-FFF2-40B4-BE49-F238E27FC236}">
                <a16:creationId xmlns:a16="http://schemas.microsoft.com/office/drawing/2014/main" id="{8A71ADE3-C8D4-4366-AC28-2C3B7556900E}"/>
              </a:ext>
            </a:extLst>
          </p:cNvPr>
          <p:cNvGraphicFramePr>
            <a:graphicFrameLocks noChangeAspect="1"/>
          </p:cNvGraphicFramePr>
          <p:nvPr>
            <p:extLst>
              <p:ext uri="{D42A27DB-BD31-4B8C-83A1-F6EECF244321}">
                <p14:modId xmlns:p14="http://schemas.microsoft.com/office/powerpoint/2010/main" val="2098536877"/>
              </p:ext>
            </p:extLst>
          </p:nvPr>
        </p:nvGraphicFramePr>
        <p:xfrm>
          <a:off x="880587" y="2509520"/>
          <a:ext cx="534352" cy="442222"/>
        </p:xfrm>
        <a:graphic>
          <a:graphicData uri="http://schemas.openxmlformats.org/presentationml/2006/ole">
            <mc:AlternateContent xmlns:mc="http://schemas.openxmlformats.org/markup-compatibility/2006">
              <mc:Choice xmlns:v="urn:schemas-microsoft-com:vml" Requires="v">
                <p:oleObj spid="_x0000_s12291" name="Equation" r:id="rId5" imgW="275992" imgH="228928" progId="Equation.DSMT4">
                  <p:embed/>
                </p:oleObj>
              </mc:Choice>
              <mc:Fallback>
                <p:oleObj name="Equation" r:id="rId5" imgW="275992" imgH="228928" progId="Equation.DSMT4">
                  <p:embed/>
                  <p:pic>
                    <p:nvPicPr>
                      <p:cNvPr id="8" name="Object 7">
                        <a:extLst>
                          <a:ext uri="{FF2B5EF4-FFF2-40B4-BE49-F238E27FC236}">
                            <a16:creationId xmlns:a16="http://schemas.microsoft.com/office/drawing/2014/main" id="{8A71ADE3-C8D4-4366-AC28-2C3B7556900E}"/>
                          </a:ext>
                        </a:extLst>
                      </p:cNvPr>
                      <p:cNvPicPr/>
                      <p:nvPr/>
                    </p:nvPicPr>
                    <p:blipFill>
                      <a:blip r:embed="rId6"/>
                      <a:stretch>
                        <a:fillRect/>
                      </a:stretch>
                    </p:blipFill>
                    <p:spPr>
                      <a:xfrm>
                        <a:off x="880587" y="2509520"/>
                        <a:ext cx="534352" cy="442222"/>
                      </a:xfrm>
                      <a:prstGeom prst="rect">
                        <a:avLst/>
                      </a:prstGeom>
                    </p:spPr>
                  </p:pic>
                </p:oleObj>
              </mc:Fallback>
            </mc:AlternateContent>
          </a:graphicData>
        </a:graphic>
      </p:graphicFrame>
      <p:graphicFrame>
        <p:nvGraphicFramePr>
          <p:cNvPr id="9" name="Object 8">
            <a:extLst>
              <a:ext uri="{FF2B5EF4-FFF2-40B4-BE49-F238E27FC236}">
                <a16:creationId xmlns:a16="http://schemas.microsoft.com/office/drawing/2014/main" id="{F5066A8C-7333-48AB-99B5-05ABA6CE0EF4}"/>
              </a:ext>
            </a:extLst>
          </p:cNvPr>
          <p:cNvGraphicFramePr>
            <a:graphicFrameLocks noChangeAspect="1"/>
          </p:cNvGraphicFramePr>
          <p:nvPr>
            <p:extLst>
              <p:ext uri="{D42A27DB-BD31-4B8C-83A1-F6EECF244321}">
                <p14:modId xmlns:p14="http://schemas.microsoft.com/office/powerpoint/2010/main" val="4222905068"/>
              </p:ext>
            </p:extLst>
          </p:nvPr>
        </p:nvGraphicFramePr>
        <p:xfrm>
          <a:off x="4486237" y="2471479"/>
          <a:ext cx="365442" cy="515918"/>
        </p:xfrm>
        <a:graphic>
          <a:graphicData uri="http://schemas.openxmlformats.org/presentationml/2006/ole">
            <mc:AlternateContent xmlns:mc="http://schemas.openxmlformats.org/markup-compatibility/2006">
              <mc:Choice xmlns:v="urn:schemas-microsoft-com:vml" Requires="v">
                <p:oleObj spid="_x0000_s12292" name="Equation" r:id="rId7" imgW="161925" imgH="228928" progId="Equation.DSMT4">
                  <p:embed/>
                </p:oleObj>
              </mc:Choice>
              <mc:Fallback>
                <p:oleObj name="Equation" r:id="rId7" imgW="161925" imgH="228928" progId="Equation.DSMT4">
                  <p:embed/>
                  <p:pic>
                    <p:nvPicPr>
                      <p:cNvPr id="9" name="Object 8">
                        <a:extLst>
                          <a:ext uri="{FF2B5EF4-FFF2-40B4-BE49-F238E27FC236}">
                            <a16:creationId xmlns:a16="http://schemas.microsoft.com/office/drawing/2014/main" id="{F5066A8C-7333-48AB-99B5-05ABA6CE0EF4}"/>
                          </a:ext>
                        </a:extLst>
                      </p:cNvPr>
                      <p:cNvPicPr/>
                      <p:nvPr/>
                    </p:nvPicPr>
                    <p:blipFill>
                      <a:blip r:embed="rId8"/>
                      <a:stretch>
                        <a:fillRect/>
                      </a:stretch>
                    </p:blipFill>
                    <p:spPr>
                      <a:xfrm>
                        <a:off x="4486237" y="2471479"/>
                        <a:ext cx="365442" cy="515918"/>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CAE33C1B-9413-4D44-AD45-6C97BEA889A4}"/>
              </a:ext>
            </a:extLst>
          </p:cNvPr>
          <p:cNvGraphicFramePr>
            <a:graphicFrameLocks noChangeAspect="1"/>
          </p:cNvGraphicFramePr>
          <p:nvPr>
            <p:extLst>
              <p:ext uri="{D42A27DB-BD31-4B8C-83A1-F6EECF244321}">
                <p14:modId xmlns:p14="http://schemas.microsoft.com/office/powerpoint/2010/main" val="2999900121"/>
              </p:ext>
            </p:extLst>
          </p:nvPr>
        </p:nvGraphicFramePr>
        <p:xfrm>
          <a:off x="880587" y="2990177"/>
          <a:ext cx="6745076" cy="1559599"/>
        </p:xfrm>
        <a:graphic>
          <a:graphicData uri="http://schemas.openxmlformats.org/presentationml/2006/ole">
            <mc:AlternateContent xmlns:mc="http://schemas.openxmlformats.org/markup-compatibility/2006">
              <mc:Choice xmlns:v="urn:schemas-microsoft-com:vml" Requires="v">
                <p:oleObj spid="_x0000_s12293" name="Equation" r:id="rId9" imgW="4332034" imgH="1001514" progId="Equation.DSMT4">
                  <p:embed/>
                </p:oleObj>
              </mc:Choice>
              <mc:Fallback>
                <p:oleObj name="Equation" r:id="rId9" imgW="4332034" imgH="1001514" progId="Equation.DSMT4">
                  <p:embed/>
                  <p:pic>
                    <p:nvPicPr>
                      <p:cNvPr id="11" name="Object 10">
                        <a:extLst>
                          <a:ext uri="{FF2B5EF4-FFF2-40B4-BE49-F238E27FC236}">
                            <a16:creationId xmlns:a16="http://schemas.microsoft.com/office/drawing/2014/main" id="{CAE33C1B-9413-4D44-AD45-6C97BEA889A4}"/>
                          </a:ext>
                        </a:extLst>
                      </p:cNvPr>
                      <p:cNvPicPr/>
                      <p:nvPr/>
                    </p:nvPicPr>
                    <p:blipFill>
                      <a:blip r:embed="rId10"/>
                      <a:stretch>
                        <a:fillRect/>
                      </a:stretch>
                    </p:blipFill>
                    <p:spPr>
                      <a:xfrm>
                        <a:off x="880587" y="2990177"/>
                        <a:ext cx="6745076" cy="1559599"/>
                      </a:xfrm>
                      <a:prstGeom prst="rect">
                        <a:avLst/>
                      </a:prstGeom>
                    </p:spPr>
                  </p:pic>
                </p:oleObj>
              </mc:Fallback>
            </mc:AlternateContent>
          </a:graphicData>
        </a:graphic>
      </p:graphicFrame>
      <p:graphicFrame>
        <p:nvGraphicFramePr>
          <p:cNvPr id="12" name="Object 11">
            <a:extLst>
              <a:ext uri="{FF2B5EF4-FFF2-40B4-BE49-F238E27FC236}">
                <a16:creationId xmlns:a16="http://schemas.microsoft.com/office/drawing/2014/main" id="{9A0F00D9-5BF1-4178-B366-6645AF798A82}"/>
              </a:ext>
            </a:extLst>
          </p:cNvPr>
          <p:cNvGraphicFramePr>
            <a:graphicFrameLocks noChangeAspect="1"/>
          </p:cNvGraphicFramePr>
          <p:nvPr>
            <p:extLst>
              <p:ext uri="{D42A27DB-BD31-4B8C-83A1-F6EECF244321}">
                <p14:modId xmlns:p14="http://schemas.microsoft.com/office/powerpoint/2010/main" val="57929722"/>
              </p:ext>
            </p:extLst>
          </p:nvPr>
        </p:nvGraphicFramePr>
        <p:xfrm>
          <a:off x="954088" y="4497921"/>
          <a:ext cx="1927291" cy="1410158"/>
        </p:xfrm>
        <a:graphic>
          <a:graphicData uri="http://schemas.openxmlformats.org/presentationml/2006/ole">
            <mc:AlternateContent xmlns:mc="http://schemas.openxmlformats.org/markup-compatibility/2006">
              <mc:Choice xmlns:v="urn:schemas-microsoft-com:vml" Requires="v">
                <p:oleObj spid="_x0000_s12294" name="Equation" r:id="rId11" imgW="1342538" imgH="982406" progId="Equation.DSMT4">
                  <p:embed/>
                </p:oleObj>
              </mc:Choice>
              <mc:Fallback>
                <p:oleObj name="Equation" r:id="rId11" imgW="1342538" imgH="982406" progId="Equation.DSMT4">
                  <p:embed/>
                  <p:pic>
                    <p:nvPicPr>
                      <p:cNvPr id="12" name="Object 11">
                        <a:extLst>
                          <a:ext uri="{FF2B5EF4-FFF2-40B4-BE49-F238E27FC236}">
                            <a16:creationId xmlns:a16="http://schemas.microsoft.com/office/drawing/2014/main" id="{9A0F00D9-5BF1-4178-B366-6645AF798A82}"/>
                          </a:ext>
                        </a:extLst>
                      </p:cNvPr>
                      <p:cNvPicPr/>
                      <p:nvPr/>
                    </p:nvPicPr>
                    <p:blipFill>
                      <a:blip r:embed="rId12"/>
                      <a:stretch>
                        <a:fillRect/>
                      </a:stretch>
                    </p:blipFill>
                    <p:spPr>
                      <a:xfrm>
                        <a:off x="954088" y="4497921"/>
                        <a:ext cx="1927291" cy="1410158"/>
                      </a:xfrm>
                      <a:prstGeom prst="rect">
                        <a:avLst/>
                      </a:prstGeom>
                    </p:spPr>
                  </p:pic>
                </p:oleObj>
              </mc:Fallback>
            </mc:AlternateContent>
          </a:graphicData>
        </a:graphic>
      </p:graphicFrame>
      <p:sp>
        <p:nvSpPr>
          <p:cNvPr id="13" name="TextBox 12">
            <a:extLst>
              <a:ext uri="{FF2B5EF4-FFF2-40B4-BE49-F238E27FC236}">
                <a16:creationId xmlns:a16="http://schemas.microsoft.com/office/drawing/2014/main" id="{10D80E68-8C5C-4E01-B9D4-2163EFD7860A}"/>
              </a:ext>
            </a:extLst>
          </p:cNvPr>
          <p:cNvSpPr txBox="1"/>
          <p:nvPr/>
        </p:nvSpPr>
        <p:spPr>
          <a:xfrm>
            <a:off x="3362960" y="4856480"/>
            <a:ext cx="5023957" cy="646331"/>
          </a:xfrm>
          <a:prstGeom prst="rect">
            <a:avLst/>
          </a:prstGeom>
          <a:noFill/>
        </p:spPr>
        <p:txBody>
          <a:bodyPr wrap="square" rtlCol="0">
            <a:spAutoFit/>
          </a:bodyPr>
          <a:lstStyle/>
          <a:p>
            <a:r>
              <a:rPr lang="en-US" dirty="0"/>
              <a:t>Theo </a:t>
            </a:r>
            <a:r>
              <a:rPr lang="en-US" dirty="0" err="1"/>
              <a:t>tài</a:t>
            </a:r>
            <a:r>
              <a:rPr lang="en-US" dirty="0"/>
              <a:t> </a:t>
            </a:r>
            <a:r>
              <a:rPr lang="en-US" dirty="0" err="1"/>
              <a:t>liệu</a:t>
            </a:r>
            <a:r>
              <a:rPr lang="en-US" dirty="0"/>
              <a:t> ta </a:t>
            </a:r>
            <a:r>
              <a:rPr lang="en-US" dirty="0" err="1"/>
              <a:t>chọn</a:t>
            </a:r>
            <a:r>
              <a:rPr lang="en-US" dirty="0"/>
              <a:t>:                     t</a:t>
            </a:r>
            <a:r>
              <a:rPr lang="vi-VN" dirty="0"/>
              <a:t>ươ</a:t>
            </a:r>
            <a:r>
              <a:rPr lang="en-US" dirty="0"/>
              <a:t>ng </a:t>
            </a:r>
            <a:r>
              <a:rPr lang="en-US" dirty="0" err="1"/>
              <a:t>ứng</a:t>
            </a:r>
            <a:r>
              <a:rPr lang="en-US" dirty="0"/>
              <a:t> </a:t>
            </a:r>
            <a:r>
              <a:rPr lang="en-US" dirty="0" err="1"/>
              <a:t>với</a:t>
            </a:r>
            <a:r>
              <a:rPr lang="en-US" dirty="0"/>
              <a:t> </a:t>
            </a:r>
            <a:r>
              <a:rPr lang="en-US" dirty="0" err="1"/>
              <a:t>độ</a:t>
            </a:r>
            <a:r>
              <a:rPr lang="en-US" dirty="0"/>
              <a:t> </a:t>
            </a:r>
            <a:r>
              <a:rPr lang="en-US" dirty="0" err="1"/>
              <a:t>quá</a:t>
            </a:r>
            <a:r>
              <a:rPr lang="en-US" dirty="0"/>
              <a:t> </a:t>
            </a:r>
            <a:r>
              <a:rPr lang="en-US" dirty="0" err="1"/>
              <a:t>điều</a:t>
            </a:r>
            <a:r>
              <a:rPr lang="en-US" dirty="0"/>
              <a:t> </a:t>
            </a:r>
            <a:r>
              <a:rPr lang="en-US" dirty="0" err="1"/>
              <a:t>chỉnh</a:t>
            </a:r>
            <a:r>
              <a:rPr lang="en-US" dirty="0"/>
              <a:t> 5%, </a:t>
            </a:r>
            <a:r>
              <a:rPr lang="en-US" dirty="0" err="1"/>
              <a:t>ts</a:t>
            </a:r>
            <a:r>
              <a:rPr lang="en-US" dirty="0"/>
              <a:t> = 1s  </a:t>
            </a:r>
          </a:p>
        </p:txBody>
      </p:sp>
      <p:graphicFrame>
        <p:nvGraphicFramePr>
          <p:cNvPr id="14" name="Object 13">
            <a:extLst>
              <a:ext uri="{FF2B5EF4-FFF2-40B4-BE49-F238E27FC236}">
                <a16:creationId xmlns:a16="http://schemas.microsoft.com/office/drawing/2014/main" id="{23687114-661B-4E9F-9131-064565F8941A}"/>
              </a:ext>
            </a:extLst>
          </p:cNvPr>
          <p:cNvGraphicFramePr>
            <a:graphicFrameLocks noChangeAspect="1"/>
          </p:cNvGraphicFramePr>
          <p:nvPr>
            <p:extLst>
              <p:ext uri="{D42A27DB-BD31-4B8C-83A1-F6EECF244321}">
                <p14:modId xmlns:p14="http://schemas.microsoft.com/office/powerpoint/2010/main" val="3346177048"/>
              </p:ext>
            </p:extLst>
          </p:nvPr>
        </p:nvGraphicFramePr>
        <p:xfrm>
          <a:off x="5496788" y="4870502"/>
          <a:ext cx="932689" cy="355310"/>
        </p:xfrm>
        <a:graphic>
          <a:graphicData uri="http://schemas.openxmlformats.org/presentationml/2006/ole">
            <mc:AlternateContent xmlns:mc="http://schemas.openxmlformats.org/markup-compatibility/2006">
              <mc:Choice xmlns:v="urn:schemas-microsoft-com:vml" Requires="v">
                <p:oleObj spid="_x0000_s12295" name="Equation" r:id="rId13" imgW="599842" imgH="228928" progId="Equation.DSMT4">
                  <p:embed/>
                </p:oleObj>
              </mc:Choice>
              <mc:Fallback>
                <p:oleObj name="Equation" r:id="rId13" imgW="599842" imgH="228928" progId="Equation.DSMT4">
                  <p:embed/>
                  <p:pic>
                    <p:nvPicPr>
                      <p:cNvPr id="14" name="Object 13">
                        <a:extLst>
                          <a:ext uri="{FF2B5EF4-FFF2-40B4-BE49-F238E27FC236}">
                            <a16:creationId xmlns:a16="http://schemas.microsoft.com/office/drawing/2014/main" id="{23687114-661B-4E9F-9131-064565F8941A}"/>
                          </a:ext>
                        </a:extLst>
                      </p:cNvPr>
                      <p:cNvPicPr/>
                      <p:nvPr/>
                    </p:nvPicPr>
                    <p:blipFill>
                      <a:blip r:embed="rId14"/>
                      <a:stretch>
                        <a:fillRect/>
                      </a:stretch>
                    </p:blipFill>
                    <p:spPr>
                      <a:xfrm>
                        <a:off x="5496788" y="4870502"/>
                        <a:ext cx="932689" cy="355310"/>
                      </a:xfrm>
                      <a:prstGeom prst="rect">
                        <a:avLst/>
                      </a:prstGeom>
                    </p:spPr>
                  </p:pic>
                </p:oleObj>
              </mc:Fallback>
            </mc:AlternateContent>
          </a:graphicData>
        </a:graphic>
      </p:graphicFrame>
      <p:graphicFrame>
        <p:nvGraphicFramePr>
          <p:cNvPr id="15" name="Object 14">
            <a:extLst>
              <a:ext uri="{FF2B5EF4-FFF2-40B4-BE49-F238E27FC236}">
                <a16:creationId xmlns:a16="http://schemas.microsoft.com/office/drawing/2014/main" id="{0CD2B806-6023-43AF-B2B2-75D6D4CA39C6}"/>
              </a:ext>
            </a:extLst>
          </p:cNvPr>
          <p:cNvGraphicFramePr>
            <a:graphicFrameLocks noChangeAspect="1"/>
          </p:cNvGraphicFramePr>
          <p:nvPr>
            <p:extLst>
              <p:ext uri="{D42A27DB-BD31-4B8C-83A1-F6EECF244321}">
                <p14:modId xmlns:p14="http://schemas.microsoft.com/office/powerpoint/2010/main" val="3497035969"/>
              </p:ext>
            </p:extLst>
          </p:nvPr>
        </p:nvGraphicFramePr>
        <p:xfrm>
          <a:off x="6000646" y="5308282"/>
          <a:ext cx="1366129" cy="1107740"/>
        </p:xfrm>
        <a:graphic>
          <a:graphicData uri="http://schemas.openxmlformats.org/presentationml/2006/ole">
            <mc:AlternateContent xmlns:mc="http://schemas.openxmlformats.org/markup-compatibility/2006">
              <mc:Choice xmlns:v="urn:schemas-microsoft-com:vml" Requires="v">
                <p:oleObj spid="_x0000_s12296" name="Equation" r:id="rId15" imgW="847407" imgH="686783" progId="Equation.DSMT4">
                  <p:embed/>
                </p:oleObj>
              </mc:Choice>
              <mc:Fallback>
                <p:oleObj name="Equation" r:id="rId15" imgW="847407" imgH="686783" progId="Equation.DSMT4">
                  <p:embed/>
                  <p:pic>
                    <p:nvPicPr>
                      <p:cNvPr id="15" name="Object 14">
                        <a:extLst>
                          <a:ext uri="{FF2B5EF4-FFF2-40B4-BE49-F238E27FC236}">
                            <a16:creationId xmlns:a16="http://schemas.microsoft.com/office/drawing/2014/main" id="{0CD2B806-6023-43AF-B2B2-75D6D4CA39C6}"/>
                          </a:ext>
                        </a:extLst>
                      </p:cNvPr>
                      <p:cNvPicPr/>
                      <p:nvPr/>
                    </p:nvPicPr>
                    <p:blipFill>
                      <a:blip r:embed="rId16"/>
                      <a:stretch>
                        <a:fillRect/>
                      </a:stretch>
                    </p:blipFill>
                    <p:spPr>
                      <a:xfrm>
                        <a:off x="6000646" y="5308282"/>
                        <a:ext cx="1366129" cy="1107740"/>
                      </a:xfrm>
                      <a:prstGeom prst="rect">
                        <a:avLst/>
                      </a:prstGeom>
                    </p:spPr>
                  </p:pic>
                </p:oleObj>
              </mc:Fallback>
            </mc:AlternateContent>
          </a:graphicData>
        </a:graphic>
      </p:graphicFrame>
    </p:spTree>
    <p:extLst>
      <p:ext uri="{BB962C8B-B14F-4D97-AF65-F5344CB8AC3E}">
        <p14:creationId xmlns:p14="http://schemas.microsoft.com/office/powerpoint/2010/main" val="3407796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858982" y="949921"/>
            <a:ext cx="7689273" cy="4927107"/>
          </a:xfrm>
        </p:spPr>
        <p:txBody>
          <a:bodyPr>
            <a:normAutofit/>
          </a:bodyPr>
          <a:lstStyle/>
          <a:p>
            <a:pPr marL="342900" indent="-342900" algn="l">
              <a:buFont typeface="Wingdings" panose="05000000000000000000" pitchFamily="2" charset="2"/>
              <a:buChar char="v"/>
            </a:pPr>
            <a:r>
              <a:rPr lang="en-US" sz="2000" dirty="0" err="1"/>
              <a:t>Mô</a:t>
            </a:r>
            <a:r>
              <a:rPr lang="en-US" sz="2000" dirty="0"/>
              <a:t> </a:t>
            </a:r>
            <a:r>
              <a:rPr lang="en-US" sz="2000" dirty="0" err="1"/>
              <a:t>phỏng</a:t>
            </a:r>
            <a:r>
              <a:rPr lang="en-US" sz="2000" dirty="0"/>
              <a:t> </a:t>
            </a:r>
            <a:r>
              <a:rPr lang="en-US" sz="2000" dirty="0" err="1"/>
              <a:t>kiểm</a:t>
            </a:r>
            <a:r>
              <a:rPr lang="en-US" sz="2000" dirty="0"/>
              <a:t> </a:t>
            </a:r>
            <a:r>
              <a:rPr lang="en-US" sz="2000" dirty="0" err="1"/>
              <a:t>chứng</a:t>
            </a:r>
            <a:r>
              <a:rPr lang="en-US" sz="2000" dirty="0"/>
              <a:t> </a:t>
            </a:r>
            <a:r>
              <a:rPr lang="en-US" sz="2000" dirty="0" err="1"/>
              <a:t>phương</a:t>
            </a:r>
            <a:r>
              <a:rPr lang="en-US" sz="2000" dirty="0"/>
              <a:t> </a:t>
            </a:r>
            <a:r>
              <a:rPr lang="en-US" sz="2000" dirty="0" err="1"/>
              <a:t>pháp</a:t>
            </a:r>
            <a:r>
              <a:rPr lang="en-US" sz="2000" dirty="0"/>
              <a:t> </a:t>
            </a:r>
            <a:r>
              <a:rPr lang="en-US" sz="2000" dirty="0" err="1"/>
              <a:t>điều</a:t>
            </a:r>
            <a:r>
              <a:rPr lang="en-US" sz="2000" dirty="0"/>
              <a:t> </a:t>
            </a:r>
            <a:r>
              <a:rPr lang="en-US" sz="2000" dirty="0" err="1"/>
              <a:t>khiển</a:t>
            </a:r>
            <a:r>
              <a:rPr lang="en-US" sz="2000" dirty="0"/>
              <a:t> FOC </a:t>
            </a:r>
            <a:r>
              <a:rPr lang="en-US" sz="2000" dirty="0" err="1"/>
              <a:t>trên</a:t>
            </a:r>
            <a:r>
              <a:rPr lang="en-US" sz="2000" dirty="0"/>
              <a:t> MATLAB </a:t>
            </a:r>
            <a:r>
              <a:rPr lang="en-US" sz="2000" dirty="0" err="1"/>
              <a:t>và</a:t>
            </a:r>
            <a:r>
              <a:rPr lang="en-US" sz="2000" dirty="0"/>
              <a:t> </a:t>
            </a:r>
            <a:r>
              <a:rPr lang="en-US" sz="2000" dirty="0" err="1"/>
              <a:t>Bộ</a:t>
            </a:r>
            <a:r>
              <a:rPr lang="en-US" sz="2000" dirty="0"/>
              <a:t> Typhoon HIL 402</a:t>
            </a:r>
          </a:p>
          <a:p>
            <a:pPr marL="342900" indent="-342900" algn="l">
              <a:buFont typeface="Wingdings" panose="05000000000000000000" pitchFamily="2" charset="2"/>
              <a:buChar char="v"/>
            </a:pPr>
            <a:r>
              <a:rPr lang="en-US" sz="2000" dirty="0" err="1"/>
              <a:t>Sử</a:t>
            </a:r>
            <a:r>
              <a:rPr lang="en-US" sz="2000" dirty="0"/>
              <a:t> </a:t>
            </a:r>
            <a:r>
              <a:rPr lang="en-US" sz="2000" dirty="0" err="1"/>
              <a:t>dụng</a:t>
            </a:r>
            <a:r>
              <a:rPr lang="en-US" sz="2000" dirty="0"/>
              <a:t> </a:t>
            </a:r>
            <a:r>
              <a:rPr lang="en-US" sz="2000" dirty="0" err="1"/>
              <a:t>bộ</a:t>
            </a:r>
            <a:r>
              <a:rPr lang="en-US" sz="2000" dirty="0"/>
              <a:t> </a:t>
            </a:r>
            <a:r>
              <a:rPr lang="en-US" sz="2000" dirty="0" err="1"/>
              <a:t>điều</a:t>
            </a:r>
            <a:r>
              <a:rPr lang="en-US" sz="2000" dirty="0"/>
              <a:t> </a:t>
            </a:r>
            <a:r>
              <a:rPr lang="en-US" sz="2000" dirty="0" err="1"/>
              <a:t>khiển</a:t>
            </a:r>
            <a:r>
              <a:rPr lang="en-US" sz="2000" dirty="0"/>
              <a:t> PI </a:t>
            </a:r>
            <a:r>
              <a:rPr lang="en-US" sz="2000" dirty="0" err="1"/>
              <a:t>rời</a:t>
            </a:r>
            <a:r>
              <a:rPr lang="en-US" sz="2000" dirty="0"/>
              <a:t> </a:t>
            </a:r>
            <a:r>
              <a:rPr lang="en-US" sz="2000" dirty="0" err="1"/>
              <a:t>rạc</a:t>
            </a:r>
            <a:r>
              <a:rPr lang="en-US" sz="2000" dirty="0"/>
              <a:t> </a:t>
            </a:r>
            <a:r>
              <a:rPr lang="en-US" sz="2000" dirty="0" err="1"/>
              <a:t>theo</a:t>
            </a:r>
            <a:r>
              <a:rPr lang="en-US" sz="2000" dirty="0"/>
              <a:t> </a:t>
            </a:r>
            <a:r>
              <a:rPr lang="en-US" sz="2000" dirty="0" err="1"/>
              <a:t>phương</a:t>
            </a:r>
            <a:r>
              <a:rPr lang="en-US" sz="2000" dirty="0"/>
              <a:t> </a:t>
            </a:r>
            <a:r>
              <a:rPr lang="en-US" sz="2000" dirty="0" err="1"/>
              <a:t>pháp</a:t>
            </a:r>
            <a:r>
              <a:rPr lang="en-US" sz="2000" dirty="0"/>
              <a:t> Tustin</a:t>
            </a:r>
          </a:p>
          <a:p>
            <a:pPr marL="342900" indent="-342900" algn="l">
              <a:buFont typeface="Wingdings" panose="05000000000000000000" pitchFamily="2" charset="2"/>
              <a:buChar char="v"/>
            </a:pPr>
            <a:endParaRPr lang="en-US" sz="2000" dirty="0"/>
          </a:p>
          <a:p>
            <a:pPr marL="342900" marR="0" lvl="0" indent="-342900" algn="just">
              <a:lnSpc>
                <a:spcPct val="107000"/>
              </a:lnSpc>
              <a:spcBef>
                <a:spcPts val="0"/>
              </a:spcBef>
              <a:spcAft>
                <a:spcPts val="600"/>
              </a:spcAft>
              <a:buFont typeface="Times New Roman" panose="02020603050405020304" pitchFamily="18" charset="0"/>
              <a:buChar char="-"/>
            </a:pPr>
            <a:r>
              <a:rPr lang="en-US" sz="2000" dirty="0" err="1">
                <a:effectLst/>
                <a:latin typeface="Abadi" panose="020B0604020202020204" pitchFamily="34" charset="0"/>
                <a:ea typeface="Calibri" panose="020F0502020204030204" pitchFamily="34" charset="0"/>
                <a:cs typeface="Times New Roman" panose="02020603050405020304" pitchFamily="18" charset="0"/>
              </a:rPr>
              <a:t>Điện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áp</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một</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chiều</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đầu</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vào</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nghịch</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lưu</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U</a:t>
            </a:r>
            <a:r>
              <a:rPr lang="en-US" sz="2000" baseline="-25000" dirty="0" err="1">
                <a:effectLst/>
                <a:latin typeface="Abadi" panose="020B0604020202020204" pitchFamily="34" charset="0"/>
                <a:ea typeface="Calibri" panose="020F0502020204030204" pitchFamily="34" charset="0"/>
                <a:cs typeface="Times New Roman" panose="02020603050405020304" pitchFamily="18" charset="0"/>
              </a:rPr>
              <a:t>dc</a:t>
            </a:r>
            <a:r>
              <a:rPr lang="en-US" sz="2000" dirty="0">
                <a:effectLst/>
                <a:latin typeface="Abadi" panose="020B0604020202020204" pitchFamily="34" charset="0"/>
                <a:ea typeface="Calibri" panose="020F0502020204030204" pitchFamily="34" charset="0"/>
                <a:cs typeface="Times New Roman" panose="02020603050405020304" pitchFamily="18" charset="0"/>
              </a:rPr>
              <a:t> = 600V.</a:t>
            </a:r>
          </a:p>
          <a:p>
            <a:pPr marL="342900" marR="0" lvl="0" indent="-342900" algn="just">
              <a:lnSpc>
                <a:spcPct val="107000"/>
              </a:lnSpc>
              <a:spcBef>
                <a:spcPts val="0"/>
              </a:spcBef>
              <a:spcAft>
                <a:spcPts val="600"/>
              </a:spcAft>
              <a:buFont typeface="Times New Roman" panose="02020603050405020304" pitchFamily="18" charset="0"/>
              <a:buChar char="-"/>
            </a:pPr>
            <a:r>
              <a:rPr lang="en-US" sz="2000" dirty="0" err="1">
                <a:effectLst/>
                <a:latin typeface="Abadi" panose="020B0604020202020204" pitchFamily="34" charset="0"/>
                <a:ea typeface="Calibri" panose="020F0502020204030204" pitchFamily="34" charset="0"/>
                <a:cs typeface="Times New Roman" panose="02020603050405020304" pitchFamily="18" charset="0"/>
              </a:rPr>
              <a:t>Thông</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số</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động</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cơ</a:t>
            </a:r>
            <a:r>
              <a:rPr lang="en-US" sz="2000" dirty="0">
                <a:latin typeface="Abadi" panose="020B0604020202020204" pitchFamily="34" charset="0"/>
                <a:ea typeface="Calibri" panose="020F0502020204030204" pitchFamily="34" charset="0"/>
                <a:cs typeface="Times New Roman" panose="02020603050405020304" pitchFamily="18" charset="0"/>
              </a:rPr>
              <a:t>: </a:t>
            </a:r>
          </a:p>
          <a:p>
            <a:pPr marL="342900" indent="-342900" algn="l">
              <a:buFont typeface="Wingdings" panose="05000000000000000000" pitchFamily="2" charset="2"/>
              <a:buChar char="v"/>
            </a:pPr>
            <a:endParaRPr lang="en-US" sz="2000" dirty="0"/>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dirty="0" err="1">
                <a:latin typeface="Arial"/>
                <a:cs typeface="Arial"/>
              </a:rPr>
              <a:t>Mô</a:t>
            </a:r>
            <a:r>
              <a:rPr lang="en-US" dirty="0">
                <a:latin typeface="Arial"/>
                <a:cs typeface="Arial"/>
              </a:rPr>
              <a:t> </a:t>
            </a:r>
            <a:r>
              <a:rPr lang="en-US" dirty="0" err="1">
                <a:latin typeface="Arial"/>
                <a:cs typeface="Arial"/>
              </a:rPr>
              <a:t>phỏng</a:t>
            </a:r>
            <a:r>
              <a:rPr lang="en-US" dirty="0">
                <a:latin typeface="Arial"/>
                <a:cs typeface="Arial"/>
              </a:rPr>
              <a:t> </a:t>
            </a:r>
            <a:r>
              <a:rPr lang="en-US" dirty="0" err="1">
                <a:latin typeface="Arial"/>
                <a:cs typeface="Arial"/>
              </a:rPr>
              <a:t>kiểm</a:t>
            </a:r>
            <a:r>
              <a:rPr lang="en-US" dirty="0">
                <a:latin typeface="Arial"/>
                <a:cs typeface="Arial"/>
              </a:rPr>
              <a:t> </a:t>
            </a:r>
            <a:r>
              <a:rPr lang="en-US" dirty="0" err="1">
                <a:latin typeface="Arial"/>
                <a:cs typeface="Arial"/>
              </a:rPr>
              <a:t>chứng</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23</a:t>
            </a:fld>
            <a:endParaRPr lang="en-US"/>
          </a:p>
        </p:txBody>
      </p:sp>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E445D9D7-60E9-423A-9BE2-9DDA2B19B898}"/>
                  </a:ext>
                </a:extLst>
              </p:cNvPr>
              <p:cNvGraphicFramePr>
                <a:graphicFrameLocks noGrp="1"/>
              </p:cNvGraphicFramePr>
              <p:nvPr>
                <p:extLst>
                  <p:ext uri="{D42A27DB-BD31-4B8C-83A1-F6EECF244321}">
                    <p14:modId xmlns:p14="http://schemas.microsoft.com/office/powerpoint/2010/main" val="420115011"/>
                  </p:ext>
                </p:extLst>
              </p:nvPr>
            </p:nvGraphicFramePr>
            <p:xfrm>
              <a:off x="1285413" y="3160234"/>
              <a:ext cx="6836410" cy="2874804"/>
            </p:xfrm>
            <a:graphic>
              <a:graphicData uri="http://schemas.openxmlformats.org/drawingml/2006/table">
                <a:tbl>
                  <a:tblPr firstRow="1" firstCol="1" bandRow="1">
                    <a:tableStyleId>{5C22544A-7EE6-4342-B048-85BDC9FD1C3A}</a:tableStyleId>
                  </a:tblPr>
                  <a:tblGrid>
                    <a:gridCol w="3418205">
                      <a:extLst>
                        <a:ext uri="{9D8B030D-6E8A-4147-A177-3AD203B41FA5}">
                          <a16:colId xmlns:a16="http://schemas.microsoft.com/office/drawing/2014/main" val="397456185"/>
                        </a:ext>
                      </a:extLst>
                    </a:gridCol>
                    <a:gridCol w="3418205">
                      <a:extLst>
                        <a:ext uri="{9D8B030D-6E8A-4147-A177-3AD203B41FA5}">
                          <a16:colId xmlns:a16="http://schemas.microsoft.com/office/drawing/2014/main" val="1212894835"/>
                        </a:ext>
                      </a:extLst>
                    </a:gridCol>
                  </a:tblGrid>
                  <a:tr h="626684">
                    <a:tc>
                      <a:txBody>
                        <a:bodyPr/>
                        <a:lstStyle/>
                        <a:p>
                          <a:pPr marL="0" marR="0" indent="228600" algn="just">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Điện cảm dọc trục:</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14:m>
                            <m:oMath xmlns:m="http://schemas.openxmlformats.org/officeDocument/2006/math">
                              <m:sSub>
                                <m:sSubPr>
                                  <m:ctrlPr>
                                    <a:rPr lang="en-US" sz="2000" b="0" i="1" smtClean="0">
                                      <a:solidFill>
                                        <a:schemeClr val="tx1"/>
                                      </a:solidFill>
                                      <a:effectLst/>
                                      <a:latin typeface="Cambria Math" panose="02040503050406030204" pitchFamily="18" charset="0"/>
                                    </a:rPr>
                                  </m:ctrlPr>
                                </m:sSubPr>
                                <m:e>
                                  <m:r>
                                    <a:rPr lang="en-US" sz="2000" b="0" i="1">
                                      <a:solidFill>
                                        <a:schemeClr val="tx1"/>
                                      </a:solidFill>
                                      <a:effectLst/>
                                      <a:latin typeface="Cambria Math" panose="02040503050406030204" pitchFamily="18" charset="0"/>
                                    </a:rPr>
                                    <m:t>𝐿</m:t>
                                  </m:r>
                                </m:e>
                                <m:sub>
                                  <m:r>
                                    <a:rPr lang="en-US" sz="2000" b="0" i="1">
                                      <a:solidFill>
                                        <a:schemeClr val="tx1"/>
                                      </a:solidFill>
                                      <a:effectLst/>
                                      <a:latin typeface="Cambria Math" panose="02040503050406030204" pitchFamily="18" charset="0"/>
                                    </a:rPr>
                                    <m:t>𝑠𝑞</m:t>
                                  </m:r>
                                </m:sub>
                              </m:sSub>
                            </m:oMath>
                          </a14:m>
                          <a:r>
                            <a:rPr lang="en-US" sz="2000" b="0" dirty="0">
                              <a:solidFill>
                                <a:schemeClr val="tx1"/>
                              </a:solidFill>
                              <a:effectLst/>
                              <a:latin typeface="Times New Roman" panose="02020603050405020304" pitchFamily="18" charset="0"/>
                              <a:cs typeface="Times New Roman" panose="02020603050405020304" pitchFamily="18" charset="0"/>
                            </a:rPr>
                            <a:t> = 0.0022 H</a:t>
                          </a:r>
                          <a:endParaRPr lang="en-US" sz="20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326974879"/>
                      </a:ext>
                    </a:extLst>
                  </a:tr>
                  <a:tr h="562030">
                    <a:tc>
                      <a:txBody>
                        <a:bodyPr/>
                        <a:lstStyle/>
                        <a:p>
                          <a:pPr marL="0" marR="0" indent="228600" algn="just">
                            <a:lnSpc>
                              <a:spcPct val="107000"/>
                            </a:lnSpc>
                            <a:spcBef>
                              <a:spcPts val="0"/>
                            </a:spcBef>
                            <a:spcAft>
                              <a:spcPts val="0"/>
                            </a:spcAft>
                          </a:pPr>
                          <a:r>
                            <a:rPr lang="en-US" sz="2000" dirty="0" err="1">
                              <a:effectLst/>
                              <a:latin typeface="Times New Roman" panose="02020603050405020304" pitchFamily="18" charset="0"/>
                              <a:cs typeface="Times New Roman" panose="02020603050405020304" pitchFamily="18" charset="0"/>
                            </a:rPr>
                            <a:t>Điện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cảm</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ngang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trục</a:t>
                          </a:r>
                          <a:r>
                            <a:rPr lang="en-US" sz="2000" dirty="0">
                              <a:effectLst/>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14:m>
                            <m:oMath xmlns:m="http://schemas.openxmlformats.org/officeDocument/2006/math">
                              <m:sSub>
                                <m:sSubPr>
                                  <m:ctrlPr>
                                    <a:rPr lang="en-US" sz="2000" i="1">
                                      <a:effectLst/>
                                      <a:latin typeface="Cambria Math" panose="02040503050406030204" pitchFamily="18" charset="0"/>
                                    </a:rPr>
                                  </m:ctrlPr>
                                </m:sSubPr>
                                <m:e>
                                  <m:r>
                                    <a:rPr lang="en-US" sz="2000">
                                      <a:effectLst/>
                                      <a:latin typeface="Cambria Math" panose="02040503050406030204" pitchFamily="18" charset="0"/>
                                    </a:rPr>
                                    <m:t>𝐿</m:t>
                                  </m:r>
                                </m:e>
                                <m:sub>
                                  <m:r>
                                    <a:rPr lang="en-US" sz="2000">
                                      <a:effectLst/>
                                      <a:latin typeface="Cambria Math" panose="02040503050406030204" pitchFamily="18" charset="0"/>
                                    </a:rPr>
                                    <m:t>𝑠𝑑</m:t>
                                  </m:r>
                                </m:sub>
                              </m:sSub>
                            </m:oMath>
                          </a14:m>
                          <a:r>
                            <a:rPr lang="en-US" sz="2000" dirty="0">
                              <a:effectLst/>
                              <a:latin typeface="Times New Roman" panose="02020603050405020304" pitchFamily="18" charset="0"/>
                              <a:cs typeface="Times New Roman" panose="02020603050405020304" pitchFamily="18" charset="0"/>
                            </a:rPr>
                            <a:t> = 0.0022 H</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687242"/>
                      </a:ext>
                    </a:extLst>
                  </a:tr>
                  <a:tr h="562030">
                    <a:tc>
                      <a:txBody>
                        <a:bodyPr/>
                        <a:lstStyle/>
                        <a:p>
                          <a:pPr marL="0" marR="0" indent="228600" algn="just">
                            <a:lnSpc>
                              <a:spcPct val="107000"/>
                            </a:lnSpc>
                            <a:spcBef>
                              <a:spcPts val="0"/>
                            </a:spcBef>
                            <a:spcAft>
                              <a:spcPts val="0"/>
                            </a:spcAft>
                          </a:pPr>
                          <a:r>
                            <a:rPr lang="en-US" sz="2000" dirty="0" err="1">
                              <a:effectLst/>
                              <a:latin typeface="Times New Roman" panose="02020603050405020304" pitchFamily="18" charset="0"/>
                              <a:cs typeface="Times New Roman" panose="02020603050405020304" pitchFamily="18" charset="0"/>
                            </a:rPr>
                            <a:t>Điện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trở</a:t>
                          </a:r>
                          <a:r>
                            <a:rPr lang="en-US" sz="2000" dirty="0">
                              <a:effectLst/>
                              <a:latin typeface="Times New Roman" panose="02020603050405020304" pitchFamily="18" charset="0"/>
                              <a:cs typeface="Times New Roman" panose="02020603050405020304" pitchFamily="18" charset="0"/>
                            </a:rPr>
                            <a:t> stator:</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r>
                            <a:rPr lang="en-US" sz="2000" dirty="0">
                              <a:effectLst/>
                              <a:latin typeface="Times New Roman" panose="02020603050405020304" pitchFamily="18" charset="0"/>
                              <a:cs typeface="Times New Roman" panose="02020603050405020304" pitchFamily="18" charset="0"/>
                            </a:rPr>
                            <a:t>R</a:t>
                          </a:r>
                          <a:r>
                            <a:rPr lang="en-US" sz="2000" baseline="-25000" dirty="0">
                              <a:effectLst/>
                              <a:latin typeface="Times New Roman" panose="02020603050405020304" pitchFamily="18" charset="0"/>
                              <a:cs typeface="Times New Roman" panose="02020603050405020304" pitchFamily="18" charset="0"/>
                            </a:rPr>
                            <a:t>s</a:t>
                          </a:r>
                          <a:r>
                            <a:rPr lang="en-US" sz="2000" dirty="0">
                              <a:effectLst/>
                              <a:latin typeface="Times New Roman" panose="02020603050405020304" pitchFamily="18" charset="0"/>
                              <a:cs typeface="Times New Roman" panose="02020603050405020304" pitchFamily="18" charset="0"/>
                            </a:rPr>
                            <a:t> = 0.5 Ω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18700852"/>
                      </a:ext>
                    </a:extLst>
                  </a:tr>
                  <a:tr h="562030">
                    <a:tc>
                      <a:txBody>
                        <a:bodyPr/>
                        <a:lstStyle/>
                        <a:p>
                          <a:pPr marL="0" marR="0" indent="228600" algn="just">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Số cặp cực:</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r>
                            <a:rPr lang="en-US" sz="2000">
                              <a:effectLst/>
                              <a:latin typeface="Times New Roman" panose="02020603050405020304" pitchFamily="18" charset="0"/>
                              <a:cs typeface="Times New Roman" panose="02020603050405020304" pitchFamily="18" charset="0"/>
                            </a:rPr>
                            <a:t>Z</a:t>
                          </a:r>
                          <a:r>
                            <a:rPr lang="en-US" sz="2000" baseline="-25000">
                              <a:effectLst/>
                              <a:latin typeface="Times New Roman" panose="02020603050405020304" pitchFamily="18" charset="0"/>
                              <a:cs typeface="Times New Roman" panose="02020603050405020304" pitchFamily="18" charset="0"/>
                            </a:rPr>
                            <a:t>p</a:t>
                          </a:r>
                          <a:r>
                            <a:rPr lang="en-US" sz="2000">
                              <a:effectLst/>
                              <a:latin typeface="Times New Roman" panose="02020603050405020304" pitchFamily="18" charset="0"/>
                              <a:cs typeface="Times New Roman" panose="02020603050405020304" pitchFamily="18" charset="0"/>
                            </a:rPr>
                            <a:t> = 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1198839"/>
                      </a:ext>
                    </a:extLst>
                  </a:tr>
                  <a:tr h="562030">
                    <a:tc>
                      <a:txBody>
                        <a:bodyPr/>
                        <a:lstStyle/>
                        <a:p>
                          <a:pPr marL="0" marR="0" indent="228600" algn="just">
                            <a:lnSpc>
                              <a:spcPct val="107000"/>
                            </a:lnSpc>
                            <a:spcBef>
                              <a:spcPts val="0"/>
                            </a:spcBef>
                            <a:spcAft>
                              <a:spcPts val="0"/>
                            </a:spcAft>
                          </a:pPr>
                          <a:r>
                            <a:rPr lang="en-US" sz="2000" dirty="0" err="1">
                              <a:effectLst/>
                              <a:latin typeface="Times New Roman" panose="02020603050405020304" pitchFamily="18" charset="0"/>
                              <a:cs typeface="Times New Roman" panose="02020603050405020304" pitchFamily="18" charset="0"/>
                            </a:rPr>
                            <a:t>Momen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quán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tính</a:t>
                          </a:r>
                          <a:r>
                            <a:rPr lang="en-US" sz="2000" dirty="0">
                              <a:effectLst/>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r>
                            <a:rPr lang="en-US" sz="2000" dirty="0">
                              <a:effectLst/>
                              <a:latin typeface="Times New Roman" panose="02020603050405020304" pitchFamily="18" charset="0"/>
                              <a:cs typeface="Times New Roman" panose="02020603050405020304" pitchFamily="18" charset="0"/>
                            </a:rPr>
                            <a:t>J = 3.24e-3 </a:t>
                          </a:r>
                          <a:r>
                            <a:rPr lang="en-US" sz="2000" dirty="0" err="1">
                              <a:effectLst/>
                              <a:latin typeface="Times New Roman" panose="02020603050405020304" pitchFamily="18" charset="0"/>
                              <a:cs typeface="Times New Roman" panose="02020603050405020304" pitchFamily="18" charset="0"/>
                            </a:rPr>
                            <a:t>Kg.m</a:t>
                          </a:r>
                          <a:r>
                            <a:rPr lang="en-US" sz="2000" dirty="0">
                              <a:effectLst/>
                              <a:latin typeface="Times New Roman" panose="02020603050405020304" pitchFamily="18" charset="0"/>
                              <a:cs typeface="Times New Roman" panose="02020603050405020304" pitchFamily="18" charset="0"/>
                            </a:rPr>
                            <a:t>/s</a:t>
                          </a:r>
                          <a:r>
                            <a:rPr lang="en-US" sz="2000" baseline="30000" dirty="0">
                              <a:effectLst/>
                              <a:latin typeface="Times New Roman" panose="02020603050405020304" pitchFamily="18" charset="0"/>
                              <a:cs typeface="Times New Roman" panose="02020603050405020304" pitchFamily="18" charset="0"/>
                            </a:rPr>
                            <a:t>2</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1645808737"/>
                      </a:ext>
                    </a:extLst>
                  </a:tr>
                </a:tbl>
              </a:graphicData>
            </a:graphic>
          </p:graphicFrame>
        </mc:Choice>
        <mc:Fallback xmlns="">
          <p:graphicFrame>
            <p:nvGraphicFramePr>
              <p:cNvPr id="9" name="Table 8">
                <a:extLst>
                  <a:ext uri="{FF2B5EF4-FFF2-40B4-BE49-F238E27FC236}">
                    <a16:creationId xmlns:a16="http://schemas.microsoft.com/office/drawing/2014/main" id="{E445D9D7-60E9-423A-9BE2-9DDA2B19B898}"/>
                  </a:ext>
                </a:extLst>
              </p:cNvPr>
              <p:cNvGraphicFramePr>
                <a:graphicFrameLocks noGrp="1"/>
              </p:cNvGraphicFramePr>
              <p:nvPr>
                <p:extLst>
                  <p:ext uri="{D42A27DB-BD31-4B8C-83A1-F6EECF244321}">
                    <p14:modId xmlns:p14="http://schemas.microsoft.com/office/powerpoint/2010/main" val="420115011"/>
                  </p:ext>
                </p:extLst>
              </p:nvPr>
            </p:nvGraphicFramePr>
            <p:xfrm>
              <a:off x="1285413" y="3160234"/>
              <a:ext cx="6836410" cy="2874804"/>
            </p:xfrm>
            <a:graphic>
              <a:graphicData uri="http://schemas.openxmlformats.org/drawingml/2006/table">
                <a:tbl>
                  <a:tblPr firstRow="1" firstCol="1" bandRow="1">
                    <a:tableStyleId>{5C22544A-7EE6-4342-B048-85BDC9FD1C3A}</a:tableStyleId>
                  </a:tblPr>
                  <a:tblGrid>
                    <a:gridCol w="3418205">
                      <a:extLst>
                        <a:ext uri="{9D8B030D-6E8A-4147-A177-3AD203B41FA5}">
                          <a16:colId xmlns:a16="http://schemas.microsoft.com/office/drawing/2014/main" val="397456185"/>
                        </a:ext>
                      </a:extLst>
                    </a:gridCol>
                    <a:gridCol w="3418205">
                      <a:extLst>
                        <a:ext uri="{9D8B030D-6E8A-4147-A177-3AD203B41FA5}">
                          <a16:colId xmlns:a16="http://schemas.microsoft.com/office/drawing/2014/main" val="1212894835"/>
                        </a:ext>
                      </a:extLst>
                    </a:gridCol>
                  </a:tblGrid>
                  <a:tr h="626684">
                    <a:tc>
                      <a:txBody>
                        <a:bodyPr/>
                        <a:lstStyle/>
                        <a:p>
                          <a:pPr marL="0" marR="0" indent="228600" algn="just">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Điện cảm dọc trục:</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00357" t="-12621" r="-713" b="-361165"/>
                          </a:stretch>
                        </a:blipFill>
                      </a:tcPr>
                    </a:tc>
                    <a:extLst>
                      <a:ext uri="{0D108BD9-81ED-4DB2-BD59-A6C34878D82A}">
                        <a16:rowId xmlns:a16="http://schemas.microsoft.com/office/drawing/2014/main" val="2326974879"/>
                      </a:ext>
                    </a:extLst>
                  </a:tr>
                  <a:tr h="562030">
                    <a:tc>
                      <a:txBody>
                        <a:bodyPr/>
                        <a:lstStyle/>
                        <a:p>
                          <a:pPr marL="0" marR="0" indent="228600" algn="just">
                            <a:lnSpc>
                              <a:spcPct val="107000"/>
                            </a:lnSpc>
                            <a:spcBef>
                              <a:spcPts val="0"/>
                            </a:spcBef>
                            <a:spcAft>
                              <a:spcPts val="0"/>
                            </a:spcAft>
                          </a:pPr>
                          <a:r>
                            <a:rPr lang="en-US" sz="2000" dirty="0" err="1">
                              <a:effectLst/>
                              <a:latin typeface="Times New Roman" panose="02020603050405020304" pitchFamily="18" charset="0"/>
                              <a:cs typeface="Times New Roman" panose="02020603050405020304" pitchFamily="18" charset="0"/>
                            </a:rPr>
                            <a:t>Điện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cảm</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ngang</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trục</a:t>
                          </a:r>
                          <a:r>
                            <a:rPr lang="en-US" sz="2000" dirty="0">
                              <a:effectLst/>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endParaRPr lang="en-US"/>
                        </a:p>
                      </a:txBody>
                      <a:tcPr marL="68580" marR="68580" marT="0" marB="0">
                        <a:blipFill>
                          <a:blip r:embed="rId2"/>
                          <a:stretch>
                            <a:fillRect l="-100357" t="-126087" r="-713" b="-304348"/>
                          </a:stretch>
                        </a:blipFill>
                      </a:tcPr>
                    </a:tc>
                    <a:extLst>
                      <a:ext uri="{0D108BD9-81ED-4DB2-BD59-A6C34878D82A}">
                        <a16:rowId xmlns:a16="http://schemas.microsoft.com/office/drawing/2014/main" val="100687242"/>
                      </a:ext>
                    </a:extLst>
                  </a:tr>
                  <a:tr h="562030">
                    <a:tc>
                      <a:txBody>
                        <a:bodyPr/>
                        <a:lstStyle/>
                        <a:p>
                          <a:pPr marL="0" marR="0" indent="228600" algn="just">
                            <a:lnSpc>
                              <a:spcPct val="107000"/>
                            </a:lnSpc>
                            <a:spcBef>
                              <a:spcPts val="0"/>
                            </a:spcBef>
                            <a:spcAft>
                              <a:spcPts val="0"/>
                            </a:spcAft>
                          </a:pPr>
                          <a:r>
                            <a:rPr lang="en-US" sz="2000" dirty="0" err="1">
                              <a:effectLst/>
                              <a:latin typeface="Times New Roman" panose="02020603050405020304" pitchFamily="18" charset="0"/>
                              <a:cs typeface="Times New Roman" panose="02020603050405020304" pitchFamily="18" charset="0"/>
                            </a:rPr>
                            <a:t>Điện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trở</a:t>
                          </a:r>
                          <a:r>
                            <a:rPr lang="en-US" sz="2000" dirty="0">
                              <a:effectLst/>
                              <a:latin typeface="Times New Roman" panose="02020603050405020304" pitchFamily="18" charset="0"/>
                              <a:cs typeface="Times New Roman" panose="02020603050405020304" pitchFamily="18" charset="0"/>
                            </a:rPr>
                            <a:t> stator:</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r>
                            <a:rPr lang="en-US" sz="2000" dirty="0">
                              <a:effectLst/>
                              <a:latin typeface="Times New Roman" panose="02020603050405020304" pitchFamily="18" charset="0"/>
                              <a:cs typeface="Times New Roman" panose="02020603050405020304" pitchFamily="18" charset="0"/>
                            </a:rPr>
                            <a:t>R</a:t>
                          </a:r>
                          <a:r>
                            <a:rPr lang="en-US" sz="2000" baseline="-25000" dirty="0">
                              <a:effectLst/>
                              <a:latin typeface="Times New Roman" panose="02020603050405020304" pitchFamily="18" charset="0"/>
                              <a:cs typeface="Times New Roman" panose="02020603050405020304" pitchFamily="18" charset="0"/>
                            </a:rPr>
                            <a:t>s</a:t>
                          </a:r>
                          <a:r>
                            <a:rPr lang="en-US" sz="2000" dirty="0">
                              <a:effectLst/>
                              <a:latin typeface="Times New Roman" panose="02020603050405020304" pitchFamily="18" charset="0"/>
                              <a:cs typeface="Times New Roman" panose="02020603050405020304" pitchFamily="18" charset="0"/>
                            </a:rPr>
                            <a:t> = 0.5 Ω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218700852"/>
                      </a:ext>
                    </a:extLst>
                  </a:tr>
                  <a:tr h="562030">
                    <a:tc>
                      <a:txBody>
                        <a:bodyPr/>
                        <a:lstStyle/>
                        <a:p>
                          <a:pPr marL="0" marR="0" indent="228600" algn="just">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Số cặp cực:</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r>
                            <a:rPr lang="en-US" sz="2000">
                              <a:effectLst/>
                              <a:latin typeface="Times New Roman" panose="02020603050405020304" pitchFamily="18" charset="0"/>
                              <a:cs typeface="Times New Roman" panose="02020603050405020304" pitchFamily="18" charset="0"/>
                            </a:rPr>
                            <a:t>Z</a:t>
                          </a:r>
                          <a:r>
                            <a:rPr lang="en-US" sz="2000" baseline="-25000">
                              <a:effectLst/>
                              <a:latin typeface="Times New Roman" panose="02020603050405020304" pitchFamily="18" charset="0"/>
                              <a:cs typeface="Times New Roman" panose="02020603050405020304" pitchFamily="18" charset="0"/>
                            </a:rPr>
                            <a:t>p</a:t>
                          </a:r>
                          <a:r>
                            <a:rPr lang="en-US" sz="2000">
                              <a:effectLst/>
                              <a:latin typeface="Times New Roman" panose="02020603050405020304" pitchFamily="18" charset="0"/>
                              <a:cs typeface="Times New Roman" panose="02020603050405020304" pitchFamily="18" charset="0"/>
                            </a:rPr>
                            <a:t> = 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1198839"/>
                      </a:ext>
                    </a:extLst>
                  </a:tr>
                  <a:tr h="562030">
                    <a:tc>
                      <a:txBody>
                        <a:bodyPr/>
                        <a:lstStyle/>
                        <a:p>
                          <a:pPr marL="0" marR="0" indent="228600" algn="just">
                            <a:lnSpc>
                              <a:spcPct val="107000"/>
                            </a:lnSpc>
                            <a:spcBef>
                              <a:spcPts val="0"/>
                            </a:spcBef>
                            <a:spcAft>
                              <a:spcPts val="0"/>
                            </a:spcAft>
                          </a:pPr>
                          <a:r>
                            <a:rPr lang="en-US" sz="2000" dirty="0" err="1">
                              <a:effectLst/>
                              <a:latin typeface="Times New Roman" panose="02020603050405020304" pitchFamily="18" charset="0"/>
                              <a:cs typeface="Times New Roman" panose="02020603050405020304" pitchFamily="18" charset="0"/>
                            </a:rPr>
                            <a:t>Momen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quán</a:t>
                          </a:r>
                          <a:r>
                            <a:rPr lang="en-US" sz="2000" dirty="0">
                              <a:effectLst/>
                              <a:latin typeface="Times New Roman" panose="02020603050405020304" pitchFamily="18" charset="0"/>
                              <a:cs typeface="Times New Roman" panose="02020603050405020304" pitchFamily="18" charset="0"/>
                            </a:rPr>
                            <a:t> </a:t>
                          </a:r>
                          <a:r>
                            <a:rPr lang="en-US" sz="2000" dirty="0" err="1">
                              <a:effectLst/>
                              <a:latin typeface="Times New Roman" panose="02020603050405020304" pitchFamily="18" charset="0"/>
                              <a:cs typeface="Times New Roman" panose="02020603050405020304" pitchFamily="18" charset="0"/>
                            </a:rPr>
                            <a:t>tính</a:t>
                          </a:r>
                          <a:r>
                            <a:rPr lang="en-US" sz="2000" dirty="0">
                              <a:effectLst/>
                              <a:latin typeface="Times New Roman" panose="02020603050405020304" pitchFamily="18" charset="0"/>
                              <a:cs typeface="Times New Roman" panose="02020603050405020304" pitchFamily="18" charset="0"/>
                            </a:rPr>
                            <a:t>:</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marL="0" marR="0" indent="228600" algn="just">
                            <a:lnSpc>
                              <a:spcPct val="107000"/>
                            </a:lnSpc>
                            <a:spcBef>
                              <a:spcPts val="0"/>
                            </a:spcBef>
                            <a:spcAft>
                              <a:spcPts val="600"/>
                            </a:spcAft>
                          </a:pPr>
                          <a:r>
                            <a:rPr lang="en-US" sz="2000" dirty="0">
                              <a:effectLst/>
                              <a:latin typeface="Times New Roman" panose="02020603050405020304" pitchFamily="18" charset="0"/>
                              <a:cs typeface="Times New Roman" panose="02020603050405020304" pitchFamily="18" charset="0"/>
                            </a:rPr>
                            <a:t>J = 3.24e-3 </a:t>
                          </a:r>
                          <a:r>
                            <a:rPr lang="en-US" sz="2000" dirty="0" err="1">
                              <a:effectLst/>
                              <a:latin typeface="Times New Roman" panose="02020603050405020304" pitchFamily="18" charset="0"/>
                              <a:cs typeface="Times New Roman" panose="02020603050405020304" pitchFamily="18" charset="0"/>
                            </a:rPr>
                            <a:t>Kg.m</a:t>
                          </a:r>
                          <a:r>
                            <a:rPr lang="en-US" sz="2000" dirty="0">
                              <a:effectLst/>
                              <a:latin typeface="Times New Roman" panose="02020603050405020304" pitchFamily="18" charset="0"/>
                              <a:cs typeface="Times New Roman" panose="02020603050405020304" pitchFamily="18" charset="0"/>
                            </a:rPr>
                            <a:t>/s</a:t>
                          </a:r>
                          <a:r>
                            <a:rPr lang="en-US" sz="2000" baseline="30000" dirty="0">
                              <a:effectLst/>
                              <a:latin typeface="Times New Roman" panose="02020603050405020304" pitchFamily="18" charset="0"/>
                              <a:cs typeface="Times New Roman" panose="02020603050405020304" pitchFamily="18" charset="0"/>
                            </a:rPr>
                            <a:t>2</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solidFill>
                          <a:schemeClr val="accent1">
                            <a:lumMod val="60000"/>
                            <a:lumOff val="40000"/>
                          </a:schemeClr>
                        </a:solidFill>
                      </a:tcPr>
                    </a:tc>
                    <a:extLst>
                      <a:ext uri="{0D108BD9-81ED-4DB2-BD59-A6C34878D82A}">
                        <a16:rowId xmlns:a16="http://schemas.microsoft.com/office/drawing/2014/main" val="1645808737"/>
                      </a:ext>
                    </a:extLst>
                  </a:tr>
                </a:tbl>
              </a:graphicData>
            </a:graphic>
          </p:graphicFrame>
        </mc:Fallback>
      </mc:AlternateContent>
    </p:spTree>
    <p:extLst>
      <p:ext uri="{BB962C8B-B14F-4D97-AF65-F5344CB8AC3E}">
        <p14:creationId xmlns:p14="http://schemas.microsoft.com/office/powerpoint/2010/main" val="32219181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8D2572E6-037C-4F2D-BCFB-C1A5B33AC69F}"/>
              </a:ext>
            </a:extLst>
          </p:cNvPr>
          <p:cNvSpPr>
            <a:spLocks noGrp="1"/>
          </p:cNvSpPr>
          <p:nvPr>
            <p:ph type="subTitle" idx="1"/>
          </p:nvPr>
        </p:nvSpPr>
        <p:spPr/>
        <p:txBody>
          <a:bodyPr>
            <a:normAutofit/>
          </a:bodyPr>
          <a:lstStyle/>
          <a:p>
            <a:pPr marR="0" lvl="0" algn="just">
              <a:lnSpc>
                <a:spcPct val="107000"/>
              </a:lnSpc>
              <a:spcBef>
                <a:spcPts val="0"/>
              </a:spcBef>
              <a:spcAft>
                <a:spcPts val="600"/>
              </a:spcAft>
            </a:pPr>
            <a:endParaRPr lang="en-US" sz="2000" dirty="0">
              <a:latin typeface="Abadi" panose="020B0604020202020204" pitchFamily="34" charset="0"/>
              <a:ea typeface="Calibri" panose="020F0502020204030204" pitchFamily="34" charset="0"/>
              <a:cs typeface="Times New Roman" panose="02020603050405020304" pitchFamily="18" charset="0"/>
            </a:endParaRPr>
          </a:p>
          <a:p>
            <a:pPr marL="342900" marR="0" lvl="0" indent="-342900" algn="just">
              <a:lnSpc>
                <a:spcPct val="107000"/>
              </a:lnSpc>
              <a:spcBef>
                <a:spcPts val="0"/>
              </a:spcBef>
              <a:spcAft>
                <a:spcPts val="600"/>
              </a:spcAft>
              <a:buFont typeface="Times New Roman" panose="02020603050405020304" pitchFamily="18" charset="0"/>
              <a:buChar char="-"/>
            </a:pPr>
            <a:r>
              <a:rPr lang="en-US" sz="2000" dirty="0" err="1">
                <a:effectLst/>
                <a:latin typeface="Abadi" panose="020B0604020202020204" pitchFamily="34" charset="0"/>
                <a:ea typeface="Calibri" panose="020F0502020204030204" pitchFamily="34" charset="0"/>
                <a:cs typeface="Times New Roman" panose="02020603050405020304" pitchFamily="18" charset="0"/>
              </a:rPr>
              <a:t>Tần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số</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đóng</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cắt</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f</a:t>
            </a:r>
            <a:r>
              <a:rPr lang="en-US" sz="2000" baseline="-25000" dirty="0" err="1">
                <a:effectLst/>
                <a:latin typeface="Abadi" panose="020B0604020202020204" pitchFamily="34" charset="0"/>
                <a:ea typeface="Calibri" panose="020F0502020204030204" pitchFamily="34" charset="0"/>
                <a:cs typeface="Times New Roman" panose="02020603050405020304" pitchFamily="18" charset="0"/>
              </a:rPr>
              <a:t>sw</a:t>
            </a:r>
            <a:r>
              <a:rPr lang="en-US" sz="2000" dirty="0">
                <a:effectLst/>
                <a:latin typeface="Abadi" panose="020B0604020202020204" pitchFamily="34" charset="0"/>
                <a:ea typeface="Calibri" panose="020F0502020204030204" pitchFamily="34" charset="0"/>
                <a:cs typeface="Times New Roman" panose="02020603050405020304" pitchFamily="18" charset="0"/>
              </a:rPr>
              <a:t> =  10kHz</a:t>
            </a:r>
          </a:p>
          <a:p>
            <a:pPr marL="342900" marR="0" lvl="0" indent="-342900" algn="just">
              <a:lnSpc>
                <a:spcPct val="107000"/>
              </a:lnSpc>
              <a:spcBef>
                <a:spcPts val="0"/>
              </a:spcBef>
              <a:spcAft>
                <a:spcPts val="600"/>
              </a:spcAft>
              <a:buFont typeface="Times New Roman" panose="02020603050405020304" pitchFamily="18" charset="0"/>
              <a:buChar char="-"/>
            </a:pPr>
            <a:r>
              <a:rPr lang="en-US" sz="2000" dirty="0" err="1">
                <a:effectLst/>
                <a:latin typeface="Abadi" panose="020B0604020202020204" pitchFamily="34" charset="0"/>
                <a:ea typeface="Calibri" panose="020F0502020204030204" pitchFamily="34" charset="0"/>
                <a:cs typeface="Times New Roman" panose="02020603050405020304" pitchFamily="18" charset="0"/>
              </a:rPr>
              <a:t>Tần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số</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trích</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mẫu</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bộ</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điều</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khiển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dòng</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điện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là</a:t>
            </a:r>
            <a:r>
              <a:rPr lang="en-US" sz="2000" dirty="0">
                <a:effectLst/>
                <a:latin typeface="Abadi" panose="020B0604020202020204" pitchFamily="34" charset="0"/>
                <a:ea typeface="Calibri" panose="020F0502020204030204" pitchFamily="34" charset="0"/>
                <a:cs typeface="Times New Roman" panose="02020603050405020304" pitchFamily="18" charset="0"/>
              </a:rPr>
              <a:t> 10kHz</a:t>
            </a:r>
          </a:p>
          <a:p>
            <a:pPr marL="342900" marR="0" lvl="0" indent="-342900" algn="just">
              <a:lnSpc>
                <a:spcPct val="107000"/>
              </a:lnSpc>
              <a:spcBef>
                <a:spcPts val="0"/>
              </a:spcBef>
              <a:spcAft>
                <a:spcPts val="600"/>
              </a:spcAft>
              <a:buFont typeface="Times New Roman" panose="02020603050405020304" pitchFamily="18" charset="0"/>
              <a:buChar char="-"/>
            </a:pPr>
            <a:r>
              <a:rPr lang="en-US" sz="2000" dirty="0" err="1">
                <a:effectLst/>
                <a:latin typeface="Abadi" panose="020B0604020202020204" pitchFamily="34" charset="0"/>
                <a:ea typeface="Calibri" panose="020F0502020204030204" pitchFamily="34" charset="0"/>
                <a:cs typeface="Times New Roman" panose="02020603050405020304" pitchFamily="18" charset="0"/>
              </a:rPr>
              <a:t>Lượng</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đặt</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Momen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cản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là</a:t>
            </a:r>
            <a:r>
              <a:rPr lang="en-US" sz="2000" dirty="0">
                <a:effectLst/>
                <a:latin typeface="Abadi" panose="020B0604020202020204" pitchFamily="34" charset="0"/>
                <a:ea typeface="Calibri" panose="020F0502020204030204" pitchFamily="34" charset="0"/>
                <a:cs typeface="Times New Roman" panose="02020603050405020304" pitchFamily="18" charset="0"/>
              </a:rPr>
              <a:t> 15Nm </a:t>
            </a:r>
          </a:p>
          <a:p>
            <a:pPr marL="342900" marR="0" lvl="0" indent="-342900" algn="just">
              <a:lnSpc>
                <a:spcPct val="107000"/>
              </a:lnSpc>
              <a:spcBef>
                <a:spcPts val="0"/>
              </a:spcBef>
              <a:spcAft>
                <a:spcPts val="600"/>
              </a:spcAft>
              <a:buFont typeface="Times New Roman" panose="02020603050405020304" pitchFamily="18" charset="0"/>
              <a:buChar char="-"/>
            </a:pPr>
            <a:r>
              <a:rPr lang="en-US" sz="2000" dirty="0" err="1">
                <a:effectLst/>
                <a:latin typeface="Abadi" panose="020B0604020202020204" pitchFamily="34" charset="0"/>
                <a:ea typeface="Calibri" panose="020F0502020204030204" pitchFamily="34" charset="0"/>
                <a:cs typeface="Times New Roman" panose="02020603050405020304" pitchFamily="18" charset="0"/>
              </a:rPr>
              <a:t>thời</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gian</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mô</a:t>
            </a:r>
            <a:r>
              <a:rPr lang="en-US" sz="2000" dirty="0">
                <a:effectLst/>
                <a:latin typeface="Abadi" panose="020B0604020202020204" pitchFamily="34" charset="0"/>
                <a:ea typeface="Calibri" panose="020F0502020204030204" pitchFamily="34" charset="0"/>
                <a:cs typeface="Times New Roman" panose="02020603050405020304" pitchFamily="18" charset="0"/>
              </a:rPr>
              <a:t> </a:t>
            </a:r>
            <a:r>
              <a:rPr lang="en-US" sz="2000" dirty="0" err="1">
                <a:effectLst/>
                <a:latin typeface="Abadi" panose="020B0604020202020204" pitchFamily="34" charset="0"/>
                <a:ea typeface="Calibri" panose="020F0502020204030204" pitchFamily="34" charset="0"/>
                <a:cs typeface="Times New Roman" panose="02020603050405020304" pitchFamily="18" charset="0"/>
              </a:rPr>
              <a:t>phỏng</a:t>
            </a:r>
            <a:r>
              <a:rPr lang="en-US" sz="2000" dirty="0">
                <a:effectLst/>
                <a:latin typeface="Abadi" panose="020B0604020202020204" pitchFamily="34" charset="0"/>
                <a:ea typeface="Calibri" panose="020F0502020204030204" pitchFamily="34" charset="0"/>
                <a:cs typeface="Times New Roman" panose="02020603050405020304" pitchFamily="18" charset="0"/>
              </a:rPr>
              <a:t> 5s</a:t>
            </a:r>
          </a:p>
        </p:txBody>
      </p:sp>
      <p:sp>
        <p:nvSpPr>
          <p:cNvPr id="3" name="Text Placeholder 2">
            <a:extLst>
              <a:ext uri="{FF2B5EF4-FFF2-40B4-BE49-F238E27FC236}">
                <a16:creationId xmlns:a16="http://schemas.microsoft.com/office/drawing/2014/main" id="{8A711735-DECB-4775-812B-6216F4C86A14}"/>
              </a:ext>
            </a:extLst>
          </p:cNvPr>
          <p:cNvSpPr>
            <a:spLocks noGrp="1"/>
          </p:cNvSpPr>
          <p:nvPr>
            <p:ph type="body" sz="quarter" idx="12"/>
          </p:nvPr>
        </p:nvSpPr>
        <p:spPr/>
        <p:txBody>
          <a:bodyPr/>
          <a:lstStyle/>
          <a:p>
            <a:r>
              <a:rPr lang="en-US" dirty="0"/>
              <a:t>4</a:t>
            </a:r>
          </a:p>
        </p:txBody>
      </p:sp>
      <p:sp>
        <p:nvSpPr>
          <p:cNvPr id="5" name="Slide Number Placeholder 4">
            <a:extLst>
              <a:ext uri="{FF2B5EF4-FFF2-40B4-BE49-F238E27FC236}">
                <a16:creationId xmlns:a16="http://schemas.microsoft.com/office/drawing/2014/main" id="{5D105EF1-4B70-4541-9CF4-FD7EDF2DB53D}"/>
              </a:ext>
            </a:extLst>
          </p:cNvPr>
          <p:cNvSpPr>
            <a:spLocks noGrp="1"/>
          </p:cNvSpPr>
          <p:nvPr>
            <p:ph type="sldNum" sz="quarter" idx="4"/>
          </p:nvPr>
        </p:nvSpPr>
        <p:spPr/>
        <p:txBody>
          <a:bodyPr/>
          <a:lstStyle/>
          <a:p>
            <a:fld id="{C4AED997-7CB6-4654-8505-4D4C6D081CC6}" type="slidenum">
              <a:rPr lang="en-US" smtClean="0"/>
              <a:pPr/>
              <a:t>24</a:t>
            </a:fld>
            <a:endParaRPr lang="en-US"/>
          </a:p>
        </p:txBody>
      </p:sp>
      <p:sp>
        <p:nvSpPr>
          <p:cNvPr id="6" name="Title 3">
            <a:extLst>
              <a:ext uri="{FF2B5EF4-FFF2-40B4-BE49-F238E27FC236}">
                <a16:creationId xmlns:a16="http://schemas.microsoft.com/office/drawing/2014/main" id="{23792CBA-F52B-4C5E-AC0F-EB6DE0F3A5E2}"/>
              </a:ext>
            </a:extLst>
          </p:cNvPr>
          <p:cNvSpPr>
            <a:spLocks noGrp="1"/>
          </p:cNvSpPr>
          <p:nvPr>
            <p:ph type="title"/>
          </p:nvPr>
        </p:nvSpPr>
        <p:spPr>
          <a:xfrm>
            <a:off x="1147763" y="192088"/>
            <a:ext cx="6848475" cy="517525"/>
          </a:xfrm>
        </p:spPr>
        <p:txBody>
          <a:bodyPr/>
          <a:lstStyle/>
          <a:p>
            <a:r>
              <a:rPr lang="en-US" dirty="0" err="1">
                <a:latin typeface="Arial"/>
                <a:cs typeface="Arial"/>
              </a:rPr>
              <a:t>Mô</a:t>
            </a:r>
            <a:r>
              <a:rPr lang="en-US" dirty="0">
                <a:latin typeface="Arial"/>
                <a:cs typeface="Arial"/>
              </a:rPr>
              <a:t> </a:t>
            </a:r>
            <a:r>
              <a:rPr lang="en-US" dirty="0" err="1">
                <a:latin typeface="Arial"/>
                <a:cs typeface="Arial"/>
              </a:rPr>
              <a:t>phỏng</a:t>
            </a:r>
            <a:r>
              <a:rPr lang="en-US" dirty="0">
                <a:latin typeface="Arial"/>
                <a:cs typeface="Arial"/>
              </a:rPr>
              <a:t> </a:t>
            </a:r>
            <a:r>
              <a:rPr lang="en-US" dirty="0" err="1">
                <a:latin typeface="Arial"/>
                <a:cs typeface="Arial"/>
              </a:rPr>
              <a:t>kiểm</a:t>
            </a:r>
            <a:r>
              <a:rPr lang="en-US" dirty="0">
                <a:latin typeface="Arial"/>
                <a:cs typeface="Arial"/>
              </a:rPr>
              <a:t> </a:t>
            </a:r>
            <a:r>
              <a:rPr lang="en-US" dirty="0" err="1">
                <a:latin typeface="Arial"/>
                <a:cs typeface="Arial"/>
              </a:rPr>
              <a:t>chứng</a:t>
            </a:r>
            <a:endParaRPr lang="en-US" dirty="0"/>
          </a:p>
        </p:txBody>
      </p:sp>
    </p:spTree>
    <p:extLst>
      <p:ext uri="{BB962C8B-B14F-4D97-AF65-F5344CB8AC3E}">
        <p14:creationId xmlns:p14="http://schemas.microsoft.com/office/powerpoint/2010/main" val="16071457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err="1">
                <a:latin typeface="Arial"/>
                <a:cs typeface="Arial"/>
              </a:rPr>
              <a:t>Mô</a:t>
            </a:r>
            <a:r>
              <a:rPr lang="en-US">
                <a:latin typeface="Arial"/>
                <a:cs typeface="Arial"/>
              </a:rPr>
              <a:t> </a:t>
            </a:r>
            <a:r>
              <a:rPr lang="en-US" err="1">
                <a:latin typeface="Arial"/>
                <a:cs typeface="Arial"/>
              </a:rPr>
              <a:t>phỏng</a:t>
            </a:r>
            <a:r>
              <a:rPr lang="en-US">
                <a:latin typeface="Arial"/>
                <a:cs typeface="Arial"/>
              </a:rPr>
              <a:t> </a:t>
            </a:r>
            <a:r>
              <a:rPr lang="en-US" err="1">
                <a:latin typeface="Arial"/>
                <a:cs typeface="Arial"/>
              </a:rPr>
              <a:t>kiểm</a:t>
            </a:r>
            <a:r>
              <a:rPr lang="en-US">
                <a:latin typeface="Arial"/>
                <a:cs typeface="Arial"/>
              </a:rPr>
              <a:t> </a:t>
            </a:r>
            <a:r>
              <a:rPr lang="en-US" err="1">
                <a:latin typeface="Arial"/>
                <a:cs typeface="Arial"/>
              </a:rPr>
              <a:t>chứng</a:t>
            </a:r>
            <a:endParaRPr lang="en-US" err="1"/>
          </a:p>
        </p:txBody>
      </p:sp>
      <p:sp>
        <p:nvSpPr>
          <p:cNvPr id="5" name="Slide Number Placeholder 4"/>
          <p:cNvSpPr>
            <a:spLocks noGrp="1"/>
          </p:cNvSpPr>
          <p:nvPr>
            <p:ph type="sldNum" sz="quarter" idx="4"/>
          </p:nvPr>
        </p:nvSpPr>
        <p:spPr/>
        <p:txBody>
          <a:bodyPr/>
          <a:lstStyle/>
          <a:p>
            <a:fld id="{C4AED997-7CB6-4654-8505-4D4C6D081CC6}" type="slidenum">
              <a:rPr lang="en-US" smtClean="0"/>
              <a:pPr/>
              <a:t>25</a:t>
            </a:fld>
            <a:endParaRPr lang="en-US"/>
          </a:p>
        </p:txBody>
      </p:sp>
      <p:sp>
        <p:nvSpPr>
          <p:cNvPr id="8" name="TextBox 7">
            <a:extLst>
              <a:ext uri="{FF2B5EF4-FFF2-40B4-BE49-F238E27FC236}">
                <a16:creationId xmlns:a16="http://schemas.microsoft.com/office/drawing/2014/main" id="{0B4E9A38-1760-4365-8098-D5C6FB280AB1}"/>
              </a:ext>
            </a:extLst>
          </p:cNvPr>
          <p:cNvSpPr txBox="1"/>
          <p:nvPr/>
        </p:nvSpPr>
        <p:spPr>
          <a:xfrm>
            <a:off x="535993" y="5126182"/>
            <a:ext cx="7815193" cy="400110"/>
          </a:xfrm>
          <a:prstGeom prst="rect">
            <a:avLst/>
          </a:prstGeom>
          <a:noFill/>
        </p:spPr>
        <p:txBody>
          <a:bodyPr wrap="square" rtlCol="0">
            <a:spAutoFit/>
          </a:bodyPr>
          <a:lstStyle/>
          <a:p>
            <a:pPr algn="ctr"/>
            <a:r>
              <a:rPr lang="en-US" sz="2000">
                <a:solidFill>
                  <a:schemeClr val="accent1">
                    <a:lumMod val="50000"/>
                  </a:schemeClr>
                </a:solidFill>
                <a:latin typeface="Arial" panose="020B0604020202020204" pitchFamily="34" charset="0"/>
                <a:cs typeface="Arial" panose="020B0604020202020204" pitchFamily="34" charset="0"/>
              </a:rPr>
              <a:t>Hình ảnh mô phỏng trên MATLAB</a:t>
            </a:r>
          </a:p>
        </p:txBody>
      </p:sp>
      <p:pic>
        <p:nvPicPr>
          <p:cNvPr id="7" name="Picture 6" descr="Diagram&#10;&#10;Description automatically generated">
            <a:extLst>
              <a:ext uri="{FF2B5EF4-FFF2-40B4-BE49-F238E27FC236}">
                <a16:creationId xmlns:a16="http://schemas.microsoft.com/office/drawing/2014/main" id="{12F3E105-BF52-415A-95A6-3512625FF6FA}"/>
              </a:ext>
            </a:extLst>
          </p:cNvPr>
          <p:cNvPicPr/>
          <p:nvPr/>
        </p:nvPicPr>
        <p:blipFill>
          <a:blip r:embed="rId2"/>
          <a:stretch>
            <a:fillRect/>
          </a:stretch>
        </p:blipFill>
        <p:spPr>
          <a:xfrm>
            <a:off x="535993" y="1259840"/>
            <a:ext cx="7592007" cy="3616960"/>
          </a:xfrm>
          <a:prstGeom prst="rect">
            <a:avLst/>
          </a:prstGeom>
        </p:spPr>
      </p:pic>
    </p:spTree>
    <p:extLst>
      <p:ext uri="{BB962C8B-B14F-4D97-AF65-F5344CB8AC3E}">
        <p14:creationId xmlns:p14="http://schemas.microsoft.com/office/powerpoint/2010/main" val="2904609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3293114-F54B-48E6-BBF8-8E259396C781}"/>
              </a:ext>
            </a:extLst>
          </p:cNvPr>
          <p:cNvSpPr>
            <a:spLocks noGrp="1"/>
          </p:cNvSpPr>
          <p:nvPr>
            <p:ph type="subTitle" idx="1"/>
          </p:nvPr>
        </p:nvSpPr>
        <p:spPr>
          <a:xfrm>
            <a:off x="2413118" y="4674489"/>
            <a:ext cx="4109570" cy="349064"/>
          </a:xfrm>
        </p:spPr>
        <p:txBody>
          <a:bodyPr>
            <a:noAutofit/>
          </a:bodyPr>
          <a:lstStyle/>
          <a:p>
            <a:r>
              <a:rPr lang="en-US" sz="2000"/>
              <a:t>Bộ điều chỉnh PI rời rạc</a:t>
            </a:r>
          </a:p>
        </p:txBody>
      </p:sp>
      <p:sp>
        <p:nvSpPr>
          <p:cNvPr id="3" name="Text Placeholder 2">
            <a:extLst>
              <a:ext uri="{FF2B5EF4-FFF2-40B4-BE49-F238E27FC236}">
                <a16:creationId xmlns:a16="http://schemas.microsoft.com/office/drawing/2014/main" id="{3A950F95-6D51-44F6-8930-B092E64AA39A}"/>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5C11495D-8E3E-46CC-95BA-1248888E5B43}"/>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BA477AA5-E418-4CD8-9354-FC1BE0D86AA1}"/>
              </a:ext>
            </a:extLst>
          </p:cNvPr>
          <p:cNvSpPr>
            <a:spLocks noGrp="1"/>
          </p:cNvSpPr>
          <p:nvPr>
            <p:ph type="sldNum" sz="quarter" idx="4"/>
          </p:nvPr>
        </p:nvSpPr>
        <p:spPr/>
        <p:txBody>
          <a:bodyPr/>
          <a:lstStyle/>
          <a:p>
            <a:fld id="{C4AED997-7CB6-4654-8505-4D4C6D081CC6}" type="slidenum">
              <a:rPr lang="en-US" smtClean="0"/>
              <a:pPr/>
              <a:t>26</a:t>
            </a:fld>
            <a:endParaRPr lang="en-US"/>
          </a:p>
        </p:txBody>
      </p:sp>
      <p:pic>
        <p:nvPicPr>
          <p:cNvPr id="6" name="Picture 5">
            <a:extLst>
              <a:ext uri="{FF2B5EF4-FFF2-40B4-BE49-F238E27FC236}">
                <a16:creationId xmlns:a16="http://schemas.microsoft.com/office/drawing/2014/main" id="{519492E0-BB08-4B7E-9F36-F0E2B3CC7C9C}"/>
              </a:ext>
            </a:extLst>
          </p:cNvPr>
          <p:cNvPicPr>
            <a:picLocks noChangeAspect="1"/>
          </p:cNvPicPr>
          <p:nvPr/>
        </p:nvPicPr>
        <p:blipFill>
          <a:blip r:embed="rId2"/>
          <a:stretch>
            <a:fillRect/>
          </a:stretch>
        </p:blipFill>
        <p:spPr>
          <a:xfrm>
            <a:off x="647151" y="1874097"/>
            <a:ext cx="7849695" cy="2333951"/>
          </a:xfrm>
          <a:prstGeom prst="rect">
            <a:avLst/>
          </a:prstGeom>
        </p:spPr>
      </p:pic>
      <p:sp>
        <p:nvSpPr>
          <p:cNvPr id="7" name="TextBox 6">
            <a:extLst>
              <a:ext uri="{FF2B5EF4-FFF2-40B4-BE49-F238E27FC236}">
                <a16:creationId xmlns:a16="http://schemas.microsoft.com/office/drawing/2014/main" id="{FD6488A5-0930-4D7F-803F-70F57846D748}"/>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spTree>
    <p:extLst>
      <p:ext uri="{BB962C8B-B14F-4D97-AF65-F5344CB8AC3E}">
        <p14:creationId xmlns:p14="http://schemas.microsoft.com/office/powerpoint/2010/main" val="3808409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63293114-F54B-48E6-BBF8-8E259396C781}"/>
              </a:ext>
            </a:extLst>
          </p:cNvPr>
          <p:cNvSpPr>
            <a:spLocks noGrp="1"/>
          </p:cNvSpPr>
          <p:nvPr>
            <p:ph type="subTitle" idx="1"/>
          </p:nvPr>
        </p:nvSpPr>
        <p:spPr>
          <a:xfrm>
            <a:off x="2517214" y="6073798"/>
            <a:ext cx="4109570" cy="349064"/>
          </a:xfrm>
        </p:spPr>
        <p:txBody>
          <a:bodyPr>
            <a:noAutofit/>
          </a:bodyPr>
          <a:lstStyle/>
          <a:p>
            <a:r>
              <a:rPr lang="en-US" sz="2000"/>
              <a:t>Bộ điều chỉnh dòng điện</a:t>
            </a:r>
          </a:p>
        </p:txBody>
      </p:sp>
      <p:sp>
        <p:nvSpPr>
          <p:cNvPr id="3" name="Text Placeholder 2">
            <a:extLst>
              <a:ext uri="{FF2B5EF4-FFF2-40B4-BE49-F238E27FC236}">
                <a16:creationId xmlns:a16="http://schemas.microsoft.com/office/drawing/2014/main" id="{3A950F95-6D51-44F6-8930-B092E64AA39A}"/>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5C11495D-8E3E-46CC-95BA-1248888E5B43}"/>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BA477AA5-E418-4CD8-9354-FC1BE0D86AA1}"/>
              </a:ext>
            </a:extLst>
          </p:cNvPr>
          <p:cNvSpPr>
            <a:spLocks noGrp="1"/>
          </p:cNvSpPr>
          <p:nvPr>
            <p:ph type="sldNum" sz="quarter" idx="4"/>
          </p:nvPr>
        </p:nvSpPr>
        <p:spPr/>
        <p:txBody>
          <a:bodyPr/>
          <a:lstStyle/>
          <a:p>
            <a:fld id="{C4AED997-7CB6-4654-8505-4D4C6D081CC6}" type="slidenum">
              <a:rPr lang="en-US" smtClean="0"/>
              <a:pPr/>
              <a:t>27</a:t>
            </a:fld>
            <a:endParaRPr lang="en-US"/>
          </a:p>
        </p:txBody>
      </p:sp>
      <p:sp>
        <p:nvSpPr>
          <p:cNvPr id="7" name="TextBox 6">
            <a:extLst>
              <a:ext uri="{FF2B5EF4-FFF2-40B4-BE49-F238E27FC236}">
                <a16:creationId xmlns:a16="http://schemas.microsoft.com/office/drawing/2014/main" id="{F2C80C2F-27C3-407B-BC8B-73DA6D1FDA42}"/>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8" name="Picture 7" descr="Diagram&#10;&#10;Description automatically generated">
            <a:extLst>
              <a:ext uri="{FF2B5EF4-FFF2-40B4-BE49-F238E27FC236}">
                <a16:creationId xmlns:a16="http://schemas.microsoft.com/office/drawing/2014/main" id="{875AC678-479B-4094-BF7E-6A1FD62E1B36}"/>
              </a:ext>
            </a:extLst>
          </p:cNvPr>
          <p:cNvPicPr/>
          <p:nvPr/>
        </p:nvPicPr>
        <p:blipFill>
          <a:blip r:embed="rId2"/>
          <a:stretch>
            <a:fillRect/>
          </a:stretch>
        </p:blipFill>
        <p:spPr>
          <a:xfrm>
            <a:off x="1736602" y="1611122"/>
            <a:ext cx="6259195" cy="4352422"/>
          </a:xfrm>
          <a:prstGeom prst="rect">
            <a:avLst/>
          </a:prstGeom>
        </p:spPr>
      </p:pic>
    </p:spTree>
    <p:extLst>
      <p:ext uri="{BB962C8B-B14F-4D97-AF65-F5344CB8AC3E}">
        <p14:creationId xmlns:p14="http://schemas.microsoft.com/office/powerpoint/2010/main" val="32399259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4B9F42D-7595-4D6F-B9B3-97B7F9808632}"/>
              </a:ext>
            </a:extLst>
          </p:cNvPr>
          <p:cNvSpPr>
            <a:spLocks noGrp="1"/>
          </p:cNvSpPr>
          <p:nvPr>
            <p:ph type="body" sz="quarter" idx="12"/>
          </p:nvPr>
        </p:nvSpPr>
        <p:spPr/>
        <p:txBody>
          <a:bodyPr/>
          <a:lstStyle/>
          <a:p>
            <a:r>
              <a:rPr lang="en-US"/>
              <a:t>4</a:t>
            </a:r>
          </a:p>
        </p:txBody>
      </p:sp>
      <p:sp>
        <p:nvSpPr>
          <p:cNvPr id="4" name="Title 3">
            <a:extLst>
              <a:ext uri="{FF2B5EF4-FFF2-40B4-BE49-F238E27FC236}">
                <a16:creationId xmlns:a16="http://schemas.microsoft.com/office/drawing/2014/main" id="{A2455DAD-2889-44D2-AA8D-2029B61AD166}"/>
              </a:ext>
            </a:extLst>
          </p:cNvPr>
          <p:cNvSpPr>
            <a:spLocks noGrp="1"/>
          </p:cNvSpPr>
          <p:nvPr>
            <p:ph type="title"/>
          </p:nvPr>
        </p:nvSpPr>
        <p:spPr/>
        <p:txBody>
          <a:bodyPr/>
          <a:lstStyle/>
          <a:p>
            <a:r>
              <a:rPr lang="en-US"/>
              <a:t>Mô phỏng kiểm chứng</a:t>
            </a:r>
          </a:p>
        </p:txBody>
      </p:sp>
      <p:sp>
        <p:nvSpPr>
          <p:cNvPr id="5" name="Slide Number Placeholder 4">
            <a:extLst>
              <a:ext uri="{FF2B5EF4-FFF2-40B4-BE49-F238E27FC236}">
                <a16:creationId xmlns:a16="http://schemas.microsoft.com/office/drawing/2014/main" id="{93AA8D95-F86E-4C6A-8FD4-7B7B77EC780B}"/>
              </a:ext>
            </a:extLst>
          </p:cNvPr>
          <p:cNvSpPr>
            <a:spLocks noGrp="1"/>
          </p:cNvSpPr>
          <p:nvPr>
            <p:ph type="sldNum" sz="quarter" idx="4"/>
          </p:nvPr>
        </p:nvSpPr>
        <p:spPr/>
        <p:txBody>
          <a:bodyPr/>
          <a:lstStyle/>
          <a:p>
            <a:fld id="{C4AED997-7CB6-4654-8505-4D4C6D081CC6}" type="slidenum">
              <a:rPr lang="en-US" smtClean="0"/>
              <a:pPr/>
              <a:t>28</a:t>
            </a:fld>
            <a:endParaRPr lang="en-US"/>
          </a:p>
        </p:txBody>
      </p:sp>
      <p:sp>
        <p:nvSpPr>
          <p:cNvPr id="10" name="TextBox 9">
            <a:extLst>
              <a:ext uri="{FF2B5EF4-FFF2-40B4-BE49-F238E27FC236}">
                <a16:creationId xmlns:a16="http://schemas.microsoft.com/office/drawing/2014/main" id="{A2B94A8D-0A88-4034-AD32-F85D12288D35}"/>
              </a:ext>
            </a:extLst>
          </p:cNvPr>
          <p:cNvSpPr txBox="1"/>
          <p:nvPr/>
        </p:nvSpPr>
        <p:spPr>
          <a:xfrm>
            <a:off x="714402" y="1327094"/>
            <a:ext cx="7938655" cy="400110"/>
          </a:xfrm>
          <a:prstGeom prst="rect">
            <a:avLst/>
          </a:prstGeom>
          <a:noFill/>
        </p:spPr>
        <p:txBody>
          <a:bodyPr wrap="square" rtlCol="0">
            <a:spAutoFit/>
          </a:bodyPr>
          <a:lstStyle/>
          <a:p>
            <a:pPr marL="342900" indent="-342900">
              <a:buFont typeface="Wingdings" panose="05000000000000000000" pitchFamily="2" charset="2"/>
              <a:buChar char="v"/>
            </a:pPr>
            <a:r>
              <a:rPr lang="en-US" sz="2000" dirty="0" err="1">
                <a:solidFill>
                  <a:schemeClr val="accent1">
                    <a:lumMod val="50000"/>
                  </a:schemeClr>
                </a:solidFill>
                <a:latin typeface="Arial" panose="020B0604020202020204" pitchFamily="34" charset="0"/>
                <a:cs typeface="Arial" panose="020B0604020202020204" pitchFamily="34" charset="0"/>
              </a:rPr>
              <a:t>Đồ</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thị</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tốc</a:t>
            </a:r>
            <a:r>
              <a:rPr lang="en-US" sz="2000" dirty="0">
                <a:solidFill>
                  <a:schemeClr val="accent1">
                    <a:lumMod val="50000"/>
                  </a:schemeClr>
                </a:solidFill>
                <a:latin typeface="Arial" panose="020B0604020202020204" pitchFamily="34" charset="0"/>
                <a:cs typeface="Arial" panose="020B0604020202020204" pitchFamily="34" charset="0"/>
              </a:rPr>
              <a:t> </a:t>
            </a:r>
            <a:r>
              <a:rPr lang="en-US" sz="2000" dirty="0" err="1">
                <a:solidFill>
                  <a:schemeClr val="accent1">
                    <a:lumMod val="50000"/>
                  </a:schemeClr>
                </a:solidFill>
                <a:latin typeface="Arial" panose="020B0604020202020204" pitchFamily="34" charset="0"/>
                <a:cs typeface="Arial" panose="020B0604020202020204" pitchFamily="34" charset="0"/>
              </a:rPr>
              <a:t>độ</a:t>
            </a:r>
            <a:r>
              <a:rPr lang="en-US" sz="2000" dirty="0">
                <a:solidFill>
                  <a:schemeClr val="accent1">
                    <a:lumMod val="50000"/>
                  </a:schemeClr>
                </a:solidFill>
                <a:latin typeface="Arial" panose="020B0604020202020204" pitchFamily="34" charset="0"/>
                <a:cs typeface="Arial" panose="020B0604020202020204" pitchFamily="34" charset="0"/>
              </a:rPr>
              <a:t> quay </a:t>
            </a:r>
            <a:r>
              <a:rPr lang="en-US" sz="2000" dirty="0" err="1">
                <a:solidFill>
                  <a:schemeClr val="accent1">
                    <a:lumMod val="50000"/>
                  </a:schemeClr>
                </a:solidFill>
                <a:latin typeface="Arial" panose="020B0604020202020204" pitchFamily="34" charset="0"/>
                <a:cs typeface="Arial" panose="020B0604020202020204" pitchFamily="34" charset="0"/>
              </a:rPr>
              <a:t>của</a:t>
            </a:r>
            <a:r>
              <a:rPr lang="en-US" sz="2000" dirty="0">
                <a:solidFill>
                  <a:schemeClr val="accent1">
                    <a:lumMod val="50000"/>
                  </a:schemeClr>
                </a:solidFill>
                <a:latin typeface="Arial" panose="020B0604020202020204" pitchFamily="34" charset="0"/>
                <a:cs typeface="Arial" panose="020B0604020202020204" pitchFamily="34" charset="0"/>
              </a:rPr>
              <a:t> rotor</a:t>
            </a:r>
          </a:p>
        </p:txBody>
      </p:sp>
      <p:sp>
        <p:nvSpPr>
          <p:cNvPr id="9" name="TextBox 8">
            <a:extLst>
              <a:ext uri="{FF2B5EF4-FFF2-40B4-BE49-F238E27FC236}">
                <a16:creationId xmlns:a16="http://schemas.microsoft.com/office/drawing/2014/main" id="{CEA03AAC-9784-4834-8B36-CE50AF8CD5CA}"/>
              </a:ext>
            </a:extLst>
          </p:cNvPr>
          <p:cNvSpPr txBox="1"/>
          <p:nvPr/>
        </p:nvSpPr>
        <p:spPr>
          <a:xfrm>
            <a:off x="331251" y="4501874"/>
            <a:ext cx="7938655" cy="1387367"/>
          </a:xfrm>
          <a:prstGeom prst="rect">
            <a:avLst/>
          </a:prstGeom>
          <a:noFill/>
        </p:spPr>
        <p:txBody>
          <a:bodyPr wrap="square" rtlCol="0">
            <a:spAutoFit/>
          </a:bodyPr>
          <a:lstStyle/>
          <a:p>
            <a:pPr marL="742950" marR="0" lvl="1" indent="-285750" algn="just">
              <a:lnSpc>
                <a:spcPct val="107000"/>
              </a:lnSpc>
              <a:spcBef>
                <a:spcPts val="0"/>
              </a:spcBef>
              <a:spcAft>
                <a:spcPts val="500"/>
              </a:spcAft>
              <a:buFont typeface="Wingdings" panose="05000000000000000000" pitchFamily="2" charset="2"/>
              <a:buChar char=""/>
            </a:pP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Nhận</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i="1" dirty="0" err="1">
                <a:effectLst/>
                <a:latin typeface="Times New Roman" panose="02020603050405020304" pitchFamily="18" charset="0"/>
                <a:ea typeface="Calibri" panose="020F0502020204030204" pitchFamily="34" charset="0"/>
                <a:cs typeface="Times New Roman" panose="02020603050405020304" pitchFamily="18" charset="0"/>
              </a:rPr>
              <a:t>xét</a:t>
            </a:r>
            <a:r>
              <a:rPr lang="en-US" sz="2000" i="1" dirty="0">
                <a:effectLst/>
                <a:latin typeface="Times New Roman" panose="02020603050405020304" pitchFamily="18" charset="0"/>
                <a:ea typeface="Calibri" panose="020F0502020204030204" pitchFamily="34" charset="0"/>
                <a:cs typeface="Times New Roman" panose="02020603050405020304" pitchFamily="18" charset="0"/>
              </a:rPr>
              <a:t> :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Tốc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cơ</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bám</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theo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lượng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đặt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vì</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hàm</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truyền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hệ</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kín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của</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mạch</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vòng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tốc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dạng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khâu</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dao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bậc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2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nên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ta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thấy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tốc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cơ</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dao</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trước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khi</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xác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lập</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hoặc</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thay</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đổi</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momen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cản</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nhưng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không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đáng</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kể</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t>
            </a:r>
          </a:p>
        </p:txBody>
      </p:sp>
      <p:sp>
        <p:nvSpPr>
          <p:cNvPr id="8" name="TextBox 7">
            <a:extLst>
              <a:ext uri="{FF2B5EF4-FFF2-40B4-BE49-F238E27FC236}">
                <a16:creationId xmlns:a16="http://schemas.microsoft.com/office/drawing/2014/main" id="{0E2BF944-0B61-44B0-9D22-AEF86B98DAF9}"/>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11" name="Picture 10" descr="Chart, line chart&#10;&#10;Description automatically generated">
            <a:extLst>
              <a:ext uri="{FF2B5EF4-FFF2-40B4-BE49-F238E27FC236}">
                <a16:creationId xmlns:a16="http://schemas.microsoft.com/office/drawing/2014/main" id="{32416D43-7F51-496D-A7E8-3381740E39F2}"/>
              </a:ext>
            </a:extLst>
          </p:cNvPr>
          <p:cNvPicPr/>
          <p:nvPr/>
        </p:nvPicPr>
        <p:blipFill rotWithShape="1">
          <a:blip r:embed="rId2" cstate="print">
            <a:extLst>
              <a:ext uri="{28A0092B-C50C-407E-A947-70E740481C1C}">
                <a14:useLocalDpi xmlns:a14="http://schemas.microsoft.com/office/drawing/2010/main" val="0"/>
              </a:ext>
            </a:extLst>
          </a:blip>
          <a:srcRect l="9657" t="4769" r="7607"/>
          <a:stretch/>
        </p:blipFill>
        <p:spPr bwMode="auto">
          <a:xfrm>
            <a:off x="855590" y="1885475"/>
            <a:ext cx="7495596" cy="257476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0981214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p:cNvSpPr>
            <a:spLocks noGrp="1"/>
          </p:cNvSpPr>
          <p:nvPr>
            <p:ph type="subTitle" idx="1"/>
          </p:nvPr>
        </p:nvSpPr>
        <p:spPr>
          <a:xfrm>
            <a:off x="642520" y="1604978"/>
            <a:ext cx="7432829" cy="556320"/>
          </a:xfrm>
        </p:spPr>
        <p:txBody>
          <a:bodyPr>
            <a:normAutofit/>
          </a:bodyPr>
          <a:lstStyle/>
          <a:p>
            <a:pPr marL="342900" indent="-342900" algn="l">
              <a:buFont typeface="Wingdings" panose="05000000000000000000" pitchFamily="2" charset="2"/>
              <a:buChar char="v"/>
            </a:pPr>
            <a:r>
              <a:rPr lang="en-US" sz="2000"/>
              <a:t>Đồ thị dòng điện stator</a:t>
            </a:r>
          </a:p>
        </p:txBody>
      </p:sp>
      <p:sp>
        <p:nvSpPr>
          <p:cNvPr id="3" name="Text Placeholder 2"/>
          <p:cNvSpPr>
            <a:spLocks noGrp="1"/>
          </p:cNvSpPr>
          <p:nvPr>
            <p:ph type="body" sz="quarter" idx="12"/>
          </p:nvPr>
        </p:nvSpPr>
        <p:spPr/>
        <p:txBody>
          <a:bodyPr vert="horz" lIns="91440" tIns="45720" rIns="91440" bIns="45720" rtlCol="0" anchor="t">
            <a:noAutofit/>
          </a:bodyPr>
          <a:lstStyle/>
          <a:p>
            <a:r>
              <a:rPr lang="en-US"/>
              <a:t>4</a:t>
            </a:r>
          </a:p>
        </p:txBody>
      </p:sp>
      <p:sp>
        <p:nvSpPr>
          <p:cNvPr id="4" name="Title 3"/>
          <p:cNvSpPr>
            <a:spLocks noGrp="1"/>
          </p:cNvSpPr>
          <p:nvPr>
            <p:ph type="title"/>
          </p:nvPr>
        </p:nvSpPr>
        <p:spPr/>
        <p:txBody>
          <a:bodyPr/>
          <a:lstStyle/>
          <a:p>
            <a:r>
              <a:rPr lang="en-US" dirty="0" err="1">
                <a:latin typeface="Arial"/>
                <a:cs typeface="Arial"/>
              </a:rPr>
              <a:t>Mô</a:t>
            </a:r>
            <a:r>
              <a:rPr lang="en-US" dirty="0">
                <a:latin typeface="Arial"/>
                <a:cs typeface="Arial"/>
              </a:rPr>
              <a:t> </a:t>
            </a:r>
            <a:r>
              <a:rPr lang="en-US" dirty="0" err="1">
                <a:latin typeface="Arial"/>
                <a:cs typeface="Arial"/>
              </a:rPr>
              <a:t>phỏng</a:t>
            </a:r>
            <a:r>
              <a:rPr lang="en-US" dirty="0">
                <a:latin typeface="Arial"/>
                <a:cs typeface="Arial"/>
              </a:rPr>
              <a:t> </a:t>
            </a:r>
            <a:r>
              <a:rPr lang="en-US" dirty="0" err="1">
                <a:latin typeface="Arial"/>
                <a:cs typeface="Arial"/>
              </a:rPr>
              <a:t>kiểm</a:t>
            </a:r>
            <a:r>
              <a:rPr lang="en-US" dirty="0">
                <a:latin typeface="Arial"/>
                <a:cs typeface="Arial"/>
              </a:rPr>
              <a:t> </a:t>
            </a:r>
            <a:r>
              <a:rPr lang="en-US" dirty="0" err="1">
                <a:latin typeface="Arial"/>
                <a:cs typeface="Arial"/>
              </a:rPr>
              <a:t>chứng</a:t>
            </a:r>
            <a:endParaRPr lang="en-US" dirty="0"/>
          </a:p>
        </p:txBody>
      </p:sp>
      <p:sp>
        <p:nvSpPr>
          <p:cNvPr id="5" name="Slide Number Placeholder 4"/>
          <p:cNvSpPr>
            <a:spLocks noGrp="1"/>
          </p:cNvSpPr>
          <p:nvPr>
            <p:ph type="sldNum" sz="quarter" idx="4"/>
          </p:nvPr>
        </p:nvSpPr>
        <p:spPr/>
        <p:txBody>
          <a:bodyPr/>
          <a:lstStyle/>
          <a:p>
            <a:fld id="{C4AED997-7CB6-4654-8505-4D4C6D081CC6}" type="slidenum">
              <a:rPr lang="en-US" smtClean="0"/>
              <a:pPr/>
              <a:t>29</a:t>
            </a:fld>
            <a:endParaRPr lang="en-US"/>
          </a:p>
        </p:txBody>
      </p:sp>
      <p:sp>
        <p:nvSpPr>
          <p:cNvPr id="7" name="Subtitle 1">
            <a:extLst>
              <a:ext uri="{FF2B5EF4-FFF2-40B4-BE49-F238E27FC236}">
                <a16:creationId xmlns:a16="http://schemas.microsoft.com/office/drawing/2014/main" id="{840A1B7B-1057-4AD4-B498-B43A15F80F8D}"/>
              </a:ext>
            </a:extLst>
          </p:cNvPr>
          <p:cNvSpPr txBox="1">
            <a:spLocks/>
          </p:cNvSpPr>
          <p:nvPr/>
        </p:nvSpPr>
        <p:spPr>
          <a:xfrm>
            <a:off x="642520" y="4686987"/>
            <a:ext cx="7432829" cy="1779423"/>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accent1">
                    <a:lumMod val="50000"/>
                  </a:schemeClr>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accent1">
                    <a:lumMod val="50000"/>
                  </a:schemeClr>
                </a:solidFill>
                <a:latin typeface="Arial" panose="020B0604020202020204" pitchFamily="34" charset="0"/>
                <a:ea typeface="+mn-ea"/>
                <a:cs typeface="Arial" panose="020B0604020202020204"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accent1">
                    <a:lumMod val="50000"/>
                  </a:schemeClr>
                </a:solidFill>
                <a:latin typeface="Arial" panose="020B0604020202020204" pitchFamily="34" charset="0"/>
                <a:ea typeface="+mn-ea"/>
                <a:cs typeface="Arial" panose="020B0604020202020204"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accent1">
                    <a:lumMod val="50000"/>
                  </a:schemeClr>
                </a:solidFill>
                <a:latin typeface="Arial" panose="020B0604020202020204" pitchFamily="34" charset="0"/>
                <a:ea typeface="+mn-ea"/>
                <a:cs typeface="Arial" panose="020B0604020202020204"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742950" marR="0" lvl="1" indent="-285750" algn="just">
              <a:lnSpc>
                <a:spcPct val="107000"/>
              </a:lnSpc>
              <a:spcBef>
                <a:spcPts val="0"/>
              </a:spcBef>
              <a:spcAft>
                <a:spcPts val="500"/>
              </a:spcAft>
              <a:buFont typeface="Wingdings" panose="05000000000000000000" pitchFamily="2" charset="2"/>
              <a:buChar char=""/>
            </a:pPr>
            <a:r>
              <a:rPr lang="en-US" dirty="0" err="1">
                <a:effectLst/>
                <a:latin typeface="Times New Roman" panose="02020603050405020304" pitchFamily="18" charset="0"/>
                <a:ea typeface="Calibri" panose="020F0502020204030204" pitchFamily="34" charset="0"/>
                <a:cs typeface="Times New Roman" panose="02020603050405020304" pitchFamily="18" charset="0"/>
              </a:rPr>
              <a:t>Nhận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xét</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Dòng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điện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pha</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phía</a:t>
            </a:r>
            <a:r>
              <a:rPr lang="en-US" dirty="0">
                <a:effectLst/>
                <a:latin typeface="Times New Roman" panose="02020603050405020304" pitchFamily="18" charset="0"/>
                <a:ea typeface="Calibri" panose="020F0502020204030204" pitchFamily="34" charset="0"/>
                <a:cs typeface="Times New Roman" panose="02020603050405020304" pitchFamily="18" charset="0"/>
              </a:rPr>
              <a:t> stator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có</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dạng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hình</a:t>
            </a:r>
            <a:r>
              <a:rPr lang="en-US" dirty="0">
                <a:effectLst/>
                <a:latin typeface="Times New Roman" panose="02020603050405020304" pitchFamily="18" charset="0"/>
                <a:ea typeface="Calibri" panose="020F0502020204030204" pitchFamily="34" charset="0"/>
                <a:cs typeface="Times New Roman" panose="02020603050405020304" pitchFamily="18" charset="0"/>
              </a:rPr>
              <a:t> sin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thể</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hiện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bộ</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điều</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khiển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dòng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điện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đáp</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ứng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được</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yêu</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cầu</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Biên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độ</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dòng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điện</a:t>
            </a:r>
            <a:r>
              <a:rPr lang="en-US" dirty="0">
                <a:effectLst/>
                <a:latin typeface="Times New Roman" panose="02020603050405020304" pitchFamily="18" charset="0"/>
                <a:ea typeface="Calibri" panose="020F0502020204030204" pitchFamily="34" charset="0"/>
                <a:cs typeface="Times New Roman" panose="02020603050405020304" pitchFamily="18" charset="0"/>
              </a:rPr>
              <a:t> stator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khi</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cơ</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chạy</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ổn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dirty="0">
                <a:effectLst/>
                <a:latin typeface="Times New Roman" panose="02020603050405020304" pitchFamily="18" charset="0"/>
                <a:ea typeface="Calibri" panose="020F0502020204030204" pitchFamily="34" charset="0"/>
                <a:cs typeface="Times New Roman" panose="02020603050405020304" pitchFamily="18" charset="0"/>
              </a:rPr>
              <a:t> 15.2A,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dòng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điện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lớn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nhất</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trong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quá</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trình</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tăng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tốc</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là</a:t>
            </a:r>
            <a:r>
              <a:rPr lang="en-US" dirty="0">
                <a:effectLst/>
                <a:latin typeface="Times New Roman" panose="02020603050405020304" pitchFamily="18" charset="0"/>
                <a:ea typeface="Calibri" panose="020F0502020204030204" pitchFamily="34" charset="0"/>
                <a:cs typeface="Times New Roman" panose="02020603050405020304" pitchFamily="18" charset="0"/>
              </a:rPr>
              <a:t> 16.25A,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gấp</a:t>
            </a:r>
            <a:r>
              <a:rPr lang="en-US" dirty="0">
                <a:effectLst/>
                <a:latin typeface="Times New Roman" panose="02020603050405020304" pitchFamily="18" charset="0"/>
                <a:ea typeface="Calibri" panose="020F0502020204030204" pitchFamily="34" charset="0"/>
                <a:cs typeface="Times New Roman" panose="02020603050405020304" pitchFamily="18" charset="0"/>
              </a:rPr>
              <a:t> 1.07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lần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dòng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điện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khi</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động</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cơ</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chạy</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ổn</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r>
              <a:rPr lang="en-US" dirty="0" err="1">
                <a:effectLst/>
                <a:latin typeface="Times New Roman" panose="02020603050405020304" pitchFamily="18" charset="0"/>
                <a:ea typeface="Calibri" panose="020F0502020204030204" pitchFamily="34" charset="0"/>
                <a:cs typeface="Times New Roman" panose="02020603050405020304" pitchFamily="18" charset="0"/>
              </a:rPr>
              <a:t>định</a:t>
            </a:r>
            <a:r>
              <a:rPr lang="en-US" dirty="0">
                <a:effectLst/>
                <a:latin typeface="Times New Roman" panose="02020603050405020304" pitchFamily="18" charset="0"/>
                <a:ea typeface="Calibri" panose="020F0502020204030204" pitchFamily="34" charset="0"/>
                <a:cs typeface="Times New Roman" panose="02020603050405020304" pitchFamily="18" charset="0"/>
              </a:rPr>
              <a:t> </a:t>
            </a:r>
          </a:p>
        </p:txBody>
      </p:sp>
      <p:sp>
        <p:nvSpPr>
          <p:cNvPr id="8" name="TextBox 7">
            <a:extLst>
              <a:ext uri="{FF2B5EF4-FFF2-40B4-BE49-F238E27FC236}">
                <a16:creationId xmlns:a16="http://schemas.microsoft.com/office/drawing/2014/main" id="{2F6406A3-7A9E-49F9-ACF5-1671AF526012}"/>
              </a:ext>
            </a:extLst>
          </p:cNvPr>
          <p:cNvSpPr txBox="1"/>
          <p:nvPr/>
        </p:nvSpPr>
        <p:spPr>
          <a:xfrm>
            <a:off x="664402" y="926984"/>
            <a:ext cx="7815193" cy="400110"/>
          </a:xfrm>
          <a:prstGeom prst="rect">
            <a:avLst/>
          </a:prstGeom>
          <a:noFill/>
        </p:spPr>
        <p:txBody>
          <a:bodyPr wrap="square" rtlCol="0">
            <a:spAutoFit/>
          </a:bodyPr>
          <a:lstStyle/>
          <a:p>
            <a:r>
              <a:rPr lang="en-US" sz="2000">
                <a:solidFill>
                  <a:schemeClr val="accent1">
                    <a:lumMod val="50000"/>
                  </a:schemeClr>
                </a:solidFill>
                <a:latin typeface="Arial" panose="020B0604020202020204" pitchFamily="34" charset="0"/>
                <a:cs typeface="Arial" panose="020B0604020202020204" pitchFamily="34" charset="0"/>
              </a:rPr>
              <a:t>4.1: Mô phỏng trên MATLAB</a:t>
            </a:r>
          </a:p>
        </p:txBody>
      </p:sp>
      <p:pic>
        <p:nvPicPr>
          <p:cNvPr id="9" name="Picture 8" descr="A picture containing bar chart&#10;&#10;Description automatically generated">
            <a:extLst>
              <a:ext uri="{FF2B5EF4-FFF2-40B4-BE49-F238E27FC236}">
                <a16:creationId xmlns:a16="http://schemas.microsoft.com/office/drawing/2014/main" id="{60A3BB7B-5AD7-472C-89E7-92E1DDDBE15F}"/>
              </a:ext>
            </a:extLst>
          </p:cNvPr>
          <p:cNvPicPr/>
          <p:nvPr/>
        </p:nvPicPr>
        <p:blipFill rotWithShape="1">
          <a:blip r:embed="rId2" cstate="print">
            <a:extLst>
              <a:ext uri="{28A0092B-C50C-407E-A947-70E740481C1C}">
                <a14:useLocalDpi xmlns:a14="http://schemas.microsoft.com/office/drawing/2010/main" val="0"/>
              </a:ext>
            </a:extLst>
          </a:blip>
          <a:srcRect l="6045" t="5448" r="2808" b="1903"/>
          <a:stretch/>
        </p:blipFill>
        <p:spPr bwMode="auto">
          <a:xfrm>
            <a:off x="824200" y="1962981"/>
            <a:ext cx="7526986" cy="260902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8425275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B09D648A-1A13-4F0E-B8B3-0C12EFE9CC22}"/>
              </a:ext>
            </a:extLst>
          </p:cNvPr>
          <p:cNvSpPr>
            <a:spLocks noGrp="1"/>
          </p:cNvSpPr>
          <p:nvPr>
            <p:ph type="subTitle" idx="1"/>
          </p:nvPr>
        </p:nvSpPr>
        <p:spPr/>
        <p:txBody>
          <a:bodyPr/>
          <a:lstStyle/>
          <a:p>
            <a:pPr algn="l"/>
            <a:r>
              <a:rPr lang="en-US" dirty="0"/>
              <a:t>Hai </a:t>
            </a:r>
            <a:r>
              <a:rPr lang="en-US" dirty="0" err="1"/>
              <a:t>dòng</a:t>
            </a:r>
            <a:r>
              <a:rPr lang="en-US" dirty="0"/>
              <a:t> </a:t>
            </a:r>
            <a:r>
              <a:rPr lang="en-US" dirty="0" err="1"/>
              <a:t>điện</a:t>
            </a:r>
            <a:r>
              <a:rPr lang="en-US" dirty="0"/>
              <a:t> </a:t>
            </a:r>
            <a:r>
              <a:rPr lang="en-US" dirty="0" err="1"/>
              <a:t>quy</a:t>
            </a:r>
            <a:r>
              <a:rPr lang="en-US" dirty="0"/>
              <a:t> </a:t>
            </a:r>
            <a:r>
              <a:rPr lang="en-US" dirty="0" err="1"/>
              <a:t>đổi</a:t>
            </a:r>
            <a:r>
              <a:rPr lang="en-US" dirty="0"/>
              <a:t> </a:t>
            </a:r>
            <a:r>
              <a:rPr lang="en-US" dirty="0" err="1"/>
              <a:t>isq</a:t>
            </a:r>
            <a:r>
              <a:rPr lang="en-US" dirty="0"/>
              <a:t> </a:t>
            </a:r>
            <a:r>
              <a:rPr lang="en-US" dirty="0" err="1"/>
              <a:t>và</a:t>
            </a:r>
            <a:r>
              <a:rPr lang="en-US" dirty="0"/>
              <a:t> </a:t>
            </a:r>
            <a:r>
              <a:rPr lang="en-US" dirty="0" err="1"/>
              <a:t>isd</a:t>
            </a:r>
            <a:endParaRPr lang="en-US" dirty="0"/>
          </a:p>
        </p:txBody>
      </p:sp>
      <p:sp>
        <p:nvSpPr>
          <p:cNvPr id="3" name="Text Placeholder 2">
            <a:extLst>
              <a:ext uri="{FF2B5EF4-FFF2-40B4-BE49-F238E27FC236}">
                <a16:creationId xmlns:a16="http://schemas.microsoft.com/office/drawing/2014/main" id="{7F490230-537C-4682-ABB9-FF3AB5818D51}"/>
              </a:ext>
            </a:extLst>
          </p:cNvPr>
          <p:cNvSpPr>
            <a:spLocks noGrp="1"/>
          </p:cNvSpPr>
          <p:nvPr>
            <p:ph type="body" sz="quarter" idx="12"/>
          </p:nvPr>
        </p:nvSpPr>
        <p:spPr/>
        <p:txBody>
          <a:bodyPr/>
          <a:lstStyle/>
          <a:p>
            <a:r>
              <a:rPr lang="en-US" dirty="0"/>
              <a:t>4</a:t>
            </a:r>
          </a:p>
        </p:txBody>
      </p:sp>
      <p:sp>
        <p:nvSpPr>
          <p:cNvPr id="5" name="Slide Number Placeholder 4">
            <a:extLst>
              <a:ext uri="{FF2B5EF4-FFF2-40B4-BE49-F238E27FC236}">
                <a16:creationId xmlns:a16="http://schemas.microsoft.com/office/drawing/2014/main" id="{CBA10561-EE4A-4676-B740-47F58E45F2EB}"/>
              </a:ext>
            </a:extLst>
          </p:cNvPr>
          <p:cNvSpPr>
            <a:spLocks noGrp="1"/>
          </p:cNvSpPr>
          <p:nvPr>
            <p:ph type="sldNum" sz="quarter" idx="4"/>
          </p:nvPr>
        </p:nvSpPr>
        <p:spPr/>
        <p:txBody>
          <a:bodyPr/>
          <a:lstStyle/>
          <a:p>
            <a:fld id="{C4AED997-7CB6-4654-8505-4D4C6D081CC6}" type="slidenum">
              <a:rPr lang="en-US" smtClean="0"/>
              <a:pPr/>
              <a:t>30</a:t>
            </a:fld>
            <a:endParaRPr lang="en-US"/>
          </a:p>
        </p:txBody>
      </p:sp>
      <p:pic>
        <p:nvPicPr>
          <p:cNvPr id="6" name="Picture 5" descr="A picture containing graphical user interface&#10;&#10;Description automatically generated">
            <a:extLst>
              <a:ext uri="{FF2B5EF4-FFF2-40B4-BE49-F238E27FC236}">
                <a16:creationId xmlns:a16="http://schemas.microsoft.com/office/drawing/2014/main" id="{FAB6F624-8ED0-49A6-9386-A14E66285A08}"/>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998316" y="1568450"/>
            <a:ext cx="6351608" cy="2355368"/>
          </a:xfrm>
          <a:prstGeom prst="rect">
            <a:avLst/>
          </a:prstGeom>
        </p:spPr>
      </p:pic>
      <p:pic>
        <p:nvPicPr>
          <p:cNvPr id="7" name="Picture 6" descr="Chart&#10;&#10;Description automatically generated with medium confidence">
            <a:extLst>
              <a:ext uri="{FF2B5EF4-FFF2-40B4-BE49-F238E27FC236}">
                <a16:creationId xmlns:a16="http://schemas.microsoft.com/office/drawing/2014/main" id="{7B2A2B82-11C5-4653-BE55-DCE980D8283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998316" y="3923818"/>
            <a:ext cx="6494334" cy="1953210"/>
          </a:xfrm>
          <a:prstGeom prst="rect">
            <a:avLst/>
          </a:prstGeom>
        </p:spPr>
      </p:pic>
      <p:sp>
        <p:nvSpPr>
          <p:cNvPr id="8" name="Title 3">
            <a:extLst>
              <a:ext uri="{FF2B5EF4-FFF2-40B4-BE49-F238E27FC236}">
                <a16:creationId xmlns:a16="http://schemas.microsoft.com/office/drawing/2014/main" id="{D8398923-18E3-4CBB-923C-AF1A0281D179}"/>
              </a:ext>
            </a:extLst>
          </p:cNvPr>
          <p:cNvSpPr>
            <a:spLocks noGrp="1"/>
          </p:cNvSpPr>
          <p:nvPr>
            <p:ph type="title"/>
          </p:nvPr>
        </p:nvSpPr>
        <p:spPr>
          <a:xfrm>
            <a:off x="1147763" y="192088"/>
            <a:ext cx="6848475" cy="517525"/>
          </a:xfrm>
        </p:spPr>
        <p:txBody>
          <a:bodyPr/>
          <a:lstStyle/>
          <a:p>
            <a:r>
              <a:rPr lang="en-US" dirty="0" err="1">
                <a:latin typeface="Arial"/>
                <a:cs typeface="Arial"/>
              </a:rPr>
              <a:t>Mô</a:t>
            </a:r>
            <a:r>
              <a:rPr lang="en-US" dirty="0">
                <a:latin typeface="Arial"/>
                <a:cs typeface="Arial"/>
              </a:rPr>
              <a:t> </a:t>
            </a:r>
            <a:r>
              <a:rPr lang="en-US" dirty="0" err="1">
                <a:latin typeface="Arial"/>
                <a:cs typeface="Arial"/>
              </a:rPr>
              <a:t>phỏng</a:t>
            </a:r>
            <a:r>
              <a:rPr lang="en-US" dirty="0">
                <a:latin typeface="Arial"/>
                <a:cs typeface="Arial"/>
              </a:rPr>
              <a:t> </a:t>
            </a:r>
            <a:r>
              <a:rPr lang="en-US" dirty="0" err="1">
                <a:latin typeface="Arial"/>
                <a:cs typeface="Arial"/>
              </a:rPr>
              <a:t>kiểm</a:t>
            </a:r>
            <a:r>
              <a:rPr lang="en-US" dirty="0">
                <a:latin typeface="Arial"/>
                <a:cs typeface="Arial"/>
              </a:rPr>
              <a:t> </a:t>
            </a:r>
            <a:r>
              <a:rPr lang="en-US" dirty="0" err="1">
                <a:latin typeface="Arial"/>
                <a:cs typeface="Arial"/>
              </a:rPr>
              <a:t>chứng</a:t>
            </a:r>
            <a:endParaRPr lang="en-US" dirty="0"/>
          </a:p>
        </p:txBody>
      </p:sp>
    </p:spTree>
    <p:extLst>
      <p:ext uri="{BB962C8B-B14F-4D97-AF65-F5344CB8AC3E}">
        <p14:creationId xmlns:p14="http://schemas.microsoft.com/office/powerpoint/2010/main" val="284344193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13589D1-5E84-4C74-8606-92E618885894}"/>
              </a:ext>
            </a:extLst>
          </p:cNvPr>
          <p:cNvSpPr>
            <a:spLocks noGrp="1"/>
          </p:cNvSpPr>
          <p:nvPr>
            <p:ph type="body" sz="quarter" idx="12"/>
          </p:nvPr>
        </p:nvSpPr>
        <p:spPr/>
        <p:txBody>
          <a:bodyPr/>
          <a:lstStyle/>
          <a:p>
            <a:r>
              <a:rPr lang="en-US"/>
              <a:t>5</a:t>
            </a:r>
          </a:p>
        </p:txBody>
      </p:sp>
      <p:sp>
        <p:nvSpPr>
          <p:cNvPr id="5" name="Slide Number Placeholder 4">
            <a:extLst>
              <a:ext uri="{FF2B5EF4-FFF2-40B4-BE49-F238E27FC236}">
                <a16:creationId xmlns:a16="http://schemas.microsoft.com/office/drawing/2014/main" id="{2F3410FC-8FB6-4556-900F-35A8FEE4B5A8}"/>
              </a:ext>
            </a:extLst>
          </p:cNvPr>
          <p:cNvSpPr>
            <a:spLocks noGrp="1"/>
          </p:cNvSpPr>
          <p:nvPr>
            <p:ph type="sldNum" sz="quarter" idx="4"/>
          </p:nvPr>
        </p:nvSpPr>
        <p:spPr/>
        <p:txBody>
          <a:bodyPr/>
          <a:lstStyle/>
          <a:p>
            <a:fld id="{C4AED997-7CB6-4654-8505-4D4C6D081CC6}" type="slidenum">
              <a:rPr lang="en-US" smtClean="0"/>
              <a:pPr/>
              <a:t>31</a:t>
            </a:fld>
            <a:endParaRPr lang="en-US"/>
          </a:p>
        </p:txBody>
      </p:sp>
      <p:sp>
        <p:nvSpPr>
          <p:cNvPr id="9" name="Title 7">
            <a:extLst>
              <a:ext uri="{FF2B5EF4-FFF2-40B4-BE49-F238E27FC236}">
                <a16:creationId xmlns:a16="http://schemas.microsoft.com/office/drawing/2014/main" id="{01A96B72-3A98-466A-A717-F75D0D836061}"/>
              </a:ext>
            </a:extLst>
          </p:cNvPr>
          <p:cNvSpPr>
            <a:spLocks noGrp="1"/>
          </p:cNvSpPr>
          <p:nvPr>
            <p:ph type="title"/>
          </p:nvPr>
        </p:nvSpPr>
        <p:spPr>
          <a:xfrm>
            <a:off x="1147763" y="192088"/>
            <a:ext cx="6848475" cy="517525"/>
          </a:xfrm>
        </p:spPr>
        <p:txBody>
          <a:bodyPr/>
          <a:lstStyle/>
          <a:p>
            <a:r>
              <a:rPr lang="en-US" dirty="0" err="1"/>
              <a:t>Kết</a:t>
            </a:r>
            <a:r>
              <a:rPr lang="en-US" dirty="0"/>
              <a:t> </a:t>
            </a:r>
            <a:r>
              <a:rPr lang="en-US" dirty="0" err="1"/>
              <a:t>Luận</a:t>
            </a:r>
            <a:r>
              <a:rPr lang="en-US" dirty="0"/>
              <a:t> - H</a:t>
            </a:r>
            <a:r>
              <a:rPr lang="vi-VN" dirty="0"/>
              <a:t>ướng</a:t>
            </a:r>
            <a:r>
              <a:rPr lang="en-US" dirty="0"/>
              <a:t> </a:t>
            </a:r>
            <a:r>
              <a:rPr lang="en-US" dirty="0" err="1"/>
              <a:t>phát</a:t>
            </a:r>
            <a:r>
              <a:rPr lang="en-US" dirty="0"/>
              <a:t> </a:t>
            </a:r>
            <a:r>
              <a:rPr lang="en-US" dirty="0" err="1"/>
              <a:t>triển</a:t>
            </a:r>
            <a:endParaRPr lang="en-US" dirty="0"/>
          </a:p>
        </p:txBody>
      </p:sp>
      <p:sp>
        <p:nvSpPr>
          <p:cNvPr id="12" name="Subtitle 1">
            <a:extLst>
              <a:ext uri="{FF2B5EF4-FFF2-40B4-BE49-F238E27FC236}">
                <a16:creationId xmlns:a16="http://schemas.microsoft.com/office/drawing/2014/main" id="{663075C0-7B33-46DF-B6C3-6EB6C5719CBD}"/>
              </a:ext>
            </a:extLst>
          </p:cNvPr>
          <p:cNvSpPr>
            <a:spLocks noGrp="1"/>
          </p:cNvSpPr>
          <p:nvPr>
            <p:ph type="subTitle" idx="1"/>
          </p:nvPr>
        </p:nvSpPr>
        <p:spPr>
          <a:xfrm>
            <a:off x="855663" y="949325"/>
            <a:ext cx="7432675" cy="4927600"/>
          </a:xfrm>
        </p:spPr>
        <p:txBody>
          <a:bodyPr>
            <a:normAutofit lnSpcReduction="10000"/>
          </a:bodyPr>
          <a:lstStyle/>
          <a:p>
            <a:pPr marL="342900" indent="-342900" algn="just">
              <a:buFont typeface="Wingdings" panose="05000000000000000000" pitchFamily="2" charset="2"/>
              <a:buChar char="ü"/>
            </a:pPr>
            <a:r>
              <a:rPr lang="en-US" sz="2000" dirty="0" err="1"/>
              <a:t>Mô</a:t>
            </a:r>
            <a:r>
              <a:rPr lang="en-US" sz="2000" dirty="0"/>
              <a:t> </a:t>
            </a:r>
            <a:r>
              <a:rPr lang="en-US" sz="2000" dirty="0" err="1"/>
              <a:t>phỏng</a:t>
            </a:r>
            <a:r>
              <a:rPr lang="en-US" sz="2000" dirty="0"/>
              <a:t> </a:t>
            </a:r>
            <a:r>
              <a:rPr lang="en-US" sz="2000" dirty="0" err="1"/>
              <a:t>thuật</a:t>
            </a:r>
            <a:r>
              <a:rPr lang="en-US" sz="2000" dirty="0"/>
              <a:t> </a:t>
            </a:r>
            <a:r>
              <a:rPr lang="en-US" sz="2000" dirty="0" err="1"/>
              <a:t>toán</a:t>
            </a:r>
            <a:r>
              <a:rPr lang="en-US" sz="2000" dirty="0"/>
              <a:t> FOC </a:t>
            </a:r>
            <a:r>
              <a:rPr lang="en-US" sz="2000" dirty="0" err="1"/>
              <a:t>trên</a:t>
            </a:r>
            <a:r>
              <a:rPr lang="en-US" sz="2000" dirty="0"/>
              <a:t> </a:t>
            </a:r>
            <a:r>
              <a:rPr lang="en-US" sz="2000" dirty="0" err="1"/>
              <a:t>matlab</a:t>
            </a:r>
            <a:r>
              <a:rPr lang="en-US" sz="2000" dirty="0"/>
              <a:t> </a:t>
            </a:r>
            <a:r>
              <a:rPr lang="en-US" sz="2000" dirty="0" err="1"/>
              <a:t>cho</a:t>
            </a:r>
            <a:r>
              <a:rPr lang="en-US" sz="2000" dirty="0"/>
              <a:t> ra </a:t>
            </a:r>
            <a:r>
              <a:rPr lang="en-US" sz="2000" dirty="0" err="1"/>
              <a:t>kết</a:t>
            </a:r>
            <a:r>
              <a:rPr lang="en-US" sz="2000" dirty="0"/>
              <a:t> </a:t>
            </a:r>
            <a:r>
              <a:rPr lang="en-US" sz="2000" dirty="0" err="1"/>
              <a:t>quả</a:t>
            </a:r>
            <a:r>
              <a:rPr lang="en-US" sz="2000" dirty="0"/>
              <a:t> </a:t>
            </a:r>
            <a:r>
              <a:rPr lang="en-US" sz="2000" dirty="0" err="1"/>
              <a:t>đúng</a:t>
            </a:r>
            <a:endParaRPr lang="en-US" sz="2000" dirty="0"/>
          </a:p>
          <a:p>
            <a:pPr marL="342900" indent="-342900" algn="just">
              <a:buFont typeface="Wingdings" panose="05000000000000000000" pitchFamily="2" charset="2"/>
              <a:buChar char="ü"/>
            </a:pPr>
            <a:r>
              <a:rPr lang="en-US" sz="2000" dirty="0" err="1"/>
              <a:t>Chạy</a:t>
            </a:r>
            <a:r>
              <a:rPr lang="en-US" sz="2000" dirty="0"/>
              <a:t> </a:t>
            </a:r>
            <a:r>
              <a:rPr lang="en-US" sz="2000" dirty="0" err="1"/>
              <a:t>thành</a:t>
            </a:r>
            <a:r>
              <a:rPr lang="en-US" sz="2000" dirty="0"/>
              <a:t> </a:t>
            </a:r>
            <a:r>
              <a:rPr lang="en-US" sz="2000" dirty="0" err="1"/>
              <a:t>công</a:t>
            </a:r>
            <a:r>
              <a:rPr lang="en-US" sz="2000" dirty="0"/>
              <a:t> </a:t>
            </a:r>
            <a:r>
              <a:rPr lang="en-US" sz="2000" dirty="0" err="1"/>
              <a:t>thuật</a:t>
            </a:r>
            <a:r>
              <a:rPr lang="en-US" sz="2000" dirty="0"/>
              <a:t> </a:t>
            </a:r>
            <a:r>
              <a:rPr lang="en-US" sz="2000" dirty="0" err="1"/>
              <a:t>toán</a:t>
            </a:r>
            <a:r>
              <a:rPr lang="en-US" sz="2000" dirty="0"/>
              <a:t> </a:t>
            </a:r>
            <a:r>
              <a:rPr lang="en-US" sz="2000" dirty="0" err="1"/>
              <a:t>điều</a:t>
            </a:r>
            <a:r>
              <a:rPr lang="en-US" sz="2000" dirty="0"/>
              <a:t> </a:t>
            </a:r>
            <a:r>
              <a:rPr lang="en-US" sz="2000" dirty="0" err="1"/>
              <a:t>chế</a:t>
            </a:r>
            <a:r>
              <a:rPr lang="en-US" sz="2000" dirty="0"/>
              <a:t> </a:t>
            </a:r>
            <a:r>
              <a:rPr lang="en-US" sz="2000" dirty="0" err="1"/>
              <a:t>vect</a:t>
            </a:r>
            <a:r>
              <a:rPr lang="vi-VN" sz="2000" dirty="0"/>
              <a:t>ơ</a:t>
            </a:r>
            <a:r>
              <a:rPr lang="en-US" sz="2000" dirty="0"/>
              <a:t> </a:t>
            </a:r>
            <a:r>
              <a:rPr lang="en-US" sz="2000" dirty="0" err="1"/>
              <a:t>không</a:t>
            </a:r>
            <a:r>
              <a:rPr lang="en-US" sz="2000" dirty="0"/>
              <a:t> </a:t>
            </a:r>
            <a:r>
              <a:rPr lang="en-US" sz="2000" dirty="0" err="1"/>
              <a:t>gian</a:t>
            </a:r>
            <a:r>
              <a:rPr lang="en-US" sz="2000" dirty="0"/>
              <a:t> SVM </a:t>
            </a:r>
            <a:r>
              <a:rPr lang="en-US" sz="2000" dirty="0" err="1"/>
              <a:t>và</a:t>
            </a:r>
            <a:r>
              <a:rPr lang="en-US" sz="2000" dirty="0"/>
              <a:t> </a:t>
            </a:r>
            <a:r>
              <a:rPr lang="en-US" sz="2000" dirty="0" err="1"/>
              <a:t>mạch</a:t>
            </a:r>
            <a:r>
              <a:rPr lang="en-US" sz="2000" dirty="0"/>
              <a:t> </a:t>
            </a:r>
            <a:r>
              <a:rPr lang="en-US" sz="2000" dirty="0" err="1"/>
              <a:t>vòng</a:t>
            </a:r>
            <a:r>
              <a:rPr lang="en-US" sz="2000" dirty="0"/>
              <a:t> </a:t>
            </a:r>
            <a:r>
              <a:rPr lang="en-US" sz="2000" dirty="0" err="1"/>
              <a:t>điều</a:t>
            </a:r>
            <a:r>
              <a:rPr lang="en-US" sz="2000" dirty="0"/>
              <a:t> </a:t>
            </a:r>
            <a:r>
              <a:rPr lang="en-US" sz="2000" dirty="0" err="1"/>
              <a:t>chỉnh</a:t>
            </a:r>
            <a:r>
              <a:rPr lang="en-US" sz="2000" dirty="0"/>
              <a:t> </a:t>
            </a:r>
            <a:r>
              <a:rPr lang="en-US" sz="2000" dirty="0" err="1"/>
              <a:t>dòng</a:t>
            </a:r>
            <a:r>
              <a:rPr lang="en-US" sz="2000" dirty="0"/>
              <a:t> </a:t>
            </a:r>
            <a:r>
              <a:rPr lang="en-US" sz="2000" dirty="0" err="1"/>
              <a:t>điện</a:t>
            </a:r>
            <a:r>
              <a:rPr lang="en-US" sz="2000" dirty="0"/>
              <a:t> </a:t>
            </a:r>
            <a:r>
              <a:rPr lang="en-US" sz="2000" dirty="0" err="1"/>
              <a:t>trong</a:t>
            </a:r>
            <a:r>
              <a:rPr lang="en-US" sz="2000" dirty="0"/>
              <a:t> </a:t>
            </a:r>
            <a:r>
              <a:rPr lang="en-US" sz="2000" dirty="0" err="1"/>
              <a:t>cấu</a:t>
            </a:r>
            <a:r>
              <a:rPr lang="en-US" sz="2000" dirty="0"/>
              <a:t> </a:t>
            </a:r>
            <a:r>
              <a:rPr lang="en-US" sz="2000" dirty="0" err="1"/>
              <a:t>trúc</a:t>
            </a:r>
            <a:r>
              <a:rPr lang="en-US" sz="2000" dirty="0"/>
              <a:t> </a:t>
            </a:r>
            <a:r>
              <a:rPr lang="en-US" sz="2000" dirty="0" err="1"/>
              <a:t>điều</a:t>
            </a:r>
            <a:r>
              <a:rPr lang="en-US" sz="2000" dirty="0"/>
              <a:t> </a:t>
            </a:r>
            <a:r>
              <a:rPr lang="en-US" sz="2000" dirty="0" err="1"/>
              <a:t>khiển</a:t>
            </a:r>
            <a:r>
              <a:rPr lang="en-US" sz="2000" dirty="0"/>
              <a:t> FOC </a:t>
            </a:r>
            <a:r>
              <a:rPr lang="en-US" sz="2000" dirty="0" err="1"/>
              <a:t>trên</a:t>
            </a:r>
            <a:r>
              <a:rPr lang="en-US" sz="2000" dirty="0"/>
              <a:t> card FPGA </a:t>
            </a:r>
          </a:p>
          <a:p>
            <a:pPr marL="342900" indent="-342900" algn="just">
              <a:buFont typeface="Wingdings" panose="05000000000000000000" pitchFamily="2" charset="2"/>
              <a:buChar char="ü"/>
            </a:pPr>
            <a:r>
              <a:rPr lang="en-US" sz="2000" dirty="0" err="1"/>
              <a:t>Vấn</a:t>
            </a:r>
            <a:r>
              <a:rPr lang="en-US" sz="2000" dirty="0"/>
              <a:t> </a:t>
            </a:r>
            <a:r>
              <a:rPr lang="en-US" sz="2000" dirty="0" err="1"/>
              <a:t>đề</a:t>
            </a:r>
            <a:r>
              <a:rPr lang="en-US" sz="2000" dirty="0"/>
              <a:t> </a:t>
            </a:r>
            <a:r>
              <a:rPr lang="en-US" sz="2000" dirty="0" err="1"/>
              <a:t>ch</a:t>
            </a:r>
            <a:r>
              <a:rPr lang="vi-VN" sz="2000" dirty="0"/>
              <a:t>ư</a:t>
            </a:r>
            <a:r>
              <a:rPr lang="en-US" sz="2000" dirty="0"/>
              <a:t>a </a:t>
            </a:r>
            <a:r>
              <a:rPr lang="en-US" sz="2000" dirty="0" err="1"/>
              <a:t>giải</a:t>
            </a:r>
            <a:r>
              <a:rPr lang="en-US" sz="2000" dirty="0"/>
              <a:t> </a:t>
            </a:r>
            <a:r>
              <a:rPr lang="en-US" sz="2000" dirty="0" err="1"/>
              <a:t>quyết</a:t>
            </a:r>
            <a:r>
              <a:rPr lang="en-US" sz="2000" dirty="0"/>
              <a:t> đ</a:t>
            </a:r>
            <a:r>
              <a:rPr lang="vi-VN" sz="2000" dirty="0"/>
              <a:t>ược</a:t>
            </a:r>
            <a:r>
              <a:rPr lang="en-US" sz="2000" dirty="0"/>
              <a:t>: </a:t>
            </a:r>
            <a:r>
              <a:rPr lang="en-US" sz="2000" dirty="0" err="1"/>
              <a:t>khi</a:t>
            </a:r>
            <a:r>
              <a:rPr lang="en-US" sz="2000" dirty="0"/>
              <a:t> </a:t>
            </a:r>
            <a:r>
              <a:rPr lang="en-US" sz="2000" dirty="0" err="1"/>
              <a:t>chạy</a:t>
            </a:r>
            <a:r>
              <a:rPr lang="en-US" sz="2000" dirty="0"/>
              <a:t> </a:t>
            </a:r>
            <a:r>
              <a:rPr lang="en-US" sz="2000" dirty="0" err="1"/>
              <a:t>mạch</a:t>
            </a:r>
            <a:r>
              <a:rPr lang="en-US" sz="2000" dirty="0"/>
              <a:t> </a:t>
            </a:r>
            <a:r>
              <a:rPr lang="en-US" sz="2000" dirty="0" err="1"/>
              <a:t>vòng</a:t>
            </a:r>
            <a:r>
              <a:rPr lang="en-US" sz="2000" dirty="0"/>
              <a:t> </a:t>
            </a:r>
            <a:r>
              <a:rPr lang="en-US" sz="2000" dirty="0" err="1"/>
              <a:t>tốc</a:t>
            </a:r>
            <a:r>
              <a:rPr lang="en-US" sz="2000" dirty="0"/>
              <a:t> </a:t>
            </a:r>
            <a:r>
              <a:rPr lang="en-US" sz="2000" dirty="0" err="1"/>
              <a:t>độ</a:t>
            </a:r>
            <a:r>
              <a:rPr lang="en-US" sz="2000" dirty="0"/>
              <a:t> </a:t>
            </a:r>
            <a:r>
              <a:rPr lang="en-US" sz="2000" dirty="0" err="1"/>
              <a:t>động</a:t>
            </a:r>
            <a:r>
              <a:rPr lang="en-US" sz="2000" dirty="0"/>
              <a:t> c</a:t>
            </a:r>
            <a:r>
              <a:rPr lang="vi-VN" sz="2000" dirty="0"/>
              <a:t>ơ</a:t>
            </a:r>
            <a:r>
              <a:rPr lang="en-US" sz="2000" dirty="0"/>
              <a:t> tang </a:t>
            </a:r>
            <a:r>
              <a:rPr lang="en-US" sz="2000" dirty="0" err="1"/>
              <a:t>mômen</a:t>
            </a:r>
            <a:r>
              <a:rPr lang="en-US" sz="2000" dirty="0"/>
              <a:t> </a:t>
            </a:r>
            <a:r>
              <a:rPr lang="en-US" sz="2000" dirty="0" err="1"/>
              <a:t>bằng</a:t>
            </a:r>
            <a:r>
              <a:rPr lang="en-US" sz="2000" dirty="0"/>
              <a:t> </a:t>
            </a:r>
            <a:r>
              <a:rPr lang="en-US" sz="2000" dirty="0" err="1"/>
              <a:t>với</a:t>
            </a:r>
            <a:r>
              <a:rPr lang="en-US" sz="2000" dirty="0"/>
              <a:t> </a:t>
            </a:r>
            <a:r>
              <a:rPr lang="en-US" sz="2000" dirty="0" err="1"/>
              <a:t>mômen</a:t>
            </a:r>
            <a:r>
              <a:rPr lang="en-US" sz="2000" dirty="0"/>
              <a:t> </a:t>
            </a:r>
            <a:r>
              <a:rPr lang="en-US" sz="2000" dirty="0" err="1"/>
              <a:t>tải</a:t>
            </a:r>
            <a:r>
              <a:rPr lang="en-US" sz="2000" dirty="0"/>
              <a:t> </a:t>
            </a:r>
            <a:r>
              <a:rPr lang="en-US" sz="2000" dirty="0" err="1"/>
              <a:t>sau</a:t>
            </a:r>
            <a:r>
              <a:rPr lang="en-US" sz="2000" dirty="0"/>
              <a:t> </a:t>
            </a:r>
            <a:r>
              <a:rPr lang="en-US" sz="2000" dirty="0" err="1"/>
              <a:t>đó</a:t>
            </a:r>
            <a:r>
              <a:rPr lang="en-US" sz="2000" dirty="0"/>
              <a:t> </a:t>
            </a:r>
            <a:r>
              <a:rPr lang="en-US" sz="2000" dirty="0" err="1"/>
              <a:t>tốc</a:t>
            </a:r>
            <a:r>
              <a:rPr lang="en-US" sz="2000" dirty="0"/>
              <a:t> </a:t>
            </a:r>
            <a:r>
              <a:rPr lang="en-US" sz="2000" dirty="0" err="1"/>
              <a:t>độ</a:t>
            </a:r>
            <a:r>
              <a:rPr lang="en-US" sz="2000" dirty="0"/>
              <a:t> </a:t>
            </a:r>
            <a:r>
              <a:rPr lang="en-US" sz="2000" dirty="0" err="1"/>
              <a:t>không</a:t>
            </a:r>
            <a:r>
              <a:rPr lang="en-US" sz="2000" dirty="0"/>
              <a:t> </a:t>
            </a:r>
            <a:r>
              <a:rPr lang="en-US" sz="2000" dirty="0" err="1"/>
              <a:t>thay</a:t>
            </a:r>
            <a:r>
              <a:rPr lang="en-US" sz="2000" dirty="0"/>
              <a:t> </a:t>
            </a:r>
            <a:r>
              <a:rPr lang="en-US" sz="2000" dirty="0" err="1"/>
              <a:t>đổi</a:t>
            </a:r>
            <a:r>
              <a:rPr lang="en-US" sz="2000" dirty="0"/>
              <a:t> </a:t>
            </a:r>
            <a:r>
              <a:rPr lang="en-US" sz="2000" dirty="0" err="1"/>
              <a:t>không</a:t>
            </a:r>
            <a:r>
              <a:rPr lang="en-US" sz="2000" dirty="0"/>
              <a:t> </a:t>
            </a:r>
            <a:r>
              <a:rPr lang="en-US" sz="2000" dirty="0" err="1"/>
              <a:t>bám</a:t>
            </a:r>
            <a:r>
              <a:rPr lang="en-US" sz="2000" dirty="0"/>
              <a:t> l</a:t>
            </a:r>
            <a:r>
              <a:rPr lang="vi-VN" sz="2000" dirty="0"/>
              <a:t>ượng</a:t>
            </a:r>
            <a:r>
              <a:rPr lang="en-US" sz="2000" dirty="0"/>
              <a:t> </a:t>
            </a:r>
            <a:r>
              <a:rPr lang="en-US" sz="2000" dirty="0" err="1"/>
              <a:t>đặt</a:t>
            </a:r>
            <a:r>
              <a:rPr lang="en-US" sz="2000" dirty="0"/>
              <a:t>: </a:t>
            </a:r>
          </a:p>
          <a:p>
            <a:pPr algn="just"/>
            <a:r>
              <a:rPr lang="en-US" sz="2000" dirty="0"/>
              <a:t>     </a:t>
            </a:r>
            <a:r>
              <a:rPr lang="en-US" sz="2000" dirty="0" err="1"/>
              <a:t>những</a:t>
            </a:r>
            <a:r>
              <a:rPr lang="en-US" sz="2000" dirty="0"/>
              <a:t> </a:t>
            </a:r>
            <a:r>
              <a:rPr lang="en-US" sz="2000" dirty="0" err="1"/>
              <a:t>nguyên</a:t>
            </a:r>
            <a:r>
              <a:rPr lang="en-US" sz="2000" dirty="0"/>
              <a:t> </a:t>
            </a:r>
            <a:r>
              <a:rPr lang="en-US" sz="2000" dirty="0" err="1"/>
              <a:t>nhân</a:t>
            </a:r>
            <a:r>
              <a:rPr lang="en-US" sz="2000" dirty="0"/>
              <a:t> </a:t>
            </a:r>
            <a:r>
              <a:rPr lang="en-US" sz="2000" dirty="0" err="1"/>
              <a:t>có</a:t>
            </a:r>
            <a:r>
              <a:rPr lang="en-US" sz="2000" dirty="0"/>
              <a:t> </a:t>
            </a:r>
            <a:r>
              <a:rPr lang="en-US" sz="2000" dirty="0" err="1"/>
              <a:t>thể</a:t>
            </a:r>
            <a:r>
              <a:rPr lang="en-US" sz="2000" dirty="0"/>
              <a:t> </a:t>
            </a:r>
            <a:r>
              <a:rPr lang="en-US" sz="2000" dirty="0" err="1"/>
              <a:t>sảy</a:t>
            </a:r>
            <a:r>
              <a:rPr lang="en-US" sz="2000" dirty="0"/>
              <a:t> ra: </a:t>
            </a:r>
          </a:p>
          <a:p>
            <a:pPr algn="just"/>
            <a:r>
              <a:rPr lang="en-US" sz="2000" dirty="0"/>
              <a:t>     + </a:t>
            </a:r>
            <a:r>
              <a:rPr lang="en-US" sz="2000" dirty="0" err="1"/>
              <a:t>sai</a:t>
            </a:r>
            <a:r>
              <a:rPr lang="en-US" sz="2000" dirty="0"/>
              <a:t> </a:t>
            </a:r>
            <a:r>
              <a:rPr lang="en-US" sz="2000" dirty="0" err="1"/>
              <a:t>sót</a:t>
            </a:r>
            <a:r>
              <a:rPr lang="en-US" sz="2000" dirty="0"/>
              <a:t> </a:t>
            </a:r>
            <a:r>
              <a:rPr lang="en-US" sz="2000" dirty="0" err="1"/>
              <a:t>về</a:t>
            </a:r>
            <a:r>
              <a:rPr lang="en-US" sz="2000" dirty="0"/>
              <a:t> </a:t>
            </a:r>
            <a:r>
              <a:rPr lang="en-US" sz="2000" dirty="0" err="1"/>
              <a:t>phần</a:t>
            </a:r>
            <a:r>
              <a:rPr lang="en-US" sz="2000" dirty="0"/>
              <a:t> code </a:t>
            </a:r>
          </a:p>
          <a:p>
            <a:pPr algn="just"/>
            <a:r>
              <a:rPr lang="en-US" sz="2000" dirty="0"/>
              <a:t>     + </a:t>
            </a:r>
            <a:r>
              <a:rPr lang="en-US" sz="2000" dirty="0" err="1"/>
              <a:t>sai</a:t>
            </a:r>
            <a:r>
              <a:rPr lang="en-US" sz="2000" dirty="0"/>
              <a:t> </a:t>
            </a:r>
            <a:r>
              <a:rPr lang="en-US" sz="2000" dirty="0" err="1"/>
              <a:t>khi</a:t>
            </a:r>
            <a:r>
              <a:rPr lang="en-US" sz="2000" dirty="0"/>
              <a:t> </a:t>
            </a:r>
            <a:r>
              <a:rPr lang="en-US" sz="2000" dirty="0" err="1"/>
              <a:t>nối</a:t>
            </a:r>
            <a:r>
              <a:rPr lang="en-US" sz="2000" dirty="0"/>
              <a:t> </a:t>
            </a:r>
            <a:r>
              <a:rPr lang="en-US" sz="2000" dirty="0" err="1"/>
              <a:t>các</a:t>
            </a:r>
            <a:r>
              <a:rPr lang="en-US" sz="2000" dirty="0"/>
              <a:t> </a:t>
            </a:r>
            <a:r>
              <a:rPr lang="en-US" sz="2000" dirty="0" err="1"/>
              <a:t>khối</a:t>
            </a:r>
            <a:r>
              <a:rPr lang="en-US" sz="2000" dirty="0"/>
              <a:t> </a:t>
            </a:r>
            <a:r>
              <a:rPr lang="en-US" sz="2000" dirty="0" err="1"/>
              <a:t>trên</a:t>
            </a:r>
            <a:r>
              <a:rPr lang="en-US" sz="2000" dirty="0"/>
              <a:t> </a:t>
            </a:r>
            <a:r>
              <a:rPr lang="en-US" sz="2000" dirty="0" err="1"/>
              <a:t>fpga</a:t>
            </a:r>
            <a:r>
              <a:rPr lang="en-US" sz="2000" dirty="0"/>
              <a:t> </a:t>
            </a:r>
          </a:p>
          <a:p>
            <a:pPr marL="342900" indent="-342900" algn="just">
              <a:buFont typeface="Wingdings" panose="05000000000000000000" pitchFamily="2" charset="2"/>
              <a:buChar char="ü"/>
            </a:pPr>
            <a:r>
              <a:rPr lang="en-US" sz="2000" dirty="0"/>
              <a:t>H</a:t>
            </a:r>
            <a:r>
              <a:rPr lang="vi-VN" sz="2000" dirty="0"/>
              <a:t>ướng</a:t>
            </a:r>
            <a:r>
              <a:rPr lang="en-US" sz="2000" dirty="0"/>
              <a:t> </a:t>
            </a:r>
            <a:r>
              <a:rPr lang="en-US" sz="2000" dirty="0" err="1"/>
              <a:t>phát</a:t>
            </a:r>
            <a:r>
              <a:rPr lang="en-US" sz="2000" dirty="0"/>
              <a:t> </a:t>
            </a:r>
            <a:r>
              <a:rPr lang="en-US" sz="2000" dirty="0" err="1"/>
              <a:t>triển</a:t>
            </a:r>
            <a:r>
              <a:rPr lang="en-US" sz="2000" dirty="0"/>
              <a:t>: </a:t>
            </a:r>
          </a:p>
          <a:p>
            <a:pPr marL="342900" indent="-342900" algn="just">
              <a:buFont typeface="Arial" panose="020B0604020202020204" pitchFamily="34" charset="0"/>
              <a:buChar char="•"/>
            </a:pPr>
            <a:r>
              <a:rPr lang="en-US" sz="2000" dirty="0" err="1"/>
              <a:t>Hoàn</a:t>
            </a:r>
            <a:r>
              <a:rPr lang="en-US" sz="2000" dirty="0"/>
              <a:t> </a:t>
            </a:r>
            <a:r>
              <a:rPr lang="en-US" sz="2000" dirty="0" err="1"/>
              <a:t>thiện</a:t>
            </a:r>
            <a:r>
              <a:rPr lang="en-US" sz="2000" dirty="0"/>
              <a:t> </a:t>
            </a:r>
            <a:r>
              <a:rPr lang="en-US" sz="2000" dirty="0" err="1"/>
              <a:t>thuật</a:t>
            </a:r>
            <a:r>
              <a:rPr lang="en-US" sz="2000" dirty="0"/>
              <a:t> </a:t>
            </a:r>
            <a:r>
              <a:rPr lang="en-US" sz="2000" dirty="0" err="1"/>
              <a:t>toán</a:t>
            </a:r>
            <a:r>
              <a:rPr lang="en-US" sz="2000" dirty="0"/>
              <a:t> FOC </a:t>
            </a:r>
            <a:r>
              <a:rPr lang="en-US" sz="2000" dirty="0" err="1"/>
              <a:t>trên</a:t>
            </a:r>
            <a:r>
              <a:rPr lang="en-US" sz="2000" dirty="0"/>
              <a:t> FPGA , </a:t>
            </a:r>
            <a:r>
              <a:rPr lang="en-US" sz="2000" dirty="0" err="1"/>
              <a:t>bổ</a:t>
            </a:r>
            <a:r>
              <a:rPr lang="en-US" sz="2000" dirty="0"/>
              <a:t> </a:t>
            </a:r>
            <a:r>
              <a:rPr lang="en-US" sz="2000" dirty="0" err="1"/>
              <a:t>thêm</a:t>
            </a:r>
            <a:r>
              <a:rPr lang="en-US" sz="2000" dirty="0"/>
              <a:t> </a:t>
            </a:r>
            <a:r>
              <a:rPr lang="en-US" sz="2000" dirty="0" err="1"/>
              <a:t>nguyên</a:t>
            </a:r>
            <a:r>
              <a:rPr lang="en-US" sz="2000" dirty="0"/>
              <a:t> </a:t>
            </a:r>
            <a:r>
              <a:rPr lang="en-US" sz="2000" dirty="0" err="1"/>
              <a:t>lý</a:t>
            </a:r>
            <a:r>
              <a:rPr lang="en-US" sz="2000" dirty="0"/>
              <a:t> </a:t>
            </a:r>
            <a:r>
              <a:rPr lang="en-US" sz="2000" dirty="0" err="1"/>
              <a:t>điều</a:t>
            </a:r>
            <a:r>
              <a:rPr lang="en-US" sz="2000" dirty="0"/>
              <a:t> </a:t>
            </a:r>
            <a:r>
              <a:rPr lang="en-US" sz="2000" dirty="0" err="1"/>
              <a:t>khiển</a:t>
            </a:r>
            <a:r>
              <a:rPr lang="en-US" sz="2000" dirty="0"/>
              <a:t> </a:t>
            </a:r>
            <a:r>
              <a:rPr lang="en-US" sz="2000" dirty="0" err="1"/>
              <a:t>để</a:t>
            </a:r>
            <a:r>
              <a:rPr lang="en-US" sz="2000" dirty="0"/>
              <a:t> </a:t>
            </a:r>
            <a:r>
              <a:rPr lang="en-US" sz="2000" dirty="0" err="1"/>
              <a:t>tăng</a:t>
            </a:r>
            <a:r>
              <a:rPr lang="en-US" sz="2000" dirty="0"/>
              <a:t> </a:t>
            </a:r>
            <a:r>
              <a:rPr lang="en-US" sz="2000" dirty="0" err="1"/>
              <a:t>tính</a:t>
            </a:r>
            <a:r>
              <a:rPr lang="en-US" sz="2000" dirty="0"/>
              <a:t> </a:t>
            </a:r>
            <a:r>
              <a:rPr lang="en-US" sz="2000" dirty="0" err="1"/>
              <a:t>bền</a:t>
            </a:r>
            <a:r>
              <a:rPr lang="en-US" sz="2000" dirty="0"/>
              <a:t> </a:t>
            </a:r>
            <a:r>
              <a:rPr lang="en-US" sz="2000" dirty="0" err="1"/>
              <a:t>vững</a:t>
            </a:r>
            <a:r>
              <a:rPr lang="en-US" sz="2000" dirty="0"/>
              <a:t> </a:t>
            </a:r>
            <a:r>
              <a:rPr lang="en-US" sz="2000" dirty="0" err="1"/>
              <a:t>của</a:t>
            </a:r>
            <a:r>
              <a:rPr lang="en-US" sz="2000" dirty="0"/>
              <a:t> </a:t>
            </a:r>
            <a:r>
              <a:rPr lang="en-US" sz="2000" dirty="0" err="1"/>
              <a:t>hệ</a:t>
            </a:r>
            <a:r>
              <a:rPr lang="en-US" sz="2000" dirty="0"/>
              <a:t> </a:t>
            </a:r>
          </a:p>
          <a:p>
            <a:pPr marL="342900" indent="-342900" algn="just">
              <a:buFont typeface="Arial" panose="020B0604020202020204" pitchFamily="34" charset="0"/>
              <a:buChar char="•"/>
            </a:pPr>
            <a:r>
              <a:rPr lang="en-US" sz="2000" dirty="0"/>
              <a:t>So </a:t>
            </a:r>
            <a:r>
              <a:rPr lang="en-US" sz="2000" dirty="0" err="1"/>
              <a:t>sánh</a:t>
            </a:r>
            <a:r>
              <a:rPr lang="en-US" sz="2000" dirty="0"/>
              <a:t> </a:t>
            </a:r>
            <a:r>
              <a:rPr lang="en-US" sz="2000" dirty="0" err="1"/>
              <a:t>hiệu</a:t>
            </a:r>
            <a:r>
              <a:rPr lang="en-US" sz="2000" dirty="0"/>
              <a:t> </a:t>
            </a:r>
            <a:r>
              <a:rPr lang="en-US" sz="2000" dirty="0" err="1"/>
              <a:t>năng</a:t>
            </a:r>
            <a:r>
              <a:rPr lang="en-US" sz="2000" dirty="0"/>
              <a:t> </a:t>
            </a:r>
            <a:r>
              <a:rPr lang="en-US" sz="2000" dirty="0" err="1"/>
              <a:t>giữa</a:t>
            </a:r>
            <a:r>
              <a:rPr lang="en-US" sz="2000" dirty="0"/>
              <a:t>  FPGA </a:t>
            </a:r>
            <a:r>
              <a:rPr lang="en-US" sz="2000" dirty="0" err="1"/>
              <a:t>và</a:t>
            </a:r>
            <a:r>
              <a:rPr lang="en-US" sz="2000" dirty="0"/>
              <a:t> DSP </a:t>
            </a:r>
          </a:p>
          <a:p>
            <a:pPr marL="342900" indent="-342900" algn="just">
              <a:buFont typeface="Arial" panose="020B0604020202020204" pitchFamily="34" charset="0"/>
              <a:buChar char="•"/>
            </a:pPr>
            <a:r>
              <a:rPr lang="en-US" sz="2000" dirty="0" err="1"/>
              <a:t>tăng</a:t>
            </a:r>
            <a:r>
              <a:rPr lang="en-US" sz="2000" dirty="0"/>
              <a:t> </a:t>
            </a:r>
            <a:r>
              <a:rPr lang="en-US" sz="2000" dirty="0" err="1"/>
              <a:t>tần</a:t>
            </a:r>
            <a:r>
              <a:rPr lang="en-US" sz="2000" dirty="0"/>
              <a:t> </a:t>
            </a:r>
            <a:r>
              <a:rPr lang="en-US" sz="2000" dirty="0" err="1"/>
              <a:t>số</a:t>
            </a:r>
            <a:r>
              <a:rPr lang="en-US" sz="2000" dirty="0"/>
              <a:t> </a:t>
            </a:r>
            <a:r>
              <a:rPr lang="en-US" sz="2000" dirty="0" err="1"/>
              <a:t>làm</a:t>
            </a:r>
            <a:r>
              <a:rPr lang="en-US" sz="2000" dirty="0"/>
              <a:t> </a:t>
            </a:r>
            <a:r>
              <a:rPr lang="en-US" sz="2000" dirty="0" err="1"/>
              <a:t>việc</a:t>
            </a:r>
            <a:r>
              <a:rPr lang="en-US" sz="2000" dirty="0"/>
              <a:t> </a:t>
            </a:r>
            <a:r>
              <a:rPr lang="en-US" sz="2000" dirty="0" err="1"/>
              <a:t>của</a:t>
            </a:r>
            <a:r>
              <a:rPr lang="en-US" sz="2000" dirty="0"/>
              <a:t> </a:t>
            </a:r>
            <a:r>
              <a:rPr lang="en-US" sz="2000" dirty="0" err="1"/>
              <a:t>hệ</a:t>
            </a:r>
            <a:r>
              <a:rPr lang="en-US" sz="2000" dirty="0"/>
              <a:t> </a:t>
            </a:r>
          </a:p>
          <a:p>
            <a:pPr algn="just"/>
            <a:endParaRPr lang="en-US" sz="2000" dirty="0"/>
          </a:p>
          <a:p>
            <a:pPr algn="just"/>
            <a:endParaRPr lang="en-US" sz="2000" dirty="0"/>
          </a:p>
        </p:txBody>
      </p:sp>
    </p:spTree>
    <p:extLst>
      <p:ext uri="{BB962C8B-B14F-4D97-AF65-F5344CB8AC3E}">
        <p14:creationId xmlns:p14="http://schemas.microsoft.com/office/powerpoint/2010/main" val="26421987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14601717-64A9-4572-A8C1-891A23429C44}"/>
              </a:ext>
            </a:extLst>
          </p:cNvPr>
          <p:cNvSpPr>
            <a:spLocks noGrp="1"/>
          </p:cNvSpPr>
          <p:nvPr>
            <p:ph type="subTitle" idx="1"/>
          </p:nvPr>
        </p:nvSpPr>
        <p:spPr/>
        <p:txBody>
          <a:bodyPr>
            <a:normAutofit/>
          </a:bodyPr>
          <a:lstStyle/>
          <a:p>
            <a:pPr marL="342900" indent="-342900" algn="l">
              <a:buFont typeface="Wingdings" panose="05000000000000000000" pitchFamily="2" charset="2"/>
              <a:buChar char="Ø"/>
            </a:pPr>
            <a:r>
              <a:rPr lang="en-US" sz="2000"/>
              <a:t>Sách: Điều khiển Vector truyền động điện xoay chiều ba pha (Tác giả: Nguyễn Phùng Quang, Nhà xuất bản Bách Khoa Hà Nội) </a:t>
            </a:r>
          </a:p>
          <a:p>
            <a:pPr marL="342900" indent="-342900" algn="l">
              <a:buFont typeface="Wingdings" panose="05000000000000000000" pitchFamily="2" charset="2"/>
              <a:buChar char="Ø"/>
            </a:pPr>
            <a:r>
              <a:rPr lang="en-US" sz="2000"/>
              <a:t>Cơ sở truyền động điện (Tác giả: Bùi Quốc Khánh, Nguyễn Văn Liễn, Nhà xuất bản Khoa học và kỹ thuật)</a:t>
            </a:r>
          </a:p>
          <a:p>
            <a:pPr marL="342900" indent="-342900" algn="l">
              <a:buFont typeface="Wingdings" panose="05000000000000000000" pitchFamily="2" charset="2"/>
              <a:buChar char="Ø"/>
            </a:pPr>
            <a:r>
              <a:rPr lang="en-US" sz="2000"/>
              <a:t>Giáo trình điện tử công suất (Tác giả: Trần Trọng Minh, Nhà xuất bản giáo dục)</a:t>
            </a:r>
          </a:p>
          <a:p>
            <a:pPr marL="344488" indent="-344488" algn="l">
              <a:buFont typeface="Wingdings" panose="05000000000000000000" pitchFamily="2" charset="2"/>
              <a:buChar char="Ø"/>
            </a:pPr>
            <a:r>
              <a:rPr lang="en-US" sz="2000"/>
              <a:t>FPGA Realization of a High-performance Servo Controller for PMSM - Zhaoyong Zhou and Tiecai Li, Toshio Takahashi and Eddy Ho</a:t>
            </a:r>
          </a:p>
          <a:p>
            <a:pPr marL="344488" indent="-344488" algn="l">
              <a:buFont typeface="Wingdings" panose="05000000000000000000" pitchFamily="2" charset="2"/>
              <a:buChar char="Ø"/>
            </a:pPr>
            <a:r>
              <a:rPr lang="en-US" sz="2000"/>
              <a:t>FPGAs Enable Energy-Efficient Motor Control in Next Generation Smart Home Appliances – Altera Corporation</a:t>
            </a:r>
          </a:p>
          <a:p>
            <a:pPr marL="344488" indent="-344488" algn="l">
              <a:buFont typeface="Wingdings" panose="05000000000000000000" pitchFamily="2" charset="2"/>
              <a:buChar char="Ø"/>
            </a:pPr>
            <a:r>
              <a:rPr lang="en-US" sz="2000"/>
              <a:t>FPGA-Based High Performance AC Drives</a:t>
            </a:r>
          </a:p>
          <a:p>
            <a:pPr marL="342900" indent="-342900" algn="l">
              <a:buFont typeface="Wingdings" panose="05000000000000000000" pitchFamily="2" charset="2"/>
              <a:buChar char="Ø"/>
            </a:pPr>
            <a:endParaRPr lang="en-US" sz="2000"/>
          </a:p>
          <a:p>
            <a:pPr marL="342900" indent="-342900" algn="l">
              <a:buFont typeface="Wingdings" panose="05000000000000000000" pitchFamily="2" charset="2"/>
              <a:buChar char="Ø"/>
            </a:pPr>
            <a:endParaRPr lang="en-US" sz="2000"/>
          </a:p>
          <a:p>
            <a:pPr marL="342900" indent="-342900" algn="l">
              <a:buFont typeface="Wingdings" panose="05000000000000000000" pitchFamily="2" charset="2"/>
              <a:buChar char="Ø"/>
            </a:pPr>
            <a:endParaRPr lang="en-US" sz="2000"/>
          </a:p>
        </p:txBody>
      </p:sp>
      <p:sp>
        <p:nvSpPr>
          <p:cNvPr id="3" name="Text Placeholder 2">
            <a:extLst>
              <a:ext uri="{FF2B5EF4-FFF2-40B4-BE49-F238E27FC236}">
                <a16:creationId xmlns:a16="http://schemas.microsoft.com/office/drawing/2014/main" id="{E8643953-6540-4676-9E03-5A8F28C738C8}"/>
              </a:ext>
            </a:extLst>
          </p:cNvPr>
          <p:cNvSpPr>
            <a:spLocks noGrp="1"/>
          </p:cNvSpPr>
          <p:nvPr>
            <p:ph type="body" sz="quarter" idx="12"/>
          </p:nvPr>
        </p:nvSpPr>
        <p:spPr/>
        <p:txBody>
          <a:bodyPr/>
          <a:lstStyle/>
          <a:p>
            <a:r>
              <a:rPr lang="en-US"/>
              <a:t>6</a:t>
            </a:r>
          </a:p>
        </p:txBody>
      </p:sp>
      <p:sp>
        <p:nvSpPr>
          <p:cNvPr id="4" name="Title 3">
            <a:extLst>
              <a:ext uri="{FF2B5EF4-FFF2-40B4-BE49-F238E27FC236}">
                <a16:creationId xmlns:a16="http://schemas.microsoft.com/office/drawing/2014/main" id="{3951BA3F-9162-4D2D-872D-4D5310BA01B2}"/>
              </a:ext>
            </a:extLst>
          </p:cNvPr>
          <p:cNvSpPr>
            <a:spLocks noGrp="1"/>
          </p:cNvSpPr>
          <p:nvPr>
            <p:ph type="title"/>
          </p:nvPr>
        </p:nvSpPr>
        <p:spPr/>
        <p:txBody>
          <a:bodyPr/>
          <a:lstStyle/>
          <a:p>
            <a:r>
              <a:rPr lang="en-US" dirty="0" err="1"/>
              <a:t>Tài</a:t>
            </a:r>
            <a:r>
              <a:rPr lang="en-US" dirty="0"/>
              <a:t> </a:t>
            </a:r>
            <a:r>
              <a:rPr lang="en-US" dirty="0" err="1"/>
              <a:t>liệu</a:t>
            </a:r>
            <a:r>
              <a:rPr lang="en-US" dirty="0"/>
              <a:t> </a:t>
            </a:r>
            <a:r>
              <a:rPr lang="en-US" dirty="0" err="1"/>
              <a:t>tham</a:t>
            </a:r>
            <a:r>
              <a:rPr lang="en-US" dirty="0"/>
              <a:t> </a:t>
            </a:r>
            <a:r>
              <a:rPr lang="en-US" dirty="0" err="1"/>
              <a:t>khảo</a:t>
            </a:r>
            <a:endParaRPr lang="en-US" dirty="0"/>
          </a:p>
        </p:txBody>
      </p:sp>
      <p:sp>
        <p:nvSpPr>
          <p:cNvPr id="5" name="Slide Number Placeholder 4">
            <a:extLst>
              <a:ext uri="{FF2B5EF4-FFF2-40B4-BE49-F238E27FC236}">
                <a16:creationId xmlns:a16="http://schemas.microsoft.com/office/drawing/2014/main" id="{82697436-8AC2-42E9-AD98-8232294E1CDD}"/>
              </a:ext>
            </a:extLst>
          </p:cNvPr>
          <p:cNvSpPr>
            <a:spLocks noGrp="1"/>
          </p:cNvSpPr>
          <p:nvPr>
            <p:ph type="sldNum" sz="quarter" idx="4"/>
          </p:nvPr>
        </p:nvSpPr>
        <p:spPr/>
        <p:txBody>
          <a:bodyPr/>
          <a:lstStyle/>
          <a:p>
            <a:fld id="{C4AED997-7CB6-4654-8505-4D4C6D081CC6}" type="slidenum">
              <a:rPr lang="en-US" smtClean="0"/>
              <a:pPr/>
              <a:t>32</a:t>
            </a:fld>
            <a:endParaRPr lang="en-US"/>
          </a:p>
        </p:txBody>
      </p:sp>
    </p:spTree>
    <p:extLst>
      <p:ext uri="{BB962C8B-B14F-4D97-AF65-F5344CB8AC3E}">
        <p14:creationId xmlns:p14="http://schemas.microsoft.com/office/powerpoint/2010/main" val="1071145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err="1"/>
              <a:t>Trân</a:t>
            </a:r>
            <a:r>
              <a:rPr lang="en-US"/>
              <a:t> </a:t>
            </a:r>
            <a:r>
              <a:rPr lang="en-US" err="1"/>
              <a:t>trọng</a:t>
            </a:r>
            <a:r>
              <a:rPr lang="en-US"/>
              <a:t> </a:t>
            </a:r>
            <a:r>
              <a:rPr lang="en-US" err="1"/>
              <a:t>cảm</a:t>
            </a:r>
            <a:r>
              <a:rPr lang="en-US"/>
              <a:t> </a:t>
            </a:r>
            <a:r>
              <a:rPr lang="en-US" err="1"/>
              <a:t>ơn</a:t>
            </a:r>
            <a:r>
              <a:rPr lang="en-US"/>
              <a:t>!</a:t>
            </a:r>
          </a:p>
        </p:txBody>
      </p:sp>
    </p:spTree>
    <p:extLst>
      <p:ext uri="{BB962C8B-B14F-4D97-AF65-F5344CB8AC3E}">
        <p14:creationId xmlns:p14="http://schemas.microsoft.com/office/powerpoint/2010/main" val="378188262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7E7E48628D7248B47636183398399E" ma:contentTypeVersion="3" ma:contentTypeDescription="Create a new document." ma:contentTypeScope="" ma:versionID="b1a5b3e93a49a839909002764b005e53">
  <xsd:schema xmlns:xsd="http://www.w3.org/2001/XMLSchema" xmlns:xs="http://www.w3.org/2001/XMLSchema" xmlns:p="http://schemas.microsoft.com/office/2006/metadata/properties" xmlns:ns2="554c667c-209e-4b67-aefc-24414872841c" targetNamespace="http://schemas.microsoft.com/office/2006/metadata/properties" ma:root="true" ma:fieldsID="47ae5e9c2215f63becfb155f19630367" ns2:_="">
    <xsd:import namespace="554c667c-209e-4b67-aefc-24414872841c"/>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4c667c-209e-4b67-aefc-24414872841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41A735B-61B4-4D0D-AB8D-2222DFB6564A}"/>
</file>

<file path=customXml/itemProps2.xml><?xml version="1.0" encoding="utf-8"?>
<ds:datastoreItem xmlns:ds="http://schemas.openxmlformats.org/officeDocument/2006/customXml" ds:itemID="{3A5467EC-41C5-41D9-ABC4-AEC158313BB2}"/>
</file>

<file path=customXml/itemProps3.xml><?xml version="1.0" encoding="utf-8"?>
<ds:datastoreItem xmlns:ds="http://schemas.openxmlformats.org/officeDocument/2006/customXml" ds:itemID="{77FE62BD-FCE1-4CF7-8475-25447BF49832}"/>
</file>

<file path=docProps/app.xml><?xml version="1.0" encoding="utf-8"?>
<Properties xmlns="http://schemas.openxmlformats.org/officeDocument/2006/extended-properties" xmlns:vt="http://schemas.openxmlformats.org/officeDocument/2006/docPropsVTypes">
  <Template>Office Theme</Template>
  <TotalTime>2183</TotalTime>
  <Words>2085</Words>
  <Application>Microsoft Office PowerPoint</Application>
  <PresentationFormat>On-screen Show (4:3)</PresentationFormat>
  <Paragraphs>279</Paragraphs>
  <Slides>33</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33</vt:i4>
      </vt:variant>
    </vt:vector>
  </HeadingPairs>
  <TitlesOfParts>
    <vt:vector size="44" baseType="lpstr">
      <vt:lpstr>Abadi</vt:lpstr>
      <vt:lpstr>Arial</vt:lpstr>
      <vt:lpstr>Bookman Old Style</vt:lpstr>
      <vt:lpstr>Calibri</vt:lpstr>
      <vt:lpstr>Cambria Math</vt:lpstr>
      <vt:lpstr>Symbol</vt:lpstr>
      <vt:lpstr>Times New Roman</vt:lpstr>
      <vt:lpstr>Wingdings</vt:lpstr>
      <vt:lpstr>Office Theme</vt:lpstr>
      <vt:lpstr>Equation</vt:lpstr>
      <vt:lpstr>Visio</vt:lpstr>
      <vt:lpstr>Điều khiển động cơ đồng bộ nam châm vĩnh cửu theo nguyên lý vector</vt:lpstr>
      <vt:lpstr>Mục lục</vt:lpstr>
      <vt:lpstr>Mô hình động cơ PMSM</vt:lpstr>
      <vt:lpstr>Mô hình động cơ PMSM</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Phương pháp điều khiển FOC</vt:lpstr>
      <vt:lpstr>Mô phỏng kiểm chứng</vt:lpstr>
      <vt:lpstr>Mô phỏng kiểm chứng</vt:lpstr>
      <vt:lpstr>Mô phỏng kiểm chứng</vt:lpstr>
      <vt:lpstr>Mô phỏng kiểm chứng</vt:lpstr>
      <vt:lpstr>Mô phỏng kiểm chứng</vt:lpstr>
      <vt:lpstr>Mô phỏng kiểm chứng</vt:lpstr>
      <vt:lpstr>Mô phỏng kiểm chứng</vt:lpstr>
      <vt:lpstr>Mô phỏng kiểm chứng</vt:lpstr>
      <vt:lpstr>Kết Luận - Hướng phát triển</vt:lpstr>
      <vt:lpstr>Tài liệu tham khảo</vt:lpstr>
      <vt:lpstr>Trân trọng cảm ơn!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Truong Viet Hoang 20161726</dc:creator>
  <cp:lastModifiedBy>cvht.see@hust.edu.vn</cp:lastModifiedBy>
  <cp:revision>206</cp:revision>
  <dcterms:created xsi:type="dcterms:W3CDTF">2019-09-23T12:55:19Z</dcterms:created>
  <dcterms:modified xsi:type="dcterms:W3CDTF">2023-07-05T01:25:19Z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0x010100867E7E48628D7248B47636183398399E</vt:lpwstr>
  </property>
  <property fmtid="{D5CDD505-2E9C-101B-9397-08002B2CF9AE}" pid="3" name="Order">
    <vt:r8>38000</vt:r8>
  </property>
  <property fmtid="{D5CDD505-2E9C-101B-9397-08002B2CF9AE}" pid="4" name="xd_Signature">
    <vt:bool>false</vt:bool>
  </property>
  <property fmtid="{D5CDD505-2E9C-101B-9397-08002B2CF9AE}" pid="5" name="xd_ProgID">
    <vt:lpwstr/>
  </property>
  <property fmtid="{D5CDD505-2E9C-101B-9397-08002B2CF9AE}" pid="6" name="TriggerFlowInfo">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ies>
</file>