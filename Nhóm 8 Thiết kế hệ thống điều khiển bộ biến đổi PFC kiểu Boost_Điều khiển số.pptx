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 id="2147483648" r:id="rId5"/>
  </p:sldMasterIdLst>
  <p:notesMasterIdLst>
    <p:notesMasterId r:id="rId62"/>
  </p:notesMasterIdLst>
  <p:sldIdLst>
    <p:sldId id="257" r:id="rId6"/>
    <p:sldId id="260" r:id="rId7"/>
    <p:sldId id="291" r:id="rId8"/>
    <p:sldId id="297" r:id="rId9"/>
    <p:sldId id="298" r:id="rId10"/>
    <p:sldId id="300" r:id="rId11"/>
    <p:sldId id="299" r:id="rId12"/>
    <p:sldId id="302" r:id="rId13"/>
    <p:sldId id="301" r:id="rId14"/>
    <p:sldId id="303" r:id="rId15"/>
    <p:sldId id="304" r:id="rId16"/>
    <p:sldId id="349" r:id="rId17"/>
    <p:sldId id="305" r:id="rId18"/>
    <p:sldId id="306" r:id="rId19"/>
    <p:sldId id="295" r:id="rId20"/>
    <p:sldId id="311" r:id="rId21"/>
    <p:sldId id="312" r:id="rId22"/>
    <p:sldId id="310" r:id="rId23"/>
    <p:sldId id="308" r:id="rId24"/>
    <p:sldId id="316" r:id="rId25"/>
    <p:sldId id="332" r:id="rId26"/>
    <p:sldId id="331" r:id="rId27"/>
    <p:sldId id="309" r:id="rId28"/>
    <p:sldId id="315" r:id="rId29"/>
    <p:sldId id="307" r:id="rId30"/>
    <p:sldId id="314" r:id="rId31"/>
    <p:sldId id="313" r:id="rId32"/>
    <p:sldId id="333" r:id="rId33"/>
    <p:sldId id="334" r:id="rId34"/>
    <p:sldId id="317" r:id="rId35"/>
    <p:sldId id="320" r:id="rId36"/>
    <p:sldId id="318" r:id="rId37"/>
    <p:sldId id="336" r:id="rId38"/>
    <p:sldId id="335" r:id="rId39"/>
    <p:sldId id="319" r:id="rId40"/>
    <p:sldId id="321" r:id="rId41"/>
    <p:sldId id="322" r:id="rId42"/>
    <p:sldId id="325" r:id="rId43"/>
    <p:sldId id="346" r:id="rId44"/>
    <p:sldId id="324" r:id="rId45"/>
    <p:sldId id="323" r:id="rId46"/>
    <p:sldId id="326" r:id="rId47"/>
    <p:sldId id="327" r:id="rId48"/>
    <p:sldId id="328" r:id="rId49"/>
    <p:sldId id="329" r:id="rId50"/>
    <p:sldId id="347" r:id="rId51"/>
    <p:sldId id="337" r:id="rId52"/>
    <p:sldId id="338" r:id="rId53"/>
    <p:sldId id="339" r:id="rId54"/>
    <p:sldId id="342" r:id="rId55"/>
    <p:sldId id="340" r:id="rId56"/>
    <p:sldId id="348" r:id="rId57"/>
    <p:sldId id="341" r:id="rId58"/>
    <p:sldId id="343" r:id="rId59"/>
    <p:sldId id="344" r:id="rId60"/>
    <p:sldId id="330"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diagrams/_rels/data2.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image" Target="../media/image1090.png"/></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2F89AB-4CC2-4AF7-AC10-33E7ACECE602}" type="doc">
      <dgm:prSet loTypeId="urn:microsoft.com/office/officeart/2005/8/layout/chevron2" loCatId="list" qsTypeId="urn:microsoft.com/office/officeart/2005/8/quickstyle/simple1#1" qsCatId="simple" csTypeId="urn:microsoft.com/office/officeart/2005/8/colors/colorful2#1" csCatId="colorful" phldr="1"/>
      <dgm:spPr/>
      <dgm:t>
        <a:bodyPr/>
        <a:lstStyle/>
        <a:p>
          <a:endParaRPr lang="en-US"/>
        </a:p>
      </dgm:t>
    </dgm:pt>
    <dgm:pt modelId="{C65213C2-5B99-4198-9DD6-287EED452E8A}">
      <dgm:prSet phldrT="[Văn bản]"/>
      <dgm:spPr/>
      <dgm:t>
        <a:bodyPr/>
        <a:lstStyle/>
        <a:p>
          <a:r>
            <a:rPr lang="en-US"/>
            <a:t>KB 1</a:t>
          </a:r>
        </a:p>
      </dgm:t>
    </dgm:pt>
    <dgm:pt modelId="{68225B8C-45FA-45CE-893B-C085B742A3CA}" type="parTrans" cxnId="{6363DB21-DCE9-4BEC-A29A-F6C57D6A69F4}">
      <dgm:prSet/>
      <dgm:spPr/>
      <dgm:t>
        <a:bodyPr/>
        <a:lstStyle/>
        <a:p>
          <a:endParaRPr lang="en-US"/>
        </a:p>
      </dgm:t>
    </dgm:pt>
    <dgm:pt modelId="{55B30AFC-1111-425D-8E30-219C1B3BCAF2}" type="sibTrans" cxnId="{6363DB21-DCE9-4BEC-A29A-F6C57D6A69F4}">
      <dgm:prSet/>
      <dgm:spPr/>
      <dgm:t>
        <a:bodyPr/>
        <a:lstStyle/>
        <a:p>
          <a:endParaRPr lang="en-US"/>
        </a:p>
      </dgm:t>
    </dgm:pt>
    <dgm:pt modelId="{E6A5F553-D513-4B93-B686-6297C8143591}">
      <dgm:prSet phldrT="[Văn bản]"/>
      <dgm:spPr/>
      <dgm:t>
        <a:bodyPr/>
        <a:lstStyle/>
        <a:p>
          <a:r>
            <a:rPr lang="en-US"/>
            <a:t>KB2</a:t>
          </a:r>
        </a:p>
      </dgm:t>
    </dgm:pt>
    <dgm:pt modelId="{EBE23DFD-3120-4AD8-90A2-A7B101423A05}" type="parTrans" cxnId="{924EBE87-A401-4C78-A7BA-AAA7FFDAAF33}">
      <dgm:prSet/>
      <dgm:spPr/>
      <dgm:t>
        <a:bodyPr/>
        <a:lstStyle/>
        <a:p>
          <a:endParaRPr lang="en-US"/>
        </a:p>
      </dgm:t>
    </dgm:pt>
    <dgm:pt modelId="{89AF1B84-29C5-451B-806C-C1FBFD286F45}" type="sibTrans" cxnId="{924EBE87-A401-4C78-A7BA-AAA7FFDAAF33}">
      <dgm:prSet/>
      <dgm:spPr/>
      <dgm:t>
        <a:bodyPr/>
        <a:lstStyle/>
        <a:p>
          <a:endParaRPr lang="en-US"/>
        </a:p>
      </dgm:t>
    </dgm:pt>
    <dgm:pt modelId="{64B078D3-C047-4C62-BD20-880DDFD3852D}">
      <dgm:prSet phldrT="[Văn bản]" custT="1"/>
      <dgm:spPr/>
      <dgm:t>
        <a:bodyPr/>
        <a:lstStyle/>
        <a:p>
          <a:r>
            <a:rPr lang="en-US" sz="2000"/>
            <a:t>Nguồn định mức với Vrms=220V, f=50Hz</a:t>
          </a:r>
        </a:p>
      </dgm:t>
    </dgm:pt>
    <dgm:pt modelId="{1EB5A16F-685B-4512-94EF-573F1871A4D1}" type="parTrans" cxnId="{E3D83CE2-D902-4FEC-A6E3-6BE443791809}">
      <dgm:prSet/>
      <dgm:spPr/>
      <dgm:t>
        <a:bodyPr/>
        <a:lstStyle/>
        <a:p>
          <a:endParaRPr lang="en-US"/>
        </a:p>
      </dgm:t>
    </dgm:pt>
    <dgm:pt modelId="{155E5B52-03FB-4301-8F34-56070273EA84}" type="sibTrans" cxnId="{E3D83CE2-D902-4FEC-A6E3-6BE443791809}">
      <dgm:prSet/>
      <dgm:spPr/>
      <dgm:t>
        <a:bodyPr/>
        <a:lstStyle/>
        <a:p>
          <a:endParaRPr lang="en-US"/>
        </a:p>
      </dgm:t>
    </dgm:pt>
    <dgm:pt modelId="{F9C05265-9175-4D56-A259-6A404ADBB3BB}">
      <dgm:prSet phldrT="[Văn bản]" custT="1"/>
      <dgm:spPr/>
      <dgm:t>
        <a:bodyPr/>
        <a:lstStyle/>
        <a:p>
          <a:r>
            <a:rPr lang="en-US" sz="2000"/>
            <a:t>Từ 0.05s đến 0.20s làm việc với tải định mức; Từ 0.20s đến 0.35s làm việc với 200% tải định mức </a:t>
          </a:r>
        </a:p>
      </dgm:t>
    </dgm:pt>
    <dgm:pt modelId="{633C4D05-CC4C-4530-9369-DDBDB23A4FBF}" type="parTrans" cxnId="{00377EB4-B7A8-484E-A3C1-AC1AEFA2E0F6}">
      <dgm:prSet/>
      <dgm:spPr/>
      <dgm:t>
        <a:bodyPr/>
        <a:lstStyle/>
        <a:p>
          <a:endParaRPr lang="en-US"/>
        </a:p>
      </dgm:t>
    </dgm:pt>
    <dgm:pt modelId="{6C506E54-D492-4CB9-91D9-B3E411DC66BC}" type="sibTrans" cxnId="{00377EB4-B7A8-484E-A3C1-AC1AEFA2E0F6}">
      <dgm:prSet/>
      <dgm:spPr/>
      <dgm:t>
        <a:bodyPr/>
        <a:lstStyle/>
        <a:p>
          <a:endParaRPr lang="en-US"/>
        </a:p>
      </dgm:t>
    </dgm:pt>
    <dgm:pt modelId="{3E3E7AE9-D714-4467-95A4-3EDDC9C489B1}">
      <dgm:prSet phldrT="[Văn bản]"/>
      <dgm:spPr/>
      <dgm:t>
        <a:bodyPr/>
        <a:lstStyle/>
        <a:p>
          <a:r>
            <a:rPr lang="en-US"/>
            <a:t>KB3</a:t>
          </a:r>
        </a:p>
      </dgm:t>
    </dgm:pt>
    <dgm:pt modelId="{A0E1E18D-DD18-4F6D-8BAC-AAD80109C855}" type="parTrans" cxnId="{C557D057-72D7-48E7-8FAE-7AB9D7F653F4}">
      <dgm:prSet/>
      <dgm:spPr/>
      <dgm:t>
        <a:bodyPr/>
        <a:lstStyle/>
        <a:p>
          <a:endParaRPr lang="en-US"/>
        </a:p>
      </dgm:t>
    </dgm:pt>
    <dgm:pt modelId="{668B33E5-6180-4222-9727-1955BA69471C}" type="sibTrans" cxnId="{C557D057-72D7-48E7-8FAE-7AB9D7F653F4}">
      <dgm:prSet/>
      <dgm:spPr/>
      <dgm:t>
        <a:bodyPr/>
        <a:lstStyle/>
        <a:p>
          <a:endParaRPr lang="en-US"/>
        </a:p>
      </dgm:t>
    </dgm:pt>
    <dgm:pt modelId="{C42A7EFB-4681-49A7-80FF-23EE2E438E11}">
      <dgm:prSet phldrT="[Văn bản]" custT="1"/>
      <dgm:spPr/>
      <dgm:t>
        <a:bodyPr/>
        <a:lstStyle/>
        <a:p>
          <a:r>
            <a:rPr lang="en-US" sz="2000"/>
            <a:t>Nguồn thay đổi</a:t>
          </a:r>
        </a:p>
      </dgm:t>
    </dgm:pt>
    <dgm:pt modelId="{38FC1F4A-18AC-469F-B20A-5E8DA4DEDA09}" type="parTrans" cxnId="{8C9E7A05-42D4-4657-851C-A898D334D7B9}">
      <dgm:prSet/>
      <dgm:spPr/>
      <dgm:t>
        <a:bodyPr/>
        <a:lstStyle/>
        <a:p>
          <a:endParaRPr lang="en-US"/>
        </a:p>
      </dgm:t>
    </dgm:pt>
    <dgm:pt modelId="{3165D95C-28BE-4AC3-88B3-09DF0CE226F8}" type="sibTrans" cxnId="{8C9E7A05-42D4-4657-851C-A898D334D7B9}">
      <dgm:prSet/>
      <dgm:spPr/>
      <dgm:t>
        <a:bodyPr/>
        <a:lstStyle/>
        <a:p>
          <a:endParaRPr lang="en-US"/>
        </a:p>
      </dgm:t>
    </dgm:pt>
    <mc:AlternateContent xmlns:mc="http://schemas.openxmlformats.org/markup-compatibility/2006" xmlns:a14="http://schemas.microsoft.com/office/drawing/2010/main">
      <mc:Choice Requires="a14">
        <dgm:pt modelId="{6A2D87EB-B8A7-49F6-8406-1E492BCED171}">
          <dgm:prSet phldrT="[Văn bản]" custT="1"/>
          <dgm:spPr/>
          <dgm:t>
            <a:bodyPr/>
            <a:lstStyle/>
            <a:p>
              <a:r>
                <a:rPr lang="en-US" sz="2000"/>
                <a:t>Tải định mức (R=160 </a:t>
              </a:r>
              <a14:m>
                <m:oMath xmlns:m="http://schemas.openxmlformats.org/officeDocument/2006/math">
                  <m:r>
                    <a:rPr lang="en-US" sz="2000" i="1" smtClean="0">
                      <a:latin typeface="Cambria Math" panose="02040503050406030204" pitchFamily="18" charset="0"/>
                    </a:rPr>
                    <m:t>𝛺</m:t>
                  </m:r>
                </m:oMath>
              </a14:m>
              <a:r>
                <a:rPr lang="en-US" sz="2000"/>
                <a:t>)</a:t>
              </a:r>
            </a:p>
          </dgm:t>
        </dgm:pt>
      </mc:Choice>
      <mc:Fallback xmlns="">
        <dgm:pt modelId="{6A2D87EB-B8A7-49F6-8406-1E492BCED171}">
          <dgm:prSet phldrT="[Văn bản]" custT="1"/>
          <dgm:spPr/>
          <dgm:t>
            <a:bodyPr/>
            <a:lstStyle/>
            <a:p>
              <a:r>
                <a:rPr lang="en-US" sz="2000"/>
                <a:t>Tải định mức (R=160 </a:t>
              </a:r>
              <a:r>
                <a:rPr lang="en-US" sz="2000" i="0">
                  <a:latin typeface="Cambria Math" panose="02040503050406030204" pitchFamily="18" charset="0"/>
                </a:rPr>
                <a:t>𝛺</a:t>
              </a:r>
              <a:r>
                <a:rPr lang="en-US" sz="2000"/>
                <a:t>)</a:t>
              </a:r>
            </a:p>
          </dgm:t>
        </dgm:pt>
      </mc:Fallback>
    </mc:AlternateContent>
    <dgm:pt modelId="{3E0DE90E-09EC-455A-8FE5-E9D4CEA8BF1B}" type="parTrans" cxnId="{C524EE87-12E6-465A-90F0-FAA1DC735F96}">
      <dgm:prSet/>
      <dgm:spPr/>
      <dgm:t>
        <a:bodyPr/>
        <a:lstStyle/>
        <a:p>
          <a:endParaRPr lang="en-US"/>
        </a:p>
      </dgm:t>
    </dgm:pt>
    <dgm:pt modelId="{DEECA97B-03F9-40D4-BB13-F348ADCAC674}" type="sibTrans" cxnId="{C524EE87-12E6-465A-90F0-FAA1DC735F96}">
      <dgm:prSet/>
      <dgm:spPr/>
      <dgm:t>
        <a:bodyPr/>
        <a:lstStyle/>
        <a:p>
          <a:endParaRPr lang="en-US"/>
        </a:p>
      </dgm:t>
    </dgm:pt>
    <mc:AlternateContent xmlns:mc="http://schemas.openxmlformats.org/markup-compatibility/2006" xmlns:a14="http://schemas.microsoft.com/office/drawing/2010/main">
      <mc:Choice Requires="a14">
        <dgm:pt modelId="{7386AD1D-33D7-4244-A947-C0D6DEC340DF}">
          <dgm:prSet phldrT="[Văn bản]" custT="1"/>
          <dgm:spPr/>
          <dgm:t>
            <a:bodyPr/>
            <a:lstStyle/>
            <a:p>
              <a:r>
                <a:rPr lang="en-US" sz="2000"/>
                <a:t>Tải định mức (R=160 </a:t>
              </a:r>
              <a14:m>
                <m:oMath xmlns:m="http://schemas.openxmlformats.org/officeDocument/2006/math">
                  <m:r>
                    <a:rPr lang="en-US" sz="2000" i="1" smtClean="0">
                      <a:latin typeface="Cambria Math" panose="02040503050406030204" pitchFamily="18" charset="0"/>
                    </a:rPr>
                    <m:t>𝛺</m:t>
                  </m:r>
                </m:oMath>
              </a14:m>
              <a:r>
                <a:rPr lang="en-US" sz="2000"/>
                <a:t>)</a:t>
              </a:r>
            </a:p>
          </dgm:t>
        </dgm:pt>
      </mc:Choice>
      <mc:Fallback xmlns="">
        <dgm:pt modelId="{7386AD1D-33D7-4244-A947-C0D6DEC340DF}">
          <dgm:prSet phldrT="[Văn bản]" custT="1"/>
          <dgm:spPr/>
          <dgm:t>
            <a:bodyPr/>
            <a:lstStyle/>
            <a:p>
              <a:r>
                <a:rPr lang="en-US" sz="2000"/>
                <a:t>Tải định mức (R=160 </a:t>
              </a:r>
              <a:r>
                <a:rPr lang="en-US" sz="2000" i="0">
                  <a:latin typeface="Cambria Math" panose="02040503050406030204" pitchFamily="18" charset="0"/>
                </a:rPr>
                <a:t>𝛺</a:t>
              </a:r>
              <a:r>
                <a:rPr lang="en-US" sz="2000"/>
                <a:t>)</a:t>
              </a:r>
            </a:p>
          </dgm:t>
        </dgm:pt>
      </mc:Fallback>
    </mc:AlternateContent>
    <dgm:pt modelId="{C78505D7-B70B-4280-9708-4BC94DECC0AC}" type="sibTrans" cxnId="{40E74E3A-C0FB-4216-8EC5-B5795012091B}">
      <dgm:prSet/>
      <dgm:spPr/>
      <dgm:t>
        <a:bodyPr/>
        <a:lstStyle/>
        <a:p>
          <a:endParaRPr lang="en-US"/>
        </a:p>
      </dgm:t>
    </dgm:pt>
    <dgm:pt modelId="{7906426B-32BD-4858-9615-46053D1DCCAD}" type="parTrans" cxnId="{40E74E3A-C0FB-4216-8EC5-B5795012091B}">
      <dgm:prSet/>
      <dgm:spPr/>
      <dgm:t>
        <a:bodyPr/>
        <a:lstStyle/>
        <a:p>
          <a:endParaRPr lang="en-US"/>
        </a:p>
      </dgm:t>
    </dgm:pt>
    <dgm:pt modelId="{59A0E268-5A20-4D23-BACC-1886A60CA53A}">
      <dgm:prSet phldrT="[Văn bản]" custT="1"/>
      <dgm:spPr/>
      <dgm:t>
        <a:bodyPr/>
        <a:lstStyle/>
        <a:p>
          <a:r>
            <a:rPr lang="en-US" sz="2000"/>
            <a:t>Nguồn định mức không đổi với Vrms=220V, f=50Hz</a:t>
          </a:r>
        </a:p>
      </dgm:t>
    </dgm:pt>
    <dgm:pt modelId="{1F242BB4-24E3-41F3-9A26-2E654DF5FAE5}" type="parTrans" cxnId="{C0C1CEE9-BF45-4CA8-A851-77E48D7921A7}">
      <dgm:prSet/>
      <dgm:spPr/>
      <dgm:t>
        <a:bodyPr/>
        <a:lstStyle/>
        <a:p>
          <a:endParaRPr lang="en-US"/>
        </a:p>
      </dgm:t>
    </dgm:pt>
    <dgm:pt modelId="{6CC11B69-7C57-437F-B9DE-67B391D0C317}" type="sibTrans" cxnId="{C0C1CEE9-BF45-4CA8-A851-77E48D7921A7}">
      <dgm:prSet/>
      <dgm:spPr/>
      <dgm:t>
        <a:bodyPr/>
        <a:lstStyle/>
        <a:p>
          <a:endParaRPr lang="en-US"/>
        </a:p>
      </dgm:t>
    </dgm:pt>
    <dgm:pt modelId="{C7518875-1DDD-4E9D-80D4-28FF1FCD3EF7}" type="pres">
      <dgm:prSet presAssocID="{2E2F89AB-4CC2-4AF7-AC10-33E7ACECE602}" presName="linearFlow" presStyleCnt="0">
        <dgm:presLayoutVars>
          <dgm:dir/>
          <dgm:animLvl val="lvl"/>
          <dgm:resizeHandles val="exact"/>
        </dgm:presLayoutVars>
      </dgm:prSet>
      <dgm:spPr/>
    </dgm:pt>
    <dgm:pt modelId="{13BD5C63-BE0E-43F2-A032-3FEAE2C8C655}" type="pres">
      <dgm:prSet presAssocID="{C65213C2-5B99-4198-9DD6-287EED452E8A}" presName="composite" presStyleCnt="0"/>
      <dgm:spPr/>
    </dgm:pt>
    <dgm:pt modelId="{F6F67A17-2DFB-4AC8-934B-0ADE2A416FD5}" type="pres">
      <dgm:prSet presAssocID="{C65213C2-5B99-4198-9DD6-287EED452E8A}" presName="parentText" presStyleLbl="alignNode1" presStyleIdx="0" presStyleCnt="3">
        <dgm:presLayoutVars>
          <dgm:chMax val="1"/>
          <dgm:bulletEnabled val="1"/>
        </dgm:presLayoutVars>
      </dgm:prSet>
      <dgm:spPr/>
    </dgm:pt>
    <dgm:pt modelId="{DF901AC3-5D42-4356-A767-BABFEF3A06AD}" type="pres">
      <dgm:prSet presAssocID="{C65213C2-5B99-4198-9DD6-287EED452E8A}" presName="descendantText" presStyleLbl="alignAcc1" presStyleIdx="0" presStyleCnt="3">
        <dgm:presLayoutVars>
          <dgm:bulletEnabled val="1"/>
        </dgm:presLayoutVars>
      </dgm:prSet>
      <dgm:spPr/>
    </dgm:pt>
    <dgm:pt modelId="{ED768D29-E08B-4CA9-9C10-6D42B085680B}" type="pres">
      <dgm:prSet presAssocID="{55B30AFC-1111-425D-8E30-219C1B3BCAF2}" presName="sp" presStyleCnt="0"/>
      <dgm:spPr/>
    </dgm:pt>
    <dgm:pt modelId="{64EDB097-B15E-4781-8C5A-DE4A2E32C85F}" type="pres">
      <dgm:prSet presAssocID="{E6A5F553-D513-4B93-B686-6297C8143591}" presName="composite" presStyleCnt="0"/>
      <dgm:spPr/>
    </dgm:pt>
    <dgm:pt modelId="{E354932C-0D03-4EF4-8949-AAB5E725DF21}" type="pres">
      <dgm:prSet presAssocID="{E6A5F553-D513-4B93-B686-6297C8143591}" presName="parentText" presStyleLbl="alignNode1" presStyleIdx="1" presStyleCnt="3">
        <dgm:presLayoutVars>
          <dgm:chMax val="1"/>
          <dgm:bulletEnabled val="1"/>
        </dgm:presLayoutVars>
      </dgm:prSet>
      <dgm:spPr/>
    </dgm:pt>
    <dgm:pt modelId="{38F4DD1E-848F-4863-B8FC-B249F69F35F4}" type="pres">
      <dgm:prSet presAssocID="{E6A5F553-D513-4B93-B686-6297C8143591}" presName="descendantText" presStyleLbl="alignAcc1" presStyleIdx="1" presStyleCnt="3">
        <dgm:presLayoutVars>
          <dgm:bulletEnabled val="1"/>
        </dgm:presLayoutVars>
      </dgm:prSet>
      <dgm:spPr/>
    </dgm:pt>
    <dgm:pt modelId="{CE05FBB6-880A-4B23-8EFA-E667E1E549EE}" type="pres">
      <dgm:prSet presAssocID="{89AF1B84-29C5-451B-806C-C1FBFD286F45}" presName="sp" presStyleCnt="0"/>
      <dgm:spPr/>
    </dgm:pt>
    <dgm:pt modelId="{86E16E7B-2BC9-4103-B7D7-5CBC635CC3AE}" type="pres">
      <dgm:prSet presAssocID="{3E3E7AE9-D714-4467-95A4-3EDDC9C489B1}" presName="composite" presStyleCnt="0"/>
      <dgm:spPr/>
    </dgm:pt>
    <dgm:pt modelId="{936C769D-5435-480B-9586-2E431A1AEF13}" type="pres">
      <dgm:prSet presAssocID="{3E3E7AE9-D714-4467-95A4-3EDDC9C489B1}" presName="parentText" presStyleLbl="alignNode1" presStyleIdx="2" presStyleCnt="3">
        <dgm:presLayoutVars>
          <dgm:chMax val="1"/>
          <dgm:bulletEnabled val="1"/>
        </dgm:presLayoutVars>
      </dgm:prSet>
      <dgm:spPr/>
    </dgm:pt>
    <dgm:pt modelId="{FA108886-FD20-4812-A920-9506B9796D37}" type="pres">
      <dgm:prSet presAssocID="{3E3E7AE9-D714-4467-95A4-3EDDC9C489B1}" presName="descendantText" presStyleLbl="alignAcc1" presStyleIdx="2" presStyleCnt="3">
        <dgm:presLayoutVars>
          <dgm:bulletEnabled val="1"/>
        </dgm:presLayoutVars>
      </dgm:prSet>
      <dgm:spPr/>
    </dgm:pt>
  </dgm:ptLst>
  <dgm:cxnLst>
    <dgm:cxn modelId="{8C9E7A05-42D4-4657-851C-A898D334D7B9}" srcId="{3E3E7AE9-D714-4467-95A4-3EDDC9C489B1}" destId="{C42A7EFB-4681-49A7-80FF-23EE2E438E11}" srcOrd="0" destOrd="0" parTransId="{38FC1F4A-18AC-469F-B20A-5E8DA4DEDA09}" sibTransId="{3165D95C-28BE-4AC3-88B3-09DF0CE226F8}"/>
    <dgm:cxn modelId="{28724A17-7015-45FA-8CEE-03163DD6E46F}" type="presOf" srcId="{6A2D87EB-B8A7-49F6-8406-1E492BCED171}" destId="{FA108886-FD20-4812-A920-9506B9796D37}" srcOrd="0" destOrd="1" presId="urn:microsoft.com/office/officeart/2005/8/layout/chevron2"/>
    <dgm:cxn modelId="{B665D11D-075D-4729-B10D-78F1574AB237}" type="presOf" srcId="{C65213C2-5B99-4198-9DD6-287EED452E8A}" destId="{F6F67A17-2DFB-4AC8-934B-0ADE2A416FD5}" srcOrd="0" destOrd="0" presId="urn:microsoft.com/office/officeart/2005/8/layout/chevron2"/>
    <dgm:cxn modelId="{6673871E-B6A8-43C6-B08C-37876C350501}" type="presOf" srcId="{2E2F89AB-4CC2-4AF7-AC10-33E7ACECE602}" destId="{C7518875-1DDD-4E9D-80D4-28FF1FCD3EF7}" srcOrd="0" destOrd="0" presId="urn:microsoft.com/office/officeart/2005/8/layout/chevron2"/>
    <dgm:cxn modelId="{6363DB21-DCE9-4BEC-A29A-F6C57D6A69F4}" srcId="{2E2F89AB-4CC2-4AF7-AC10-33E7ACECE602}" destId="{C65213C2-5B99-4198-9DD6-287EED452E8A}" srcOrd="0" destOrd="0" parTransId="{68225B8C-45FA-45CE-893B-C085B742A3CA}" sibTransId="{55B30AFC-1111-425D-8E30-219C1B3BCAF2}"/>
    <dgm:cxn modelId="{40E74E3A-C0FB-4216-8EC5-B5795012091B}" srcId="{C65213C2-5B99-4198-9DD6-287EED452E8A}" destId="{7386AD1D-33D7-4244-A947-C0D6DEC340DF}" srcOrd="0" destOrd="0" parTransId="{7906426B-32BD-4858-9615-46053D1DCCAD}" sibTransId="{C78505D7-B70B-4280-9708-4BC94DECC0AC}"/>
    <dgm:cxn modelId="{33361B3C-DC37-43D4-890E-14AB4CFB6B1A}" type="presOf" srcId="{E6A5F553-D513-4B93-B686-6297C8143591}" destId="{E354932C-0D03-4EF4-8949-AAB5E725DF21}" srcOrd="0" destOrd="0" presId="urn:microsoft.com/office/officeart/2005/8/layout/chevron2"/>
    <dgm:cxn modelId="{94BE443C-9C3C-42D3-B002-9AE11F9A8EBA}" type="presOf" srcId="{59A0E268-5A20-4D23-BACC-1886A60CA53A}" destId="{DF901AC3-5D42-4356-A767-BABFEF3A06AD}" srcOrd="0" destOrd="1" presId="urn:microsoft.com/office/officeart/2005/8/layout/chevron2"/>
    <dgm:cxn modelId="{C557D057-72D7-48E7-8FAE-7AB9D7F653F4}" srcId="{2E2F89AB-4CC2-4AF7-AC10-33E7ACECE602}" destId="{3E3E7AE9-D714-4467-95A4-3EDDC9C489B1}" srcOrd="2" destOrd="0" parTransId="{A0E1E18D-DD18-4F6D-8BAC-AAD80109C855}" sibTransId="{668B33E5-6180-4222-9727-1955BA69471C}"/>
    <dgm:cxn modelId="{C181AA83-8E76-4038-9911-2AF463356F86}" type="presOf" srcId="{F9C05265-9175-4D56-A259-6A404ADBB3BB}" destId="{38F4DD1E-848F-4863-B8FC-B249F69F35F4}" srcOrd="0" destOrd="1" presId="urn:microsoft.com/office/officeart/2005/8/layout/chevron2"/>
    <dgm:cxn modelId="{924EBE87-A401-4C78-A7BA-AAA7FFDAAF33}" srcId="{2E2F89AB-4CC2-4AF7-AC10-33E7ACECE602}" destId="{E6A5F553-D513-4B93-B686-6297C8143591}" srcOrd="1" destOrd="0" parTransId="{EBE23DFD-3120-4AD8-90A2-A7B101423A05}" sibTransId="{89AF1B84-29C5-451B-806C-C1FBFD286F45}"/>
    <dgm:cxn modelId="{C524EE87-12E6-465A-90F0-FAA1DC735F96}" srcId="{3E3E7AE9-D714-4467-95A4-3EDDC9C489B1}" destId="{6A2D87EB-B8A7-49F6-8406-1E492BCED171}" srcOrd="1" destOrd="0" parTransId="{3E0DE90E-09EC-455A-8FE5-E9D4CEA8BF1B}" sibTransId="{DEECA97B-03F9-40D4-BB13-F348ADCAC674}"/>
    <dgm:cxn modelId="{3AAD2795-240F-42FF-87FB-17A72919EA46}" type="presOf" srcId="{C42A7EFB-4681-49A7-80FF-23EE2E438E11}" destId="{FA108886-FD20-4812-A920-9506B9796D37}" srcOrd="0" destOrd="0" presId="urn:microsoft.com/office/officeart/2005/8/layout/chevron2"/>
    <dgm:cxn modelId="{A1DB79B2-7497-43E7-BED2-5C6FA2F8D932}" type="presOf" srcId="{3E3E7AE9-D714-4467-95A4-3EDDC9C489B1}" destId="{936C769D-5435-480B-9586-2E431A1AEF13}" srcOrd="0" destOrd="0" presId="urn:microsoft.com/office/officeart/2005/8/layout/chevron2"/>
    <dgm:cxn modelId="{00377EB4-B7A8-484E-A3C1-AC1AEFA2E0F6}" srcId="{E6A5F553-D513-4B93-B686-6297C8143591}" destId="{F9C05265-9175-4D56-A259-6A404ADBB3BB}" srcOrd="1" destOrd="0" parTransId="{633C4D05-CC4C-4530-9369-DDBDB23A4FBF}" sibTransId="{6C506E54-D492-4CB9-91D9-B3E411DC66BC}"/>
    <dgm:cxn modelId="{01EE22BF-9D1B-478C-96AD-F76A2DC9A829}" type="presOf" srcId="{7386AD1D-33D7-4244-A947-C0D6DEC340DF}" destId="{DF901AC3-5D42-4356-A767-BABFEF3A06AD}" srcOrd="0" destOrd="0" presId="urn:microsoft.com/office/officeart/2005/8/layout/chevron2"/>
    <dgm:cxn modelId="{72C4ABCB-EB64-423F-BE29-999D7D732ADD}" type="presOf" srcId="{64B078D3-C047-4C62-BD20-880DDFD3852D}" destId="{38F4DD1E-848F-4863-B8FC-B249F69F35F4}" srcOrd="0" destOrd="0" presId="urn:microsoft.com/office/officeart/2005/8/layout/chevron2"/>
    <dgm:cxn modelId="{E3D83CE2-D902-4FEC-A6E3-6BE443791809}" srcId="{E6A5F553-D513-4B93-B686-6297C8143591}" destId="{64B078D3-C047-4C62-BD20-880DDFD3852D}" srcOrd="0" destOrd="0" parTransId="{1EB5A16F-685B-4512-94EF-573F1871A4D1}" sibTransId="{155E5B52-03FB-4301-8F34-56070273EA84}"/>
    <dgm:cxn modelId="{C0C1CEE9-BF45-4CA8-A851-77E48D7921A7}" srcId="{C65213C2-5B99-4198-9DD6-287EED452E8A}" destId="{59A0E268-5A20-4D23-BACC-1886A60CA53A}" srcOrd="1" destOrd="0" parTransId="{1F242BB4-24E3-41F3-9A26-2E654DF5FAE5}" sibTransId="{6CC11B69-7C57-437F-B9DE-67B391D0C317}"/>
    <dgm:cxn modelId="{3DDED523-824E-4F9A-8D1C-08288ACED68C}" type="presParOf" srcId="{C7518875-1DDD-4E9D-80D4-28FF1FCD3EF7}" destId="{13BD5C63-BE0E-43F2-A032-3FEAE2C8C655}" srcOrd="0" destOrd="0" presId="urn:microsoft.com/office/officeart/2005/8/layout/chevron2"/>
    <dgm:cxn modelId="{D2178450-7FD4-430F-85B3-3A5C51E4F0B1}" type="presParOf" srcId="{13BD5C63-BE0E-43F2-A032-3FEAE2C8C655}" destId="{F6F67A17-2DFB-4AC8-934B-0ADE2A416FD5}" srcOrd="0" destOrd="0" presId="urn:microsoft.com/office/officeart/2005/8/layout/chevron2"/>
    <dgm:cxn modelId="{4AFA60CE-81E7-4095-A6E6-0C2B40A6221B}" type="presParOf" srcId="{13BD5C63-BE0E-43F2-A032-3FEAE2C8C655}" destId="{DF901AC3-5D42-4356-A767-BABFEF3A06AD}" srcOrd="1" destOrd="0" presId="urn:microsoft.com/office/officeart/2005/8/layout/chevron2"/>
    <dgm:cxn modelId="{F3020CAA-911F-47CC-8A14-E296AAFEB85A}" type="presParOf" srcId="{C7518875-1DDD-4E9D-80D4-28FF1FCD3EF7}" destId="{ED768D29-E08B-4CA9-9C10-6D42B085680B}" srcOrd="1" destOrd="0" presId="urn:microsoft.com/office/officeart/2005/8/layout/chevron2"/>
    <dgm:cxn modelId="{363FF4E8-5E60-4352-B7C9-2E3FC7D7A7E6}" type="presParOf" srcId="{C7518875-1DDD-4E9D-80D4-28FF1FCD3EF7}" destId="{64EDB097-B15E-4781-8C5A-DE4A2E32C85F}" srcOrd="2" destOrd="0" presId="urn:microsoft.com/office/officeart/2005/8/layout/chevron2"/>
    <dgm:cxn modelId="{C1163BA8-9125-43C3-AED3-3CD41A451A9F}" type="presParOf" srcId="{64EDB097-B15E-4781-8C5A-DE4A2E32C85F}" destId="{E354932C-0D03-4EF4-8949-AAB5E725DF21}" srcOrd="0" destOrd="0" presId="urn:microsoft.com/office/officeart/2005/8/layout/chevron2"/>
    <dgm:cxn modelId="{D6E3FF47-43AD-4C70-AE6A-D08FA236FC5D}" type="presParOf" srcId="{64EDB097-B15E-4781-8C5A-DE4A2E32C85F}" destId="{38F4DD1E-848F-4863-B8FC-B249F69F35F4}" srcOrd="1" destOrd="0" presId="urn:microsoft.com/office/officeart/2005/8/layout/chevron2"/>
    <dgm:cxn modelId="{E0E38E8B-6C08-46A6-BB80-74955C018082}" type="presParOf" srcId="{C7518875-1DDD-4E9D-80D4-28FF1FCD3EF7}" destId="{CE05FBB6-880A-4B23-8EFA-E667E1E549EE}" srcOrd="3" destOrd="0" presId="urn:microsoft.com/office/officeart/2005/8/layout/chevron2"/>
    <dgm:cxn modelId="{AA6C17C8-0957-480F-8E68-9E098D01DAE9}" type="presParOf" srcId="{C7518875-1DDD-4E9D-80D4-28FF1FCD3EF7}" destId="{86E16E7B-2BC9-4103-B7D7-5CBC635CC3AE}" srcOrd="4" destOrd="0" presId="urn:microsoft.com/office/officeart/2005/8/layout/chevron2"/>
    <dgm:cxn modelId="{B259C9FA-83D8-4D62-A576-1AD15C1C232C}" type="presParOf" srcId="{86E16E7B-2BC9-4103-B7D7-5CBC635CC3AE}" destId="{936C769D-5435-480B-9586-2E431A1AEF13}" srcOrd="0" destOrd="0" presId="urn:microsoft.com/office/officeart/2005/8/layout/chevron2"/>
    <dgm:cxn modelId="{676A0C42-9EFF-4CCF-AF9E-544F6CAE8832}" type="presParOf" srcId="{86E16E7B-2BC9-4103-B7D7-5CBC635CC3AE}" destId="{FA108886-FD20-4812-A920-9506B9796D3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2F89AB-4CC2-4AF7-AC10-33E7ACECE602}" type="doc">
      <dgm:prSet loTypeId="urn:microsoft.com/office/officeart/2005/8/layout/chevron2" loCatId="list" qsTypeId="urn:microsoft.com/office/officeart/2005/8/quickstyle/simple1" qsCatId="simple" csTypeId="urn:microsoft.com/office/officeart/2005/8/colors/colorful2" csCatId="colorful" phldr="1"/>
      <dgm:spPr/>
      <dgm:t>
        <a:bodyPr/>
        <a:lstStyle/>
        <a:p>
          <a:endParaRPr lang="en-US"/>
        </a:p>
      </dgm:t>
    </dgm:pt>
    <dgm:pt modelId="{C65213C2-5B99-4198-9DD6-287EED452E8A}">
      <dgm:prSet phldrT="[Văn bản]"/>
      <dgm:spPr/>
      <dgm:t>
        <a:bodyPr/>
        <a:lstStyle/>
        <a:p>
          <a:r>
            <a:rPr lang="en-US"/>
            <a:t>KB 1</a:t>
          </a:r>
        </a:p>
      </dgm:t>
    </dgm:pt>
    <dgm:pt modelId="{68225B8C-45FA-45CE-893B-C085B742A3CA}" type="parTrans" cxnId="{6363DB21-DCE9-4BEC-A29A-F6C57D6A69F4}">
      <dgm:prSet/>
      <dgm:spPr/>
      <dgm:t>
        <a:bodyPr/>
        <a:lstStyle/>
        <a:p>
          <a:endParaRPr lang="en-US"/>
        </a:p>
      </dgm:t>
    </dgm:pt>
    <dgm:pt modelId="{55B30AFC-1111-425D-8E30-219C1B3BCAF2}" type="sibTrans" cxnId="{6363DB21-DCE9-4BEC-A29A-F6C57D6A69F4}">
      <dgm:prSet/>
      <dgm:spPr/>
      <dgm:t>
        <a:bodyPr/>
        <a:lstStyle/>
        <a:p>
          <a:endParaRPr lang="en-US"/>
        </a:p>
      </dgm:t>
    </dgm:pt>
    <dgm:pt modelId="{E6A5F553-D513-4B93-B686-6297C8143591}">
      <dgm:prSet phldrT="[Văn bản]"/>
      <dgm:spPr/>
      <dgm:t>
        <a:bodyPr/>
        <a:lstStyle/>
        <a:p>
          <a:r>
            <a:rPr lang="en-US"/>
            <a:t>KB2</a:t>
          </a:r>
        </a:p>
      </dgm:t>
    </dgm:pt>
    <dgm:pt modelId="{EBE23DFD-3120-4AD8-90A2-A7B101423A05}" type="parTrans" cxnId="{924EBE87-A401-4C78-A7BA-AAA7FFDAAF33}">
      <dgm:prSet/>
      <dgm:spPr/>
      <dgm:t>
        <a:bodyPr/>
        <a:lstStyle/>
        <a:p>
          <a:endParaRPr lang="en-US"/>
        </a:p>
      </dgm:t>
    </dgm:pt>
    <dgm:pt modelId="{89AF1B84-29C5-451B-806C-C1FBFD286F45}" type="sibTrans" cxnId="{924EBE87-A401-4C78-A7BA-AAA7FFDAAF33}">
      <dgm:prSet/>
      <dgm:spPr/>
      <dgm:t>
        <a:bodyPr/>
        <a:lstStyle/>
        <a:p>
          <a:endParaRPr lang="en-US"/>
        </a:p>
      </dgm:t>
    </dgm:pt>
    <dgm:pt modelId="{64B078D3-C047-4C62-BD20-880DDFD3852D}">
      <dgm:prSet phldrT="[Văn bản]" custT="1"/>
      <dgm:spPr/>
      <dgm:t>
        <a:bodyPr/>
        <a:lstStyle/>
        <a:p>
          <a:r>
            <a:rPr lang="en-US" sz="2000"/>
            <a:t>Nguồn định mức với Vrms=220V, f=50Hz</a:t>
          </a:r>
        </a:p>
      </dgm:t>
    </dgm:pt>
    <dgm:pt modelId="{1EB5A16F-685B-4512-94EF-573F1871A4D1}" type="parTrans" cxnId="{E3D83CE2-D902-4FEC-A6E3-6BE443791809}">
      <dgm:prSet/>
      <dgm:spPr/>
      <dgm:t>
        <a:bodyPr/>
        <a:lstStyle/>
        <a:p>
          <a:endParaRPr lang="en-US"/>
        </a:p>
      </dgm:t>
    </dgm:pt>
    <dgm:pt modelId="{155E5B52-03FB-4301-8F34-56070273EA84}" type="sibTrans" cxnId="{E3D83CE2-D902-4FEC-A6E3-6BE443791809}">
      <dgm:prSet/>
      <dgm:spPr/>
      <dgm:t>
        <a:bodyPr/>
        <a:lstStyle/>
        <a:p>
          <a:endParaRPr lang="en-US"/>
        </a:p>
      </dgm:t>
    </dgm:pt>
    <dgm:pt modelId="{F9C05265-9175-4D56-A259-6A404ADBB3BB}">
      <dgm:prSet phldrT="[Văn bản]" custT="1"/>
      <dgm:spPr/>
      <dgm:t>
        <a:bodyPr/>
        <a:lstStyle/>
        <a:p>
          <a:r>
            <a:rPr lang="en-US" sz="2000"/>
            <a:t>Từ 0.05s đến 0.20s làm việc với tải định mức; Từ 0.20s đến 0.35s làm việc với 200% tải định mức </a:t>
          </a:r>
        </a:p>
      </dgm:t>
    </dgm:pt>
    <dgm:pt modelId="{633C4D05-CC4C-4530-9369-DDBDB23A4FBF}" type="parTrans" cxnId="{00377EB4-B7A8-484E-A3C1-AC1AEFA2E0F6}">
      <dgm:prSet/>
      <dgm:spPr/>
      <dgm:t>
        <a:bodyPr/>
        <a:lstStyle/>
        <a:p>
          <a:endParaRPr lang="en-US"/>
        </a:p>
      </dgm:t>
    </dgm:pt>
    <dgm:pt modelId="{6C506E54-D492-4CB9-91D9-B3E411DC66BC}" type="sibTrans" cxnId="{00377EB4-B7A8-484E-A3C1-AC1AEFA2E0F6}">
      <dgm:prSet/>
      <dgm:spPr/>
      <dgm:t>
        <a:bodyPr/>
        <a:lstStyle/>
        <a:p>
          <a:endParaRPr lang="en-US"/>
        </a:p>
      </dgm:t>
    </dgm:pt>
    <dgm:pt modelId="{3E3E7AE9-D714-4467-95A4-3EDDC9C489B1}">
      <dgm:prSet phldrT="[Văn bản]"/>
      <dgm:spPr/>
      <dgm:t>
        <a:bodyPr/>
        <a:lstStyle/>
        <a:p>
          <a:r>
            <a:rPr lang="en-US"/>
            <a:t>KB3</a:t>
          </a:r>
        </a:p>
      </dgm:t>
    </dgm:pt>
    <dgm:pt modelId="{A0E1E18D-DD18-4F6D-8BAC-AAD80109C855}" type="parTrans" cxnId="{C557D057-72D7-48E7-8FAE-7AB9D7F653F4}">
      <dgm:prSet/>
      <dgm:spPr/>
      <dgm:t>
        <a:bodyPr/>
        <a:lstStyle/>
        <a:p>
          <a:endParaRPr lang="en-US"/>
        </a:p>
      </dgm:t>
    </dgm:pt>
    <dgm:pt modelId="{668B33E5-6180-4222-9727-1955BA69471C}" type="sibTrans" cxnId="{C557D057-72D7-48E7-8FAE-7AB9D7F653F4}">
      <dgm:prSet/>
      <dgm:spPr/>
      <dgm:t>
        <a:bodyPr/>
        <a:lstStyle/>
        <a:p>
          <a:endParaRPr lang="en-US"/>
        </a:p>
      </dgm:t>
    </dgm:pt>
    <dgm:pt modelId="{C42A7EFB-4681-49A7-80FF-23EE2E438E11}">
      <dgm:prSet phldrT="[Văn bản]" custT="1"/>
      <dgm:spPr>
        <a:blipFill>
          <a:blip xmlns:r="http://schemas.openxmlformats.org/officeDocument/2006/relationships" r:embed="rId1"/>
          <a:stretch>
            <a:fillRect l="-70"/>
          </a:stretch>
        </a:blipFill>
      </dgm:spPr>
      <dgm:t>
        <a:bodyPr/>
        <a:lstStyle/>
        <a:p>
          <a:r>
            <a:rPr lang="en-US">
              <a:noFill/>
            </a:rPr>
            <a:t> </a:t>
          </a:r>
        </a:p>
      </dgm:t>
    </dgm:pt>
    <dgm:pt modelId="{38FC1F4A-18AC-469F-B20A-5E8DA4DEDA09}" type="parTrans" cxnId="{8C9E7A05-42D4-4657-851C-A898D334D7B9}">
      <dgm:prSet/>
      <dgm:spPr/>
      <dgm:t>
        <a:bodyPr/>
        <a:lstStyle/>
        <a:p>
          <a:endParaRPr lang="en-US"/>
        </a:p>
      </dgm:t>
    </dgm:pt>
    <dgm:pt modelId="{3165D95C-28BE-4AC3-88B3-09DF0CE226F8}" type="sibTrans" cxnId="{8C9E7A05-42D4-4657-851C-A898D334D7B9}">
      <dgm:prSet/>
      <dgm:spPr/>
      <dgm:t>
        <a:bodyPr/>
        <a:lstStyle/>
        <a:p>
          <a:endParaRPr lang="en-US"/>
        </a:p>
      </dgm:t>
    </dgm:pt>
    <dgm:pt modelId="{6A2D87EB-B8A7-49F6-8406-1E492BCED171}">
      <dgm:prSet phldrT="[Văn bản]" custT="1"/>
      <dgm:spPr/>
      <dgm:t>
        <a:bodyPr/>
        <a:lstStyle/>
        <a:p>
          <a:r>
            <a:rPr lang="en-US">
              <a:noFill/>
            </a:rPr>
            <a:t> </a:t>
          </a:r>
        </a:p>
      </dgm:t>
    </dgm:pt>
    <dgm:pt modelId="{3E0DE90E-09EC-455A-8FE5-E9D4CEA8BF1B}" type="parTrans" cxnId="{C524EE87-12E6-465A-90F0-FAA1DC735F96}">
      <dgm:prSet/>
      <dgm:spPr/>
      <dgm:t>
        <a:bodyPr/>
        <a:lstStyle/>
        <a:p>
          <a:endParaRPr lang="en-US"/>
        </a:p>
      </dgm:t>
    </dgm:pt>
    <dgm:pt modelId="{DEECA97B-03F9-40D4-BB13-F348ADCAC674}" type="sibTrans" cxnId="{C524EE87-12E6-465A-90F0-FAA1DC735F96}">
      <dgm:prSet/>
      <dgm:spPr/>
      <dgm:t>
        <a:bodyPr/>
        <a:lstStyle/>
        <a:p>
          <a:endParaRPr lang="en-US"/>
        </a:p>
      </dgm:t>
    </dgm:pt>
    <dgm:pt modelId="{7386AD1D-33D7-4244-A947-C0D6DEC340DF}">
      <dgm:prSet phldrT="[Văn bản]" custT="1"/>
      <dgm:spPr>
        <a:blipFill>
          <a:blip xmlns:r="http://schemas.openxmlformats.org/officeDocument/2006/relationships" r:embed="rId2"/>
          <a:stretch>
            <a:fillRect l="-70"/>
          </a:stretch>
        </a:blipFill>
      </dgm:spPr>
      <dgm:t>
        <a:bodyPr/>
        <a:lstStyle/>
        <a:p>
          <a:r>
            <a:rPr lang="en-US">
              <a:noFill/>
            </a:rPr>
            <a:t> </a:t>
          </a:r>
        </a:p>
      </dgm:t>
    </dgm:pt>
    <dgm:pt modelId="{C78505D7-B70B-4280-9708-4BC94DECC0AC}" type="sibTrans" cxnId="{40E74E3A-C0FB-4216-8EC5-B5795012091B}">
      <dgm:prSet/>
      <dgm:spPr/>
      <dgm:t>
        <a:bodyPr/>
        <a:lstStyle/>
        <a:p>
          <a:endParaRPr lang="en-US"/>
        </a:p>
      </dgm:t>
    </dgm:pt>
    <dgm:pt modelId="{7906426B-32BD-4858-9615-46053D1DCCAD}" type="parTrans" cxnId="{40E74E3A-C0FB-4216-8EC5-B5795012091B}">
      <dgm:prSet/>
      <dgm:spPr/>
      <dgm:t>
        <a:bodyPr/>
        <a:lstStyle/>
        <a:p>
          <a:endParaRPr lang="en-US"/>
        </a:p>
      </dgm:t>
    </dgm:pt>
    <dgm:pt modelId="{59A0E268-5A20-4D23-BACC-1886A60CA53A}">
      <dgm:prSet phldrT="[Văn bản]" custT="1"/>
      <dgm:spPr/>
      <dgm:t>
        <a:bodyPr/>
        <a:lstStyle/>
        <a:p>
          <a:r>
            <a:rPr lang="en-US">
              <a:noFill/>
            </a:rPr>
            <a:t> </a:t>
          </a:r>
        </a:p>
      </dgm:t>
    </dgm:pt>
    <dgm:pt modelId="{1F242BB4-24E3-41F3-9A26-2E654DF5FAE5}" type="parTrans" cxnId="{C0C1CEE9-BF45-4CA8-A851-77E48D7921A7}">
      <dgm:prSet/>
      <dgm:spPr/>
      <dgm:t>
        <a:bodyPr/>
        <a:lstStyle/>
        <a:p>
          <a:endParaRPr lang="en-US"/>
        </a:p>
      </dgm:t>
    </dgm:pt>
    <dgm:pt modelId="{6CC11B69-7C57-437F-B9DE-67B391D0C317}" type="sibTrans" cxnId="{C0C1CEE9-BF45-4CA8-A851-77E48D7921A7}">
      <dgm:prSet/>
      <dgm:spPr/>
      <dgm:t>
        <a:bodyPr/>
        <a:lstStyle/>
        <a:p>
          <a:endParaRPr lang="en-US"/>
        </a:p>
      </dgm:t>
    </dgm:pt>
    <dgm:pt modelId="{C7518875-1DDD-4E9D-80D4-28FF1FCD3EF7}" type="pres">
      <dgm:prSet presAssocID="{2E2F89AB-4CC2-4AF7-AC10-33E7ACECE602}" presName="linearFlow" presStyleCnt="0">
        <dgm:presLayoutVars>
          <dgm:dir/>
          <dgm:animLvl val="lvl"/>
          <dgm:resizeHandles val="exact"/>
        </dgm:presLayoutVars>
      </dgm:prSet>
      <dgm:spPr/>
    </dgm:pt>
    <dgm:pt modelId="{13BD5C63-BE0E-43F2-A032-3FEAE2C8C655}" type="pres">
      <dgm:prSet presAssocID="{C65213C2-5B99-4198-9DD6-287EED452E8A}" presName="composite" presStyleCnt="0"/>
      <dgm:spPr/>
    </dgm:pt>
    <dgm:pt modelId="{F6F67A17-2DFB-4AC8-934B-0ADE2A416FD5}" type="pres">
      <dgm:prSet presAssocID="{C65213C2-5B99-4198-9DD6-287EED452E8A}" presName="parentText" presStyleLbl="alignNode1" presStyleIdx="0" presStyleCnt="3">
        <dgm:presLayoutVars>
          <dgm:chMax val="1"/>
          <dgm:bulletEnabled val="1"/>
        </dgm:presLayoutVars>
      </dgm:prSet>
      <dgm:spPr/>
    </dgm:pt>
    <dgm:pt modelId="{DF901AC3-5D42-4356-A767-BABFEF3A06AD}" type="pres">
      <dgm:prSet presAssocID="{C65213C2-5B99-4198-9DD6-287EED452E8A}" presName="descendantText" presStyleLbl="alignAcc1" presStyleIdx="0" presStyleCnt="3">
        <dgm:presLayoutVars>
          <dgm:bulletEnabled val="1"/>
        </dgm:presLayoutVars>
      </dgm:prSet>
      <dgm:spPr/>
    </dgm:pt>
    <dgm:pt modelId="{ED768D29-E08B-4CA9-9C10-6D42B085680B}" type="pres">
      <dgm:prSet presAssocID="{55B30AFC-1111-425D-8E30-219C1B3BCAF2}" presName="sp" presStyleCnt="0"/>
      <dgm:spPr/>
    </dgm:pt>
    <dgm:pt modelId="{64EDB097-B15E-4781-8C5A-DE4A2E32C85F}" type="pres">
      <dgm:prSet presAssocID="{E6A5F553-D513-4B93-B686-6297C8143591}" presName="composite" presStyleCnt="0"/>
      <dgm:spPr/>
    </dgm:pt>
    <dgm:pt modelId="{E354932C-0D03-4EF4-8949-AAB5E725DF21}" type="pres">
      <dgm:prSet presAssocID="{E6A5F553-D513-4B93-B686-6297C8143591}" presName="parentText" presStyleLbl="alignNode1" presStyleIdx="1" presStyleCnt="3">
        <dgm:presLayoutVars>
          <dgm:chMax val="1"/>
          <dgm:bulletEnabled val="1"/>
        </dgm:presLayoutVars>
      </dgm:prSet>
      <dgm:spPr/>
    </dgm:pt>
    <dgm:pt modelId="{38F4DD1E-848F-4863-B8FC-B249F69F35F4}" type="pres">
      <dgm:prSet presAssocID="{E6A5F553-D513-4B93-B686-6297C8143591}" presName="descendantText" presStyleLbl="alignAcc1" presStyleIdx="1" presStyleCnt="3">
        <dgm:presLayoutVars>
          <dgm:bulletEnabled val="1"/>
        </dgm:presLayoutVars>
      </dgm:prSet>
      <dgm:spPr/>
    </dgm:pt>
    <dgm:pt modelId="{CE05FBB6-880A-4B23-8EFA-E667E1E549EE}" type="pres">
      <dgm:prSet presAssocID="{89AF1B84-29C5-451B-806C-C1FBFD286F45}" presName="sp" presStyleCnt="0"/>
      <dgm:spPr/>
    </dgm:pt>
    <dgm:pt modelId="{86E16E7B-2BC9-4103-B7D7-5CBC635CC3AE}" type="pres">
      <dgm:prSet presAssocID="{3E3E7AE9-D714-4467-95A4-3EDDC9C489B1}" presName="composite" presStyleCnt="0"/>
      <dgm:spPr/>
    </dgm:pt>
    <dgm:pt modelId="{936C769D-5435-480B-9586-2E431A1AEF13}" type="pres">
      <dgm:prSet presAssocID="{3E3E7AE9-D714-4467-95A4-3EDDC9C489B1}" presName="parentText" presStyleLbl="alignNode1" presStyleIdx="2" presStyleCnt="3">
        <dgm:presLayoutVars>
          <dgm:chMax val="1"/>
          <dgm:bulletEnabled val="1"/>
        </dgm:presLayoutVars>
      </dgm:prSet>
      <dgm:spPr/>
    </dgm:pt>
    <dgm:pt modelId="{FA108886-FD20-4812-A920-9506B9796D37}" type="pres">
      <dgm:prSet presAssocID="{3E3E7AE9-D714-4467-95A4-3EDDC9C489B1}" presName="descendantText" presStyleLbl="alignAcc1" presStyleIdx="2" presStyleCnt="3">
        <dgm:presLayoutVars>
          <dgm:bulletEnabled val="1"/>
        </dgm:presLayoutVars>
      </dgm:prSet>
      <dgm:spPr/>
    </dgm:pt>
  </dgm:ptLst>
  <dgm:cxnLst>
    <dgm:cxn modelId="{8C9E7A05-42D4-4657-851C-A898D334D7B9}" srcId="{3E3E7AE9-D714-4467-95A4-3EDDC9C489B1}" destId="{C42A7EFB-4681-49A7-80FF-23EE2E438E11}" srcOrd="0" destOrd="0" parTransId="{38FC1F4A-18AC-469F-B20A-5E8DA4DEDA09}" sibTransId="{3165D95C-28BE-4AC3-88B3-09DF0CE226F8}"/>
    <dgm:cxn modelId="{28724A17-7015-45FA-8CEE-03163DD6E46F}" type="presOf" srcId="{6A2D87EB-B8A7-49F6-8406-1E492BCED171}" destId="{FA108886-FD20-4812-A920-9506B9796D37}" srcOrd="0" destOrd="1" presId="urn:microsoft.com/office/officeart/2005/8/layout/chevron2"/>
    <dgm:cxn modelId="{B665D11D-075D-4729-B10D-78F1574AB237}" type="presOf" srcId="{C65213C2-5B99-4198-9DD6-287EED452E8A}" destId="{F6F67A17-2DFB-4AC8-934B-0ADE2A416FD5}" srcOrd="0" destOrd="0" presId="urn:microsoft.com/office/officeart/2005/8/layout/chevron2"/>
    <dgm:cxn modelId="{6673871E-B6A8-43C6-B08C-37876C350501}" type="presOf" srcId="{2E2F89AB-4CC2-4AF7-AC10-33E7ACECE602}" destId="{C7518875-1DDD-4E9D-80D4-28FF1FCD3EF7}" srcOrd="0" destOrd="0" presId="urn:microsoft.com/office/officeart/2005/8/layout/chevron2"/>
    <dgm:cxn modelId="{6363DB21-DCE9-4BEC-A29A-F6C57D6A69F4}" srcId="{2E2F89AB-4CC2-4AF7-AC10-33E7ACECE602}" destId="{C65213C2-5B99-4198-9DD6-287EED452E8A}" srcOrd="0" destOrd="0" parTransId="{68225B8C-45FA-45CE-893B-C085B742A3CA}" sibTransId="{55B30AFC-1111-425D-8E30-219C1B3BCAF2}"/>
    <dgm:cxn modelId="{40E74E3A-C0FB-4216-8EC5-B5795012091B}" srcId="{C65213C2-5B99-4198-9DD6-287EED452E8A}" destId="{7386AD1D-33D7-4244-A947-C0D6DEC340DF}" srcOrd="0" destOrd="0" parTransId="{7906426B-32BD-4858-9615-46053D1DCCAD}" sibTransId="{C78505D7-B70B-4280-9708-4BC94DECC0AC}"/>
    <dgm:cxn modelId="{33361B3C-DC37-43D4-890E-14AB4CFB6B1A}" type="presOf" srcId="{E6A5F553-D513-4B93-B686-6297C8143591}" destId="{E354932C-0D03-4EF4-8949-AAB5E725DF21}" srcOrd="0" destOrd="0" presId="urn:microsoft.com/office/officeart/2005/8/layout/chevron2"/>
    <dgm:cxn modelId="{94BE443C-9C3C-42D3-B002-9AE11F9A8EBA}" type="presOf" srcId="{59A0E268-5A20-4D23-BACC-1886A60CA53A}" destId="{DF901AC3-5D42-4356-A767-BABFEF3A06AD}" srcOrd="0" destOrd="1" presId="urn:microsoft.com/office/officeart/2005/8/layout/chevron2"/>
    <dgm:cxn modelId="{C557D057-72D7-48E7-8FAE-7AB9D7F653F4}" srcId="{2E2F89AB-4CC2-4AF7-AC10-33E7ACECE602}" destId="{3E3E7AE9-D714-4467-95A4-3EDDC9C489B1}" srcOrd="2" destOrd="0" parTransId="{A0E1E18D-DD18-4F6D-8BAC-AAD80109C855}" sibTransId="{668B33E5-6180-4222-9727-1955BA69471C}"/>
    <dgm:cxn modelId="{C181AA83-8E76-4038-9911-2AF463356F86}" type="presOf" srcId="{F9C05265-9175-4D56-A259-6A404ADBB3BB}" destId="{38F4DD1E-848F-4863-B8FC-B249F69F35F4}" srcOrd="0" destOrd="1" presId="urn:microsoft.com/office/officeart/2005/8/layout/chevron2"/>
    <dgm:cxn modelId="{924EBE87-A401-4C78-A7BA-AAA7FFDAAF33}" srcId="{2E2F89AB-4CC2-4AF7-AC10-33E7ACECE602}" destId="{E6A5F553-D513-4B93-B686-6297C8143591}" srcOrd="1" destOrd="0" parTransId="{EBE23DFD-3120-4AD8-90A2-A7B101423A05}" sibTransId="{89AF1B84-29C5-451B-806C-C1FBFD286F45}"/>
    <dgm:cxn modelId="{C524EE87-12E6-465A-90F0-FAA1DC735F96}" srcId="{3E3E7AE9-D714-4467-95A4-3EDDC9C489B1}" destId="{6A2D87EB-B8A7-49F6-8406-1E492BCED171}" srcOrd="1" destOrd="0" parTransId="{3E0DE90E-09EC-455A-8FE5-E9D4CEA8BF1B}" sibTransId="{DEECA97B-03F9-40D4-BB13-F348ADCAC674}"/>
    <dgm:cxn modelId="{3AAD2795-240F-42FF-87FB-17A72919EA46}" type="presOf" srcId="{C42A7EFB-4681-49A7-80FF-23EE2E438E11}" destId="{FA108886-FD20-4812-A920-9506B9796D37}" srcOrd="0" destOrd="0" presId="urn:microsoft.com/office/officeart/2005/8/layout/chevron2"/>
    <dgm:cxn modelId="{A1DB79B2-7497-43E7-BED2-5C6FA2F8D932}" type="presOf" srcId="{3E3E7AE9-D714-4467-95A4-3EDDC9C489B1}" destId="{936C769D-5435-480B-9586-2E431A1AEF13}" srcOrd="0" destOrd="0" presId="urn:microsoft.com/office/officeart/2005/8/layout/chevron2"/>
    <dgm:cxn modelId="{00377EB4-B7A8-484E-A3C1-AC1AEFA2E0F6}" srcId="{E6A5F553-D513-4B93-B686-6297C8143591}" destId="{F9C05265-9175-4D56-A259-6A404ADBB3BB}" srcOrd="1" destOrd="0" parTransId="{633C4D05-CC4C-4530-9369-DDBDB23A4FBF}" sibTransId="{6C506E54-D492-4CB9-91D9-B3E411DC66BC}"/>
    <dgm:cxn modelId="{01EE22BF-9D1B-478C-96AD-F76A2DC9A829}" type="presOf" srcId="{7386AD1D-33D7-4244-A947-C0D6DEC340DF}" destId="{DF901AC3-5D42-4356-A767-BABFEF3A06AD}" srcOrd="0" destOrd="0" presId="urn:microsoft.com/office/officeart/2005/8/layout/chevron2"/>
    <dgm:cxn modelId="{72C4ABCB-EB64-423F-BE29-999D7D732ADD}" type="presOf" srcId="{64B078D3-C047-4C62-BD20-880DDFD3852D}" destId="{38F4DD1E-848F-4863-B8FC-B249F69F35F4}" srcOrd="0" destOrd="0" presId="urn:microsoft.com/office/officeart/2005/8/layout/chevron2"/>
    <dgm:cxn modelId="{E3D83CE2-D902-4FEC-A6E3-6BE443791809}" srcId="{E6A5F553-D513-4B93-B686-6297C8143591}" destId="{64B078D3-C047-4C62-BD20-880DDFD3852D}" srcOrd="0" destOrd="0" parTransId="{1EB5A16F-685B-4512-94EF-573F1871A4D1}" sibTransId="{155E5B52-03FB-4301-8F34-56070273EA84}"/>
    <dgm:cxn modelId="{C0C1CEE9-BF45-4CA8-A851-77E48D7921A7}" srcId="{C65213C2-5B99-4198-9DD6-287EED452E8A}" destId="{59A0E268-5A20-4D23-BACC-1886A60CA53A}" srcOrd="1" destOrd="0" parTransId="{1F242BB4-24E3-41F3-9A26-2E654DF5FAE5}" sibTransId="{6CC11B69-7C57-437F-B9DE-67B391D0C317}"/>
    <dgm:cxn modelId="{3DDED523-824E-4F9A-8D1C-08288ACED68C}" type="presParOf" srcId="{C7518875-1DDD-4E9D-80D4-28FF1FCD3EF7}" destId="{13BD5C63-BE0E-43F2-A032-3FEAE2C8C655}" srcOrd="0" destOrd="0" presId="urn:microsoft.com/office/officeart/2005/8/layout/chevron2"/>
    <dgm:cxn modelId="{D2178450-7FD4-430F-85B3-3A5C51E4F0B1}" type="presParOf" srcId="{13BD5C63-BE0E-43F2-A032-3FEAE2C8C655}" destId="{F6F67A17-2DFB-4AC8-934B-0ADE2A416FD5}" srcOrd="0" destOrd="0" presId="urn:microsoft.com/office/officeart/2005/8/layout/chevron2"/>
    <dgm:cxn modelId="{4AFA60CE-81E7-4095-A6E6-0C2B40A6221B}" type="presParOf" srcId="{13BD5C63-BE0E-43F2-A032-3FEAE2C8C655}" destId="{DF901AC3-5D42-4356-A767-BABFEF3A06AD}" srcOrd="1" destOrd="0" presId="urn:microsoft.com/office/officeart/2005/8/layout/chevron2"/>
    <dgm:cxn modelId="{F3020CAA-911F-47CC-8A14-E296AAFEB85A}" type="presParOf" srcId="{C7518875-1DDD-4E9D-80D4-28FF1FCD3EF7}" destId="{ED768D29-E08B-4CA9-9C10-6D42B085680B}" srcOrd="1" destOrd="0" presId="urn:microsoft.com/office/officeart/2005/8/layout/chevron2"/>
    <dgm:cxn modelId="{363FF4E8-5E60-4352-B7C9-2E3FC7D7A7E6}" type="presParOf" srcId="{C7518875-1DDD-4E9D-80D4-28FF1FCD3EF7}" destId="{64EDB097-B15E-4781-8C5A-DE4A2E32C85F}" srcOrd="2" destOrd="0" presId="urn:microsoft.com/office/officeart/2005/8/layout/chevron2"/>
    <dgm:cxn modelId="{C1163BA8-9125-43C3-AED3-3CD41A451A9F}" type="presParOf" srcId="{64EDB097-B15E-4781-8C5A-DE4A2E32C85F}" destId="{E354932C-0D03-4EF4-8949-AAB5E725DF21}" srcOrd="0" destOrd="0" presId="urn:microsoft.com/office/officeart/2005/8/layout/chevron2"/>
    <dgm:cxn modelId="{D6E3FF47-43AD-4C70-AE6A-D08FA236FC5D}" type="presParOf" srcId="{64EDB097-B15E-4781-8C5A-DE4A2E32C85F}" destId="{38F4DD1E-848F-4863-B8FC-B249F69F35F4}" srcOrd="1" destOrd="0" presId="urn:microsoft.com/office/officeart/2005/8/layout/chevron2"/>
    <dgm:cxn modelId="{E0E38E8B-6C08-46A6-BB80-74955C018082}" type="presParOf" srcId="{C7518875-1DDD-4E9D-80D4-28FF1FCD3EF7}" destId="{CE05FBB6-880A-4B23-8EFA-E667E1E549EE}" srcOrd="3" destOrd="0" presId="urn:microsoft.com/office/officeart/2005/8/layout/chevron2"/>
    <dgm:cxn modelId="{AA6C17C8-0957-480F-8E68-9E098D01DAE9}" type="presParOf" srcId="{C7518875-1DDD-4E9D-80D4-28FF1FCD3EF7}" destId="{86E16E7B-2BC9-4103-B7D7-5CBC635CC3AE}" srcOrd="4" destOrd="0" presId="urn:microsoft.com/office/officeart/2005/8/layout/chevron2"/>
    <dgm:cxn modelId="{B259C9FA-83D8-4D62-A576-1AD15C1C232C}" type="presParOf" srcId="{86E16E7B-2BC9-4103-B7D7-5CBC635CC3AE}" destId="{936C769D-5435-480B-9586-2E431A1AEF13}" srcOrd="0" destOrd="0" presId="urn:microsoft.com/office/officeart/2005/8/layout/chevron2"/>
    <dgm:cxn modelId="{676A0C42-9EFF-4CCF-AF9E-544F6CAE8832}" type="presParOf" srcId="{86E16E7B-2BC9-4103-B7D7-5CBC635CC3AE}" destId="{FA108886-FD20-4812-A920-9506B9796D3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67A17-2DFB-4AC8-934B-0ADE2A416FD5}">
      <dsp:nvSpPr>
        <dsp:cNvPr id="0" name=""/>
        <dsp:cNvSpPr/>
      </dsp:nvSpPr>
      <dsp:spPr>
        <a:xfrm rot="5400000">
          <a:off x="-208492" y="212363"/>
          <a:ext cx="1389948" cy="972963"/>
        </a:xfrm>
        <a:prstGeom prst="chevron">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a:t>KB 1</a:t>
          </a:r>
        </a:p>
      </dsp:txBody>
      <dsp:txXfrm rot="-5400000">
        <a:off x="1" y="490353"/>
        <a:ext cx="972963" cy="416985"/>
      </dsp:txXfrm>
    </dsp:sp>
    <dsp:sp modelId="{DF901AC3-5D42-4356-A767-BABFEF3A06AD}">
      <dsp:nvSpPr>
        <dsp:cNvPr id="0" name=""/>
        <dsp:cNvSpPr/>
      </dsp:nvSpPr>
      <dsp:spPr>
        <a:xfrm rot="5400000">
          <a:off x="4874259" y="-3897424"/>
          <a:ext cx="903466" cy="8706058"/>
        </a:xfrm>
        <a:prstGeom prst="round2Same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a:t>Tải định mức (R=160 </a:t>
          </a:r>
          <a14:m xmlns:a14="http://schemas.microsoft.com/office/drawing/2010/main">
            <m:oMath xmlns:m="http://schemas.openxmlformats.org/officeDocument/2006/math">
              <m:r>
                <a:rPr lang="en-US" sz="2000" i="1" kern="1200" smtClean="0">
                  <a:latin typeface="Cambria Math" panose="02040503050406030204" pitchFamily="18" charset="0"/>
                </a:rPr>
                <m:t>𝛺</m:t>
              </m:r>
            </m:oMath>
          </a14:m>
          <a:r>
            <a:rPr lang="en-US" sz="2000" kern="1200"/>
            <a:t>)</a:t>
          </a:r>
        </a:p>
        <a:p>
          <a:pPr marL="228600" lvl="1" indent="-228600" algn="l" defTabSz="889000">
            <a:lnSpc>
              <a:spcPct val="90000"/>
            </a:lnSpc>
            <a:spcBef>
              <a:spcPct val="0"/>
            </a:spcBef>
            <a:spcAft>
              <a:spcPct val="15000"/>
            </a:spcAft>
            <a:buChar char="•"/>
          </a:pPr>
          <a:r>
            <a:rPr lang="en-US" sz="2000" kern="1200"/>
            <a:t>Nguồn định mức không đổi với Vrms=220V, f=50Hz</a:t>
          </a:r>
        </a:p>
      </dsp:txBody>
      <dsp:txXfrm rot="-5400000">
        <a:off x="972963" y="47976"/>
        <a:ext cx="8661954" cy="815258"/>
      </dsp:txXfrm>
    </dsp:sp>
    <dsp:sp modelId="{E354932C-0D03-4EF4-8949-AAB5E725DF21}">
      <dsp:nvSpPr>
        <dsp:cNvPr id="0" name=""/>
        <dsp:cNvSpPr/>
      </dsp:nvSpPr>
      <dsp:spPr>
        <a:xfrm rot="5400000">
          <a:off x="-208492" y="1405548"/>
          <a:ext cx="1389948" cy="972963"/>
        </a:xfrm>
        <a:prstGeom prst="chevron">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a:t>KB2</a:t>
          </a:r>
        </a:p>
      </dsp:txBody>
      <dsp:txXfrm rot="-5400000">
        <a:off x="1" y="1683538"/>
        <a:ext cx="972963" cy="416985"/>
      </dsp:txXfrm>
    </dsp:sp>
    <dsp:sp modelId="{38F4DD1E-848F-4863-B8FC-B249F69F35F4}">
      <dsp:nvSpPr>
        <dsp:cNvPr id="0" name=""/>
        <dsp:cNvSpPr/>
      </dsp:nvSpPr>
      <dsp:spPr>
        <a:xfrm rot="5400000">
          <a:off x="4874259" y="-2704240"/>
          <a:ext cx="903466" cy="8706058"/>
        </a:xfrm>
        <a:prstGeom prst="round2SameRect">
          <a:avLst/>
        </a:prstGeom>
        <a:solidFill>
          <a:schemeClr val="lt1">
            <a:alpha val="90000"/>
            <a:hueOff val="0"/>
            <a:satOff val="0"/>
            <a:lumOff val="0"/>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a:t>Nguồn định mức với Vrms=220V, f=50Hz</a:t>
          </a:r>
        </a:p>
        <a:p>
          <a:pPr marL="228600" lvl="1" indent="-228600" algn="l" defTabSz="889000">
            <a:lnSpc>
              <a:spcPct val="90000"/>
            </a:lnSpc>
            <a:spcBef>
              <a:spcPct val="0"/>
            </a:spcBef>
            <a:spcAft>
              <a:spcPct val="15000"/>
            </a:spcAft>
            <a:buChar char="•"/>
          </a:pPr>
          <a:r>
            <a:rPr lang="en-US" sz="2000" kern="1200"/>
            <a:t>Từ 0.05s đến 0.20s làm việc với tải định mức; Từ 0.20s đến 0.35s làm việc với 200% tải định mức </a:t>
          </a:r>
        </a:p>
      </dsp:txBody>
      <dsp:txXfrm rot="-5400000">
        <a:off x="972963" y="1241160"/>
        <a:ext cx="8661954" cy="815258"/>
      </dsp:txXfrm>
    </dsp:sp>
    <dsp:sp modelId="{936C769D-5435-480B-9586-2E431A1AEF13}">
      <dsp:nvSpPr>
        <dsp:cNvPr id="0" name=""/>
        <dsp:cNvSpPr/>
      </dsp:nvSpPr>
      <dsp:spPr>
        <a:xfrm rot="5400000">
          <a:off x="-208492" y="2598732"/>
          <a:ext cx="1389948" cy="972963"/>
        </a:xfrm>
        <a:prstGeom prst="chevron">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US" sz="2700" kern="1200"/>
            <a:t>KB3</a:t>
          </a:r>
        </a:p>
      </dsp:txBody>
      <dsp:txXfrm rot="-5400000">
        <a:off x="1" y="2876722"/>
        <a:ext cx="972963" cy="416985"/>
      </dsp:txXfrm>
    </dsp:sp>
    <dsp:sp modelId="{FA108886-FD20-4812-A920-9506B9796D37}">
      <dsp:nvSpPr>
        <dsp:cNvPr id="0" name=""/>
        <dsp:cNvSpPr/>
      </dsp:nvSpPr>
      <dsp:spPr>
        <a:xfrm rot="5400000">
          <a:off x="4874259" y="-1511055"/>
          <a:ext cx="903466" cy="8706058"/>
        </a:xfrm>
        <a:prstGeom prst="round2Same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a:t>Nguồn thay đổi</a:t>
          </a:r>
        </a:p>
        <a:p>
          <a:pPr marL="228600" lvl="1" indent="-228600" algn="l" defTabSz="889000">
            <a:lnSpc>
              <a:spcPct val="90000"/>
            </a:lnSpc>
            <a:spcBef>
              <a:spcPct val="0"/>
            </a:spcBef>
            <a:spcAft>
              <a:spcPct val="15000"/>
            </a:spcAft>
            <a:buChar char="•"/>
          </a:pPr>
          <a:r>
            <a:rPr lang="en-US" sz="2000" kern="1200"/>
            <a:t>Tải định mức (R=160 </a:t>
          </a:r>
          <a14:m xmlns:a14="http://schemas.microsoft.com/office/drawing/2010/main">
            <m:oMath xmlns:m="http://schemas.openxmlformats.org/officeDocument/2006/math">
              <m:r>
                <a:rPr lang="en-US" sz="2000" i="1" kern="1200" smtClean="0">
                  <a:latin typeface="Cambria Math" panose="02040503050406030204" pitchFamily="18" charset="0"/>
                </a:rPr>
                <m:t>𝛺</m:t>
              </m:r>
            </m:oMath>
          </a14:m>
          <a:r>
            <a:rPr lang="en-US" sz="2000" kern="1200"/>
            <a:t>)</a:t>
          </a:r>
        </a:p>
      </dsp:txBody>
      <dsp:txXfrm rot="-5400000">
        <a:off x="972963" y="2434345"/>
        <a:ext cx="8661954" cy="81525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D67C5-EA72-46B8-A993-AAC31B1ACB5E}"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38E36B-112A-4A3C-BB06-20B46FD0DBB1}" type="slidenum">
              <a:rPr lang="en-US" smtClean="0"/>
              <a:t>‹#›</a:t>
            </a:fld>
            <a:endParaRPr lang="en-US"/>
          </a:p>
        </p:txBody>
      </p:sp>
    </p:spTree>
    <p:extLst>
      <p:ext uri="{BB962C8B-B14F-4D97-AF65-F5344CB8AC3E}">
        <p14:creationId xmlns:p14="http://schemas.microsoft.com/office/powerpoint/2010/main" val="3889347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F838E36B-112A-4A3C-BB06-20B46FD0DBB1}" type="slidenum">
              <a:rPr lang="en-US" smtClean="0"/>
              <a:t>14</a:t>
            </a:fld>
            <a:endParaRPr lang="en-US"/>
          </a:p>
        </p:txBody>
      </p:sp>
    </p:spTree>
    <p:extLst>
      <p:ext uri="{BB962C8B-B14F-4D97-AF65-F5344CB8AC3E}">
        <p14:creationId xmlns:p14="http://schemas.microsoft.com/office/powerpoint/2010/main" val="3976076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F838E36B-112A-4A3C-BB06-20B46FD0DBB1}" type="slidenum">
              <a:rPr lang="en-US" smtClean="0"/>
              <a:t>23</a:t>
            </a:fld>
            <a:endParaRPr lang="en-US"/>
          </a:p>
        </p:txBody>
      </p:sp>
    </p:spTree>
    <p:extLst>
      <p:ext uri="{BB962C8B-B14F-4D97-AF65-F5344CB8AC3E}">
        <p14:creationId xmlns:p14="http://schemas.microsoft.com/office/powerpoint/2010/main" val="217102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a:p>
        </p:txBody>
      </p:sp>
      <p:sp>
        <p:nvSpPr>
          <p:cNvPr id="4" name="Chỗ dành sẵn cho Số hiệu Bản chiếu 3"/>
          <p:cNvSpPr>
            <a:spLocks noGrp="1"/>
          </p:cNvSpPr>
          <p:nvPr>
            <p:ph type="sldNum" sz="quarter" idx="5"/>
          </p:nvPr>
        </p:nvSpPr>
        <p:spPr/>
        <p:txBody>
          <a:bodyPr/>
          <a:lstStyle/>
          <a:p>
            <a:fld id="{F838E36B-112A-4A3C-BB06-20B46FD0DBB1}" type="slidenum">
              <a:rPr lang="en-US" smtClean="0"/>
              <a:t>25</a:t>
            </a:fld>
            <a:endParaRPr lang="en-US"/>
          </a:p>
        </p:txBody>
      </p:sp>
    </p:spTree>
    <p:extLst>
      <p:ext uri="{BB962C8B-B14F-4D97-AF65-F5344CB8AC3E}">
        <p14:creationId xmlns:p14="http://schemas.microsoft.com/office/powerpoint/2010/main" val="2581800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13394-5B8E-5F61-8130-864895804B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FB11E9-0186-C717-8374-D5FC5974A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DA7106-7BEE-7C4C-1400-1FAEDD1F520F}"/>
              </a:ext>
            </a:extLst>
          </p:cNvPr>
          <p:cNvSpPr>
            <a:spLocks noGrp="1"/>
          </p:cNvSpPr>
          <p:nvPr>
            <p:ph type="dt" sz="half" idx="10"/>
          </p:nvPr>
        </p:nvSpPr>
        <p:spPr/>
        <p:txBody>
          <a:bodyPr/>
          <a:lstStyle/>
          <a:p>
            <a:fld id="{6699D338-DD17-45D2-BAF4-89CEE16B4D18}" type="datetime1">
              <a:rPr lang="en-US" smtClean="0"/>
              <a:t>10/4/2026</a:t>
            </a:fld>
            <a:endParaRPr lang="en-US"/>
          </a:p>
        </p:txBody>
      </p:sp>
      <p:sp>
        <p:nvSpPr>
          <p:cNvPr id="5" name="Footer Placeholder 4">
            <a:extLst>
              <a:ext uri="{FF2B5EF4-FFF2-40B4-BE49-F238E27FC236}">
                <a16:creationId xmlns:a16="http://schemas.microsoft.com/office/drawing/2014/main" id="{A93DBE97-F59C-E7CD-DCF9-99188B5799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D1EA2-853A-9FB2-34A3-092871F6A37D}"/>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221722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60B2D-E19E-D36D-0E42-FEED754ABA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521038-21F0-223B-CF97-37A51EC54C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646C1-35CE-07D4-FA70-8D06F9264212}"/>
              </a:ext>
            </a:extLst>
          </p:cNvPr>
          <p:cNvSpPr>
            <a:spLocks noGrp="1"/>
          </p:cNvSpPr>
          <p:nvPr>
            <p:ph type="dt" sz="half" idx="10"/>
          </p:nvPr>
        </p:nvSpPr>
        <p:spPr/>
        <p:txBody>
          <a:bodyPr/>
          <a:lstStyle/>
          <a:p>
            <a:fld id="{B636F918-A63F-4485-A20F-23B0ECCF4177}" type="datetime1">
              <a:rPr lang="en-US" smtClean="0"/>
              <a:t>10/4/2026</a:t>
            </a:fld>
            <a:endParaRPr lang="en-US"/>
          </a:p>
        </p:txBody>
      </p:sp>
      <p:sp>
        <p:nvSpPr>
          <p:cNvPr id="5" name="Footer Placeholder 4">
            <a:extLst>
              <a:ext uri="{FF2B5EF4-FFF2-40B4-BE49-F238E27FC236}">
                <a16:creationId xmlns:a16="http://schemas.microsoft.com/office/drawing/2014/main" id="{37F0A6DD-0AC8-3467-3E96-D08FB6FFC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DA52B2-316C-B6AC-0886-29CEA59D82DD}"/>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2614626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A12E1-ABD9-1C4E-0F4C-80B5687697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D4A721-BB1C-4989-C203-F37A84A2E2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E465D1-FC81-3C6C-842A-D8E54A6C73CB}"/>
              </a:ext>
            </a:extLst>
          </p:cNvPr>
          <p:cNvSpPr>
            <a:spLocks noGrp="1"/>
          </p:cNvSpPr>
          <p:nvPr>
            <p:ph type="dt" sz="half" idx="10"/>
          </p:nvPr>
        </p:nvSpPr>
        <p:spPr/>
        <p:txBody>
          <a:bodyPr/>
          <a:lstStyle/>
          <a:p>
            <a:fld id="{BAAD2ECA-CD26-4CD0-8D0D-986FDF5A4261}" type="datetime1">
              <a:rPr lang="en-US" smtClean="0"/>
              <a:t>10/4/2026</a:t>
            </a:fld>
            <a:endParaRPr lang="en-US"/>
          </a:p>
        </p:txBody>
      </p:sp>
      <p:sp>
        <p:nvSpPr>
          <p:cNvPr id="5" name="Footer Placeholder 4">
            <a:extLst>
              <a:ext uri="{FF2B5EF4-FFF2-40B4-BE49-F238E27FC236}">
                <a16:creationId xmlns:a16="http://schemas.microsoft.com/office/drawing/2014/main" id="{EF5501A3-1204-0F91-29FF-61E4F3C23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9F039-8A60-F1E3-D76B-C1F95E596516}"/>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1450095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E2CC-AEFC-302E-2D6F-294D50F670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06E800-FAD2-4769-B60D-048C656B62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2EA07C-D8E1-5B72-4266-F0793A3BD0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4E5C82-FA9A-5253-7C3C-14D3F0708585}"/>
              </a:ext>
            </a:extLst>
          </p:cNvPr>
          <p:cNvSpPr>
            <a:spLocks noGrp="1"/>
          </p:cNvSpPr>
          <p:nvPr>
            <p:ph type="dt" sz="half" idx="10"/>
          </p:nvPr>
        </p:nvSpPr>
        <p:spPr/>
        <p:txBody>
          <a:bodyPr/>
          <a:lstStyle/>
          <a:p>
            <a:fld id="{C3BCCA8E-57DB-4E42-BF89-069F894FC487}" type="datetime1">
              <a:rPr lang="en-US" smtClean="0"/>
              <a:t>10/4/2026</a:t>
            </a:fld>
            <a:endParaRPr lang="en-US"/>
          </a:p>
        </p:txBody>
      </p:sp>
      <p:sp>
        <p:nvSpPr>
          <p:cNvPr id="6" name="Footer Placeholder 5">
            <a:extLst>
              <a:ext uri="{FF2B5EF4-FFF2-40B4-BE49-F238E27FC236}">
                <a16:creationId xmlns:a16="http://schemas.microsoft.com/office/drawing/2014/main" id="{97989072-DCDB-691A-4548-D196172F2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44B986-C964-9F76-2FCD-3CCA74F9A5E2}"/>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3736940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02486-13F1-8C56-9247-3954DB7BE9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F0AC47-F8ED-5984-4EC2-019006F4A3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BE183E-C62A-D48E-4DB9-87F4A3BE68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5CD9A5-4E9C-1CB5-D27A-77B63E1B8C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FFF02B-80EC-AD81-9D2A-752EB9C90B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C5969C-147E-2000-9148-5775B94D6E74}"/>
              </a:ext>
            </a:extLst>
          </p:cNvPr>
          <p:cNvSpPr>
            <a:spLocks noGrp="1"/>
          </p:cNvSpPr>
          <p:nvPr>
            <p:ph type="dt" sz="half" idx="10"/>
          </p:nvPr>
        </p:nvSpPr>
        <p:spPr/>
        <p:txBody>
          <a:bodyPr/>
          <a:lstStyle/>
          <a:p>
            <a:fld id="{4C5B4FAD-F762-49B8-934E-132643B45B06}" type="datetime1">
              <a:rPr lang="en-US" smtClean="0"/>
              <a:t>10/4/2026</a:t>
            </a:fld>
            <a:endParaRPr lang="en-US"/>
          </a:p>
        </p:txBody>
      </p:sp>
      <p:sp>
        <p:nvSpPr>
          <p:cNvPr id="8" name="Footer Placeholder 7">
            <a:extLst>
              <a:ext uri="{FF2B5EF4-FFF2-40B4-BE49-F238E27FC236}">
                <a16:creationId xmlns:a16="http://schemas.microsoft.com/office/drawing/2014/main" id="{19A1F8FE-75F5-BE81-9B43-FD39A7D702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D9C5EA-FC9B-607F-2B6F-30E0D51E0C0D}"/>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3619064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AFCC-0C46-6712-72C5-4C49DAD15F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FB8629-106A-E4CC-D59D-128F0B2321A3}"/>
              </a:ext>
            </a:extLst>
          </p:cNvPr>
          <p:cNvSpPr>
            <a:spLocks noGrp="1"/>
          </p:cNvSpPr>
          <p:nvPr>
            <p:ph type="dt" sz="half" idx="10"/>
          </p:nvPr>
        </p:nvSpPr>
        <p:spPr/>
        <p:txBody>
          <a:bodyPr/>
          <a:lstStyle/>
          <a:p>
            <a:fld id="{EB1620D7-7A9F-4A4F-9044-AA6E95B1E94C}" type="datetime1">
              <a:rPr lang="en-US" smtClean="0"/>
              <a:t>10/4/2026</a:t>
            </a:fld>
            <a:endParaRPr lang="en-US"/>
          </a:p>
        </p:txBody>
      </p:sp>
      <p:sp>
        <p:nvSpPr>
          <p:cNvPr id="4" name="Footer Placeholder 3">
            <a:extLst>
              <a:ext uri="{FF2B5EF4-FFF2-40B4-BE49-F238E27FC236}">
                <a16:creationId xmlns:a16="http://schemas.microsoft.com/office/drawing/2014/main" id="{53046742-701C-6622-7D4D-C9A568FE97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A6A5E6-8AE7-E71C-4144-05607528AC52}"/>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2284498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89EF1B-2BBA-F490-6C05-6D8A73FEE95D}"/>
              </a:ext>
            </a:extLst>
          </p:cNvPr>
          <p:cNvSpPr>
            <a:spLocks noGrp="1"/>
          </p:cNvSpPr>
          <p:nvPr>
            <p:ph type="dt" sz="half" idx="10"/>
          </p:nvPr>
        </p:nvSpPr>
        <p:spPr/>
        <p:txBody>
          <a:bodyPr/>
          <a:lstStyle/>
          <a:p>
            <a:fld id="{4D6C32B6-103B-4D43-806F-4F3C19C88837}" type="datetime1">
              <a:rPr lang="en-US" smtClean="0"/>
              <a:t>10/4/2026</a:t>
            </a:fld>
            <a:endParaRPr lang="en-US"/>
          </a:p>
        </p:txBody>
      </p:sp>
      <p:sp>
        <p:nvSpPr>
          <p:cNvPr id="3" name="Footer Placeholder 2">
            <a:extLst>
              <a:ext uri="{FF2B5EF4-FFF2-40B4-BE49-F238E27FC236}">
                <a16:creationId xmlns:a16="http://schemas.microsoft.com/office/drawing/2014/main" id="{AB5562C7-FF34-2831-A98F-BE3788B72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E5DD15-DC99-AA51-1A9C-01A45D907CA5}"/>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675573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E780-E8FD-7072-8D34-ED0ACCA10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D7BF9-CF50-4A97-C133-DBF747E00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654706-A6EC-28D0-3B80-329AFDE88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013E20-11E0-D262-6D87-8883765DE652}"/>
              </a:ext>
            </a:extLst>
          </p:cNvPr>
          <p:cNvSpPr>
            <a:spLocks noGrp="1"/>
          </p:cNvSpPr>
          <p:nvPr>
            <p:ph type="dt" sz="half" idx="10"/>
          </p:nvPr>
        </p:nvSpPr>
        <p:spPr/>
        <p:txBody>
          <a:bodyPr/>
          <a:lstStyle/>
          <a:p>
            <a:fld id="{654244FF-578E-44D0-A91A-C38881169E42}" type="datetime1">
              <a:rPr lang="en-US" smtClean="0"/>
              <a:t>10/4/2026</a:t>
            </a:fld>
            <a:endParaRPr lang="en-US"/>
          </a:p>
        </p:txBody>
      </p:sp>
      <p:sp>
        <p:nvSpPr>
          <p:cNvPr id="6" name="Footer Placeholder 5">
            <a:extLst>
              <a:ext uri="{FF2B5EF4-FFF2-40B4-BE49-F238E27FC236}">
                <a16:creationId xmlns:a16="http://schemas.microsoft.com/office/drawing/2014/main" id="{88B5B988-3651-D0C8-D15A-28CC134600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20996B-8A62-1D8F-137D-590870717F24}"/>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2865455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C8C9E-B18E-2089-C0DD-222F5BA01E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4056B7-66BE-F763-FF1A-CCA2452E2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7139E3-95CB-C21F-E158-ABD4BAFA3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05FC73-F278-1FC9-1A20-02D67F2B7365}"/>
              </a:ext>
            </a:extLst>
          </p:cNvPr>
          <p:cNvSpPr>
            <a:spLocks noGrp="1"/>
          </p:cNvSpPr>
          <p:nvPr>
            <p:ph type="dt" sz="half" idx="10"/>
          </p:nvPr>
        </p:nvSpPr>
        <p:spPr/>
        <p:txBody>
          <a:bodyPr/>
          <a:lstStyle/>
          <a:p>
            <a:fld id="{B9BB62AF-197F-429A-855C-CD83B92AE157}" type="datetime1">
              <a:rPr lang="en-US" smtClean="0"/>
              <a:t>10/4/2026</a:t>
            </a:fld>
            <a:endParaRPr lang="en-US"/>
          </a:p>
        </p:txBody>
      </p:sp>
      <p:sp>
        <p:nvSpPr>
          <p:cNvPr id="6" name="Footer Placeholder 5">
            <a:extLst>
              <a:ext uri="{FF2B5EF4-FFF2-40B4-BE49-F238E27FC236}">
                <a16:creationId xmlns:a16="http://schemas.microsoft.com/office/drawing/2014/main" id="{BCF8561B-B5F2-D82C-82FE-11A401396F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DE9CAD-7899-232F-C4C6-98C7A630829B}"/>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231238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DEF0-3A64-C5D5-E1B1-BF14BC187F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A10572-8FE7-0024-DFD3-1A3E82E853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8663B7-D955-4A1C-53B3-10A33E8AF8E1}"/>
              </a:ext>
            </a:extLst>
          </p:cNvPr>
          <p:cNvSpPr>
            <a:spLocks noGrp="1"/>
          </p:cNvSpPr>
          <p:nvPr>
            <p:ph type="dt" sz="half" idx="10"/>
          </p:nvPr>
        </p:nvSpPr>
        <p:spPr/>
        <p:txBody>
          <a:bodyPr/>
          <a:lstStyle/>
          <a:p>
            <a:fld id="{7042C3E1-8646-414E-B94B-EF62EBE2250E}" type="datetime1">
              <a:rPr lang="en-US" smtClean="0"/>
              <a:t>10/4/2026</a:t>
            </a:fld>
            <a:endParaRPr lang="en-US"/>
          </a:p>
        </p:txBody>
      </p:sp>
      <p:sp>
        <p:nvSpPr>
          <p:cNvPr id="5" name="Footer Placeholder 4">
            <a:extLst>
              <a:ext uri="{FF2B5EF4-FFF2-40B4-BE49-F238E27FC236}">
                <a16:creationId xmlns:a16="http://schemas.microsoft.com/office/drawing/2014/main" id="{76C5BA88-6BC0-74D5-C6F8-86B46BE8FD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E7BCA4-6444-3C80-4F34-D784EA765E18}"/>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1437456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697B6-EF41-85D3-EA61-FE5AD1D62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D05524-DA43-E430-8EBE-04ABE5E953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15655D-C8AF-91F5-B132-4C8830214406}"/>
              </a:ext>
            </a:extLst>
          </p:cNvPr>
          <p:cNvSpPr>
            <a:spLocks noGrp="1"/>
          </p:cNvSpPr>
          <p:nvPr>
            <p:ph type="dt" sz="half" idx="10"/>
          </p:nvPr>
        </p:nvSpPr>
        <p:spPr/>
        <p:txBody>
          <a:bodyPr/>
          <a:lstStyle/>
          <a:p>
            <a:fld id="{5326CF54-15E8-46DF-933C-8F6282E0AF32}" type="datetime1">
              <a:rPr lang="en-US" smtClean="0"/>
              <a:t>10/4/2026</a:t>
            </a:fld>
            <a:endParaRPr lang="en-US"/>
          </a:p>
        </p:txBody>
      </p:sp>
      <p:sp>
        <p:nvSpPr>
          <p:cNvPr id="5" name="Footer Placeholder 4">
            <a:extLst>
              <a:ext uri="{FF2B5EF4-FFF2-40B4-BE49-F238E27FC236}">
                <a16:creationId xmlns:a16="http://schemas.microsoft.com/office/drawing/2014/main" id="{4E6CA403-30A1-35B6-CF0E-F365B6D1A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EBDACC-5214-83B7-C146-F80DBADAFABB}"/>
              </a:ext>
            </a:extLst>
          </p:cNvPr>
          <p:cNvSpPr>
            <a:spLocks noGrp="1"/>
          </p:cNvSpPr>
          <p:nvPr>
            <p:ph type="sldNum" sz="quarter" idx="12"/>
          </p:nvPr>
        </p:nvSpPr>
        <p:spPr/>
        <p:txBody>
          <a:bodyPr/>
          <a:lstStyle/>
          <a:p>
            <a:fld id="{B728007A-B6C3-4DA7-BE3F-1456CC53095C}" type="slidenum">
              <a:rPr lang="en-US" smtClean="0"/>
              <a:t>‹#›</a:t>
            </a:fld>
            <a:endParaRPr lang="en-US"/>
          </a:p>
        </p:txBody>
      </p:sp>
    </p:spTree>
    <p:extLst>
      <p:ext uri="{BB962C8B-B14F-4D97-AF65-F5344CB8AC3E}">
        <p14:creationId xmlns:p14="http://schemas.microsoft.com/office/powerpoint/2010/main" val="4013563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E20C435B-F391-4CC9-8481-ACE990FD28A0}" type="datetime1">
              <a:rPr lang="en-US" smtClean="0">
                <a:latin typeface="Linh AvantGarde" panose="02000603030000020004"/>
              </a:rPr>
              <a:t>10/4/2026</a:t>
            </a:fld>
            <a:endParaRPr lang="en-US">
              <a:latin typeface="Linh AvantGarde" panose="02000603030000020004"/>
            </a:endParaRPr>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latin typeface="Linh AvantGarde" panose="02000603030000020004"/>
            </a:endParaRPr>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latin typeface="Linh AvantGarde" panose="02000603030000020004"/>
              </a:rPr>
              <a:pPr/>
              <a:t>‹#›</a:t>
            </a:fld>
            <a:endParaRPr lang="en-US">
              <a:latin typeface="Linh AvantGarde" panose="02000603030000020004"/>
            </a:endParaRPr>
          </a:p>
        </p:txBody>
      </p:sp>
    </p:spTree>
    <p:extLst>
      <p:ext uri="{BB962C8B-B14F-4D97-AF65-F5344CB8AC3E}">
        <p14:creationId xmlns:p14="http://schemas.microsoft.com/office/powerpoint/2010/main" val="311088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43273CC1-4E70-4B0D-8BFC-B50BC2A19902}" type="datetime1">
              <a:rPr lang="en-US" smtClean="0">
                <a:latin typeface="Linh AvantGarde" panose="02000603030000020004"/>
              </a:rPr>
              <a:t>10/4/2026</a:t>
            </a:fld>
            <a:endParaRPr lang="en-US">
              <a:latin typeface="Linh AvantGarde" panose="02000603030000020004"/>
            </a:endParaRPr>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latin typeface="Linh AvantGarde" panose="02000603030000020004"/>
            </a:endParaRP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latin typeface="Linh AvantGarde" panose="02000603030000020004"/>
              </a:rPr>
              <a:pPr/>
              <a:t>‹#›</a:t>
            </a:fld>
            <a:endParaRPr lang="en-US">
              <a:latin typeface="Linh AvantGarde" panose="02000603030000020004"/>
            </a:endParaRPr>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4094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latin typeface="Linh AvantGarde" panose="02000603030000020004"/>
              </a:rPr>
              <a:pPr/>
              <a:t>10/4/2026</a:t>
            </a:fld>
            <a:endParaRPr lang="en-US">
              <a:latin typeface="Linh AvantGarde" panose="02000603030000020004"/>
            </a:endParaRPr>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latin typeface="Linh AvantGarde" panose="02000603030000020004"/>
            </a:endParaRPr>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latin typeface="Linh AvantGarde" panose="02000603030000020004"/>
              </a:rPr>
              <a:pPr/>
              <a:t>‹#›</a:t>
            </a:fld>
            <a:endParaRPr lang="en-US">
              <a:latin typeface="Linh AvantGarde" panose="02000603030000020004"/>
            </a:endParaRPr>
          </a:p>
        </p:txBody>
      </p:sp>
    </p:spTree>
    <p:extLst>
      <p:ext uri="{BB962C8B-B14F-4D97-AF65-F5344CB8AC3E}">
        <p14:creationId xmlns:p14="http://schemas.microsoft.com/office/powerpoint/2010/main" val="2014881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91F35D-1B6E-A1D5-4F50-14ABAF61EA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50B3FF-E9CB-31C7-C074-87612BE41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AE2685-519E-5511-A888-38E6E7B978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E2B177-5A6E-4628-BD64-C555A9A4AE2B}" type="datetime1">
              <a:rPr lang="en-US" smtClean="0"/>
              <a:t>10/4/2026</a:t>
            </a:fld>
            <a:endParaRPr lang="en-US"/>
          </a:p>
        </p:txBody>
      </p:sp>
      <p:sp>
        <p:nvSpPr>
          <p:cNvPr id="5" name="Footer Placeholder 4">
            <a:extLst>
              <a:ext uri="{FF2B5EF4-FFF2-40B4-BE49-F238E27FC236}">
                <a16:creationId xmlns:a16="http://schemas.microsoft.com/office/drawing/2014/main" id="{69EE19B5-4AB2-14FC-FFB9-032E05EDFF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305AFC-F9B1-DF0A-4BFD-EE0EB9408D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28007A-B6C3-4DA7-BE3F-1456CC53095C}" type="slidenum">
              <a:rPr lang="en-US" smtClean="0"/>
              <a:t>‹#›</a:t>
            </a:fld>
            <a:endParaRPr lang="en-US"/>
          </a:p>
        </p:txBody>
      </p:sp>
    </p:spTree>
    <p:extLst>
      <p:ext uri="{BB962C8B-B14F-4D97-AF65-F5344CB8AC3E}">
        <p14:creationId xmlns:p14="http://schemas.microsoft.com/office/powerpoint/2010/main" val="1012698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3"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6"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image" Target="../media/image9.wmf"/><Relationship Id="rId3" Type="http://schemas.openxmlformats.org/officeDocument/2006/relationships/image" Target="../media/image7.png"/><Relationship Id="rId7" Type="http://schemas.openxmlformats.org/officeDocument/2006/relationships/oleObject" Target="../embeddings/oleObject2.bin"/><Relationship Id="rId12" Type="http://schemas.openxmlformats.org/officeDocument/2006/relationships/oleObject" Target="../embeddings/oleObject4.bin"/><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image" Target="../media/image6.wmf"/><Relationship Id="rId11" Type="http://schemas.openxmlformats.org/officeDocument/2006/relationships/image" Target="../media/image12.png"/><Relationship Id="rId5" Type="http://schemas.openxmlformats.org/officeDocument/2006/relationships/oleObject" Target="../embeddings/oleObject1.bin"/><Relationship Id="rId10" Type="http://schemas.openxmlformats.org/officeDocument/2006/relationships/image" Target="../media/image8.wmf"/><Relationship Id="rId4" Type="http://schemas.openxmlformats.org/officeDocument/2006/relationships/image" Target="../media/image8.png"/><Relationship Id="rId9"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21.png"/><Relationship Id="rId7" Type="http://schemas.openxmlformats.org/officeDocument/2006/relationships/image" Target="../media/image32.emf"/><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31.emf"/><Relationship Id="rId5" Type="http://schemas.openxmlformats.org/officeDocument/2006/relationships/image" Target="../media/image35.pn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21.png"/><Relationship Id="rId4" Type="http://schemas.openxmlformats.org/officeDocument/2006/relationships/image" Target="../media/image37.emf"/></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39.emf"/><Relationship Id="rId4" Type="http://schemas.openxmlformats.org/officeDocument/2006/relationships/image" Target="../media/image38.emf"/></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46.emf"/><Relationship Id="rId7" Type="http://schemas.openxmlformats.org/officeDocument/2006/relationships/image" Target="../media/image49.emf"/><Relationship Id="rId12" Type="http://schemas.openxmlformats.org/officeDocument/2006/relationships/image" Target="../media/image60.png"/><Relationship Id="rId2" Type="http://schemas.openxmlformats.org/officeDocument/2006/relationships/image" Target="../media/image39.emf"/><Relationship Id="rId1" Type="http://schemas.openxmlformats.org/officeDocument/2006/relationships/slideLayout" Target="../slideLayouts/slideLayout13.xml"/><Relationship Id="rId6" Type="http://schemas.openxmlformats.org/officeDocument/2006/relationships/image" Target="../media/image48.emf"/><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47.emf"/><Relationship Id="rId9" Type="http://schemas.openxmlformats.org/officeDocument/2006/relationships/image" Target="../media/image57.png"/></Relationships>
</file>

<file path=ppt/slides/_rels/slide1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71.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image" Target="../media/image58.emf"/><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7.emf"/><Relationship Id="rId5" Type="http://schemas.openxmlformats.org/officeDocument/2006/relationships/image" Target="../media/image56.emf"/><Relationship Id="rId10" Type="http://schemas.openxmlformats.org/officeDocument/2006/relationships/image" Target="../media/image83.png"/><Relationship Id="rId4" Type="http://schemas.openxmlformats.org/officeDocument/2006/relationships/image" Target="../media/image55.emf"/><Relationship Id="rId9" Type="http://schemas.openxmlformats.org/officeDocument/2006/relationships/image" Target="../media/image59.emf"/></Relationships>
</file>

<file path=ppt/slides/_rels/slide2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59.emf"/><Relationship Id="rId7" Type="http://schemas.openxmlformats.org/officeDocument/2006/relationships/image" Target="../media/image8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70.png"/></Relationships>
</file>

<file path=ppt/slides/_rels/slide26.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13.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00.png"/><Relationship Id="rId1" Type="http://schemas.openxmlformats.org/officeDocument/2006/relationships/slideLayout" Target="../slideLayouts/slideLayout13.xml"/><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0.xml"/><Relationship Id="rId4" Type="http://schemas.openxmlformats.org/officeDocument/2006/relationships/diagramQuickStyle" Target="../diagrams/quickStyle1.xml"/><Relationship Id="rId9" Type="http://schemas.openxmlformats.org/officeDocument/2006/relationships/diagramQuickStyle" Target="../diagrams/quickStyle10.xml"/></Relationships>
</file>

<file path=ppt/slides/_rels/slide3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5.png"/><Relationship Id="rId2" Type="http://schemas.openxmlformats.org/officeDocument/2006/relationships/image" Target="../media/image101.png"/><Relationship Id="rId1" Type="http://schemas.openxmlformats.org/officeDocument/2006/relationships/slideLayout" Target="../slideLayouts/slideLayout13.xml"/><Relationship Id="rId6" Type="http://schemas.openxmlformats.org/officeDocument/2006/relationships/image" Target="../media/image118.png"/><Relationship Id="rId5" Type="http://schemas.openxmlformats.org/officeDocument/2006/relationships/image" Target="../media/image104.png"/><Relationship Id="rId4" Type="http://schemas.openxmlformats.org/officeDocument/2006/relationships/image" Target="../media/image103.png"/></Relationships>
</file>

<file path=ppt/slides/_rels/slide3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3.xml"/><Relationship Id="rId5" Type="http://schemas.openxmlformats.org/officeDocument/2006/relationships/image" Target="../media/image122.png"/><Relationship Id="rId4" Type="http://schemas.openxmlformats.org/officeDocument/2006/relationships/image" Target="../media/image120.png"/></Relationships>
</file>

<file path=ppt/slides/_rels/slide42.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32.png"/><Relationship Id="rId2" Type="http://schemas.openxmlformats.org/officeDocument/2006/relationships/image" Target="../media/image112.png"/><Relationship Id="rId1" Type="http://schemas.openxmlformats.org/officeDocument/2006/relationships/slideLayout" Target="../slideLayouts/slideLayout13.xml"/><Relationship Id="rId6" Type="http://schemas.openxmlformats.org/officeDocument/2006/relationships/image" Target="../media/image126.png"/><Relationship Id="rId5" Type="http://schemas.openxmlformats.org/officeDocument/2006/relationships/image" Target="../media/image131.png"/><Relationship Id="rId4" Type="http://schemas.openxmlformats.org/officeDocument/2006/relationships/image" Target="../media/image130.png"/></Relationships>
</file>

<file path=ppt/slides/_rels/slide4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3.xml"/><Relationship Id="rId6" Type="http://schemas.openxmlformats.org/officeDocument/2006/relationships/image" Target="../media/image137.png"/><Relationship Id="rId5" Type="http://schemas.openxmlformats.org/officeDocument/2006/relationships/image" Target="../media/image116.png"/><Relationship Id="rId4" Type="http://schemas.openxmlformats.org/officeDocument/2006/relationships/image" Target="../media/image135.png"/></Relationships>
</file>

<file path=ppt/slides/_rels/slide44.xml.rels><?xml version="1.0" encoding="UTF-8" standalone="yes"?>
<Relationships xmlns="http://schemas.openxmlformats.org/package/2006/relationships"><Relationship Id="rId3" Type="http://schemas.openxmlformats.org/officeDocument/2006/relationships/image" Target="../media/image119.png"/><Relationship Id="rId7" Type="http://schemas.openxmlformats.org/officeDocument/2006/relationships/image" Target="../media/image143.png"/><Relationship Id="rId2" Type="http://schemas.openxmlformats.org/officeDocument/2006/relationships/image" Target="../media/image117.png"/><Relationship Id="rId1" Type="http://schemas.openxmlformats.org/officeDocument/2006/relationships/slideLayout" Target="../slideLayouts/slideLayout13.xml"/><Relationship Id="rId6" Type="http://schemas.openxmlformats.org/officeDocument/2006/relationships/image" Target="../media/image142.png"/><Relationship Id="rId5" Type="http://schemas.openxmlformats.org/officeDocument/2006/relationships/image" Target="../media/image123.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24.png"/><Relationship Id="rId1" Type="http://schemas.openxmlformats.org/officeDocument/2006/relationships/slideLayout" Target="../slideLayouts/slideLayout13.xml"/><Relationship Id="rId5" Type="http://schemas.openxmlformats.org/officeDocument/2006/relationships/image" Target="../media/image147.png"/><Relationship Id="rId4" Type="http://schemas.openxmlformats.org/officeDocument/2006/relationships/image" Target="../media/image125.png"/></Relationships>
</file>

<file path=ppt/slides/_rels/slide46.xml.rels><?xml version="1.0" encoding="UTF-8" standalone="yes"?>
<Relationships xmlns="http://schemas.openxmlformats.org/package/2006/relationships"><Relationship Id="rId2" Type="http://schemas.openxmlformats.org/officeDocument/2006/relationships/image" Target="../media/image126.em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oleObject" Target="../embeddings/oleObject5.bin"/><Relationship Id="rId1" Type="http://schemas.openxmlformats.org/officeDocument/2006/relationships/slideLayout" Target="../slideLayouts/slideLayout13.xml"/><Relationship Id="rId4" Type="http://schemas.openxmlformats.org/officeDocument/2006/relationships/image" Target="../media/image1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52.png"/><Relationship Id="rId7" Type="http://schemas.openxmlformats.org/officeDocument/2006/relationships/image" Target="../media/image156.png"/><Relationship Id="rId2" Type="http://schemas.openxmlformats.org/officeDocument/2006/relationships/image" Target="../media/image151.png"/><Relationship Id="rId1" Type="http://schemas.openxmlformats.org/officeDocument/2006/relationships/slideLayout" Target="../slideLayouts/slideLayout13.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s>
</file>

<file path=ppt/slides/_rels/slide50.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image" Target="../media/image158.png"/><Relationship Id="rId1" Type="http://schemas.openxmlformats.org/officeDocument/2006/relationships/slideLayout" Target="../slideLayouts/slideLayout13.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51.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29.png"/><Relationship Id="rId3" Type="http://schemas.openxmlformats.org/officeDocument/2006/relationships/image" Target="../media/image146.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image" Target="../media/image128.png"/><Relationship Id="rId1" Type="http://schemas.openxmlformats.org/officeDocument/2006/relationships/slideLayout" Target="../slideLayouts/slideLayout13.xml"/><Relationship Id="rId6" Type="http://schemas.openxmlformats.org/officeDocument/2006/relationships/image" Target="../media/image150.png"/><Relationship Id="rId11" Type="http://schemas.openxmlformats.org/officeDocument/2006/relationships/image" Target="../media/image169.png"/><Relationship Id="rId5" Type="http://schemas.openxmlformats.org/officeDocument/2006/relationships/image" Target="../media/image149.png"/><Relationship Id="rId10" Type="http://schemas.openxmlformats.org/officeDocument/2006/relationships/image" Target="../media/image168.png"/><Relationship Id="rId4" Type="http://schemas.openxmlformats.org/officeDocument/2006/relationships/image" Target="../media/image148.png"/><Relationship Id="rId9" Type="http://schemas.openxmlformats.org/officeDocument/2006/relationships/image" Target="../media/image167.png"/></Relationships>
</file>

<file path=ppt/slides/_rels/slide52.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3.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6.png"/></Relationships>
</file>

<file path=ppt/slides/_rels/slide5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44.png"/><Relationship Id="rId1" Type="http://schemas.openxmlformats.org/officeDocument/2006/relationships/slideLayout" Target="../slideLayouts/slideLayout13.xml"/><Relationship Id="rId5" Type="http://schemas.openxmlformats.org/officeDocument/2006/relationships/image" Target="../media/image186.png"/><Relationship Id="rId4" Type="http://schemas.openxmlformats.org/officeDocument/2006/relationships/image" Target="../media/image172.png"/></Relationships>
</file>

<file path=ppt/slides/_rels/slide55.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1876466"/>
            <a:ext cx="10849016" cy="150141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000">
                <a:latin typeface="Linh AvantGarde" panose="02000603030000020004" pitchFamily="2" charset="0"/>
              </a:rPr>
              <a:t>Nhóm 16: Thiết kế hệ thống điều khiển bộ biến đổi PFC kiểu Boost </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3352979"/>
            <a:ext cx="7342482" cy="80885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spcAft>
                <a:spcPts val="1200"/>
              </a:spcAft>
            </a:pPr>
            <a:r>
              <a:rPr lang="en-US" sz="2400" b="0">
                <a:latin typeface="Linh AvantGarde" panose="02000603030000020004"/>
              </a:rPr>
              <a:t>GVHD: PGS. TS. </a:t>
            </a:r>
            <a:r>
              <a:rPr lang="vi-VN" sz="2400" b="0"/>
              <a:t>Vũ Hoàng Phương</a:t>
            </a:r>
            <a:endParaRPr lang="en-US" sz="2400" b="0">
              <a:latin typeface="Linh AvantGarde" panose="02000603030000020004"/>
            </a:endParaRPr>
          </a:p>
          <a:p>
            <a:endParaRPr lang="en-US" sz="2400" b="0">
              <a:latin typeface="Linh AvantGarde" panose="02000603030000020004"/>
            </a:endParaRPr>
          </a:p>
        </p:txBody>
      </p:sp>
      <p:sp>
        <p:nvSpPr>
          <p:cNvPr id="6" name="Title 6">
            <a:extLst>
              <a:ext uri="{FF2B5EF4-FFF2-40B4-BE49-F238E27FC236}">
                <a16:creationId xmlns:a16="http://schemas.microsoft.com/office/drawing/2014/main" id="{E57A7848-D5F7-DF61-EE85-3299F5BEBFE3}"/>
              </a:ext>
            </a:extLst>
          </p:cNvPr>
          <p:cNvSpPr txBox="1">
            <a:spLocks/>
          </p:cNvSpPr>
          <p:nvPr/>
        </p:nvSpPr>
        <p:spPr>
          <a:xfrm>
            <a:off x="386634" y="1448908"/>
            <a:ext cx="8056326" cy="479745"/>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latin typeface="Times New Roman" panose="02020603050405020304" pitchFamily="18" charset="0"/>
                <a:cs typeface="Times New Roman" panose="02020603050405020304" pitchFamily="18" charset="0"/>
              </a:rPr>
              <a:t>EE4331 - ĐIỀU KHIỂN ĐIỆN TỬ CÔNG SUẤT</a:t>
            </a:r>
          </a:p>
        </p:txBody>
      </p:sp>
      <p:graphicFrame>
        <p:nvGraphicFramePr>
          <p:cNvPr id="7" name="Table 6">
            <a:extLst>
              <a:ext uri="{FF2B5EF4-FFF2-40B4-BE49-F238E27FC236}">
                <a16:creationId xmlns:a16="http://schemas.microsoft.com/office/drawing/2014/main" id="{5E444529-E265-576D-994F-8A22E04FE7F4}"/>
              </a:ext>
            </a:extLst>
          </p:cNvPr>
          <p:cNvGraphicFramePr>
            <a:graphicFrameLocks noGrp="1"/>
          </p:cNvGraphicFramePr>
          <p:nvPr>
            <p:extLst>
              <p:ext uri="{D42A27DB-BD31-4B8C-83A1-F6EECF244321}">
                <p14:modId xmlns:p14="http://schemas.microsoft.com/office/powerpoint/2010/main" val="2470399702"/>
              </p:ext>
            </p:extLst>
          </p:nvPr>
        </p:nvGraphicFramePr>
        <p:xfrm>
          <a:off x="1352144" y="4067007"/>
          <a:ext cx="9640111" cy="1736739"/>
        </p:xfrm>
        <a:graphic>
          <a:graphicData uri="http://schemas.openxmlformats.org/drawingml/2006/table">
            <a:tbl>
              <a:tblPr firstRow="1" bandRow="1">
                <a:tableStyleId>{5C22544A-7EE6-4342-B048-85BDC9FD1C3A}</a:tableStyleId>
              </a:tblPr>
              <a:tblGrid>
                <a:gridCol w="2781788">
                  <a:extLst>
                    <a:ext uri="{9D8B030D-6E8A-4147-A177-3AD203B41FA5}">
                      <a16:colId xmlns:a16="http://schemas.microsoft.com/office/drawing/2014/main" val="2436517120"/>
                    </a:ext>
                  </a:extLst>
                </a:gridCol>
                <a:gridCol w="2295936">
                  <a:extLst>
                    <a:ext uri="{9D8B030D-6E8A-4147-A177-3AD203B41FA5}">
                      <a16:colId xmlns:a16="http://schemas.microsoft.com/office/drawing/2014/main" val="1465253572"/>
                    </a:ext>
                  </a:extLst>
                </a:gridCol>
                <a:gridCol w="4562387">
                  <a:extLst>
                    <a:ext uri="{9D8B030D-6E8A-4147-A177-3AD203B41FA5}">
                      <a16:colId xmlns:a16="http://schemas.microsoft.com/office/drawing/2014/main" val="750370237"/>
                    </a:ext>
                  </a:extLst>
                </a:gridCol>
              </a:tblGrid>
              <a:tr h="370840">
                <a:tc>
                  <a:txBody>
                    <a:bodyPr/>
                    <a:lstStyle/>
                    <a:p>
                      <a:pPr algn="ctr"/>
                      <a:r>
                        <a:rPr lang="en-US" sz="2000">
                          <a:solidFill>
                            <a:schemeClr val="tx1"/>
                          </a:solidFill>
                          <a:latin typeface="Times New Roman"/>
                          <a:cs typeface="Times New Roman"/>
                        </a:rPr>
                        <a:t>Họ và tên</a:t>
                      </a:r>
                      <a:endParaRPr lang="en-US" sz="2000" err="1">
                        <a:solidFill>
                          <a:schemeClr val="tx1"/>
                        </a:solidFill>
                        <a:latin typeface="Times New Roman"/>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MSSV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Nhiệm vụ</a:t>
                      </a:r>
                      <a:endParaRPr lang="vi-V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3041358"/>
                  </a:ext>
                </a:extLst>
              </a:tr>
              <a:tr h="370840">
                <a:tc>
                  <a:txBody>
                    <a:bodyPr/>
                    <a:lstStyle/>
                    <a:p>
                      <a:pPr algn="ctr"/>
                      <a:r>
                        <a:rPr lang="en-US" sz="2000">
                          <a:solidFill>
                            <a:schemeClr val="tx1"/>
                          </a:solidFill>
                          <a:latin typeface="Times New Roman"/>
                          <a:cs typeface="Times New Roman"/>
                        </a:rPr>
                        <a:t>Nguyễn Quang Dương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20222504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Tính toán mạch lực, Mô hình hóa, MP nguyên lý điều khiển, số</a:t>
                      </a:r>
                      <a:endParaRPr lang="en-US" sz="2000" err="1">
                        <a:solidFill>
                          <a:schemeClr val="tx1"/>
                        </a:solidFill>
                        <a:latin typeface="Times New Roman"/>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0563949"/>
                  </a:ext>
                </a:extLst>
              </a:tr>
              <a:tr h="639459">
                <a:tc>
                  <a:txBody>
                    <a:bodyPr/>
                    <a:lstStyle/>
                    <a:p>
                      <a:pPr algn="ctr"/>
                      <a:r>
                        <a:rPr lang="en-US" sz="2000">
                          <a:solidFill>
                            <a:schemeClr val="tx1"/>
                          </a:solidFill>
                          <a:latin typeface="Times New Roman"/>
                          <a:cs typeface="Times New Roman"/>
                        </a:rPr>
                        <a:t>Đào Đức Thịnh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20222678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a:solidFill>
                            <a:schemeClr val="tx1"/>
                          </a:solidFill>
                          <a:latin typeface="Times New Roman"/>
                          <a:cs typeface="Times New Roman"/>
                        </a:rPr>
                        <a:t>Tính toán mạch lực, mô phỏng nguyên lý</a:t>
                      </a:r>
                      <a:endParaRPr lang="en-US" sz="2000" err="1">
                        <a:solidFill>
                          <a:schemeClr val="tx1"/>
                        </a:solidFill>
                        <a:latin typeface="Times New Roman"/>
                        <a:cs typeface="Times New Roman"/>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8794361"/>
                  </a:ext>
                </a:extLst>
              </a:tr>
            </a:tbl>
          </a:graphicData>
        </a:graphic>
      </p:graphicFrame>
      <p:sp>
        <p:nvSpPr>
          <p:cNvPr id="5" name="Slide Number Placeholder 4">
            <a:extLst>
              <a:ext uri="{FF2B5EF4-FFF2-40B4-BE49-F238E27FC236}">
                <a16:creationId xmlns:a16="http://schemas.microsoft.com/office/drawing/2014/main" id="{CA787B25-81B8-F806-DC54-4BA9D1909B57}"/>
              </a:ext>
            </a:extLst>
          </p:cNvPr>
          <p:cNvSpPr>
            <a:spLocks noGrp="1"/>
          </p:cNvSpPr>
          <p:nvPr>
            <p:ph type="sldNum" sz="quarter" idx="12"/>
          </p:nvPr>
        </p:nvSpPr>
        <p:spPr/>
        <p:txBody>
          <a:bodyPr/>
          <a:lstStyle/>
          <a:p>
            <a:fld id="{9EA0BE3B-158A-4EDF-80DC-E394A0D1600F}" type="slidenum">
              <a:rPr lang="en-US" smtClean="0">
                <a:latin typeface="Linh AvantGarde" panose="02000603030000020004"/>
              </a:rPr>
              <a:pPr/>
              <a:t>1</a:t>
            </a:fld>
            <a:endParaRPr lang="en-US">
              <a:latin typeface="Linh AvantGarde" panose="02000603030000020004"/>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noAutofit/>
          </a:bodyPr>
          <a:lstStyle/>
          <a:p>
            <a:pPr algn="ctr"/>
            <a:r>
              <a:rPr lang="en-US" sz="4000">
                <a:latin typeface="Times New Roman" panose="02020603050405020304" pitchFamily="18" charset="0"/>
                <a:cs typeface="Times New Roman" panose="02020603050405020304" pitchFamily="18" charset="0"/>
              </a:rPr>
              <a:t>NỘI DUNG CHÍNH</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a:t>
            </a:fld>
            <a:endParaRPr lang="en-US" sz="3600">
              <a:latin typeface="Times New Roman" panose="02020603050405020304" pitchFamily="18" charset="0"/>
              <a:cs typeface="Times New Roman" panose="02020603050405020304" pitchFamily="18" charset="0"/>
            </a:endParaRPr>
          </a:p>
        </p:txBody>
      </p:sp>
      <p:sp>
        <p:nvSpPr>
          <p:cNvPr id="3" name="Flowchart: Connector 5">
            <a:extLst>
              <a:ext uri="{FF2B5EF4-FFF2-40B4-BE49-F238E27FC236}">
                <a16:creationId xmlns:a16="http://schemas.microsoft.com/office/drawing/2014/main" id="{F0EA3895-70AE-8D33-A810-5C2A62AE4D72}"/>
              </a:ext>
            </a:extLst>
          </p:cNvPr>
          <p:cNvSpPr/>
          <p:nvPr/>
        </p:nvSpPr>
        <p:spPr>
          <a:xfrm>
            <a:off x="723900" y="1231900"/>
            <a:ext cx="863600" cy="825500"/>
          </a:xfrm>
          <a:prstGeom prst="flowChartConnector">
            <a:avLst/>
          </a:prstGeom>
          <a:solidFill>
            <a:srgbClr val="F03E0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t>1</a:t>
            </a:r>
          </a:p>
        </p:txBody>
      </p:sp>
      <p:sp>
        <p:nvSpPr>
          <p:cNvPr id="5" name="Rectangle: Rounded Corners 7">
            <a:extLst>
              <a:ext uri="{FF2B5EF4-FFF2-40B4-BE49-F238E27FC236}">
                <a16:creationId xmlns:a16="http://schemas.microsoft.com/office/drawing/2014/main" id="{6F1FBDF9-D917-21B8-E527-3988F91A9F9A}"/>
              </a:ext>
            </a:extLst>
          </p:cNvPr>
          <p:cNvSpPr/>
          <p:nvPr/>
        </p:nvSpPr>
        <p:spPr>
          <a:xfrm>
            <a:off x="2184400" y="1231900"/>
            <a:ext cx="5041900" cy="825500"/>
          </a:xfrm>
          <a:prstGeom prst="roundRect">
            <a:avLst/>
          </a:prstGeom>
          <a:ln>
            <a:solidFill>
              <a:srgbClr val="B52F0B"/>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solidFill>
                  <a:sysClr val="windowText" lastClr="000000"/>
                </a:solidFill>
              </a:rPr>
              <a:t>Tổng quan chung và thông số mạch lực</a:t>
            </a:r>
          </a:p>
        </p:txBody>
      </p:sp>
      <p:sp>
        <p:nvSpPr>
          <p:cNvPr id="6" name="Flowchart: Connector 8">
            <a:extLst>
              <a:ext uri="{FF2B5EF4-FFF2-40B4-BE49-F238E27FC236}">
                <a16:creationId xmlns:a16="http://schemas.microsoft.com/office/drawing/2014/main" id="{63B43129-F0EC-E162-BEB9-79F29D06BA63}"/>
              </a:ext>
            </a:extLst>
          </p:cNvPr>
          <p:cNvSpPr/>
          <p:nvPr/>
        </p:nvSpPr>
        <p:spPr>
          <a:xfrm>
            <a:off x="723900" y="2159000"/>
            <a:ext cx="863600" cy="825500"/>
          </a:xfrm>
          <a:prstGeom prst="flowChartConnector">
            <a:avLst/>
          </a:prstGeom>
          <a:solidFill>
            <a:srgbClr val="F03E0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t>2</a:t>
            </a:r>
          </a:p>
        </p:txBody>
      </p:sp>
      <p:sp>
        <p:nvSpPr>
          <p:cNvPr id="8" name="Rectangle: Rounded Corners 9">
            <a:extLst>
              <a:ext uri="{FF2B5EF4-FFF2-40B4-BE49-F238E27FC236}">
                <a16:creationId xmlns:a16="http://schemas.microsoft.com/office/drawing/2014/main" id="{2B992F0E-219C-4A99-8E10-BD12A6B2701F}"/>
              </a:ext>
            </a:extLst>
          </p:cNvPr>
          <p:cNvSpPr/>
          <p:nvPr/>
        </p:nvSpPr>
        <p:spPr>
          <a:xfrm>
            <a:off x="2184400" y="2159000"/>
            <a:ext cx="5041900" cy="825500"/>
          </a:xfrm>
          <a:prstGeom prst="roundRect">
            <a:avLst/>
          </a:prstGeom>
          <a:ln>
            <a:solidFill>
              <a:srgbClr val="B52F0B"/>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solidFill>
                  <a:sysClr val="windowText" lastClr="000000"/>
                </a:solidFill>
              </a:rPr>
              <a:t>Cấu trúc điều khiển</a:t>
            </a:r>
          </a:p>
        </p:txBody>
      </p:sp>
      <p:sp>
        <p:nvSpPr>
          <p:cNvPr id="9" name="Flowchart: Connector 10">
            <a:extLst>
              <a:ext uri="{FF2B5EF4-FFF2-40B4-BE49-F238E27FC236}">
                <a16:creationId xmlns:a16="http://schemas.microsoft.com/office/drawing/2014/main" id="{2B5D5F97-A4CB-EDFF-D6F4-C91DF74D9BBB}"/>
              </a:ext>
            </a:extLst>
          </p:cNvPr>
          <p:cNvSpPr/>
          <p:nvPr/>
        </p:nvSpPr>
        <p:spPr>
          <a:xfrm>
            <a:off x="723900" y="3086100"/>
            <a:ext cx="863600" cy="825500"/>
          </a:xfrm>
          <a:prstGeom prst="flowChartConnector">
            <a:avLst/>
          </a:prstGeom>
          <a:solidFill>
            <a:srgbClr val="F03E0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t>3</a:t>
            </a:r>
          </a:p>
        </p:txBody>
      </p:sp>
      <p:sp>
        <p:nvSpPr>
          <p:cNvPr id="10" name="Rectangle: Rounded Corners 11">
            <a:extLst>
              <a:ext uri="{FF2B5EF4-FFF2-40B4-BE49-F238E27FC236}">
                <a16:creationId xmlns:a16="http://schemas.microsoft.com/office/drawing/2014/main" id="{90327FDC-3572-C2D9-2656-9FCBBA694634}"/>
              </a:ext>
            </a:extLst>
          </p:cNvPr>
          <p:cNvSpPr/>
          <p:nvPr/>
        </p:nvSpPr>
        <p:spPr>
          <a:xfrm>
            <a:off x="2184400" y="3086100"/>
            <a:ext cx="5041900" cy="825500"/>
          </a:xfrm>
          <a:prstGeom prst="roundRect">
            <a:avLst/>
          </a:prstGeom>
          <a:ln>
            <a:solidFill>
              <a:srgbClr val="B52F0B"/>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solidFill>
                  <a:sysClr val="windowText" lastClr="000000"/>
                </a:solidFill>
              </a:rPr>
              <a:t>Mô hình hóa và tổng hợp bộ điều khiển PI</a:t>
            </a:r>
          </a:p>
        </p:txBody>
      </p:sp>
      <p:sp>
        <p:nvSpPr>
          <p:cNvPr id="11" name="Flowchart: Connector 12">
            <a:extLst>
              <a:ext uri="{FF2B5EF4-FFF2-40B4-BE49-F238E27FC236}">
                <a16:creationId xmlns:a16="http://schemas.microsoft.com/office/drawing/2014/main" id="{69A09461-97C6-A887-2410-E27D28E7ED61}"/>
              </a:ext>
            </a:extLst>
          </p:cNvPr>
          <p:cNvSpPr/>
          <p:nvPr/>
        </p:nvSpPr>
        <p:spPr>
          <a:xfrm>
            <a:off x="723900" y="4013200"/>
            <a:ext cx="863600" cy="825500"/>
          </a:xfrm>
          <a:prstGeom prst="flowChartConnector">
            <a:avLst/>
          </a:prstGeom>
          <a:solidFill>
            <a:srgbClr val="F03E0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t>4</a:t>
            </a:r>
          </a:p>
        </p:txBody>
      </p:sp>
      <p:sp>
        <p:nvSpPr>
          <p:cNvPr id="12" name="Rectangle: Rounded Corners 13">
            <a:extLst>
              <a:ext uri="{FF2B5EF4-FFF2-40B4-BE49-F238E27FC236}">
                <a16:creationId xmlns:a16="http://schemas.microsoft.com/office/drawing/2014/main" id="{1A1DAD2A-70DA-AC57-4026-5FCE19F288AE}"/>
              </a:ext>
            </a:extLst>
          </p:cNvPr>
          <p:cNvSpPr/>
          <p:nvPr/>
        </p:nvSpPr>
        <p:spPr>
          <a:xfrm>
            <a:off x="2184400" y="4013200"/>
            <a:ext cx="5041900" cy="825500"/>
          </a:xfrm>
          <a:prstGeom prst="roundRect">
            <a:avLst/>
          </a:prstGeom>
          <a:ln>
            <a:solidFill>
              <a:srgbClr val="B52F0B"/>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solidFill>
                  <a:sysClr val="windowText" lastClr="000000"/>
                </a:solidFill>
              </a:rPr>
              <a:t>Mô phỏng nguyên lý điều khiển</a:t>
            </a:r>
          </a:p>
        </p:txBody>
      </p:sp>
      <p:sp>
        <p:nvSpPr>
          <p:cNvPr id="13" name="Flowchart: Connector 14">
            <a:extLst>
              <a:ext uri="{FF2B5EF4-FFF2-40B4-BE49-F238E27FC236}">
                <a16:creationId xmlns:a16="http://schemas.microsoft.com/office/drawing/2014/main" id="{84713576-4642-D57C-B8FE-625B177986B5}"/>
              </a:ext>
            </a:extLst>
          </p:cNvPr>
          <p:cNvSpPr/>
          <p:nvPr/>
        </p:nvSpPr>
        <p:spPr>
          <a:xfrm>
            <a:off x="723900" y="4940300"/>
            <a:ext cx="863600" cy="825500"/>
          </a:xfrm>
          <a:prstGeom prst="flowChartConnector">
            <a:avLst/>
          </a:prstGeom>
          <a:solidFill>
            <a:srgbClr val="F03E0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a:t>5</a:t>
            </a:r>
          </a:p>
        </p:txBody>
      </p:sp>
      <p:sp>
        <p:nvSpPr>
          <p:cNvPr id="14" name="Rectangle: Rounded Corners 15">
            <a:extLst>
              <a:ext uri="{FF2B5EF4-FFF2-40B4-BE49-F238E27FC236}">
                <a16:creationId xmlns:a16="http://schemas.microsoft.com/office/drawing/2014/main" id="{24DAE9B1-56EF-8A56-E5FE-02CDFC36988A}"/>
              </a:ext>
            </a:extLst>
          </p:cNvPr>
          <p:cNvSpPr/>
          <p:nvPr/>
        </p:nvSpPr>
        <p:spPr>
          <a:xfrm>
            <a:off x="2184400" y="4940300"/>
            <a:ext cx="5041900" cy="825500"/>
          </a:xfrm>
          <a:prstGeom prst="roundRect">
            <a:avLst/>
          </a:prstGeom>
          <a:ln>
            <a:solidFill>
              <a:srgbClr val="B52F0B"/>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a:solidFill>
                  <a:sysClr val="windowText" lastClr="000000"/>
                </a:solidFill>
              </a:rPr>
              <a:t>Thực hiện nguyên lý điều khiển bằng kỹ thuật số</a:t>
            </a:r>
          </a:p>
        </p:txBody>
      </p:sp>
    </p:spTree>
    <p:extLst>
      <p:ext uri="{BB962C8B-B14F-4D97-AF65-F5344CB8AC3E}">
        <p14:creationId xmlns:p14="http://schemas.microsoft.com/office/powerpoint/2010/main" val="22143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8C506C27-2BAA-4710-2B54-E0C43F534C2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7BDFDDEF-A083-98A8-805A-B49BF656C43D}"/>
              </a:ext>
            </a:extLst>
          </p:cNvPr>
          <p:cNvSpPr>
            <a:spLocks noGrp="1"/>
          </p:cNvSpPr>
          <p:nvPr>
            <p:ph type="title"/>
          </p:nvPr>
        </p:nvSpPr>
        <p:spPr/>
        <p:txBody>
          <a:bodyPr>
            <a:normAutofit fontScale="90000"/>
          </a:bodyPr>
          <a:lstStyle/>
          <a:p>
            <a:r>
              <a:rPr lang="en-US"/>
              <a:t>1. Tổng quan chung và thông số mạch lực</a:t>
            </a:r>
          </a:p>
        </p:txBody>
      </p:sp>
      <mc:AlternateContent xmlns:mc="http://schemas.openxmlformats.org/markup-compatibility/2006" xmlns:a14="http://schemas.microsoft.com/office/drawing/2010/main">
        <mc:Choice Requires="a14">
          <p:sp>
            <p:nvSpPr>
              <p:cNvPr id="13" name="TextBox 2">
                <a:extLst>
                  <a:ext uri="{FF2B5EF4-FFF2-40B4-BE49-F238E27FC236}">
                    <a16:creationId xmlns:a16="http://schemas.microsoft.com/office/drawing/2014/main" id="{B943049C-682A-0092-6584-DF32E6C3F9E1}"/>
                  </a:ext>
                </a:extLst>
              </p:cNvPr>
              <p:cNvSpPr txBox="1"/>
              <p:nvPr/>
            </p:nvSpPr>
            <p:spPr>
              <a:xfrm>
                <a:off x="469900" y="1193800"/>
                <a:ext cx="10947400" cy="529825"/>
              </a:xfrm>
              <a:prstGeom prst="rect">
                <a:avLst/>
              </a:prstGeom>
              <a:noFill/>
            </p:spPr>
            <p:txBody>
              <a:bodyPr wrap="square" rtlCol="0">
                <a:spAutoFit/>
              </a:bodyPr>
              <a:lstStyle/>
              <a:p>
                <a:pPr marL="342900" indent="-342900">
                  <a:buFont typeface="Wingdings" panose="05000000000000000000" pitchFamily="2" charset="2"/>
                  <a:buChar char="q"/>
                </a:pPr>
                <a:r>
                  <a:rPr lang="en-US" sz="2000">
                    <a:solidFill>
                      <a:prstClr val="black"/>
                    </a:solidFill>
                    <a:latin typeface="Calibri" panose="020F0502020204030204"/>
                  </a:rPr>
                  <a:t>PF (Power Factor): Là hệ số công suất, là tỉ số giữa công suất tác dụng và công suất biểu kiến PF = </a:t>
                </a:r>
                <a14:m>
                  <m:oMath xmlns:m="http://schemas.openxmlformats.org/officeDocument/2006/math">
                    <m:f>
                      <m:fPr>
                        <m:ctrlPr>
                          <a:rPr lang="en-US" sz="2000" i="1" smtClean="0">
                            <a:solidFill>
                              <a:prstClr val="black"/>
                            </a:solidFill>
                            <a:latin typeface="Cambria Math" panose="02040503050406030204" pitchFamily="18" charset="0"/>
                          </a:rPr>
                        </m:ctrlPr>
                      </m:fPr>
                      <m:num>
                        <m:r>
                          <a:rPr lang="en-US" sz="2000" i="1" smtClean="0">
                            <a:solidFill>
                              <a:prstClr val="black"/>
                            </a:solidFill>
                            <a:latin typeface="Cambria Math" panose="02040503050406030204" pitchFamily="18" charset="0"/>
                          </a:rPr>
                          <m:t>𝑃</m:t>
                        </m:r>
                      </m:num>
                      <m:den>
                        <m:r>
                          <a:rPr lang="en-US" sz="2000" i="1" smtClean="0">
                            <a:solidFill>
                              <a:prstClr val="black"/>
                            </a:solidFill>
                            <a:latin typeface="Cambria Math" panose="02040503050406030204" pitchFamily="18" charset="0"/>
                          </a:rPr>
                          <m:t>𝑆</m:t>
                        </m:r>
                      </m:den>
                    </m:f>
                  </m:oMath>
                </a14:m>
                <a:endParaRPr lang="en-US" sz="2000">
                  <a:solidFill>
                    <a:prstClr val="black"/>
                  </a:solidFill>
                  <a:latin typeface="Calibri" panose="020F0502020204030204"/>
                </a:endParaRPr>
              </a:p>
            </p:txBody>
          </p:sp>
        </mc:Choice>
        <mc:Fallback xmlns="">
          <p:sp>
            <p:nvSpPr>
              <p:cNvPr id="13" name="TextBox 2">
                <a:extLst>
                  <a:ext uri="{FF2B5EF4-FFF2-40B4-BE49-F238E27FC236}">
                    <a16:creationId xmlns:a16="http://schemas.microsoft.com/office/drawing/2014/main" id="{B943049C-682A-0092-6584-DF32E6C3F9E1}"/>
                  </a:ext>
                </a:extLst>
              </p:cNvPr>
              <p:cNvSpPr txBox="1">
                <a:spLocks noRot="1" noChangeAspect="1" noMove="1" noResize="1" noEditPoints="1" noAdjustHandles="1" noChangeArrowheads="1" noChangeShapeType="1" noTextEdit="1"/>
              </p:cNvSpPr>
              <p:nvPr/>
            </p:nvSpPr>
            <p:spPr>
              <a:xfrm>
                <a:off x="469900" y="1193800"/>
                <a:ext cx="10947400" cy="529825"/>
              </a:xfrm>
              <a:prstGeom prst="rect">
                <a:avLst/>
              </a:prstGeom>
              <a:blipFill>
                <a:blip r:embed="rId2"/>
                <a:stretch>
                  <a:fillRect l="-501" b="-80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4">
                <a:extLst>
                  <a:ext uri="{FF2B5EF4-FFF2-40B4-BE49-F238E27FC236}">
                    <a16:creationId xmlns:a16="http://schemas.microsoft.com/office/drawing/2014/main" id="{78B11D23-B72F-9598-8F81-BA47071BD5B3}"/>
                  </a:ext>
                </a:extLst>
              </p:cNvPr>
              <p:cNvSpPr txBox="1"/>
              <p:nvPr/>
            </p:nvSpPr>
            <p:spPr>
              <a:xfrm>
                <a:off x="469900" y="3593502"/>
                <a:ext cx="10947400" cy="1440779"/>
              </a:xfrm>
              <a:prstGeom prst="rect">
                <a:avLst/>
              </a:prstGeom>
              <a:noFill/>
            </p:spPr>
            <p:txBody>
              <a:bodyPr wrap="square" rtlCol="0">
                <a:spAutoFit/>
              </a:bodyPr>
              <a:lstStyle/>
              <a:p>
                <a:pPr marL="342900" indent="-342900">
                  <a:buFont typeface="Wingdings" panose="05000000000000000000" pitchFamily="2" charset="2"/>
                  <a:buChar char="q"/>
                </a:pPr>
                <a:r>
                  <a:rPr lang="en-US" sz="2000">
                    <a:solidFill>
                      <a:prstClr val="black"/>
                    </a:solidFill>
                    <a:latin typeface="Calibri" panose="020F0502020204030204"/>
                  </a:rPr>
                  <a:t>THD (Total Harmonic Distortion): Là hệ số méo dạng sóng hài, được xác định bằng tổng các giá trị của các thành phần sóng hài bậc lớn hơn 1 chia cho thành phần giá trị cơ bản</a:t>
                </a:r>
              </a:p>
              <a:p>
                <a:pPr algn="ctr"/>
                <a14:m>
                  <m:oMath xmlns:m="http://schemas.openxmlformats.org/officeDocument/2006/math">
                    <m:r>
                      <a:rPr lang="en-US" sz="2000" i="1" smtClean="0">
                        <a:solidFill>
                          <a:prstClr val="black"/>
                        </a:solidFill>
                        <a:latin typeface="Cambria Math" panose="02040503050406030204" pitchFamily="18" charset="0"/>
                      </a:rPr>
                      <m:t>𝑇𝐻𝐷</m:t>
                    </m:r>
                    <m:r>
                      <a:rPr lang="en-US" sz="2000" i="1" smtClean="0">
                        <a:solidFill>
                          <a:prstClr val="black"/>
                        </a:solidFill>
                        <a:latin typeface="Cambria Math" panose="02040503050406030204" pitchFamily="18" charset="0"/>
                      </a:rPr>
                      <m:t>= </m:t>
                    </m:r>
                    <m:f>
                      <m:fPr>
                        <m:ctrlPr>
                          <a:rPr lang="en-US" sz="2000" i="1" smtClean="0">
                            <a:solidFill>
                              <a:prstClr val="black"/>
                            </a:solidFill>
                            <a:latin typeface="Cambria Math" panose="02040503050406030204" pitchFamily="18" charset="0"/>
                          </a:rPr>
                        </m:ctrlPr>
                      </m:fPr>
                      <m:num>
                        <m:rad>
                          <m:radPr>
                            <m:degHide m:val="on"/>
                            <m:ctrlPr>
                              <a:rPr lang="en-US" sz="2000" i="1" smtClean="0">
                                <a:solidFill>
                                  <a:prstClr val="black"/>
                                </a:solidFill>
                                <a:latin typeface="Cambria Math" panose="02040503050406030204" pitchFamily="18" charset="0"/>
                              </a:rPr>
                            </m:ctrlPr>
                          </m:radPr>
                          <m:deg/>
                          <m:e>
                            <m:nary>
                              <m:naryPr>
                                <m:chr m:val="∑"/>
                                <m:ctrlPr>
                                  <a:rPr lang="en-US" sz="2000" i="1" smtClean="0">
                                    <a:solidFill>
                                      <a:prstClr val="black"/>
                                    </a:solidFill>
                                    <a:latin typeface="Cambria Math" panose="02040503050406030204" pitchFamily="18" charset="0"/>
                                  </a:rPr>
                                </m:ctrlPr>
                              </m:naryPr>
                              <m:sub>
                                <m:r>
                                  <m:rPr>
                                    <m:brk m:alnAt="23"/>
                                  </m:rPr>
                                  <a:rPr lang="en-US" sz="2000" i="1" smtClean="0">
                                    <a:solidFill>
                                      <a:prstClr val="black"/>
                                    </a:solidFill>
                                    <a:latin typeface="Cambria Math" panose="02040503050406030204" pitchFamily="18" charset="0"/>
                                  </a:rPr>
                                  <m:t>2</m:t>
                                </m:r>
                              </m:sub>
                              <m:sup>
                                <m:r>
                                  <a:rPr lang="en-US" sz="2000" i="1" smtClean="0">
                                    <a:solidFill>
                                      <a:prstClr val="black"/>
                                    </a:solidFill>
                                    <a:latin typeface="Cambria Math" panose="02040503050406030204" pitchFamily="18" charset="0"/>
                                  </a:rPr>
                                  <m:t>𝑛</m:t>
                                </m:r>
                              </m:sup>
                              <m:e>
                                <m:sSubSup>
                                  <m:sSubSupPr>
                                    <m:ctrlPr>
                                      <a:rPr lang="en-US" sz="2000" i="1" smtClean="0">
                                        <a:solidFill>
                                          <a:prstClr val="black"/>
                                        </a:solidFill>
                                        <a:latin typeface="Cambria Math" panose="02040503050406030204" pitchFamily="18" charset="0"/>
                                      </a:rPr>
                                    </m:ctrlPr>
                                  </m:sSubSupPr>
                                  <m:e>
                                    <m:r>
                                      <a:rPr lang="en-US" sz="2000" i="1" smtClean="0">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𝑘</m:t>
                                    </m:r>
                                  </m:sub>
                                  <m:sup>
                                    <m:r>
                                      <a:rPr lang="en-US" sz="2000" i="1" smtClean="0">
                                        <a:solidFill>
                                          <a:prstClr val="black"/>
                                        </a:solidFill>
                                        <a:latin typeface="Cambria Math" panose="02040503050406030204" pitchFamily="18" charset="0"/>
                                      </a:rPr>
                                      <m:t>2</m:t>
                                    </m:r>
                                  </m:sup>
                                </m:sSubSup>
                              </m:e>
                            </m:nary>
                          </m:e>
                        </m:rad>
                      </m:num>
                      <m:den>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1</m:t>
                            </m:r>
                          </m:sub>
                        </m:sSub>
                      </m:den>
                    </m:f>
                    <m:r>
                      <a:rPr lang="en-US" sz="2000" smtClean="0">
                        <a:solidFill>
                          <a:prstClr val="black"/>
                        </a:solidFill>
                        <a:latin typeface="Cambria Math" panose="02040503050406030204" pitchFamily="18" charset="0"/>
                      </a:rPr>
                      <m:t> 100%</m:t>
                    </m:r>
                  </m:oMath>
                </a14:m>
                <a:r>
                  <a:rPr lang="en-US" sz="2000">
                    <a:solidFill>
                      <a:prstClr val="black"/>
                    </a:solidFill>
                    <a:latin typeface="Calibri" panose="020F0502020204030204"/>
                  </a:rPr>
                  <a:t> = </a:t>
                </a:r>
                <a14:m>
                  <m:oMath xmlns:m="http://schemas.openxmlformats.org/officeDocument/2006/math">
                    <m:f>
                      <m:fPr>
                        <m:ctrlPr>
                          <a:rPr lang="en-US" sz="2000" i="1">
                            <a:solidFill>
                              <a:prstClr val="black"/>
                            </a:solidFill>
                            <a:latin typeface="Cambria Math" panose="02040503050406030204" pitchFamily="18" charset="0"/>
                          </a:rPr>
                        </m:ctrlPr>
                      </m:fPr>
                      <m:num>
                        <m:rad>
                          <m:radPr>
                            <m:degHide m:val="on"/>
                            <m:ctrlPr>
                              <a:rPr lang="en-US" sz="2000" i="1">
                                <a:solidFill>
                                  <a:prstClr val="black"/>
                                </a:solidFill>
                                <a:latin typeface="Cambria Math" panose="02040503050406030204" pitchFamily="18" charset="0"/>
                              </a:rPr>
                            </m:ctrlPr>
                          </m:radPr>
                          <m:deg/>
                          <m:e>
                            <m:sSubSup>
                              <m:sSubSupPr>
                                <m:ctrlPr>
                                  <a:rPr lang="en-US" sz="2000" i="1">
                                    <a:solidFill>
                                      <a:prstClr val="black"/>
                                    </a:solidFill>
                                    <a:latin typeface="Cambria Math" panose="02040503050406030204" pitchFamily="18" charset="0"/>
                                  </a:rPr>
                                </m:ctrlPr>
                              </m:sSubSupPr>
                              <m:e>
                                <m:r>
                                  <a:rPr lang="en-US" sz="2000" i="1">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𝑟𝑚𝑠</m:t>
                                </m:r>
                              </m:sub>
                              <m:sup>
                                <m:r>
                                  <a:rPr lang="en-US" sz="2000" i="1">
                                    <a:solidFill>
                                      <a:prstClr val="black"/>
                                    </a:solidFill>
                                    <a:latin typeface="Cambria Math" panose="02040503050406030204" pitchFamily="18" charset="0"/>
                                  </a:rPr>
                                  <m:t>2</m:t>
                                </m:r>
                              </m:sup>
                            </m:sSubSup>
                            <m:r>
                              <a:rPr lang="en-US" sz="2000" i="1" smtClean="0">
                                <a:solidFill>
                                  <a:prstClr val="black"/>
                                </a:solidFill>
                                <a:latin typeface="Cambria Math" panose="02040503050406030204" pitchFamily="18" charset="0"/>
                              </a:rPr>
                              <m:t> −</m:t>
                            </m:r>
                            <m:sSubSup>
                              <m:sSubSupPr>
                                <m:ctrlPr>
                                  <a:rPr lang="en-US" sz="2000" i="1">
                                    <a:solidFill>
                                      <a:prstClr val="black"/>
                                    </a:solidFill>
                                    <a:latin typeface="Cambria Math" panose="02040503050406030204" pitchFamily="18" charset="0"/>
                                  </a:rPr>
                                </m:ctrlPr>
                              </m:sSubSupPr>
                              <m:e>
                                <m:r>
                                  <a:rPr lang="en-US" sz="2000" i="1">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1</m:t>
                                </m:r>
                                <m:r>
                                  <a:rPr lang="en-US" sz="2000" i="1" smtClean="0">
                                    <a:solidFill>
                                      <a:prstClr val="black"/>
                                    </a:solidFill>
                                    <a:latin typeface="Cambria Math" panose="02040503050406030204" pitchFamily="18" charset="0"/>
                                  </a:rPr>
                                  <m:t>𝑟𝑚𝑠</m:t>
                                </m:r>
                              </m:sub>
                              <m:sup>
                                <m:r>
                                  <a:rPr lang="en-US" sz="2000" i="1">
                                    <a:solidFill>
                                      <a:prstClr val="black"/>
                                    </a:solidFill>
                                    <a:latin typeface="Cambria Math" panose="02040503050406030204" pitchFamily="18" charset="0"/>
                                  </a:rPr>
                                  <m:t>2</m:t>
                                </m:r>
                              </m:sup>
                            </m:sSubSup>
                          </m:e>
                        </m:rad>
                      </m:num>
                      <m:den>
                        <m:sSub>
                          <m:sSubPr>
                            <m:ctrlPr>
                              <a:rPr lang="en-US" sz="2000" i="1">
                                <a:solidFill>
                                  <a:prstClr val="black"/>
                                </a:solidFill>
                                <a:latin typeface="Cambria Math" panose="02040503050406030204" pitchFamily="18" charset="0"/>
                              </a:rPr>
                            </m:ctrlPr>
                          </m:sSubPr>
                          <m:e>
                            <m:r>
                              <a:rPr lang="en-US" sz="2000" i="1">
                                <a:solidFill>
                                  <a:prstClr val="black"/>
                                </a:solidFill>
                                <a:latin typeface="Cambria Math" panose="02040503050406030204" pitchFamily="18" charset="0"/>
                              </a:rPr>
                              <m:t>𝐼</m:t>
                            </m:r>
                          </m:e>
                          <m:sub>
                            <m:r>
                              <a:rPr lang="en-US" sz="2000" i="1">
                                <a:solidFill>
                                  <a:prstClr val="black"/>
                                </a:solidFill>
                                <a:latin typeface="Cambria Math" panose="02040503050406030204" pitchFamily="18" charset="0"/>
                              </a:rPr>
                              <m:t>1</m:t>
                            </m:r>
                          </m:sub>
                        </m:sSub>
                      </m:den>
                    </m:f>
                    <m:r>
                      <a:rPr lang="en-US" sz="2000">
                        <a:solidFill>
                          <a:prstClr val="black"/>
                        </a:solidFill>
                        <a:latin typeface="Cambria Math" panose="02040503050406030204" pitchFamily="18" charset="0"/>
                      </a:rPr>
                      <m:t> 100%</m:t>
                    </m:r>
                  </m:oMath>
                </a14:m>
                <a:r>
                  <a:rPr lang="en-US" sz="2000">
                    <a:solidFill>
                      <a:prstClr val="black"/>
                    </a:solidFill>
                    <a:latin typeface="Calibri" panose="020F0502020204030204"/>
                  </a:rPr>
                  <a:t> </a:t>
                </a:r>
              </a:p>
            </p:txBody>
          </p:sp>
        </mc:Choice>
        <mc:Fallback xmlns="">
          <p:sp>
            <p:nvSpPr>
              <p:cNvPr id="14" name="TextBox 4">
                <a:extLst>
                  <a:ext uri="{FF2B5EF4-FFF2-40B4-BE49-F238E27FC236}">
                    <a16:creationId xmlns:a16="http://schemas.microsoft.com/office/drawing/2014/main" id="{78B11D23-B72F-9598-8F81-BA47071BD5B3}"/>
                  </a:ext>
                </a:extLst>
              </p:cNvPr>
              <p:cNvSpPr txBox="1">
                <a:spLocks noRot="1" noChangeAspect="1" noMove="1" noResize="1" noEditPoints="1" noAdjustHandles="1" noChangeArrowheads="1" noChangeShapeType="1" noTextEdit="1"/>
              </p:cNvSpPr>
              <p:nvPr/>
            </p:nvSpPr>
            <p:spPr>
              <a:xfrm>
                <a:off x="469900" y="3593502"/>
                <a:ext cx="10947400" cy="1440779"/>
              </a:xfrm>
              <a:prstGeom prst="rect">
                <a:avLst/>
              </a:prstGeom>
              <a:blipFill>
                <a:blip r:embed="rId3"/>
                <a:stretch>
                  <a:fillRect l="-501" t="-2110" r="-8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5">
                <a:extLst>
                  <a:ext uri="{FF2B5EF4-FFF2-40B4-BE49-F238E27FC236}">
                    <a16:creationId xmlns:a16="http://schemas.microsoft.com/office/drawing/2014/main" id="{2B11DAAA-75E9-8788-DD2E-88D2FC80FE32}"/>
                  </a:ext>
                </a:extLst>
              </p:cNvPr>
              <p:cNvSpPr txBox="1"/>
              <p:nvPr/>
            </p:nvSpPr>
            <p:spPr>
              <a:xfrm>
                <a:off x="2150418" y="5751149"/>
                <a:ext cx="8053070" cy="400110"/>
              </a:xfrm>
              <a:prstGeom prst="rect">
                <a:avLst/>
              </a:prstGeom>
              <a:noFill/>
            </p:spPr>
            <p:txBody>
              <a:bodyPr wrap="square" rtlCol="0">
                <a:spAutoFit/>
              </a:bodyPr>
              <a:lstStyle/>
              <a:p>
                <a:r>
                  <a:rPr lang="en-US" sz="2000">
                    <a:solidFill>
                      <a:prstClr val="black"/>
                    </a:solidFill>
                    <a:latin typeface="Calibri" panose="020F0502020204030204"/>
                  </a:rPr>
                  <a:t>Khi dạng dòng điện (điện áp) có dạng hình sin (THD = 0) thì </a:t>
                </a:r>
                <a14:m>
                  <m:oMath xmlns:m="http://schemas.openxmlformats.org/officeDocument/2006/math">
                    <m:r>
                      <a:rPr lang="en-US" sz="2000" i="1" smtClean="0">
                        <a:solidFill>
                          <a:prstClr val="black"/>
                        </a:solidFill>
                        <a:latin typeface="Cambria Math" panose="02040503050406030204" pitchFamily="18" charset="0"/>
                      </a:rPr>
                      <m:t>𝑃𝐹</m:t>
                    </m:r>
                    <m:r>
                      <a:rPr lang="en-US" sz="2000" i="1" smtClean="0">
                        <a:solidFill>
                          <a:prstClr val="black"/>
                        </a:solidFill>
                        <a:latin typeface="Cambria Math" panose="02040503050406030204" pitchFamily="18" charset="0"/>
                      </a:rPr>
                      <m:t>= </m:t>
                    </m:r>
                    <m:func>
                      <m:funcPr>
                        <m:ctrlPr>
                          <a:rPr lang="en-US" sz="2000" i="1" smtClean="0">
                            <a:solidFill>
                              <a:prstClr val="black"/>
                            </a:solidFill>
                            <a:latin typeface="Cambria Math" panose="02040503050406030204" pitchFamily="18" charset="0"/>
                          </a:rPr>
                        </m:ctrlPr>
                      </m:funcPr>
                      <m:fName>
                        <m:r>
                          <m:rPr>
                            <m:sty m:val="p"/>
                          </m:rPr>
                          <a:rPr lang="en-US" sz="2000" smtClean="0">
                            <a:solidFill>
                              <a:prstClr val="black"/>
                            </a:solidFill>
                            <a:latin typeface="Cambria Math" panose="02040503050406030204" pitchFamily="18" charset="0"/>
                          </a:rPr>
                          <m:t>cos</m:t>
                        </m:r>
                      </m:fName>
                      <m:e>
                        <m:r>
                          <a:rPr lang="en-US" sz="2000" i="1" smtClean="0">
                            <a:solidFill>
                              <a:prstClr val="black"/>
                            </a:solidFill>
                            <a:latin typeface="Cambria Math" panose="02040503050406030204" pitchFamily="18" charset="0"/>
                            <a:ea typeface="Cambria Math" panose="02040503050406030204" pitchFamily="18" charset="0"/>
                          </a:rPr>
                          <m:t>𝜑</m:t>
                        </m:r>
                      </m:e>
                    </m:func>
                  </m:oMath>
                </a14:m>
                <a:endParaRPr lang="en-US" sz="2000">
                  <a:solidFill>
                    <a:prstClr val="black"/>
                  </a:solidFill>
                  <a:latin typeface="Calibri" panose="020F0502020204030204"/>
                </a:endParaRPr>
              </a:p>
            </p:txBody>
          </p:sp>
        </mc:Choice>
        <mc:Fallback xmlns="">
          <p:sp>
            <p:nvSpPr>
              <p:cNvPr id="15" name="TextBox 5">
                <a:extLst>
                  <a:ext uri="{FF2B5EF4-FFF2-40B4-BE49-F238E27FC236}">
                    <a16:creationId xmlns:a16="http://schemas.microsoft.com/office/drawing/2014/main" id="{2B11DAAA-75E9-8788-DD2E-88D2FC80FE32}"/>
                  </a:ext>
                </a:extLst>
              </p:cNvPr>
              <p:cNvSpPr txBox="1">
                <a:spLocks noRot="1" noChangeAspect="1" noMove="1" noResize="1" noEditPoints="1" noAdjustHandles="1" noChangeArrowheads="1" noChangeShapeType="1" noTextEdit="1"/>
              </p:cNvSpPr>
              <p:nvPr/>
            </p:nvSpPr>
            <p:spPr>
              <a:xfrm>
                <a:off x="2150418" y="5751149"/>
                <a:ext cx="8053070" cy="400110"/>
              </a:xfrm>
              <a:prstGeom prst="rect">
                <a:avLst/>
              </a:prstGeom>
              <a:blipFill>
                <a:blip r:embed="rId4"/>
                <a:stretch>
                  <a:fillRect l="-833" t="-7576" b="-25758"/>
                </a:stretch>
              </a:blipFill>
            </p:spPr>
            <p:txBody>
              <a:bodyPr/>
              <a:lstStyle/>
              <a:p>
                <a:r>
                  <a:rPr lang="en-US">
                    <a:noFill/>
                  </a:rPr>
                  <a:t> </a:t>
                </a:r>
              </a:p>
            </p:txBody>
          </p:sp>
        </mc:Fallback>
      </mc:AlternateContent>
      <p:cxnSp>
        <p:nvCxnSpPr>
          <p:cNvPr id="16" name="Straight Arrow Connector 7">
            <a:extLst>
              <a:ext uri="{FF2B5EF4-FFF2-40B4-BE49-F238E27FC236}">
                <a16:creationId xmlns:a16="http://schemas.microsoft.com/office/drawing/2014/main" id="{2D59F728-2642-3303-9A3D-80951FADB374}"/>
              </a:ext>
            </a:extLst>
          </p:cNvPr>
          <p:cNvCxnSpPr/>
          <p:nvPr/>
        </p:nvCxnSpPr>
        <p:spPr>
          <a:xfrm>
            <a:off x="4157163" y="5321285"/>
            <a:ext cx="647700" cy="0"/>
          </a:xfrm>
          <a:prstGeom prst="straightConnector1">
            <a:avLst/>
          </a:prstGeom>
          <a:noFill/>
          <a:ln w="12700" cap="flat" cmpd="sng" algn="ctr">
            <a:solidFill>
              <a:sysClr val="windowText" lastClr="000000"/>
            </a:solidFill>
            <a:prstDash val="solid"/>
            <a:miter lim="800000"/>
            <a:tailEnd type="triangle"/>
          </a:ln>
          <a:effectLst/>
        </p:spPr>
      </p:cxnSp>
      <p:graphicFrame>
        <p:nvGraphicFramePr>
          <p:cNvPr id="17" name="Object 12">
            <a:extLst>
              <a:ext uri="{FF2B5EF4-FFF2-40B4-BE49-F238E27FC236}">
                <a16:creationId xmlns:a16="http://schemas.microsoft.com/office/drawing/2014/main" id="{C20851BC-DB62-C4AA-35D7-76B8657C971A}"/>
              </a:ext>
            </a:extLst>
          </p:cNvPr>
          <p:cNvGraphicFramePr>
            <a:graphicFrameLocks noChangeAspect="1"/>
          </p:cNvGraphicFramePr>
          <p:nvPr>
            <p:extLst>
              <p:ext uri="{D42A27DB-BD31-4B8C-83A1-F6EECF244321}">
                <p14:modId xmlns:p14="http://schemas.microsoft.com/office/powerpoint/2010/main" val="3761757104"/>
              </p:ext>
            </p:extLst>
          </p:nvPr>
        </p:nvGraphicFramePr>
        <p:xfrm>
          <a:off x="876300" y="1793322"/>
          <a:ext cx="1911182" cy="409539"/>
        </p:xfrm>
        <a:graphic>
          <a:graphicData uri="http://schemas.openxmlformats.org/presentationml/2006/ole">
            <mc:AlternateContent xmlns:mc="http://schemas.openxmlformats.org/markup-compatibility/2006">
              <mc:Choice xmlns:v="urn:schemas-microsoft-com:vml" Requires="v">
                <p:oleObj name="Equation" r:id="rId5" imgW="1066680" imgH="228600" progId="Equation.DSMT4">
                  <p:embed/>
                </p:oleObj>
              </mc:Choice>
              <mc:Fallback>
                <p:oleObj name="Equation" r:id="rId5" imgW="1066680" imgH="228600" progId="Equation.DSMT4">
                  <p:embed/>
                  <p:pic>
                    <p:nvPicPr>
                      <p:cNvPr id="17" name="Object 12">
                        <a:extLst>
                          <a:ext uri="{FF2B5EF4-FFF2-40B4-BE49-F238E27FC236}">
                            <a16:creationId xmlns:a16="http://schemas.microsoft.com/office/drawing/2014/main" id="{C20851BC-DB62-C4AA-35D7-76B8657C971A}"/>
                          </a:ext>
                        </a:extLst>
                      </p:cNvPr>
                      <p:cNvPicPr/>
                      <p:nvPr/>
                    </p:nvPicPr>
                    <p:blipFill>
                      <a:blip r:embed="rId6"/>
                      <a:stretch>
                        <a:fillRect/>
                      </a:stretch>
                    </p:blipFill>
                    <p:spPr>
                      <a:xfrm>
                        <a:off x="876300" y="1793322"/>
                        <a:ext cx="1911182" cy="409539"/>
                      </a:xfrm>
                      <a:prstGeom prst="rect">
                        <a:avLst/>
                      </a:prstGeom>
                    </p:spPr>
                  </p:pic>
                </p:oleObj>
              </mc:Fallback>
            </mc:AlternateContent>
          </a:graphicData>
        </a:graphic>
      </p:graphicFrame>
      <p:graphicFrame>
        <p:nvGraphicFramePr>
          <p:cNvPr id="18" name="Object 13">
            <a:extLst>
              <a:ext uri="{FF2B5EF4-FFF2-40B4-BE49-F238E27FC236}">
                <a16:creationId xmlns:a16="http://schemas.microsoft.com/office/drawing/2014/main" id="{247B15F7-90C6-E601-49A6-4B5E87F8BC4B}"/>
              </a:ext>
            </a:extLst>
          </p:cNvPr>
          <p:cNvGraphicFramePr>
            <a:graphicFrameLocks noChangeAspect="1"/>
          </p:cNvGraphicFramePr>
          <p:nvPr>
            <p:extLst>
              <p:ext uri="{D42A27DB-BD31-4B8C-83A1-F6EECF244321}">
                <p14:modId xmlns:p14="http://schemas.microsoft.com/office/powerpoint/2010/main" val="3064728454"/>
              </p:ext>
            </p:extLst>
          </p:nvPr>
        </p:nvGraphicFramePr>
        <p:xfrm>
          <a:off x="876300" y="2562043"/>
          <a:ext cx="1274118" cy="409538"/>
        </p:xfrm>
        <a:graphic>
          <a:graphicData uri="http://schemas.openxmlformats.org/presentationml/2006/ole">
            <mc:AlternateContent xmlns:mc="http://schemas.openxmlformats.org/markup-compatibility/2006">
              <mc:Choice xmlns:v="urn:schemas-microsoft-com:vml" Requires="v">
                <p:oleObj name="Equation" r:id="rId7" imgW="711000" imgH="228600" progId="Equation.DSMT4">
                  <p:embed/>
                </p:oleObj>
              </mc:Choice>
              <mc:Fallback>
                <p:oleObj name="Equation" r:id="rId7" imgW="711000" imgH="228600" progId="Equation.DSMT4">
                  <p:embed/>
                  <p:pic>
                    <p:nvPicPr>
                      <p:cNvPr id="18" name="Object 13">
                        <a:extLst>
                          <a:ext uri="{FF2B5EF4-FFF2-40B4-BE49-F238E27FC236}">
                            <a16:creationId xmlns:a16="http://schemas.microsoft.com/office/drawing/2014/main" id="{247B15F7-90C6-E601-49A6-4B5E87F8BC4B}"/>
                          </a:ext>
                        </a:extLst>
                      </p:cNvPr>
                      <p:cNvPicPr/>
                      <p:nvPr/>
                    </p:nvPicPr>
                    <p:blipFill>
                      <a:blip r:embed="rId8"/>
                      <a:stretch>
                        <a:fillRect/>
                      </a:stretch>
                    </p:blipFill>
                    <p:spPr>
                      <a:xfrm>
                        <a:off x="876300" y="2562043"/>
                        <a:ext cx="1274118" cy="409538"/>
                      </a:xfrm>
                      <a:prstGeom prst="rect">
                        <a:avLst/>
                      </a:prstGeom>
                    </p:spPr>
                  </p:pic>
                </p:oleObj>
              </mc:Fallback>
            </mc:AlternateContent>
          </a:graphicData>
        </a:graphic>
      </p:graphicFrame>
      <p:sp>
        <p:nvSpPr>
          <p:cNvPr id="19" name="Right Brace 14">
            <a:extLst>
              <a:ext uri="{FF2B5EF4-FFF2-40B4-BE49-F238E27FC236}">
                <a16:creationId xmlns:a16="http://schemas.microsoft.com/office/drawing/2014/main" id="{6A2736F1-A082-F3E0-0E06-780421C82A69}"/>
              </a:ext>
            </a:extLst>
          </p:cNvPr>
          <p:cNvSpPr/>
          <p:nvPr/>
        </p:nvSpPr>
        <p:spPr>
          <a:xfrm>
            <a:off x="3086100" y="1793322"/>
            <a:ext cx="215900" cy="1178259"/>
          </a:xfrm>
          <a:prstGeom prst="rightBrace">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20" name="Straight Arrow Connector 16">
            <a:extLst>
              <a:ext uri="{FF2B5EF4-FFF2-40B4-BE49-F238E27FC236}">
                <a16:creationId xmlns:a16="http://schemas.microsoft.com/office/drawing/2014/main" id="{14E77401-4519-8DE1-5C77-CDA1F6D6E236}"/>
              </a:ext>
            </a:extLst>
          </p:cNvPr>
          <p:cNvCxnSpPr/>
          <p:nvPr/>
        </p:nvCxnSpPr>
        <p:spPr>
          <a:xfrm>
            <a:off x="3594100" y="2374900"/>
            <a:ext cx="546100" cy="0"/>
          </a:xfrm>
          <a:prstGeom prst="straightConnector1">
            <a:avLst/>
          </a:prstGeom>
          <a:noFill/>
          <a:ln w="19050" cap="flat" cmpd="sng" algn="ctr">
            <a:solidFill>
              <a:sysClr val="windowText" lastClr="000000"/>
            </a:solidFill>
            <a:prstDash val="solid"/>
            <a:miter lim="800000"/>
            <a:tailEnd type="triangle"/>
          </a:ln>
          <a:effectLst/>
        </p:spPr>
      </p:cxnSp>
      <p:graphicFrame>
        <p:nvGraphicFramePr>
          <p:cNvPr id="21" name="Object 17">
            <a:extLst>
              <a:ext uri="{FF2B5EF4-FFF2-40B4-BE49-F238E27FC236}">
                <a16:creationId xmlns:a16="http://schemas.microsoft.com/office/drawing/2014/main" id="{F6BEBDDF-563E-A8D5-9EC2-9AC415A75BD5}"/>
              </a:ext>
            </a:extLst>
          </p:cNvPr>
          <p:cNvGraphicFramePr>
            <a:graphicFrameLocks noChangeAspect="1"/>
          </p:cNvGraphicFramePr>
          <p:nvPr>
            <p:extLst>
              <p:ext uri="{D42A27DB-BD31-4B8C-83A1-F6EECF244321}">
                <p14:modId xmlns:p14="http://schemas.microsoft.com/office/powerpoint/2010/main" val="270919471"/>
              </p:ext>
            </p:extLst>
          </p:nvPr>
        </p:nvGraphicFramePr>
        <p:xfrm>
          <a:off x="4441824" y="2036396"/>
          <a:ext cx="1654176" cy="730416"/>
        </p:xfrm>
        <a:graphic>
          <a:graphicData uri="http://schemas.openxmlformats.org/presentationml/2006/ole">
            <mc:AlternateContent xmlns:mc="http://schemas.openxmlformats.org/markup-compatibility/2006">
              <mc:Choice xmlns:v="urn:schemas-microsoft-com:vml" Requires="v">
                <p:oleObj name="Equation" r:id="rId9" imgW="977760" imgH="431640" progId="Equation.DSMT4">
                  <p:embed/>
                </p:oleObj>
              </mc:Choice>
              <mc:Fallback>
                <p:oleObj name="Equation" r:id="rId9" imgW="977760" imgH="431640" progId="Equation.DSMT4">
                  <p:embed/>
                  <p:pic>
                    <p:nvPicPr>
                      <p:cNvPr id="21" name="Object 17">
                        <a:extLst>
                          <a:ext uri="{FF2B5EF4-FFF2-40B4-BE49-F238E27FC236}">
                            <a16:creationId xmlns:a16="http://schemas.microsoft.com/office/drawing/2014/main" id="{F6BEBDDF-563E-A8D5-9EC2-9AC415A75BD5}"/>
                          </a:ext>
                        </a:extLst>
                      </p:cNvPr>
                      <p:cNvPicPr/>
                      <p:nvPr/>
                    </p:nvPicPr>
                    <p:blipFill>
                      <a:blip r:embed="rId10"/>
                      <a:stretch>
                        <a:fillRect/>
                      </a:stretch>
                    </p:blipFill>
                    <p:spPr>
                      <a:xfrm>
                        <a:off x="4441824" y="2036396"/>
                        <a:ext cx="1654176" cy="730416"/>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2" name="TextBox 18">
                <a:extLst>
                  <a:ext uri="{FF2B5EF4-FFF2-40B4-BE49-F238E27FC236}">
                    <a16:creationId xmlns:a16="http://schemas.microsoft.com/office/drawing/2014/main" id="{1AF15972-517A-49DA-693C-2BF32FA3A699}"/>
                  </a:ext>
                </a:extLst>
              </p:cNvPr>
              <p:cNvSpPr txBox="1"/>
              <p:nvPr/>
            </p:nvSpPr>
            <p:spPr>
              <a:xfrm>
                <a:off x="6768911" y="1723625"/>
                <a:ext cx="4775200" cy="1938992"/>
              </a:xfrm>
              <a:prstGeom prst="rect">
                <a:avLst/>
              </a:prstGeom>
              <a:noFill/>
            </p:spPr>
            <p:txBody>
              <a:bodyPr wrap="square" rtlCol="0">
                <a:spAutoFit/>
              </a:bodyPr>
              <a:lstStyle/>
              <a:p>
                <a:r>
                  <a:rPr lang="en-US" sz="2000">
                    <a:solidFill>
                      <a:prstClr val="black"/>
                    </a:solidFill>
                    <a:latin typeface="Calibri" panose="020F0502020204030204"/>
                  </a:rPr>
                  <a:t>Trong đó:</a:t>
                </a:r>
              </a:p>
              <a:p>
                <a14:m>
                  <m:oMath xmlns:m="http://schemas.openxmlformats.org/officeDocument/2006/math">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1</m:t>
                        </m:r>
                        <m:r>
                          <a:rPr lang="en-US" sz="2000" i="1" smtClean="0">
                            <a:solidFill>
                              <a:prstClr val="black"/>
                            </a:solidFill>
                            <a:latin typeface="Cambria Math" panose="02040503050406030204" pitchFamily="18" charset="0"/>
                          </a:rPr>
                          <m:t>𝑟𝑚𝑠</m:t>
                        </m:r>
                      </m:sub>
                    </m:sSub>
                  </m:oMath>
                </a14:m>
                <a:r>
                  <a:rPr lang="en-US" sz="2000">
                    <a:solidFill>
                      <a:prstClr val="black"/>
                    </a:solidFill>
                    <a:latin typeface="Calibri" panose="020F0502020204030204"/>
                  </a:rPr>
                  <a:t> là thành phần cơ bản của dòng điện</a:t>
                </a:r>
              </a:p>
              <a:p>
                <a14:m>
                  <m:oMath xmlns:m="http://schemas.openxmlformats.org/officeDocument/2006/math">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𝐼</m:t>
                        </m:r>
                      </m:e>
                      <m:sub>
                        <m:r>
                          <a:rPr lang="en-US" sz="2000" i="1" smtClean="0">
                            <a:solidFill>
                              <a:prstClr val="black"/>
                            </a:solidFill>
                            <a:latin typeface="Cambria Math" panose="02040503050406030204" pitchFamily="18" charset="0"/>
                          </a:rPr>
                          <m:t>𝑟𝑚𝑠</m:t>
                        </m:r>
                      </m:sub>
                    </m:sSub>
                  </m:oMath>
                </a14:m>
                <a:r>
                  <a:rPr lang="en-US" sz="2000">
                    <a:solidFill>
                      <a:prstClr val="black"/>
                    </a:solidFill>
                    <a:latin typeface="Calibri" panose="020F0502020204030204"/>
                  </a:rPr>
                  <a:t> là dòng điện hiệu dụng </a:t>
                </a:r>
              </a:p>
              <a:p>
                <a14:m>
                  <m:oMath xmlns:m="http://schemas.openxmlformats.org/officeDocument/2006/math">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𝑉</m:t>
                        </m:r>
                      </m:e>
                      <m:sub>
                        <m:r>
                          <a:rPr lang="en-US" sz="2000" i="1" smtClean="0">
                            <a:solidFill>
                              <a:prstClr val="black"/>
                            </a:solidFill>
                            <a:latin typeface="Cambria Math" panose="02040503050406030204" pitchFamily="18" charset="0"/>
                          </a:rPr>
                          <m:t>𝑟𝑚𝑠</m:t>
                        </m:r>
                      </m:sub>
                    </m:sSub>
                    <m:r>
                      <a:rPr lang="en-US" sz="2000" i="1" smtClean="0">
                        <a:solidFill>
                          <a:prstClr val="black"/>
                        </a:solidFill>
                        <a:latin typeface="Cambria Math" panose="02040503050406030204" pitchFamily="18" charset="0"/>
                      </a:rPr>
                      <m:t> </m:t>
                    </m:r>
                  </m:oMath>
                </a14:m>
                <a:r>
                  <a:rPr lang="en-US" sz="2000">
                    <a:solidFill>
                      <a:prstClr val="black"/>
                    </a:solidFill>
                    <a:latin typeface="Calibri" panose="020F0502020204030204"/>
                  </a:rPr>
                  <a:t>là điện áp hiệu dụng </a:t>
                </a:r>
              </a:p>
              <a:p>
                <a14:m>
                  <m:oMath xmlns:m="http://schemas.openxmlformats.org/officeDocument/2006/math">
                    <m:func>
                      <m:funcPr>
                        <m:ctrlPr>
                          <a:rPr lang="en-US" sz="2000" i="1" smtClean="0">
                            <a:solidFill>
                              <a:prstClr val="black"/>
                            </a:solidFill>
                            <a:latin typeface="Cambria Math" panose="02040503050406030204" pitchFamily="18" charset="0"/>
                          </a:rPr>
                        </m:ctrlPr>
                      </m:funcPr>
                      <m:fName>
                        <m:r>
                          <m:rPr>
                            <m:sty m:val="p"/>
                          </m:rPr>
                          <a:rPr lang="en-US" sz="2000" smtClean="0">
                            <a:solidFill>
                              <a:prstClr val="black"/>
                            </a:solidFill>
                            <a:latin typeface="Cambria Math" panose="02040503050406030204" pitchFamily="18" charset="0"/>
                          </a:rPr>
                          <m:t>cos</m:t>
                        </m:r>
                      </m:fName>
                      <m:e>
                        <m:r>
                          <a:rPr lang="en-US" sz="2000" i="1" smtClean="0">
                            <a:solidFill>
                              <a:prstClr val="black"/>
                            </a:solidFill>
                            <a:latin typeface="Cambria Math" panose="02040503050406030204" pitchFamily="18" charset="0"/>
                            <a:ea typeface="Cambria Math" panose="02040503050406030204" pitchFamily="18" charset="0"/>
                          </a:rPr>
                          <m:t>𝜑</m:t>
                        </m:r>
                      </m:e>
                    </m:func>
                  </m:oMath>
                </a14:m>
                <a:r>
                  <a:rPr lang="en-US" sz="2000">
                    <a:solidFill>
                      <a:prstClr val="black"/>
                    </a:solidFill>
                    <a:latin typeface="Calibri" panose="020F0502020204030204"/>
                  </a:rPr>
                  <a:t> là góc lệch pha giữa dòng điện và điện áp</a:t>
                </a:r>
              </a:p>
            </p:txBody>
          </p:sp>
        </mc:Choice>
        <mc:Fallback xmlns="">
          <p:sp>
            <p:nvSpPr>
              <p:cNvPr id="22" name="TextBox 18">
                <a:extLst>
                  <a:ext uri="{FF2B5EF4-FFF2-40B4-BE49-F238E27FC236}">
                    <a16:creationId xmlns:a16="http://schemas.microsoft.com/office/drawing/2014/main" id="{1AF15972-517A-49DA-693C-2BF32FA3A699}"/>
                  </a:ext>
                </a:extLst>
              </p:cNvPr>
              <p:cNvSpPr txBox="1">
                <a:spLocks noRot="1" noChangeAspect="1" noMove="1" noResize="1" noEditPoints="1" noAdjustHandles="1" noChangeArrowheads="1" noChangeShapeType="1" noTextEdit="1"/>
              </p:cNvSpPr>
              <p:nvPr/>
            </p:nvSpPr>
            <p:spPr>
              <a:xfrm>
                <a:off x="6768911" y="1723625"/>
                <a:ext cx="4775200" cy="1938992"/>
              </a:xfrm>
              <a:prstGeom prst="rect">
                <a:avLst/>
              </a:prstGeom>
              <a:blipFill>
                <a:blip r:embed="rId11"/>
                <a:stretch>
                  <a:fillRect l="-1276" t="-1887" r="-2041" b="-4717"/>
                </a:stretch>
              </a:blipFill>
            </p:spPr>
            <p:txBody>
              <a:bodyPr/>
              <a:lstStyle/>
              <a:p>
                <a:r>
                  <a:rPr lang="en-US">
                    <a:noFill/>
                  </a:rPr>
                  <a:t> </a:t>
                </a:r>
              </a:p>
            </p:txBody>
          </p:sp>
        </mc:Fallback>
      </mc:AlternateContent>
      <p:graphicFrame>
        <p:nvGraphicFramePr>
          <p:cNvPr id="23" name="Object 19">
            <a:extLst>
              <a:ext uri="{FF2B5EF4-FFF2-40B4-BE49-F238E27FC236}">
                <a16:creationId xmlns:a16="http://schemas.microsoft.com/office/drawing/2014/main" id="{54A884E4-9E9F-0D17-01FD-3BD3E25B5C32}"/>
              </a:ext>
            </a:extLst>
          </p:cNvPr>
          <p:cNvGraphicFramePr>
            <a:graphicFrameLocks noChangeAspect="1"/>
          </p:cNvGraphicFramePr>
          <p:nvPr>
            <p:extLst>
              <p:ext uri="{D42A27DB-BD31-4B8C-83A1-F6EECF244321}">
                <p14:modId xmlns:p14="http://schemas.microsoft.com/office/powerpoint/2010/main" val="3414859116"/>
              </p:ext>
            </p:extLst>
          </p:nvPr>
        </p:nvGraphicFramePr>
        <p:xfrm>
          <a:off x="4903288" y="4986375"/>
          <a:ext cx="1714501" cy="677825"/>
        </p:xfrm>
        <a:graphic>
          <a:graphicData uri="http://schemas.openxmlformats.org/presentationml/2006/ole">
            <mc:AlternateContent xmlns:mc="http://schemas.openxmlformats.org/markup-compatibility/2006">
              <mc:Choice xmlns:v="urn:schemas-microsoft-com:vml" Requires="v">
                <p:oleObj name="Equation" r:id="rId12" imgW="1091880" imgH="431640" progId="Equation.DSMT4">
                  <p:embed/>
                </p:oleObj>
              </mc:Choice>
              <mc:Fallback>
                <p:oleObj name="Equation" r:id="rId12" imgW="1091880" imgH="431640" progId="Equation.DSMT4">
                  <p:embed/>
                  <p:pic>
                    <p:nvPicPr>
                      <p:cNvPr id="23" name="Object 19">
                        <a:extLst>
                          <a:ext uri="{FF2B5EF4-FFF2-40B4-BE49-F238E27FC236}">
                            <a16:creationId xmlns:a16="http://schemas.microsoft.com/office/drawing/2014/main" id="{54A884E4-9E9F-0D17-01FD-3BD3E25B5C32}"/>
                          </a:ext>
                        </a:extLst>
                      </p:cNvPr>
                      <p:cNvPicPr/>
                      <p:nvPr/>
                    </p:nvPicPr>
                    <p:blipFill>
                      <a:blip r:embed="rId13"/>
                      <a:stretch>
                        <a:fillRect/>
                      </a:stretch>
                    </p:blipFill>
                    <p:spPr>
                      <a:xfrm>
                        <a:off x="4903288" y="4986375"/>
                        <a:ext cx="1714501" cy="677825"/>
                      </a:xfrm>
                      <a:prstGeom prst="rect">
                        <a:avLst/>
                      </a:prstGeom>
                    </p:spPr>
                  </p:pic>
                </p:oleObj>
              </mc:Fallback>
            </mc:AlternateContent>
          </a:graphicData>
        </a:graphic>
      </p:graphicFrame>
      <p:cxnSp>
        <p:nvCxnSpPr>
          <p:cNvPr id="24" name="Straight Arrow Connector 20">
            <a:extLst>
              <a:ext uri="{FF2B5EF4-FFF2-40B4-BE49-F238E27FC236}">
                <a16:creationId xmlns:a16="http://schemas.microsoft.com/office/drawing/2014/main" id="{2FC5BB22-1076-5EE6-15AB-5EFC4964AE94}"/>
              </a:ext>
            </a:extLst>
          </p:cNvPr>
          <p:cNvCxnSpPr/>
          <p:nvPr/>
        </p:nvCxnSpPr>
        <p:spPr>
          <a:xfrm>
            <a:off x="1321260" y="5951552"/>
            <a:ext cx="647700" cy="0"/>
          </a:xfrm>
          <a:prstGeom prst="straightConnector1">
            <a:avLst/>
          </a:prstGeom>
          <a:noFill/>
          <a:ln w="12700" cap="flat" cmpd="sng" algn="ctr">
            <a:solidFill>
              <a:sysClr val="windowText" lastClr="000000"/>
            </a:solidFill>
            <a:prstDash val="solid"/>
            <a:miter lim="800000"/>
            <a:tailEnd type="triangle"/>
          </a:ln>
          <a:effectLst/>
        </p:spPr>
      </p:cxnSp>
    </p:spTree>
    <p:extLst>
      <p:ext uri="{BB962C8B-B14F-4D97-AF65-F5344CB8AC3E}">
        <p14:creationId xmlns:p14="http://schemas.microsoft.com/office/powerpoint/2010/main" val="3895105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0C979-F7A1-387A-4D2F-7E50CC7B5EC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512DBE57-21DE-8D37-EB39-3A7B2BD902B1}"/>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D1606429-D033-10E9-7D03-42DD8CCFB5DB}"/>
              </a:ext>
            </a:extLst>
          </p:cNvPr>
          <p:cNvSpPr>
            <a:spLocks noGrp="1"/>
          </p:cNvSpPr>
          <p:nvPr>
            <p:ph type="title"/>
          </p:nvPr>
        </p:nvSpPr>
        <p:spPr/>
        <p:txBody>
          <a:bodyPr>
            <a:normAutofit fontScale="90000"/>
          </a:bodyPr>
          <a:lstStyle/>
          <a:p>
            <a:r>
              <a:rPr lang="en-US"/>
              <a:t>1. Tổng quan chung và thông số mạch lực</a:t>
            </a:r>
          </a:p>
        </p:txBody>
      </p:sp>
      <p:sp>
        <p:nvSpPr>
          <p:cNvPr id="2" name="TextBox 8">
            <a:extLst>
              <a:ext uri="{FF2B5EF4-FFF2-40B4-BE49-F238E27FC236}">
                <a16:creationId xmlns:a16="http://schemas.microsoft.com/office/drawing/2014/main" id="{B4D0CD08-0568-80E3-A21F-086928993CFE}"/>
              </a:ext>
            </a:extLst>
          </p:cNvPr>
          <p:cNvSpPr txBox="1"/>
          <p:nvPr/>
        </p:nvSpPr>
        <p:spPr>
          <a:xfrm>
            <a:off x="442876" y="1224865"/>
            <a:ext cx="10947400"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Đặt vấn đề</a:t>
            </a:r>
          </a:p>
        </p:txBody>
      </p:sp>
      <p:pic>
        <p:nvPicPr>
          <p:cNvPr id="3" name="Picture 11" descr="Diagram&#10;&#10;Description automatically generated">
            <a:extLst>
              <a:ext uri="{FF2B5EF4-FFF2-40B4-BE49-F238E27FC236}">
                <a16:creationId xmlns:a16="http://schemas.microsoft.com/office/drawing/2014/main" id="{E90935AE-AA7C-F51A-9E89-E4036F4911FB}"/>
              </a:ext>
            </a:extLst>
          </p:cNvPr>
          <p:cNvPicPr>
            <a:picLocks noChangeAspect="1"/>
          </p:cNvPicPr>
          <p:nvPr/>
        </p:nvPicPr>
        <p:blipFill rotWithShape="1">
          <a:blip r:embed="rId2">
            <a:extLst>
              <a:ext uri="{28A0092B-C50C-407E-A947-70E740481C1C}">
                <a14:useLocalDpi xmlns:a14="http://schemas.microsoft.com/office/drawing/2010/main" val="0"/>
              </a:ext>
            </a:extLst>
          </a:blip>
          <a:srcRect l="25912" t="23718" r="26186" b="44835"/>
          <a:stretch/>
        </p:blipFill>
        <p:spPr>
          <a:xfrm>
            <a:off x="518160" y="1962901"/>
            <a:ext cx="5577840" cy="2156612"/>
          </a:xfrm>
          <a:prstGeom prst="rect">
            <a:avLst/>
          </a:prstGeom>
        </p:spPr>
      </p:pic>
      <p:pic>
        <p:nvPicPr>
          <p:cNvPr id="4" name="Picture 12" descr="Diagram&#10;&#10;Description automatically generated">
            <a:extLst>
              <a:ext uri="{FF2B5EF4-FFF2-40B4-BE49-F238E27FC236}">
                <a16:creationId xmlns:a16="http://schemas.microsoft.com/office/drawing/2014/main" id="{50EDC862-E75B-B113-F23D-1CD0096B07B9}"/>
              </a:ext>
            </a:extLst>
          </p:cNvPr>
          <p:cNvPicPr>
            <a:picLocks noChangeAspect="1"/>
          </p:cNvPicPr>
          <p:nvPr/>
        </p:nvPicPr>
        <p:blipFill rotWithShape="1">
          <a:blip r:embed="rId2">
            <a:extLst>
              <a:ext uri="{28A0092B-C50C-407E-A947-70E740481C1C}">
                <a14:useLocalDpi xmlns:a14="http://schemas.microsoft.com/office/drawing/2010/main" val="0"/>
              </a:ext>
            </a:extLst>
          </a:blip>
          <a:srcRect l="25912" t="55164" r="26186" b="8645"/>
          <a:stretch/>
        </p:blipFill>
        <p:spPr>
          <a:xfrm>
            <a:off x="5916576" y="1962901"/>
            <a:ext cx="5577840" cy="2481943"/>
          </a:xfrm>
          <a:prstGeom prst="rect">
            <a:avLst/>
          </a:prstGeom>
        </p:spPr>
      </p:pic>
      <p:sp>
        <p:nvSpPr>
          <p:cNvPr id="6" name="TextBox 13">
            <a:extLst>
              <a:ext uri="{FF2B5EF4-FFF2-40B4-BE49-F238E27FC236}">
                <a16:creationId xmlns:a16="http://schemas.microsoft.com/office/drawing/2014/main" id="{2F2B7710-2547-CD51-2456-9A94C7BFB212}"/>
              </a:ext>
            </a:extLst>
          </p:cNvPr>
          <p:cNvSpPr txBox="1"/>
          <p:nvPr/>
        </p:nvSpPr>
        <p:spPr>
          <a:xfrm>
            <a:off x="880474" y="4493584"/>
            <a:ext cx="4673789" cy="1015663"/>
          </a:xfrm>
          <a:prstGeom prst="rect">
            <a:avLst/>
          </a:prstGeom>
          <a:noFill/>
        </p:spPr>
        <p:txBody>
          <a:bodyPr wrap="square" rtlCol="0">
            <a:spAutoFit/>
          </a:bodyPr>
          <a:lstStyle/>
          <a:p>
            <a:r>
              <a:rPr lang="en-US" sz="2000"/>
              <a:t>Hình 1.1. Sơ đồ chỉnh lưu cầu diode với tụ hóa để san phẳng dạng điện áp đầu ra. Dạng sơ đồ này có PF khá thấp</a:t>
            </a:r>
          </a:p>
        </p:txBody>
      </p:sp>
      <p:sp>
        <p:nvSpPr>
          <p:cNvPr id="7" name="TextBox 14">
            <a:extLst>
              <a:ext uri="{FF2B5EF4-FFF2-40B4-BE49-F238E27FC236}">
                <a16:creationId xmlns:a16="http://schemas.microsoft.com/office/drawing/2014/main" id="{006E9F21-F1F4-B2B3-3B89-8C8C745B5A18}"/>
              </a:ext>
            </a:extLst>
          </p:cNvPr>
          <p:cNvSpPr txBox="1"/>
          <p:nvPr/>
        </p:nvSpPr>
        <p:spPr>
          <a:xfrm>
            <a:off x="6368601" y="4493584"/>
            <a:ext cx="4673789" cy="1323439"/>
          </a:xfrm>
          <a:prstGeom prst="rect">
            <a:avLst/>
          </a:prstGeom>
          <a:noFill/>
        </p:spPr>
        <p:txBody>
          <a:bodyPr wrap="square" rtlCol="0">
            <a:spAutoFit/>
          </a:bodyPr>
          <a:lstStyle/>
          <a:p>
            <a:r>
              <a:rPr lang="en-US" sz="2000"/>
              <a:t>Hình 1.2. Dạng dòng điện và điện áp lưới. Dòng điện đi vào lưới có rất nhiều thành phần sóng hài bậc cao, gây ảnh hưởng đến hệ số công suất</a:t>
            </a:r>
          </a:p>
        </p:txBody>
      </p:sp>
    </p:spTree>
    <p:extLst>
      <p:ext uri="{BB962C8B-B14F-4D97-AF65-F5344CB8AC3E}">
        <p14:creationId xmlns:p14="http://schemas.microsoft.com/office/powerpoint/2010/main" val="2373299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CA87D-8A79-F01E-69D7-471C21121AC5}"/>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62B3AB3-CE43-0B12-EBB7-DBBCAB07249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AF72CC06-D8C2-46BF-786D-2F28642F1497}"/>
              </a:ext>
            </a:extLst>
          </p:cNvPr>
          <p:cNvSpPr>
            <a:spLocks noGrp="1"/>
          </p:cNvSpPr>
          <p:nvPr>
            <p:ph type="title"/>
          </p:nvPr>
        </p:nvSpPr>
        <p:spPr/>
        <p:txBody>
          <a:bodyPr>
            <a:normAutofit fontScale="90000"/>
          </a:bodyPr>
          <a:lstStyle/>
          <a:p>
            <a:r>
              <a:rPr lang="en-US"/>
              <a:t>1. Tổng quan chung và thông số mạch lực</a:t>
            </a:r>
          </a:p>
        </p:txBody>
      </p:sp>
      <p:sp>
        <p:nvSpPr>
          <p:cNvPr id="2" name="TextBox 8">
            <a:extLst>
              <a:ext uri="{FF2B5EF4-FFF2-40B4-BE49-F238E27FC236}">
                <a16:creationId xmlns:a16="http://schemas.microsoft.com/office/drawing/2014/main" id="{5F8786DF-D215-5509-1BC3-47E31BE990C6}"/>
              </a:ext>
            </a:extLst>
          </p:cNvPr>
          <p:cNvSpPr txBox="1"/>
          <p:nvPr/>
        </p:nvSpPr>
        <p:spPr>
          <a:xfrm>
            <a:off x="338736" y="1113941"/>
            <a:ext cx="10947400"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Một số giải pháp</a:t>
            </a:r>
          </a:p>
        </p:txBody>
      </p:sp>
      <p:sp>
        <p:nvSpPr>
          <p:cNvPr id="3" name="TextBox 13">
            <a:extLst>
              <a:ext uri="{FF2B5EF4-FFF2-40B4-BE49-F238E27FC236}">
                <a16:creationId xmlns:a16="http://schemas.microsoft.com/office/drawing/2014/main" id="{A2702BA3-4D54-5262-AC59-4021B37C5938}"/>
              </a:ext>
            </a:extLst>
          </p:cNvPr>
          <p:cNvSpPr txBox="1"/>
          <p:nvPr/>
        </p:nvSpPr>
        <p:spPr>
          <a:xfrm>
            <a:off x="880474" y="4493584"/>
            <a:ext cx="4673789" cy="1323439"/>
          </a:xfrm>
          <a:prstGeom prst="rect">
            <a:avLst/>
          </a:prstGeom>
          <a:noFill/>
        </p:spPr>
        <p:txBody>
          <a:bodyPr wrap="square" rtlCol="0">
            <a:spAutoFit/>
          </a:bodyPr>
          <a:lstStyle/>
          <a:p>
            <a:r>
              <a:rPr lang="en-US" sz="2000"/>
              <a:t>Hình 1.3. Một giải pháp mạch PFC kiểu không tích cực với cuộn kháng phía lưới để bù lại công suất phản kháng do tụ hóa gây ra</a:t>
            </a:r>
          </a:p>
        </p:txBody>
      </p:sp>
      <p:sp>
        <p:nvSpPr>
          <p:cNvPr id="4" name="TextBox 14">
            <a:extLst>
              <a:ext uri="{FF2B5EF4-FFF2-40B4-BE49-F238E27FC236}">
                <a16:creationId xmlns:a16="http://schemas.microsoft.com/office/drawing/2014/main" id="{553E67CA-0A10-7665-1272-5DE69889820F}"/>
              </a:ext>
            </a:extLst>
          </p:cNvPr>
          <p:cNvSpPr txBox="1"/>
          <p:nvPr/>
        </p:nvSpPr>
        <p:spPr>
          <a:xfrm>
            <a:off x="6368601" y="4493584"/>
            <a:ext cx="4673789" cy="1631216"/>
          </a:xfrm>
          <a:prstGeom prst="rect">
            <a:avLst/>
          </a:prstGeom>
          <a:noFill/>
        </p:spPr>
        <p:txBody>
          <a:bodyPr wrap="square" rtlCol="0">
            <a:spAutoFit/>
          </a:bodyPr>
          <a:lstStyle/>
          <a:p>
            <a:r>
              <a:rPr lang="en-US" sz="2000"/>
              <a:t>Hình 1.4. Dạng dòng điện và điện áp lưới và dạng dòng điện lý tưởng. Hệ số công suất của mạch sau khi sử dụng bộ PFC kiểu không tích cực được cải thiện lên khoảng 0.7 -&gt; 0.85</a:t>
            </a:r>
          </a:p>
        </p:txBody>
      </p:sp>
      <p:pic>
        <p:nvPicPr>
          <p:cNvPr id="6" name="Picture 5" descr="Diagram&#10;&#10;Description automatically generated">
            <a:extLst>
              <a:ext uri="{FF2B5EF4-FFF2-40B4-BE49-F238E27FC236}">
                <a16:creationId xmlns:a16="http://schemas.microsoft.com/office/drawing/2014/main" id="{3CABFCF0-0A4E-8B64-87D3-7457739AC88C}"/>
              </a:ext>
            </a:extLst>
          </p:cNvPr>
          <p:cNvPicPr>
            <a:picLocks noChangeAspect="1"/>
          </p:cNvPicPr>
          <p:nvPr/>
        </p:nvPicPr>
        <p:blipFill rotWithShape="1">
          <a:blip r:embed="rId2">
            <a:extLst>
              <a:ext uri="{28A0092B-C50C-407E-A947-70E740481C1C}">
                <a14:useLocalDpi xmlns:a14="http://schemas.microsoft.com/office/drawing/2010/main" val="0"/>
              </a:ext>
            </a:extLst>
          </a:blip>
          <a:srcRect l="21425" t="22077" r="23717" b="39509"/>
          <a:stretch/>
        </p:blipFill>
        <p:spPr>
          <a:xfrm>
            <a:off x="518618" y="2079351"/>
            <a:ext cx="5397500" cy="2225967"/>
          </a:xfrm>
          <a:prstGeom prst="rect">
            <a:avLst/>
          </a:prstGeom>
        </p:spPr>
      </p:pic>
      <p:pic>
        <p:nvPicPr>
          <p:cNvPr id="7" name="Picture 15" descr="Diagram&#10;&#10;Description automatically generated">
            <a:extLst>
              <a:ext uri="{FF2B5EF4-FFF2-40B4-BE49-F238E27FC236}">
                <a16:creationId xmlns:a16="http://schemas.microsoft.com/office/drawing/2014/main" id="{6367AD24-E1BC-3800-C49B-533940F7E57E}"/>
              </a:ext>
            </a:extLst>
          </p:cNvPr>
          <p:cNvPicPr>
            <a:picLocks noChangeAspect="1"/>
          </p:cNvPicPr>
          <p:nvPr/>
        </p:nvPicPr>
        <p:blipFill rotWithShape="1">
          <a:blip r:embed="rId2">
            <a:extLst>
              <a:ext uri="{28A0092B-C50C-407E-A947-70E740481C1C}">
                <a14:useLocalDpi xmlns:a14="http://schemas.microsoft.com/office/drawing/2010/main" val="0"/>
              </a:ext>
            </a:extLst>
          </a:blip>
          <a:srcRect l="25643" t="68261" r="36294" b="5324"/>
          <a:stretch/>
        </p:blipFill>
        <p:spPr>
          <a:xfrm>
            <a:off x="6489345" y="2493769"/>
            <a:ext cx="4432300" cy="1811549"/>
          </a:xfrm>
          <a:prstGeom prst="rect">
            <a:avLst/>
          </a:prstGeom>
        </p:spPr>
      </p:pic>
      <p:sp>
        <p:nvSpPr>
          <p:cNvPr id="8" name="TextBox 16">
            <a:extLst>
              <a:ext uri="{FF2B5EF4-FFF2-40B4-BE49-F238E27FC236}">
                <a16:creationId xmlns:a16="http://schemas.microsoft.com/office/drawing/2014/main" id="{F189D895-9605-D5EB-C775-5D53DBD67503}"/>
              </a:ext>
            </a:extLst>
          </p:cNvPr>
          <p:cNvSpPr txBox="1"/>
          <p:nvPr/>
        </p:nvSpPr>
        <p:spPr>
          <a:xfrm>
            <a:off x="338736" y="1569521"/>
            <a:ext cx="10947400" cy="400110"/>
          </a:xfrm>
          <a:prstGeom prst="rect">
            <a:avLst/>
          </a:prstGeom>
          <a:noFill/>
        </p:spPr>
        <p:txBody>
          <a:bodyPr wrap="square" rtlCol="0">
            <a:spAutoFit/>
          </a:bodyPr>
          <a:lstStyle/>
          <a:p>
            <a:pPr marL="342900" indent="-342900">
              <a:buFont typeface="Wingdings" panose="05000000000000000000" pitchFamily="2" charset="2"/>
              <a:buChar char="q"/>
            </a:pPr>
            <a:r>
              <a:rPr lang="en-US" sz="2000"/>
              <a:t>Passive PFC (PFC không tích cực)</a:t>
            </a:r>
          </a:p>
        </p:txBody>
      </p:sp>
    </p:spTree>
    <p:extLst>
      <p:ext uri="{BB962C8B-B14F-4D97-AF65-F5344CB8AC3E}">
        <p14:creationId xmlns:p14="http://schemas.microsoft.com/office/powerpoint/2010/main" val="352538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218A-FC48-BA88-7801-8CAF53A24AB5}"/>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46B0FC32-DCF5-2BC5-94BF-765102DA31CC}"/>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6</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ADAA1CAA-A12E-D0EA-46D9-8C6FAE796B73}"/>
              </a:ext>
            </a:extLst>
          </p:cNvPr>
          <p:cNvSpPr>
            <a:spLocks noGrp="1"/>
          </p:cNvSpPr>
          <p:nvPr>
            <p:ph type="title"/>
          </p:nvPr>
        </p:nvSpPr>
        <p:spPr/>
        <p:txBody>
          <a:bodyPr>
            <a:normAutofit fontScale="90000"/>
          </a:bodyPr>
          <a:lstStyle/>
          <a:p>
            <a:r>
              <a:rPr lang="en-US"/>
              <a:t>1. Tổng quan chung và thông số mạch lực</a:t>
            </a:r>
          </a:p>
        </p:txBody>
      </p:sp>
      <p:pic>
        <p:nvPicPr>
          <p:cNvPr id="2" name="Picture 14" descr="Diagram&#10;&#10;Description automatically generated">
            <a:extLst>
              <a:ext uri="{FF2B5EF4-FFF2-40B4-BE49-F238E27FC236}">
                <a16:creationId xmlns:a16="http://schemas.microsoft.com/office/drawing/2014/main" id="{588A3A4E-064E-383C-C52F-DE649DE6AA26}"/>
              </a:ext>
            </a:extLst>
          </p:cNvPr>
          <p:cNvPicPr>
            <a:picLocks noChangeAspect="1"/>
          </p:cNvPicPr>
          <p:nvPr/>
        </p:nvPicPr>
        <p:blipFill rotWithShape="1">
          <a:blip r:embed="rId2">
            <a:extLst>
              <a:ext uri="{28A0092B-C50C-407E-A947-70E740481C1C}">
                <a14:useLocalDpi xmlns:a14="http://schemas.microsoft.com/office/drawing/2010/main" val="0"/>
              </a:ext>
            </a:extLst>
          </a:blip>
          <a:srcRect l="57420" t="30740" r="8770" b="22039"/>
          <a:stretch/>
        </p:blipFill>
        <p:spPr>
          <a:xfrm>
            <a:off x="7906435" y="3529884"/>
            <a:ext cx="2853134" cy="2346844"/>
          </a:xfrm>
          <a:prstGeom prst="rect">
            <a:avLst/>
          </a:prstGeom>
        </p:spPr>
      </p:pic>
      <p:sp>
        <p:nvSpPr>
          <p:cNvPr id="3" name="TextBox 2">
            <a:extLst>
              <a:ext uri="{FF2B5EF4-FFF2-40B4-BE49-F238E27FC236}">
                <a16:creationId xmlns:a16="http://schemas.microsoft.com/office/drawing/2014/main" id="{28A7AFAD-C7A4-BA1C-C7C5-CD9DAB021BB2}"/>
              </a:ext>
            </a:extLst>
          </p:cNvPr>
          <p:cNvSpPr txBox="1"/>
          <p:nvPr/>
        </p:nvSpPr>
        <p:spPr>
          <a:xfrm>
            <a:off x="469900" y="1524000"/>
            <a:ext cx="6297965" cy="3276282"/>
          </a:xfrm>
          <a:prstGeom prst="rect">
            <a:avLst/>
          </a:prstGeom>
          <a:noFill/>
        </p:spPr>
        <p:txBody>
          <a:bodyPr wrap="square" rtlCol="0">
            <a:spAutoFit/>
          </a:bodyPr>
          <a:lstStyle/>
          <a:p>
            <a:pPr>
              <a:lnSpc>
                <a:spcPct val="150000"/>
              </a:lnSpc>
            </a:pPr>
            <a:r>
              <a:rPr lang="en-US" sz="2000"/>
              <a:t>- Bộ biến đổi PFC kiểu Boost là bộ biến đổi vừa có khả năng hiệu chỉnh lại hệ số công suất, vừa có khả năng tăng áp </a:t>
            </a:r>
          </a:p>
          <a:p>
            <a:pPr>
              <a:lnSpc>
                <a:spcPct val="150000"/>
              </a:lnSpc>
            </a:pPr>
            <a:r>
              <a:rPr lang="en-US" sz="2000"/>
              <a:t>- Giá trị xác lập hệ số điều chế:</a:t>
            </a:r>
          </a:p>
          <a:p>
            <a:pPr>
              <a:lnSpc>
                <a:spcPct val="150000"/>
              </a:lnSpc>
            </a:pPr>
            <a:endParaRPr lang="en-US" sz="2000"/>
          </a:p>
          <a:p>
            <a:pPr>
              <a:lnSpc>
                <a:spcPct val="150000"/>
              </a:lnSpc>
            </a:pPr>
            <a:endParaRPr lang="en-US" sz="2000"/>
          </a:p>
          <a:p>
            <a:pPr>
              <a:lnSpc>
                <a:spcPct val="150000"/>
              </a:lnSpc>
            </a:pPr>
            <a:r>
              <a:rPr lang="en-US" sz="2000"/>
              <a:t>- Điện áp tải:</a:t>
            </a:r>
          </a:p>
        </p:txBody>
      </p:sp>
      <p:sp>
        <p:nvSpPr>
          <p:cNvPr id="6" name="TextBox 12">
            <a:extLst>
              <a:ext uri="{FF2B5EF4-FFF2-40B4-BE49-F238E27FC236}">
                <a16:creationId xmlns:a16="http://schemas.microsoft.com/office/drawing/2014/main" id="{9A6F95A5-9BB2-6849-A57B-32941673D2FA}"/>
              </a:ext>
            </a:extLst>
          </p:cNvPr>
          <p:cNvSpPr txBox="1"/>
          <p:nvPr/>
        </p:nvSpPr>
        <p:spPr>
          <a:xfrm>
            <a:off x="7136898" y="3226925"/>
            <a:ext cx="4673789" cy="338554"/>
          </a:xfrm>
          <a:prstGeom prst="rect">
            <a:avLst/>
          </a:prstGeom>
          <a:noFill/>
        </p:spPr>
        <p:txBody>
          <a:bodyPr wrap="square" rtlCol="0">
            <a:spAutoFit/>
          </a:bodyPr>
          <a:lstStyle/>
          <a:p>
            <a:r>
              <a:rPr lang="en-US" sz="1600"/>
              <a:t>Hình 1.5. Sơ đồ mạch lực bộ PFC kiểu Boost</a:t>
            </a:r>
          </a:p>
        </p:txBody>
      </p:sp>
      <p:sp>
        <p:nvSpPr>
          <p:cNvPr id="7" name="TextBox 15">
            <a:extLst>
              <a:ext uri="{FF2B5EF4-FFF2-40B4-BE49-F238E27FC236}">
                <a16:creationId xmlns:a16="http://schemas.microsoft.com/office/drawing/2014/main" id="{4D285F0C-C949-08A9-F7EA-3FE384DC1432}"/>
              </a:ext>
            </a:extLst>
          </p:cNvPr>
          <p:cNvSpPr txBox="1"/>
          <p:nvPr/>
        </p:nvSpPr>
        <p:spPr>
          <a:xfrm>
            <a:off x="6900811" y="5841133"/>
            <a:ext cx="4864384" cy="584775"/>
          </a:xfrm>
          <a:prstGeom prst="rect">
            <a:avLst/>
          </a:prstGeom>
          <a:noFill/>
        </p:spPr>
        <p:txBody>
          <a:bodyPr wrap="square" rtlCol="0">
            <a:spAutoFit/>
          </a:bodyPr>
          <a:lstStyle/>
          <a:p>
            <a:pPr algn="ctr"/>
            <a:r>
              <a:rPr lang="en-US" sz="1600"/>
              <a:t>Hình 1.6. Đặc tính điện áp tải dòng, áp sau chỉnh lưu và hệ số điều chế</a:t>
            </a:r>
          </a:p>
        </p:txBody>
      </p:sp>
      <p:pic>
        <p:nvPicPr>
          <p:cNvPr id="8" name="Picture 17">
            <a:extLst>
              <a:ext uri="{FF2B5EF4-FFF2-40B4-BE49-F238E27FC236}">
                <a16:creationId xmlns:a16="http://schemas.microsoft.com/office/drawing/2014/main" id="{F0BDFB17-91B4-4C12-2D3F-BFCB2CCD7A2F}"/>
              </a:ext>
            </a:extLst>
          </p:cNvPr>
          <p:cNvPicPr>
            <a:picLocks noChangeAspect="1"/>
          </p:cNvPicPr>
          <p:nvPr/>
        </p:nvPicPr>
        <p:blipFill>
          <a:blip r:embed="rId3"/>
          <a:stretch>
            <a:fillRect/>
          </a:stretch>
        </p:blipFill>
        <p:spPr>
          <a:xfrm>
            <a:off x="1608470" y="3428999"/>
            <a:ext cx="1185529" cy="769825"/>
          </a:xfrm>
          <a:prstGeom prst="rect">
            <a:avLst/>
          </a:prstGeom>
        </p:spPr>
      </p:pic>
      <p:pic>
        <p:nvPicPr>
          <p:cNvPr id="9" name="Picture 19">
            <a:extLst>
              <a:ext uri="{FF2B5EF4-FFF2-40B4-BE49-F238E27FC236}">
                <a16:creationId xmlns:a16="http://schemas.microsoft.com/office/drawing/2014/main" id="{409FB567-A7E1-821A-9EED-0D57F60E6700}"/>
              </a:ext>
            </a:extLst>
          </p:cNvPr>
          <p:cNvPicPr>
            <a:picLocks noChangeAspect="1"/>
          </p:cNvPicPr>
          <p:nvPr/>
        </p:nvPicPr>
        <p:blipFill>
          <a:blip r:embed="rId4"/>
          <a:stretch>
            <a:fillRect/>
          </a:stretch>
        </p:blipFill>
        <p:spPr>
          <a:xfrm>
            <a:off x="3518504" y="3431089"/>
            <a:ext cx="1956972" cy="767735"/>
          </a:xfrm>
          <a:prstGeom prst="rect">
            <a:avLst/>
          </a:prstGeom>
        </p:spPr>
      </p:pic>
      <p:sp>
        <p:nvSpPr>
          <p:cNvPr id="11" name="TextBox 10">
            <a:extLst>
              <a:ext uri="{FF2B5EF4-FFF2-40B4-BE49-F238E27FC236}">
                <a16:creationId xmlns:a16="http://schemas.microsoft.com/office/drawing/2014/main" id="{0AC8D3C2-F3F0-4C99-B8B6-6F2B3300691F}"/>
              </a:ext>
            </a:extLst>
          </p:cNvPr>
          <p:cNvSpPr txBox="1"/>
          <p:nvPr/>
        </p:nvSpPr>
        <p:spPr>
          <a:xfrm>
            <a:off x="338736" y="1165134"/>
            <a:ext cx="10947400" cy="400110"/>
          </a:xfrm>
          <a:prstGeom prst="rect">
            <a:avLst/>
          </a:prstGeom>
          <a:noFill/>
        </p:spPr>
        <p:txBody>
          <a:bodyPr wrap="square" rtlCol="0">
            <a:spAutoFit/>
          </a:bodyPr>
          <a:lstStyle/>
          <a:p>
            <a:pPr marL="342900" indent="-342900">
              <a:buFont typeface="Wingdings" panose="05000000000000000000" pitchFamily="2" charset="2"/>
              <a:buChar char="q"/>
            </a:pPr>
            <a:r>
              <a:rPr lang="en-US" sz="2000"/>
              <a:t>Active PFC (PFC tích cực)</a:t>
            </a:r>
          </a:p>
        </p:txBody>
      </p:sp>
      <p:cxnSp>
        <p:nvCxnSpPr>
          <p:cNvPr id="12" name="Straight Arrow Connector 5">
            <a:extLst>
              <a:ext uri="{FF2B5EF4-FFF2-40B4-BE49-F238E27FC236}">
                <a16:creationId xmlns:a16="http://schemas.microsoft.com/office/drawing/2014/main" id="{736085E1-7457-2B81-1A33-450195210939}"/>
              </a:ext>
            </a:extLst>
          </p:cNvPr>
          <p:cNvCxnSpPr/>
          <p:nvPr/>
        </p:nvCxnSpPr>
        <p:spPr>
          <a:xfrm>
            <a:off x="2933700" y="3801028"/>
            <a:ext cx="4705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7" descr="Graphical user interface, application, Word&#10;&#10;Description automatically generated">
            <a:extLst>
              <a:ext uri="{FF2B5EF4-FFF2-40B4-BE49-F238E27FC236}">
                <a16:creationId xmlns:a16="http://schemas.microsoft.com/office/drawing/2014/main" id="{A93826DF-84DD-1E6B-FDD7-F3E33381D8E6}"/>
              </a:ext>
            </a:extLst>
          </p:cNvPr>
          <p:cNvPicPr>
            <a:picLocks noChangeAspect="1"/>
          </p:cNvPicPr>
          <p:nvPr/>
        </p:nvPicPr>
        <p:blipFill rotWithShape="1">
          <a:blip r:embed="rId5">
            <a:extLst>
              <a:ext uri="{28A0092B-C50C-407E-A947-70E740481C1C}">
                <a14:useLocalDpi xmlns:a14="http://schemas.microsoft.com/office/drawing/2010/main" val="0"/>
              </a:ext>
            </a:extLst>
          </a:blip>
          <a:srcRect l="9949" t="40741" r="55397" b="35926"/>
          <a:stretch/>
        </p:blipFill>
        <p:spPr>
          <a:xfrm>
            <a:off x="1608470" y="4756868"/>
            <a:ext cx="3471530" cy="1376653"/>
          </a:xfrm>
          <a:prstGeom prst="rect">
            <a:avLst/>
          </a:prstGeom>
        </p:spPr>
      </p:pic>
      <p:grpSp>
        <p:nvGrpSpPr>
          <p:cNvPr id="16" name="Group 15">
            <a:extLst>
              <a:ext uri="{FF2B5EF4-FFF2-40B4-BE49-F238E27FC236}">
                <a16:creationId xmlns:a16="http://schemas.microsoft.com/office/drawing/2014/main" id="{AB23E4E8-E4E6-8100-F8BE-07A826CAB9B9}"/>
              </a:ext>
            </a:extLst>
          </p:cNvPr>
          <p:cNvGrpSpPr/>
          <p:nvPr/>
        </p:nvGrpSpPr>
        <p:grpSpPr>
          <a:xfrm>
            <a:off x="6834890" y="782362"/>
            <a:ext cx="4643241" cy="2377596"/>
            <a:chOff x="7210023" y="1961279"/>
            <a:chExt cx="4643241" cy="2377596"/>
          </a:xfrm>
        </p:grpSpPr>
        <p:pic>
          <p:nvPicPr>
            <p:cNvPr id="17" name="Picture 16">
              <a:extLst>
                <a:ext uri="{FF2B5EF4-FFF2-40B4-BE49-F238E27FC236}">
                  <a16:creationId xmlns:a16="http://schemas.microsoft.com/office/drawing/2014/main" id="{8750357B-6E16-3613-4AFD-BB78D86E3EB0}"/>
                </a:ext>
              </a:extLst>
            </p:cNvPr>
            <p:cNvPicPr>
              <a:picLocks noChangeAspect="1"/>
            </p:cNvPicPr>
            <p:nvPr/>
          </p:nvPicPr>
          <p:blipFill>
            <a:blip r:embed="rId6"/>
            <a:stretch>
              <a:fillRect/>
            </a:stretch>
          </p:blipFill>
          <p:spPr>
            <a:xfrm>
              <a:off x="7210023" y="1961279"/>
              <a:ext cx="4643241" cy="2377596"/>
            </a:xfrm>
            <a:prstGeom prst="rect">
              <a:avLst/>
            </a:prstGeom>
          </p:spPr>
        </p:pic>
        <p:pic>
          <p:nvPicPr>
            <p:cNvPr id="18" name="Picture 17">
              <a:extLst>
                <a:ext uri="{FF2B5EF4-FFF2-40B4-BE49-F238E27FC236}">
                  <a16:creationId xmlns:a16="http://schemas.microsoft.com/office/drawing/2014/main" id="{36042B51-2659-7C41-3B77-BA8AC345B810}"/>
                </a:ext>
              </a:extLst>
            </p:cNvPr>
            <p:cNvPicPr>
              <a:picLocks noChangeAspect="1"/>
            </p:cNvPicPr>
            <p:nvPr/>
          </p:nvPicPr>
          <p:blipFill>
            <a:blip r:embed="rId7"/>
            <a:stretch>
              <a:fillRect/>
            </a:stretch>
          </p:blipFill>
          <p:spPr>
            <a:xfrm>
              <a:off x="7607030" y="2554160"/>
              <a:ext cx="479166" cy="391534"/>
            </a:xfrm>
            <a:prstGeom prst="rect">
              <a:avLst/>
            </a:prstGeom>
          </p:spPr>
        </p:pic>
        <p:cxnSp>
          <p:nvCxnSpPr>
            <p:cNvPr id="19" name="Straight Connector 18">
              <a:extLst>
                <a:ext uri="{FF2B5EF4-FFF2-40B4-BE49-F238E27FC236}">
                  <a16:creationId xmlns:a16="http://schemas.microsoft.com/office/drawing/2014/main" id="{7ABC76E2-9476-A2E0-939E-868C3F7C71DF}"/>
                </a:ext>
              </a:extLst>
            </p:cNvPr>
            <p:cNvCxnSpPr>
              <a:cxnSpLocks/>
            </p:cNvCxnSpPr>
            <p:nvPr/>
          </p:nvCxnSpPr>
          <p:spPr>
            <a:xfrm>
              <a:off x="7480568" y="2897054"/>
              <a:ext cx="943583"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54933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5F5A8-4B82-5E1B-8DC6-A95202EAFE71}"/>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6A5A86FA-6B85-8037-2519-EA696CA8AC8C}"/>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7</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5167502F-BBCB-0707-810C-39F6D4F968D4}"/>
              </a:ext>
            </a:extLst>
          </p:cNvPr>
          <p:cNvSpPr>
            <a:spLocks noGrp="1"/>
          </p:cNvSpPr>
          <p:nvPr>
            <p:ph type="title"/>
          </p:nvPr>
        </p:nvSpPr>
        <p:spPr/>
        <p:txBody>
          <a:bodyPr>
            <a:normAutofit fontScale="90000"/>
          </a:bodyPr>
          <a:lstStyle/>
          <a:p>
            <a:r>
              <a:rPr lang="en-US"/>
              <a:t>1. Tổng quan chung và thông số mạch lực</a:t>
            </a:r>
          </a:p>
        </p:txBody>
      </p:sp>
      <p:sp>
        <p:nvSpPr>
          <p:cNvPr id="16" name="object 3">
            <a:extLst>
              <a:ext uri="{FF2B5EF4-FFF2-40B4-BE49-F238E27FC236}">
                <a16:creationId xmlns:a16="http://schemas.microsoft.com/office/drawing/2014/main" id="{9DDAE5F0-C3A2-3BCC-AC0E-D5806F850A87}"/>
              </a:ext>
            </a:extLst>
          </p:cNvPr>
          <p:cNvSpPr txBox="1"/>
          <p:nvPr/>
        </p:nvSpPr>
        <p:spPr>
          <a:xfrm>
            <a:off x="115027" y="780305"/>
            <a:ext cx="5005705" cy="536044"/>
          </a:xfrm>
          <a:prstGeom prst="rect">
            <a:avLst/>
          </a:prstGeom>
        </p:spPr>
        <p:txBody>
          <a:bodyPr vert="horz" wrap="square" lIns="0" tIns="165100" rIns="0" bIns="0" rtlCol="0">
            <a:spAutoFit/>
          </a:bodyPr>
          <a:lstStyle/>
          <a:p>
            <a:pPr marL="38100">
              <a:lnSpc>
                <a:spcPct val="100000"/>
              </a:lnSpc>
              <a:spcBef>
                <a:spcPts val="1300"/>
              </a:spcBef>
              <a:buClr>
                <a:srgbClr val="595958"/>
              </a:buClr>
              <a:buSzPct val="79166"/>
              <a:tabLst>
                <a:tab pos="266065" algn="l"/>
                <a:tab pos="266700" algn="l"/>
              </a:tabLst>
            </a:pPr>
            <a:r>
              <a:rPr sz="2400" b="1">
                <a:latin typeface="Times New Roman"/>
                <a:cs typeface="Times New Roman"/>
              </a:rPr>
              <a:t>Tham</a:t>
            </a:r>
            <a:r>
              <a:rPr sz="2400" b="1" spc="-20">
                <a:latin typeface="Times New Roman"/>
                <a:cs typeface="Times New Roman"/>
              </a:rPr>
              <a:t> </a:t>
            </a:r>
            <a:r>
              <a:rPr sz="2400" b="1">
                <a:latin typeface="Times New Roman"/>
                <a:cs typeface="Times New Roman"/>
              </a:rPr>
              <a:t>số</a:t>
            </a:r>
            <a:r>
              <a:rPr sz="2400" b="1" spc="-20">
                <a:latin typeface="Times New Roman"/>
                <a:cs typeface="Times New Roman"/>
              </a:rPr>
              <a:t> </a:t>
            </a:r>
            <a:r>
              <a:rPr sz="2400" b="1" err="1">
                <a:latin typeface="Times New Roman"/>
                <a:cs typeface="Times New Roman"/>
              </a:rPr>
              <a:t>thiết</a:t>
            </a:r>
            <a:r>
              <a:rPr sz="2400" b="1" spc="-15">
                <a:latin typeface="Times New Roman"/>
                <a:cs typeface="Times New Roman"/>
              </a:rPr>
              <a:t> </a:t>
            </a:r>
            <a:r>
              <a:rPr sz="2400" b="1" err="1">
                <a:latin typeface="Times New Roman"/>
                <a:cs typeface="Times New Roman"/>
              </a:rPr>
              <a:t>kế</a:t>
            </a:r>
            <a:endParaRPr sz="2400">
              <a:latin typeface="Times New Roman"/>
              <a:cs typeface="Times New Roman"/>
            </a:endParaRPr>
          </a:p>
        </p:txBody>
      </p:sp>
      <mc:AlternateContent xmlns:mc="http://schemas.openxmlformats.org/markup-compatibility/2006" xmlns:a14="http://schemas.microsoft.com/office/drawing/2010/main">
        <mc:Choice Requires="a14">
          <p:graphicFrame>
            <p:nvGraphicFramePr>
              <p:cNvPr id="17" name="Table 3">
                <a:extLst>
                  <a:ext uri="{FF2B5EF4-FFF2-40B4-BE49-F238E27FC236}">
                    <a16:creationId xmlns:a16="http://schemas.microsoft.com/office/drawing/2014/main" id="{254D6F82-3898-B67A-B76D-CFAD90B71EC7}"/>
                  </a:ext>
                </a:extLst>
              </p:cNvPr>
              <p:cNvGraphicFramePr>
                <a:graphicFrameLocks noGrp="1"/>
              </p:cNvGraphicFramePr>
              <p:nvPr>
                <p:extLst>
                  <p:ext uri="{D42A27DB-BD31-4B8C-83A1-F6EECF244321}">
                    <p14:modId xmlns:p14="http://schemas.microsoft.com/office/powerpoint/2010/main" val="2033231297"/>
                  </p:ext>
                </p:extLst>
              </p:nvPr>
            </p:nvGraphicFramePr>
            <p:xfrm>
              <a:off x="338735" y="1365995"/>
              <a:ext cx="7149184" cy="4711700"/>
            </p:xfrm>
            <a:graphic>
              <a:graphicData uri="http://schemas.openxmlformats.org/drawingml/2006/table">
                <a:tbl>
                  <a:tblPr firstRow="1" bandRow="1">
                    <a:tableStyleId>{5940675A-B579-460E-94D1-54222C63F5DA}</a:tableStyleId>
                  </a:tblPr>
                  <a:tblGrid>
                    <a:gridCol w="3574592">
                      <a:extLst>
                        <a:ext uri="{9D8B030D-6E8A-4147-A177-3AD203B41FA5}">
                          <a16:colId xmlns:a16="http://schemas.microsoft.com/office/drawing/2014/main" val="20000"/>
                        </a:ext>
                      </a:extLst>
                    </a:gridCol>
                    <a:gridCol w="3574592">
                      <a:extLst>
                        <a:ext uri="{9D8B030D-6E8A-4147-A177-3AD203B41FA5}">
                          <a16:colId xmlns:a16="http://schemas.microsoft.com/office/drawing/2014/main" val="20001"/>
                        </a:ext>
                      </a:extLst>
                    </a:gridCol>
                  </a:tblGrid>
                  <a:tr h="673100">
                    <a:tc>
                      <a:txBody>
                        <a:bodyPr/>
                        <a:lstStyle/>
                        <a:p>
                          <a:pPr algn="ctr"/>
                          <a:r>
                            <a:rPr lang="en-US" sz="1800" b="1" err="1">
                              <a:latin typeface="Arial" pitchFamily="34" charset="0"/>
                              <a:cs typeface="Arial" pitchFamily="34" charset="0"/>
                            </a:rPr>
                            <a:t>Tham</a:t>
                          </a:r>
                          <a:r>
                            <a:rPr lang="en-US" sz="1800" b="1">
                              <a:latin typeface="Arial" pitchFamily="34" charset="0"/>
                              <a:cs typeface="Arial" pitchFamily="34" charset="0"/>
                            </a:rPr>
                            <a:t> </a:t>
                          </a:r>
                          <a:r>
                            <a:rPr lang="en-US" sz="1800" b="1" err="1">
                              <a:latin typeface="Arial" pitchFamily="34" charset="0"/>
                              <a:cs typeface="Arial" pitchFamily="34" charset="0"/>
                            </a:rPr>
                            <a:t>số</a:t>
                          </a:r>
                          <a:endParaRPr lang="en-US" sz="1800" b="1">
                            <a:latin typeface="Arial" pitchFamily="34" charset="0"/>
                            <a:cs typeface="Arial" pitchFamily="34" charset="0"/>
                          </a:endParaRPr>
                        </a:p>
                      </a:txBody>
                      <a:tcPr anchor="ctr"/>
                    </a:tc>
                    <a:tc>
                      <a:txBody>
                        <a:bodyPr/>
                        <a:lstStyle/>
                        <a:p>
                          <a:pPr algn="ctr"/>
                          <a:r>
                            <a:rPr lang="en-US" sz="1800" b="1" err="1">
                              <a:latin typeface="Arial" pitchFamily="34" charset="0"/>
                              <a:cs typeface="Arial" pitchFamily="34" charset="0"/>
                            </a:rPr>
                            <a:t>Giá</a:t>
                          </a:r>
                          <a:r>
                            <a:rPr lang="en-US" sz="1800" b="1" baseline="0">
                              <a:latin typeface="Arial" pitchFamily="34" charset="0"/>
                              <a:cs typeface="Arial" pitchFamily="34" charset="0"/>
                            </a:rPr>
                            <a:t> </a:t>
                          </a:r>
                          <a:r>
                            <a:rPr lang="en-US" sz="1800" b="1" baseline="0" err="1">
                              <a:latin typeface="Arial" pitchFamily="34" charset="0"/>
                              <a:cs typeface="Arial" pitchFamily="34" charset="0"/>
                            </a:rPr>
                            <a:t>trị</a:t>
                          </a:r>
                          <a:endParaRPr lang="en-US" sz="1800" b="1">
                            <a:latin typeface="Arial" pitchFamily="34" charset="0"/>
                            <a:cs typeface="Arial" pitchFamily="34" charset="0"/>
                          </a:endParaRPr>
                        </a:p>
                      </a:txBody>
                      <a:tcPr anchor="ctr"/>
                    </a:tc>
                    <a:extLst>
                      <a:ext uri="{0D108BD9-81ED-4DB2-BD59-A6C34878D82A}">
                        <a16:rowId xmlns:a16="http://schemas.microsoft.com/office/drawing/2014/main" val="10000"/>
                      </a:ext>
                    </a:extLst>
                  </a:tr>
                  <a:tr h="673100">
                    <a:tc>
                      <a:txBody>
                        <a:bodyPr/>
                        <a:lstStyle/>
                        <a:p>
                          <a:pPr algn="ctr"/>
                          <a:r>
                            <a:rPr lang="en-US" sz="180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vào</a:t>
                          </a:r>
                          <a:endParaRPr lang="en-US" sz="1800">
                            <a:latin typeface="Arial" pitchFamily="34" charset="0"/>
                            <a:cs typeface="Arial" pitchFamily="34"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a:rPr>
                                      <m:t>𝑈</m:t>
                                    </m:r>
                                  </m:e>
                                  <m:sub>
                                    <m:r>
                                      <a:rPr lang="en-US" sz="1800" b="0" i="1" smtClean="0">
                                        <a:latin typeface="Cambria Math"/>
                                      </a:rPr>
                                      <m:t>𝑖𝑛</m:t>
                                    </m:r>
                                  </m:sub>
                                </m:sSub>
                                <m:r>
                                  <a:rPr lang="en-US" sz="1800" b="0" i="1" smtClean="0">
                                    <a:latin typeface="Cambria Math"/>
                                  </a:rPr>
                                  <m:t>=220 </m:t>
                                </m:r>
                                <m:r>
                                  <a:rPr lang="en-US" sz="1800" b="0" i="1" smtClean="0">
                                    <a:latin typeface="Cambria Math"/>
                                    <a:ea typeface="Cambria Math"/>
                                  </a:rPr>
                                  <m:t>±10% </m:t>
                                </m:r>
                                <m:r>
                                  <a:rPr lang="en-US" sz="1800" b="0" i="1" smtClean="0">
                                    <a:latin typeface="Cambria Math"/>
                                    <a:ea typeface="Cambria Math"/>
                                  </a:rPr>
                                  <m:t>𝑉𝑟𝑚𝑠</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10001"/>
                      </a:ext>
                    </a:extLst>
                  </a:tr>
                  <a:tr h="673100">
                    <a:tc>
                      <a:txBody>
                        <a:bodyPr/>
                        <a:lstStyle/>
                        <a:p>
                          <a:pPr algn="ctr"/>
                          <a:r>
                            <a:rPr lang="en-US" sz="1800" err="1">
                              <a:latin typeface="Arial" pitchFamily="34" charset="0"/>
                              <a:cs typeface="Arial" pitchFamily="34" charset="0"/>
                            </a:rPr>
                            <a:t>Tần</a:t>
                          </a:r>
                          <a:r>
                            <a:rPr lang="en-US" sz="1800" baseline="0">
                              <a:latin typeface="Arial" pitchFamily="34" charset="0"/>
                              <a:cs typeface="Arial" pitchFamily="34" charset="0"/>
                            </a:rPr>
                            <a:t> </a:t>
                          </a:r>
                          <a:r>
                            <a:rPr lang="en-US" sz="1800" baseline="0" err="1">
                              <a:latin typeface="Arial" pitchFamily="34" charset="0"/>
                              <a:cs typeface="Arial" pitchFamily="34" charset="0"/>
                            </a:rPr>
                            <a:t>số</a:t>
                          </a:r>
                          <a:r>
                            <a:rPr lang="en-US" sz="1800" baseline="0">
                              <a:latin typeface="Arial" pitchFamily="34" charset="0"/>
                              <a:cs typeface="Arial" pitchFamily="34" charset="0"/>
                            </a:rPr>
                            <a:t> </a:t>
                          </a:r>
                          <a:r>
                            <a:rPr lang="en-US" sz="1800" baseline="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vào</a:t>
                          </a:r>
                          <a:endParaRPr lang="en-US" sz="1800" baseline="0">
                            <a:latin typeface="Arial" pitchFamily="34" charset="0"/>
                            <a:cs typeface="Arial" pitchFamily="34"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a:rPr>
                                  <m:t>𝑓</m:t>
                                </m:r>
                                <m:r>
                                  <a:rPr lang="en-US" sz="1800" b="0" i="1" smtClean="0">
                                    <a:latin typeface="Cambria Math"/>
                                  </a:rPr>
                                  <m:t>=50 ±1% </m:t>
                                </m:r>
                                <m:r>
                                  <a:rPr lang="en-US" sz="1800" b="0" i="1" smtClean="0">
                                    <a:latin typeface="Cambria Math"/>
                                    <a:ea typeface="Cambria Math"/>
                                  </a:rPr>
                                  <m:t>𝐻𝑧</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10002"/>
                      </a:ext>
                    </a:extLst>
                  </a:tr>
                  <a:tr h="673100">
                    <a:tc>
                      <a:txBody>
                        <a:bodyPr/>
                        <a:lstStyle/>
                        <a:p>
                          <a:pPr algn="ctr"/>
                          <a:r>
                            <a:rPr lang="en-US" sz="1800" err="1">
                              <a:latin typeface="Arial" pitchFamily="34" charset="0"/>
                              <a:cs typeface="Arial" pitchFamily="34" charset="0"/>
                            </a:rPr>
                            <a:t>Công</a:t>
                          </a:r>
                          <a:r>
                            <a:rPr lang="en-US" sz="1800" baseline="0">
                              <a:latin typeface="Arial" pitchFamily="34" charset="0"/>
                              <a:cs typeface="Arial" pitchFamily="34" charset="0"/>
                            </a:rPr>
                            <a:t> </a:t>
                          </a:r>
                          <a:r>
                            <a:rPr lang="en-US" sz="1800" baseline="0" err="1">
                              <a:latin typeface="Arial" pitchFamily="34" charset="0"/>
                              <a:cs typeface="Arial" pitchFamily="34" charset="0"/>
                            </a:rPr>
                            <a:t>suất</a:t>
                          </a:r>
                          <a:r>
                            <a:rPr lang="en-US" sz="1800" baseline="0">
                              <a:latin typeface="Arial" pitchFamily="34" charset="0"/>
                              <a:cs typeface="Arial" pitchFamily="34" charset="0"/>
                            </a:rPr>
                            <a:t> </a:t>
                          </a:r>
                          <a:r>
                            <a:rPr lang="en-US" sz="1800" baseline="0" err="1">
                              <a:latin typeface="Arial" pitchFamily="34" charset="0"/>
                              <a:cs typeface="Arial" pitchFamily="34" charset="0"/>
                            </a:rPr>
                            <a:t>bộ</a:t>
                          </a:r>
                          <a:r>
                            <a:rPr lang="en-US" sz="1800" baseline="0">
                              <a:latin typeface="Arial" pitchFamily="34" charset="0"/>
                              <a:cs typeface="Arial" pitchFamily="34" charset="0"/>
                            </a:rPr>
                            <a:t> </a:t>
                          </a:r>
                          <a:r>
                            <a:rPr lang="en-US" sz="1800" baseline="0" err="1">
                              <a:latin typeface="Arial" pitchFamily="34" charset="0"/>
                              <a:cs typeface="Arial" pitchFamily="34" charset="0"/>
                            </a:rPr>
                            <a:t>biến</a:t>
                          </a:r>
                          <a:r>
                            <a:rPr lang="en-US" sz="1800" baseline="0">
                              <a:latin typeface="Arial" pitchFamily="34" charset="0"/>
                              <a:cs typeface="Arial" pitchFamily="34" charset="0"/>
                            </a:rPr>
                            <a:t> </a:t>
                          </a:r>
                          <a:r>
                            <a:rPr lang="en-US" sz="1800" baseline="0" err="1">
                              <a:latin typeface="Arial" pitchFamily="34" charset="0"/>
                              <a:cs typeface="Arial" pitchFamily="34" charset="0"/>
                            </a:rPr>
                            <a:t>đổi</a:t>
                          </a:r>
                          <a:endParaRPr lang="en-US" sz="1800">
                            <a:latin typeface="Arial" pitchFamily="34" charset="0"/>
                            <a:cs typeface="Arial" pitchFamily="34"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a:rPr>
                                      <m:t>𝑃</m:t>
                                    </m:r>
                                  </m:e>
                                  <m:sub>
                                    <m:r>
                                      <a:rPr lang="en-US" sz="1800" b="0" i="1" smtClean="0">
                                        <a:latin typeface="Cambria Math"/>
                                      </a:rPr>
                                      <m:t>𝑜</m:t>
                                    </m:r>
                                  </m:sub>
                                </m:sSub>
                                <m:r>
                                  <a:rPr lang="en-US" sz="1800" b="0" i="1" smtClean="0">
                                    <a:latin typeface="Cambria Math"/>
                                  </a:rPr>
                                  <m:t>=1000 </m:t>
                                </m:r>
                                <m:r>
                                  <a:rPr lang="en-US" sz="1800" b="0" i="1" smtClean="0">
                                    <a:latin typeface="Cambria Math"/>
                                  </a:rPr>
                                  <m:t>𝑊</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10003"/>
                      </a:ext>
                    </a:extLst>
                  </a:tr>
                  <a:tr h="673100">
                    <a:tc>
                      <a:txBody>
                        <a:bodyPr/>
                        <a:lstStyle/>
                        <a:p>
                          <a:pPr algn="ctr"/>
                          <a:r>
                            <a:rPr lang="en-US" sz="180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ra</a:t>
                          </a:r>
                          <a:endParaRPr lang="en-US" sz="1800">
                            <a:latin typeface="Arial" pitchFamily="34" charset="0"/>
                            <a:cs typeface="Arial" pitchFamily="34"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a:rPr>
                                  <m:t>𝑈𝑜𝑢𝑡</m:t>
                                </m:r>
                                <m:r>
                                  <a:rPr lang="en-US" sz="1800" b="0" i="1" smtClean="0">
                                    <a:latin typeface="Cambria Math"/>
                                  </a:rPr>
                                  <m:t>=400±5 </m:t>
                                </m:r>
                                <m:r>
                                  <a:rPr lang="en-US" sz="1800" b="0" i="1" smtClean="0">
                                    <a:latin typeface="Cambria Math"/>
                                  </a:rPr>
                                  <m:t>𝑉</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10004"/>
                      </a:ext>
                    </a:extLst>
                  </a:tr>
                  <a:tr h="673100">
                    <a:tc>
                      <a:txBody>
                        <a:bodyPr/>
                        <a:lstStyle/>
                        <a:p>
                          <a:pPr algn="ctr"/>
                          <a:r>
                            <a:rPr lang="en-US" sz="1800" err="1">
                              <a:latin typeface="Arial" pitchFamily="34" charset="0"/>
                              <a:cs typeface="Arial" pitchFamily="34" charset="0"/>
                            </a:rPr>
                            <a:t>Tần</a:t>
                          </a:r>
                          <a:r>
                            <a:rPr lang="en-US" sz="1800" baseline="0">
                              <a:latin typeface="Arial" pitchFamily="34" charset="0"/>
                              <a:cs typeface="Arial" pitchFamily="34" charset="0"/>
                            </a:rPr>
                            <a:t> </a:t>
                          </a:r>
                          <a:r>
                            <a:rPr lang="en-US" sz="1800" baseline="0" err="1">
                              <a:latin typeface="Arial" pitchFamily="34" charset="0"/>
                              <a:cs typeface="Arial" pitchFamily="34" charset="0"/>
                            </a:rPr>
                            <a:t>số</a:t>
                          </a:r>
                          <a:r>
                            <a:rPr lang="en-US" sz="1800" baseline="0">
                              <a:latin typeface="Arial" pitchFamily="34" charset="0"/>
                              <a:cs typeface="Arial" pitchFamily="34" charset="0"/>
                            </a:rPr>
                            <a:t> </a:t>
                          </a:r>
                          <a:r>
                            <a:rPr lang="en-US" sz="1800" baseline="0" err="1">
                              <a:latin typeface="Arial" pitchFamily="34" charset="0"/>
                              <a:cs typeface="Arial" pitchFamily="34" charset="0"/>
                            </a:rPr>
                            <a:t>chuyển</a:t>
                          </a:r>
                          <a:r>
                            <a:rPr lang="en-US" sz="1800" baseline="0">
                              <a:latin typeface="Arial" pitchFamily="34" charset="0"/>
                              <a:cs typeface="Arial" pitchFamily="34" charset="0"/>
                            </a:rPr>
                            <a:t> </a:t>
                          </a:r>
                          <a:r>
                            <a:rPr lang="en-US" sz="1800" baseline="0" err="1">
                              <a:latin typeface="Arial" pitchFamily="34" charset="0"/>
                              <a:cs typeface="Arial" pitchFamily="34" charset="0"/>
                            </a:rPr>
                            <a:t>mạch</a:t>
                          </a:r>
                          <a:endParaRPr lang="en-US" sz="1800">
                            <a:latin typeface="Arial" pitchFamily="34" charset="0"/>
                            <a:cs typeface="Arial" pitchFamily="34"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a:rPr>
                                      <m:t>𝑓</m:t>
                                    </m:r>
                                  </m:e>
                                  <m:sub>
                                    <m:r>
                                      <a:rPr lang="en-US" sz="1800" b="0" i="1" smtClean="0">
                                        <a:latin typeface="Cambria Math"/>
                                      </a:rPr>
                                      <m:t>𝑆</m:t>
                                    </m:r>
                                  </m:sub>
                                </m:sSub>
                                <m:r>
                                  <a:rPr lang="en-US" sz="1800" b="0" i="1" smtClean="0">
                                    <a:latin typeface="Cambria Math"/>
                                  </a:rPr>
                                  <m:t>=100 </m:t>
                                </m:r>
                                <m:r>
                                  <a:rPr lang="en-US" sz="1800" b="0" i="1" smtClean="0">
                                    <a:latin typeface="Cambria Math"/>
                                  </a:rPr>
                                  <m:t>𝑘𝐻𝑧</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10005"/>
                      </a:ext>
                    </a:extLst>
                  </a:tr>
                  <a:tr h="673100">
                    <a:tc>
                      <a:txBody>
                        <a:bodyPr/>
                        <a:lstStyle/>
                        <a:p>
                          <a:pPr algn="ctr"/>
                          <a:r>
                            <a:rPr lang="en-US" sz="1800">
                              <a:latin typeface="Arial" pitchFamily="34" charset="0"/>
                              <a:cs typeface="Arial" pitchFamily="34" charset="0"/>
                            </a:rPr>
                            <a:t>Độ đập mạch dòng điện qua cuộn cảm</a:t>
                          </a:r>
                        </a:p>
                      </a:txBody>
                      <a:tcPr anchor="ctr"/>
                    </a:tc>
                    <a:tc>
                      <a:txBody>
                        <a:bodyPr/>
                        <a:lstStyle/>
                        <a:p>
                          <a:pPr algn="ctr"/>
                          <a14:m>
                            <m:oMathPara xmlns:m="http://schemas.openxmlformats.org/officeDocument/2006/math">
                              <m:oMathParaPr>
                                <m:jc m:val="centerGroup"/>
                              </m:oMathParaPr>
                              <m:oMath xmlns:m="http://schemas.openxmlformats.org/officeDocument/2006/math">
                                <m:r>
                                  <m:rPr>
                                    <m:sty m:val="p"/>
                                  </m:rPr>
                                  <a:rPr lang="en-US" sz="1800" i="1" smtClean="0">
                                    <a:latin typeface="Cambria Math" panose="02040503050406030204" pitchFamily="18" charset="0"/>
                                  </a:rPr>
                                  <m:t>Δ</m:t>
                                </m:r>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𝐿</m:t>
                                    </m:r>
                                  </m:sub>
                                </m:sSub>
                                <m:r>
                                  <a:rPr lang="en-US" sz="1800" b="0" i="0" smtClean="0">
                                    <a:latin typeface="Cambria Math"/>
                                  </a:rPr>
                                  <m:t>=</m:t>
                                </m:r>
                                <m:r>
                                  <a:rPr lang="en-US" sz="1800" b="0" i="0" smtClean="0">
                                    <a:latin typeface="Cambria Math" panose="02040503050406030204" pitchFamily="18" charset="0"/>
                                  </a:rPr>
                                  <m:t>1</m:t>
                                </m:r>
                                <m:r>
                                  <a:rPr lang="en-US" sz="1800" b="0" i="0" smtClean="0">
                                    <a:latin typeface="Cambria Math"/>
                                  </a:rPr>
                                  <m:t>1</m:t>
                                </m:r>
                                <m:r>
                                  <a:rPr lang="en-US" sz="1800" b="0" i="0" smtClean="0">
                                    <a:latin typeface="Cambria Math" panose="02040503050406030204" pitchFamily="18" charset="0"/>
                                  </a:rPr>
                                  <m:t>%</m:t>
                                </m:r>
                              </m:oMath>
                            </m:oMathPara>
                          </a14:m>
                          <a:endParaRPr lang="en-US" sz="1800">
                            <a:latin typeface="Arial" pitchFamily="34" charset="0"/>
                            <a:cs typeface="Arial" pitchFamily="34" charset="0"/>
                          </a:endParaRPr>
                        </a:p>
                      </a:txBody>
                      <a:tcPr anchor="ctr"/>
                    </a:tc>
                    <a:extLst>
                      <a:ext uri="{0D108BD9-81ED-4DB2-BD59-A6C34878D82A}">
                        <a16:rowId xmlns:a16="http://schemas.microsoft.com/office/drawing/2014/main" val="448216995"/>
                      </a:ext>
                    </a:extLst>
                  </a:tr>
                </a:tbl>
              </a:graphicData>
            </a:graphic>
          </p:graphicFrame>
        </mc:Choice>
        <mc:Fallback xmlns="">
          <p:graphicFrame>
            <p:nvGraphicFramePr>
              <p:cNvPr id="17" name="Table 3">
                <a:extLst>
                  <a:ext uri="{FF2B5EF4-FFF2-40B4-BE49-F238E27FC236}">
                    <a16:creationId xmlns:a16="http://schemas.microsoft.com/office/drawing/2014/main" id="{254D6F82-3898-B67A-B76D-CFAD90B71EC7}"/>
                  </a:ext>
                </a:extLst>
              </p:cNvPr>
              <p:cNvGraphicFramePr>
                <a:graphicFrameLocks noGrp="1"/>
              </p:cNvGraphicFramePr>
              <p:nvPr>
                <p:extLst>
                  <p:ext uri="{D42A27DB-BD31-4B8C-83A1-F6EECF244321}">
                    <p14:modId xmlns:p14="http://schemas.microsoft.com/office/powerpoint/2010/main" val="2033231297"/>
                  </p:ext>
                </p:extLst>
              </p:nvPr>
            </p:nvGraphicFramePr>
            <p:xfrm>
              <a:off x="338735" y="1365995"/>
              <a:ext cx="7149184" cy="4711700"/>
            </p:xfrm>
            <a:graphic>
              <a:graphicData uri="http://schemas.openxmlformats.org/drawingml/2006/table">
                <a:tbl>
                  <a:tblPr firstRow="1" bandRow="1">
                    <a:tableStyleId>{5940675A-B579-460E-94D1-54222C63F5DA}</a:tableStyleId>
                  </a:tblPr>
                  <a:tblGrid>
                    <a:gridCol w="3574592">
                      <a:extLst>
                        <a:ext uri="{9D8B030D-6E8A-4147-A177-3AD203B41FA5}">
                          <a16:colId xmlns:a16="http://schemas.microsoft.com/office/drawing/2014/main" val="20000"/>
                        </a:ext>
                      </a:extLst>
                    </a:gridCol>
                    <a:gridCol w="3574592">
                      <a:extLst>
                        <a:ext uri="{9D8B030D-6E8A-4147-A177-3AD203B41FA5}">
                          <a16:colId xmlns:a16="http://schemas.microsoft.com/office/drawing/2014/main" val="20001"/>
                        </a:ext>
                      </a:extLst>
                    </a:gridCol>
                  </a:tblGrid>
                  <a:tr h="673100">
                    <a:tc>
                      <a:txBody>
                        <a:bodyPr/>
                        <a:lstStyle/>
                        <a:p>
                          <a:pPr algn="ctr"/>
                          <a:r>
                            <a:rPr lang="en-US" sz="1800" b="1" err="1">
                              <a:latin typeface="Arial" pitchFamily="34" charset="0"/>
                              <a:cs typeface="Arial" pitchFamily="34" charset="0"/>
                            </a:rPr>
                            <a:t>Tham</a:t>
                          </a:r>
                          <a:r>
                            <a:rPr lang="en-US" sz="1800" b="1">
                              <a:latin typeface="Arial" pitchFamily="34" charset="0"/>
                              <a:cs typeface="Arial" pitchFamily="34" charset="0"/>
                            </a:rPr>
                            <a:t> </a:t>
                          </a:r>
                          <a:r>
                            <a:rPr lang="en-US" sz="1800" b="1" err="1">
                              <a:latin typeface="Arial" pitchFamily="34" charset="0"/>
                              <a:cs typeface="Arial" pitchFamily="34" charset="0"/>
                            </a:rPr>
                            <a:t>số</a:t>
                          </a:r>
                          <a:endParaRPr lang="en-US" sz="1800" b="1">
                            <a:latin typeface="Arial" pitchFamily="34" charset="0"/>
                            <a:cs typeface="Arial" pitchFamily="34" charset="0"/>
                          </a:endParaRPr>
                        </a:p>
                      </a:txBody>
                      <a:tcPr anchor="ctr"/>
                    </a:tc>
                    <a:tc>
                      <a:txBody>
                        <a:bodyPr/>
                        <a:lstStyle/>
                        <a:p>
                          <a:pPr algn="ctr"/>
                          <a:r>
                            <a:rPr lang="en-US" sz="1800" b="1" err="1">
                              <a:latin typeface="Arial" pitchFamily="34" charset="0"/>
                              <a:cs typeface="Arial" pitchFamily="34" charset="0"/>
                            </a:rPr>
                            <a:t>Giá</a:t>
                          </a:r>
                          <a:r>
                            <a:rPr lang="en-US" sz="1800" b="1" baseline="0">
                              <a:latin typeface="Arial" pitchFamily="34" charset="0"/>
                              <a:cs typeface="Arial" pitchFamily="34" charset="0"/>
                            </a:rPr>
                            <a:t> </a:t>
                          </a:r>
                          <a:r>
                            <a:rPr lang="en-US" sz="1800" b="1" baseline="0" err="1">
                              <a:latin typeface="Arial" pitchFamily="34" charset="0"/>
                              <a:cs typeface="Arial" pitchFamily="34" charset="0"/>
                            </a:rPr>
                            <a:t>trị</a:t>
                          </a:r>
                          <a:endParaRPr lang="en-US" sz="1800" b="1">
                            <a:latin typeface="Arial" pitchFamily="34" charset="0"/>
                            <a:cs typeface="Arial" pitchFamily="34" charset="0"/>
                          </a:endParaRPr>
                        </a:p>
                      </a:txBody>
                      <a:tcPr anchor="ctr"/>
                    </a:tc>
                    <a:extLst>
                      <a:ext uri="{0D108BD9-81ED-4DB2-BD59-A6C34878D82A}">
                        <a16:rowId xmlns:a16="http://schemas.microsoft.com/office/drawing/2014/main" val="10000"/>
                      </a:ext>
                    </a:extLst>
                  </a:tr>
                  <a:tr h="673100">
                    <a:tc>
                      <a:txBody>
                        <a:bodyPr/>
                        <a:lstStyle/>
                        <a:p>
                          <a:pPr algn="ctr"/>
                          <a:r>
                            <a:rPr lang="en-US" sz="180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vào</a:t>
                          </a:r>
                          <a:endParaRPr lang="en-US" sz="1800">
                            <a:latin typeface="Arial" pitchFamily="34" charset="0"/>
                            <a:cs typeface="Arial" pitchFamily="34" charset="0"/>
                          </a:endParaRPr>
                        </a:p>
                      </a:txBody>
                      <a:tcPr anchor="ctr"/>
                    </a:tc>
                    <a:tc>
                      <a:txBody>
                        <a:bodyPr/>
                        <a:lstStyle/>
                        <a:p>
                          <a:endParaRPr lang="en-US"/>
                        </a:p>
                      </a:txBody>
                      <a:tcPr anchor="ctr">
                        <a:blipFill>
                          <a:blip r:embed="rId2"/>
                          <a:stretch>
                            <a:fillRect l="-100170" t="-100000" r="-341" b="-509009"/>
                          </a:stretch>
                        </a:blipFill>
                      </a:tcPr>
                    </a:tc>
                    <a:extLst>
                      <a:ext uri="{0D108BD9-81ED-4DB2-BD59-A6C34878D82A}">
                        <a16:rowId xmlns:a16="http://schemas.microsoft.com/office/drawing/2014/main" val="10001"/>
                      </a:ext>
                    </a:extLst>
                  </a:tr>
                  <a:tr h="673100">
                    <a:tc>
                      <a:txBody>
                        <a:bodyPr/>
                        <a:lstStyle/>
                        <a:p>
                          <a:pPr algn="ctr"/>
                          <a:r>
                            <a:rPr lang="en-US" sz="1800" err="1">
                              <a:latin typeface="Arial" pitchFamily="34" charset="0"/>
                              <a:cs typeface="Arial" pitchFamily="34" charset="0"/>
                            </a:rPr>
                            <a:t>Tần</a:t>
                          </a:r>
                          <a:r>
                            <a:rPr lang="en-US" sz="1800" baseline="0">
                              <a:latin typeface="Arial" pitchFamily="34" charset="0"/>
                              <a:cs typeface="Arial" pitchFamily="34" charset="0"/>
                            </a:rPr>
                            <a:t> </a:t>
                          </a:r>
                          <a:r>
                            <a:rPr lang="en-US" sz="1800" baseline="0" err="1">
                              <a:latin typeface="Arial" pitchFamily="34" charset="0"/>
                              <a:cs typeface="Arial" pitchFamily="34" charset="0"/>
                            </a:rPr>
                            <a:t>số</a:t>
                          </a:r>
                          <a:r>
                            <a:rPr lang="en-US" sz="1800" baseline="0">
                              <a:latin typeface="Arial" pitchFamily="34" charset="0"/>
                              <a:cs typeface="Arial" pitchFamily="34" charset="0"/>
                            </a:rPr>
                            <a:t> </a:t>
                          </a:r>
                          <a:r>
                            <a:rPr lang="en-US" sz="1800" baseline="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vào</a:t>
                          </a:r>
                          <a:endParaRPr lang="en-US" sz="1800" baseline="0">
                            <a:latin typeface="Arial" pitchFamily="34" charset="0"/>
                            <a:cs typeface="Arial" pitchFamily="34" charset="0"/>
                          </a:endParaRPr>
                        </a:p>
                      </a:txBody>
                      <a:tcPr anchor="ctr"/>
                    </a:tc>
                    <a:tc>
                      <a:txBody>
                        <a:bodyPr/>
                        <a:lstStyle/>
                        <a:p>
                          <a:endParaRPr lang="en-US"/>
                        </a:p>
                      </a:txBody>
                      <a:tcPr anchor="ctr">
                        <a:blipFill>
                          <a:blip r:embed="rId2"/>
                          <a:stretch>
                            <a:fillRect l="-100170" t="-201818" r="-341" b="-413636"/>
                          </a:stretch>
                        </a:blipFill>
                      </a:tcPr>
                    </a:tc>
                    <a:extLst>
                      <a:ext uri="{0D108BD9-81ED-4DB2-BD59-A6C34878D82A}">
                        <a16:rowId xmlns:a16="http://schemas.microsoft.com/office/drawing/2014/main" val="10002"/>
                      </a:ext>
                    </a:extLst>
                  </a:tr>
                  <a:tr h="673100">
                    <a:tc>
                      <a:txBody>
                        <a:bodyPr/>
                        <a:lstStyle/>
                        <a:p>
                          <a:pPr algn="ctr"/>
                          <a:r>
                            <a:rPr lang="en-US" sz="1800" err="1">
                              <a:latin typeface="Arial" pitchFamily="34" charset="0"/>
                              <a:cs typeface="Arial" pitchFamily="34" charset="0"/>
                            </a:rPr>
                            <a:t>Công</a:t>
                          </a:r>
                          <a:r>
                            <a:rPr lang="en-US" sz="1800" baseline="0">
                              <a:latin typeface="Arial" pitchFamily="34" charset="0"/>
                              <a:cs typeface="Arial" pitchFamily="34" charset="0"/>
                            </a:rPr>
                            <a:t> </a:t>
                          </a:r>
                          <a:r>
                            <a:rPr lang="en-US" sz="1800" baseline="0" err="1">
                              <a:latin typeface="Arial" pitchFamily="34" charset="0"/>
                              <a:cs typeface="Arial" pitchFamily="34" charset="0"/>
                            </a:rPr>
                            <a:t>suất</a:t>
                          </a:r>
                          <a:r>
                            <a:rPr lang="en-US" sz="1800" baseline="0">
                              <a:latin typeface="Arial" pitchFamily="34" charset="0"/>
                              <a:cs typeface="Arial" pitchFamily="34" charset="0"/>
                            </a:rPr>
                            <a:t> </a:t>
                          </a:r>
                          <a:r>
                            <a:rPr lang="en-US" sz="1800" baseline="0" err="1">
                              <a:latin typeface="Arial" pitchFamily="34" charset="0"/>
                              <a:cs typeface="Arial" pitchFamily="34" charset="0"/>
                            </a:rPr>
                            <a:t>bộ</a:t>
                          </a:r>
                          <a:r>
                            <a:rPr lang="en-US" sz="1800" baseline="0">
                              <a:latin typeface="Arial" pitchFamily="34" charset="0"/>
                              <a:cs typeface="Arial" pitchFamily="34" charset="0"/>
                            </a:rPr>
                            <a:t> </a:t>
                          </a:r>
                          <a:r>
                            <a:rPr lang="en-US" sz="1800" baseline="0" err="1">
                              <a:latin typeface="Arial" pitchFamily="34" charset="0"/>
                              <a:cs typeface="Arial" pitchFamily="34" charset="0"/>
                            </a:rPr>
                            <a:t>biến</a:t>
                          </a:r>
                          <a:r>
                            <a:rPr lang="en-US" sz="1800" baseline="0">
                              <a:latin typeface="Arial" pitchFamily="34" charset="0"/>
                              <a:cs typeface="Arial" pitchFamily="34" charset="0"/>
                            </a:rPr>
                            <a:t> </a:t>
                          </a:r>
                          <a:r>
                            <a:rPr lang="en-US" sz="1800" baseline="0" err="1">
                              <a:latin typeface="Arial" pitchFamily="34" charset="0"/>
                              <a:cs typeface="Arial" pitchFamily="34" charset="0"/>
                            </a:rPr>
                            <a:t>đổi</a:t>
                          </a:r>
                          <a:endParaRPr lang="en-US" sz="1800">
                            <a:latin typeface="Arial" pitchFamily="34" charset="0"/>
                            <a:cs typeface="Arial" pitchFamily="34" charset="0"/>
                          </a:endParaRPr>
                        </a:p>
                      </a:txBody>
                      <a:tcPr anchor="ctr"/>
                    </a:tc>
                    <a:tc>
                      <a:txBody>
                        <a:bodyPr/>
                        <a:lstStyle/>
                        <a:p>
                          <a:endParaRPr lang="en-US"/>
                        </a:p>
                      </a:txBody>
                      <a:tcPr anchor="ctr">
                        <a:blipFill>
                          <a:blip r:embed="rId2"/>
                          <a:stretch>
                            <a:fillRect l="-100170" t="-299099" r="-341" b="-309910"/>
                          </a:stretch>
                        </a:blipFill>
                      </a:tcPr>
                    </a:tc>
                    <a:extLst>
                      <a:ext uri="{0D108BD9-81ED-4DB2-BD59-A6C34878D82A}">
                        <a16:rowId xmlns:a16="http://schemas.microsoft.com/office/drawing/2014/main" val="10003"/>
                      </a:ext>
                    </a:extLst>
                  </a:tr>
                  <a:tr h="673100">
                    <a:tc>
                      <a:txBody>
                        <a:bodyPr/>
                        <a:lstStyle/>
                        <a:p>
                          <a:pPr algn="ctr"/>
                          <a:r>
                            <a:rPr lang="en-US" sz="1800" err="1">
                              <a:latin typeface="Arial" pitchFamily="34" charset="0"/>
                              <a:cs typeface="Arial" pitchFamily="34" charset="0"/>
                            </a:rPr>
                            <a:t>Điện</a:t>
                          </a:r>
                          <a:r>
                            <a:rPr lang="en-US" sz="1800" baseline="0">
                              <a:latin typeface="Arial" pitchFamily="34" charset="0"/>
                              <a:cs typeface="Arial" pitchFamily="34" charset="0"/>
                            </a:rPr>
                            <a:t> </a:t>
                          </a:r>
                          <a:r>
                            <a:rPr lang="en-US" sz="1800" baseline="0" err="1">
                              <a:latin typeface="Arial" pitchFamily="34" charset="0"/>
                              <a:cs typeface="Arial" pitchFamily="34" charset="0"/>
                            </a:rPr>
                            <a:t>áp</a:t>
                          </a:r>
                          <a:r>
                            <a:rPr lang="en-US" sz="1800" baseline="0">
                              <a:latin typeface="Arial" pitchFamily="34" charset="0"/>
                              <a:cs typeface="Arial" pitchFamily="34" charset="0"/>
                            </a:rPr>
                            <a:t> </a:t>
                          </a:r>
                          <a:r>
                            <a:rPr lang="en-US" sz="1800" baseline="0" err="1">
                              <a:latin typeface="Arial" pitchFamily="34" charset="0"/>
                              <a:cs typeface="Arial" pitchFamily="34" charset="0"/>
                            </a:rPr>
                            <a:t>đầu</a:t>
                          </a:r>
                          <a:r>
                            <a:rPr lang="en-US" sz="1800" baseline="0">
                              <a:latin typeface="Arial" pitchFamily="34" charset="0"/>
                              <a:cs typeface="Arial" pitchFamily="34" charset="0"/>
                            </a:rPr>
                            <a:t> </a:t>
                          </a:r>
                          <a:r>
                            <a:rPr lang="en-US" sz="1800" baseline="0" err="1">
                              <a:latin typeface="Arial" pitchFamily="34" charset="0"/>
                              <a:cs typeface="Arial" pitchFamily="34" charset="0"/>
                            </a:rPr>
                            <a:t>ra</a:t>
                          </a:r>
                          <a:endParaRPr lang="en-US" sz="1800">
                            <a:latin typeface="Arial" pitchFamily="34" charset="0"/>
                            <a:cs typeface="Arial" pitchFamily="34" charset="0"/>
                          </a:endParaRPr>
                        </a:p>
                      </a:txBody>
                      <a:tcPr anchor="ctr"/>
                    </a:tc>
                    <a:tc>
                      <a:txBody>
                        <a:bodyPr/>
                        <a:lstStyle/>
                        <a:p>
                          <a:endParaRPr lang="en-US"/>
                        </a:p>
                      </a:txBody>
                      <a:tcPr anchor="ctr">
                        <a:blipFill>
                          <a:blip r:embed="rId2"/>
                          <a:stretch>
                            <a:fillRect l="-100170" t="-402727" r="-341" b="-212727"/>
                          </a:stretch>
                        </a:blipFill>
                      </a:tcPr>
                    </a:tc>
                    <a:extLst>
                      <a:ext uri="{0D108BD9-81ED-4DB2-BD59-A6C34878D82A}">
                        <a16:rowId xmlns:a16="http://schemas.microsoft.com/office/drawing/2014/main" val="10004"/>
                      </a:ext>
                    </a:extLst>
                  </a:tr>
                  <a:tr h="673100">
                    <a:tc>
                      <a:txBody>
                        <a:bodyPr/>
                        <a:lstStyle/>
                        <a:p>
                          <a:pPr algn="ctr"/>
                          <a:r>
                            <a:rPr lang="en-US" sz="1800" err="1">
                              <a:latin typeface="Arial" pitchFamily="34" charset="0"/>
                              <a:cs typeface="Arial" pitchFamily="34" charset="0"/>
                            </a:rPr>
                            <a:t>Tần</a:t>
                          </a:r>
                          <a:r>
                            <a:rPr lang="en-US" sz="1800" baseline="0">
                              <a:latin typeface="Arial" pitchFamily="34" charset="0"/>
                              <a:cs typeface="Arial" pitchFamily="34" charset="0"/>
                            </a:rPr>
                            <a:t> </a:t>
                          </a:r>
                          <a:r>
                            <a:rPr lang="en-US" sz="1800" baseline="0" err="1">
                              <a:latin typeface="Arial" pitchFamily="34" charset="0"/>
                              <a:cs typeface="Arial" pitchFamily="34" charset="0"/>
                            </a:rPr>
                            <a:t>số</a:t>
                          </a:r>
                          <a:r>
                            <a:rPr lang="en-US" sz="1800" baseline="0">
                              <a:latin typeface="Arial" pitchFamily="34" charset="0"/>
                              <a:cs typeface="Arial" pitchFamily="34" charset="0"/>
                            </a:rPr>
                            <a:t> </a:t>
                          </a:r>
                          <a:r>
                            <a:rPr lang="en-US" sz="1800" baseline="0" err="1">
                              <a:latin typeface="Arial" pitchFamily="34" charset="0"/>
                              <a:cs typeface="Arial" pitchFamily="34" charset="0"/>
                            </a:rPr>
                            <a:t>chuyển</a:t>
                          </a:r>
                          <a:r>
                            <a:rPr lang="en-US" sz="1800" baseline="0">
                              <a:latin typeface="Arial" pitchFamily="34" charset="0"/>
                              <a:cs typeface="Arial" pitchFamily="34" charset="0"/>
                            </a:rPr>
                            <a:t> </a:t>
                          </a:r>
                          <a:r>
                            <a:rPr lang="en-US" sz="1800" baseline="0" err="1">
                              <a:latin typeface="Arial" pitchFamily="34" charset="0"/>
                              <a:cs typeface="Arial" pitchFamily="34" charset="0"/>
                            </a:rPr>
                            <a:t>mạch</a:t>
                          </a:r>
                          <a:endParaRPr lang="en-US" sz="1800">
                            <a:latin typeface="Arial" pitchFamily="34" charset="0"/>
                            <a:cs typeface="Arial" pitchFamily="34" charset="0"/>
                          </a:endParaRPr>
                        </a:p>
                      </a:txBody>
                      <a:tcPr anchor="ctr"/>
                    </a:tc>
                    <a:tc>
                      <a:txBody>
                        <a:bodyPr/>
                        <a:lstStyle/>
                        <a:p>
                          <a:endParaRPr lang="en-US"/>
                        </a:p>
                      </a:txBody>
                      <a:tcPr anchor="ctr">
                        <a:blipFill>
                          <a:blip r:embed="rId2"/>
                          <a:stretch>
                            <a:fillRect l="-100170" t="-498198" r="-341" b="-110811"/>
                          </a:stretch>
                        </a:blipFill>
                      </a:tcPr>
                    </a:tc>
                    <a:extLst>
                      <a:ext uri="{0D108BD9-81ED-4DB2-BD59-A6C34878D82A}">
                        <a16:rowId xmlns:a16="http://schemas.microsoft.com/office/drawing/2014/main" val="10005"/>
                      </a:ext>
                    </a:extLst>
                  </a:tr>
                  <a:tr h="673100">
                    <a:tc>
                      <a:txBody>
                        <a:bodyPr/>
                        <a:lstStyle/>
                        <a:p>
                          <a:pPr algn="ctr"/>
                          <a:r>
                            <a:rPr lang="en-US" sz="1800">
                              <a:latin typeface="Arial" pitchFamily="34" charset="0"/>
                              <a:cs typeface="Arial" pitchFamily="34" charset="0"/>
                            </a:rPr>
                            <a:t>Độ đập mạch dòng điện qua cuộn cảm</a:t>
                          </a:r>
                        </a:p>
                      </a:txBody>
                      <a:tcPr anchor="ctr"/>
                    </a:tc>
                    <a:tc>
                      <a:txBody>
                        <a:bodyPr/>
                        <a:lstStyle/>
                        <a:p>
                          <a:endParaRPr lang="en-US"/>
                        </a:p>
                      </a:txBody>
                      <a:tcPr anchor="ctr">
                        <a:blipFill>
                          <a:blip r:embed="rId2"/>
                          <a:stretch>
                            <a:fillRect l="-100170" t="-603636" r="-341" b="-11818"/>
                          </a:stretch>
                        </a:blipFill>
                      </a:tcPr>
                    </a:tc>
                    <a:extLst>
                      <a:ext uri="{0D108BD9-81ED-4DB2-BD59-A6C34878D82A}">
                        <a16:rowId xmlns:a16="http://schemas.microsoft.com/office/drawing/2014/main" val="448216995"/>
                      </a:ext>
                    </a:extLst>
                  </a:tr>
                </a:tbl>
              </a:graphicData>
            </a:graphic>
          </p:graphicFrame>
        </mc:Fallback>
      </mc:AlternateContent>
      <p:grpSp>
        <p:nvGrpSpPr>
          <p:cNvPr id="3" name="Group 2">
            <a:extLst>
              <a:ext uri="{FF2B5EF4-FFF2-40B4-BE49-F238E27FC236}">
                <a16:creationId xmlns:a16="http://schemas.microsoft.com/office/drawing/2014/main" id="{B3A67261-350A-3AF5-661D-3D2A7F60EE18}"/>
              </a:ext>
            </a:extLst>
          </p:cNvPr>
          <p:cNvGrpSpPr/>
          <p:nvPr/>
        </p:nvGrpSpPr>
        <p:grpSpPr>
          <a:xfrm>
            <a:off x="7487921" y="2305455"/>
            <a:ext cx="4365344" cy="2529531"/>
            <a:chOff x="7210023" y="1961279"/>
            <a:chExt cx="4643241" cy="2377596"/>
          </a:xfrm>
        </p:grpSpPr>
        <p:pic>
          <p:nvPicPr>
            <p:cNvPr id="4" name="Picture 3">
              <a:extLst>
                <a:ext uri="{FF2B5EF4-FFF2-40B4-BE49-F238E27FC236}">
                  <a16:creationId xmlns:a16="http://schemas.microsoft.com/office/drawing/2014/main" id="{BB0BD3B9-4969-3D8F-D51F-1AF2A9501A5E}"/>
                </a:ext>
              </a:extLst>
            </p:cNvPr>
            <p:cNvPicPr>
              <a:picLocks noChangeAspect="1"/>
            </p:cNvPicPr>
            <p:nvPr/>
          </p:nvPicPr>
          <p:blipFill>
            <a:blip r:embed="rId3"/>
            <a:stretch>
              <a:fillRect/>
            </a:stretch>
          </p:blipFill>
          <p:spPr>
            <a:xfrm>
              <a:off x="7210023" y="1961279"/>
              <a:ext cx="4643241" cy="2377596"/>
            </a:xfrm>
            <a:prstGeom prst="rect">
              <a:avLst/>
            </a:prstGeom>
          </p:spPr>
        </p:pic>
        <p:pic>
          <p:nvPicPr>
            <p:cNvPr id="6" name="Picture 5">
              <a:extLst>
                <a:ext uri="{FF2B5EF4-FFF2-40B4-BE49-F238E27FC236}">
                  <a16:creationId xmlns:a16="http://schemas.microsoft.com/office/drawing/2014/main" id="{60896F75-D681-1E82-4402-1EC4EBA9ADC5}"/>
                </a:ext>
              </a:extLst>
            </p:cNvPr>
            <p:cNvPicPr>
              <a:picLocks noChangeAspect="1"/>
            </p:cNvPicPr>
            <p:nvPr/>
          </p:nvPicPr>
          <p:blipFill>
            <a:blip r:embed="rId4"/>
            <a:stretch>
              <a:fillRect/>
            </a:stretch>
          </p:blipFill>
          <p:spPr>
            <a:xfrm>
              <a:off x="7607030" y="2554160"/>
              <a:ext cx="479166" cy="391534"/>
            </a:xfrm>
            <a:prstGeom prst="rect">
              <a:avLst/>
            </a:prstGeom>
          </p:spPr>
        </p:pic>
        <p:cxnSp>
          <p:nvCxnSpPr>
            <p:cNvPr id="7" name="Straight Connector 6">
              <a:extLst>
                <a:ext uri="{FF2B5EF4-FFF2-40B4-BE49-F238E27FC236}">
                  <a16:creationId xmlns:a16="http://schemas.microsoft.com/office/drawing/2014/main" id="{93919408-D811-01BE-C12B-7460D82877AF}"/>
                </a:ext>
              </a:extLst>
            </p:cNvPr>
            <p:cNvCxnSpPr>
              <a:cxnSpLocks/>
            </p:cNvCxnSpPr>
            <p:nvPr/>
          </p:nvCxnSpPr>
          <p:spPr>
            <a:xfrm>
              <a:off x="7480568" y="2897054"/>
              <a:ext cx="943583" cy="0"/>
            </a:xfrm>
            <a:prstGeom prst="line">
              <a:avLst/>
            </a:prstGeom>
            <a:ln>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07261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560F9-FEA8-B4A8-F0FD-AEE175B0A2F3}"/>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10DAF1D-4EDE-C2E5-4B4D-A659CB930EE1}"/>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8</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2EEC3304-E6C4-CAFA-95F8-3D2571CF8EA6}"/>
              </a:ext>
            </a:extLst>
          </p:cNvPr>
          <p:cNvSpPr>
            <a:spLocks noGrp="1"/>
          </p:cNvSpPr>
          <p:nvPr>
            <p:ph type="title"/>
          </p:nvPr>
        </p:nvSpPr>
        <p:spPr/>
        <p:txBody>
          <a:bodyPr>
            <a:normAutofit fontScale="90000"/>
          </a:bodyPr>
          <a:lstStyle/>
          <a:p>
            <a:r>
              <a:rPr lang="en-US"/>
              <a:t>1. Tổng quan chung và thông số mạch lực</a:t>
            </a:r>
          </a:p>
        </p:txBody>
      </p:sp>
      <p:sp>
        <p:nvSpPr>
          <p:cNvPr id="3" name="object 3">
            <a:extLst>
              <a:ext uri="{FF2B5EF4-FFF2-40B4-BE49-F238E27FC236}">
                <a16:creationId xmlns:a16="http://schemas.microsoft.com/office/drawing/2014/main" id="{4CB61006-7514-8EC5-691B-74B4625DDA8F}"/>
              </a:ext>
            </a:extLst>
          </p:cNvPr>
          <p:cNvSpPr txBox="1"/>
          <p:nvPr/>
        </p:nvSpPr>
        <p:spPr>
          <a:xfrm>
            <a:off x="93600" y="720994"/>
            <a:ext cx="7450200" cy="536044"/>
          </a:xfrm>
          <a:prstGeom prst="rect">
            <a:avLst/>
          </a:prstGeom>
        </p:spPr>
        <p:txBody>
          <a:bodyPr vert="horz" wrap="square" lIns="0" tIns="165100" rIns="0" bIns="0" rtlCol="0">
            <a:spAutoFit/>
          </a:bodyPr>
          <a:lstStyle/>
          <a:p>
            <a:pPr marL="12700">
              <a:lnSpc>
                <a:spcPct val="100000"/>
              </a:lnSpc>
              <a:spcBef>
                <a:spcPts val="1300"/>
              </a:spcBef>
              <a:buClr>
                <a:srgbClr val="595958"/>
              </a:buClr>
              <a:buSzPct val="79166"/>
              <a:tabLst>
                <a:tab pos="241300" algn="l"/>
              </a:tabLst>
            </a:pPr>
            <a:r>
              <a:rPr sz="2400" b="1" spc="-5">
                <a:latin typeface="Arial" pitchFamily="34" charset="0"/>
                <a:cs typeface="Arial" pitchFamily="34" charset="0"/>
              </a:rPr>
              <a:t>Tính </a:t>
            </a:r>
            <a:r>
              <a:rPr sz="2400" b="1">
                <a:latin typeface="Arial" pitchFamily="34" charset="0"/>
                <a:cs typeface="Arial" pitchFamily="34" charset="0"/>
              </a:rPr>
              <a:t>toán các</a:t>
            </a:r>
            <a:r>
              <a:rPr sz="2400" b="1" spc="-15">
                <a:latin typeface="Arial" pitchFamily="34" charset="0"/>
                <a:cs typeface="Arial" pitchFamily="34" charset="0"/>
              </a:rPr>
              <a:t> </a:t>
            </a:r>
            <a:r>
              <a:rPr sz="2400" b="1" spc="-5">
                <a:latin typeface="Arial" pitchFamily="34" charset="0"/>
                <a:cs typeface="Arial" pitchFamily="34" charset="0"/>
              </a:rPr>
              <a:t>phần</a:t>
            </a:r>
            <a:r>
              <a:rPr sz="2400" b="1">
                <a:latin typeface="Arial" pitchFamily="34" charset="0"/>
                <a:cs typeface="Arial" pitchFamily="34" charset="0"/>
              </a:rPr>
              <a:t> tử</a:t>
            </a:r>
            <a:r>
              <a:rPr sz="2400" b="1" spc="-10">
                <a:latin typeface="Arial" pitchFamily="34" charset="0"/>
                <a:cs typeface="Arial" pitchFamily="34" charset="0"/>
              </a:rPr>
              <a:t> </a:t>
            </a:r>
            <a:r>
              <a:rPr sz="2400" b="1" spc="-5">
                <a:latin typeface="Arial" pitchFamily="34" charset="0"/>
                <a:cs typeface="Arial" pitchFamily="34" charset="0"/>
              </a:rPr>
              <a:t>thụ</a:t>
            </a:r>
            <a:r>
              <a:rPr sz="2400" b="1" spc="-10">
                <a:latin typeface="Arial" pitchFamily="34" charset="0"/>
                <a:cs typeface="Arial" pitchFamily="34" charset="0"/>
              </a:rPr>
              <a:t> </a:t>
            </a:r>
            <a:r>
              <a:rPr sz="2400" b="1" spc="-5">
                <a:latin typeface="Arial" pitchFamily="34" charset="0"/>
                <a:cs typeface="Arial" pitchFamily="34" charset="0"/>
              </a:rPr>
              <a:t>động</a:t>
            </a:r>
            <a:r>
              <a:rPr sz="2400" b="1" spc="5">
                <a:latin typeface="Arial" pitchFamily="34" charset="0"/>
                <a:cs typeface="Arial" pitchFamily="34" charset="0"/>
              </a:rPr>
              <a:t> </a:t>
            </a:r>
            <a:r>
              <a:rPr sz="2400" b="1" spc="-5">
                <a:latin typeface="Arial" pitchFamily="34" charset="0"/>
                <a:cs typeface="Arial" pitchFamily="34" charset="0"/>
              </a:rPr>
              <a:t>trong </a:t>
            </a:r>
            <a:r>
              <a:rPr sz="2400" b="1" err="1">
                <a:latin typeface="Arial" pitchFamily="34" charset="0"/>
                <a:cs typeface="Arial" pitchFamily="34" charset="0"/>
              </a:rPr>
              <a:t>mạch</a:t>
            </a:r>
            <a:r>
              <a:rPr sz="2400" b="1" spc="-20">
                <a:latin typeface="Arial" pitchFamily="34" charset="0"/>
                <a:cs typeface="Arial" pitchFamily="34" charset="0"/>
              </a:rPr>
              <a:t> </a:t>
            </a:r>
            <a:r>
              <a:rPr sz="2400" b="1" spc="-5" err="1">
                <a:latin typeface="Arial" pitchFamily="34" charset="0"/>
                <a:cs typeface="Arial" pitchFamily="34" charset="0"/>
              </a:rPr>
              <a:t>lực</a:t>
            </a:r>
            <a:endParaRPr sz="2400" b="1">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C63094A-E7E2-647F-4742-420D1672CDEA}"/>
                  </a:ext>
                </a:extLst>
              </p:cNvPr>
              <p:cNvSpPr txBox="1"/>
              <p:nvPr/>
            </p:nvSpPr>
            <p:spPr>
              <a:xfrm>
                <a:off x="93600" y="1429391"/>
                <a:ext cx="8515350" cy="2242858"/>
              </a:xfrm>
              <a:prstGeom prst="rect">
                <a:avLst/>
              </a:prstGeom>
              <a:noFill/>
            </p:spPr>
            <p:txBody>
              <a:bodyPr wrap="square" rtlCol="0">
                <a:spAutoFit/>
              </a:bodyPr>
              <a:lstStyle/>
              <a:p>
                <a:pPr>
                  <a:lnSpc>
                    <a:spcPct val="150000"/>
                  </a:lnSpc>
                </a:pPr>
                <a:r>
                  <a:rPr lang="en-US" sz="2000">
                    <a:latin typeface="Arial" pitchFamily="34" charset="0"/>
                    <a:cs typeface="Arial" pitchFamily="34" charset="0"/>
                  </a:rPr>
                  <a:t>Dòng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ra</a:t>
                </a:r>
                <a:r>
                  <a:rPr lang="en-US" sz="2000">
                    <a:latin typeface="Arial" pitchFamily="34" charset="0"/>
                    <a:cs typeface="Arial" pitchFamily="34" charset="0"/>
                  </a:rPr>
                  <a: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0</m:t>
                        </m:r>
                      </m:sub>
                    </m:sSub>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a:rPr lang="en-US" sz="2000" b="0" i="1" smtClean="0">
                                <a:latin typeface="Cambria Math" panose="02040503050406030204" pitchFamily="18" charset="0"/>
                                <a:cs typeface="Times New Roman" panose="02020603050405020304" pitchFamily="18" charset="0"/>
                              </a:rPr>
                              <m:t>0</m:t>
                            </m:r>
                          </m:sub>
                        </m:sSub>
                      </m:num>
                      <m:den>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a:cs typeface="Times New Roman" panose="02020603050405020304" pitchFamily="18" charset="0"/>
                              </a:rPr>
                              <m:t>𝑜𝑢𝑡</m:t>
                            </m:r>
                          </m:sub>
                        </m:sSub>
                      </m:den>
                    </m:f>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1</m:t>
                        </m:r>
                        <m:r>
                          <a:rPr lang="en-US" sz="2000" b="0" i="1" smtClean="0">
                            <a:latin typeface="Cambria Math"/>
                            <a:cs typeface="Times New Roman" panose="02020603050405020304" pitchFamily="18" charset="0"/>
                          </a:rPr>
                          <m:t>000</m:t>
                        </m:r>
                      </m:num>
                      <m:den>
                        <m:r>
                          <a:rPr lang="en-US" sz="2000" b="0" i="1" smtClean="0">
                            <a:latin typeface="Cambria Math" panose="02040503050406030204" pitchFamily="18" charset="0"/>
                            <a:cs typeface="Times New Roman" panose="02020603050405020304" pitchFamily="18" charset="0"/>
                          </a:rPr>
                          <m:t>400 </m:t>
                        </m:r>
                      </m:den>
                    </m:f>
                    <m:r>
                      <a:rPr lang="en-US" sz="2000" b="0" i="1" smtClean="0">
                        <a:latin typeface="Cambria Math" panose="02040503050406030204" pitchFamily="18" charset="0"/>
                        <a:cs typeface="Times New Roman" panose="02020603050405020304" pitchFamily="18" charset="0"/>
                      </a:rPr>
                      <m:t>=2</m:t>
                    </m:r>
                    <m:r>
                      <a:rPr lang="en-US" sz="2000" b="0" i="1" smtClean="0">
                        <a:latin typeface="Cambria Math"/>
                        <a:cs typeface="Times New Roman" panose="02020603050405020304" pitchFamily="18" charset="0"/>
                      </a:rPr>
                      <m:t>.5  </m:t>
                    </m:r>
                    <m:r>
                      <a:rPr lang="en-US" sz="2000" b="0" i="1" smtClean="0">
                        <a:latin typeface="Cambria Math" panose="02040503050406030204" pitchFamily="18" charset="0"/>
                        <a:cs typeface="Times New Roman" panose="02020603050405020304" pitchFamily="18" charset="0"/>
                      </a:rPr>
                      <m:t>𝐴</m:t>
                    </m:r>
                  </m:oMath>
                </a14:m>
                <a:endParaRPr lang="en-US" sz="2000" b="0">
                  <a:latin typeface="Arial" pitchFamily="34" charset="0"/>
                  <a:cs typeface="Times New Roman" panose="02020603050405020304" pitchFamily="18" charset="0"/>
                </a:endParaRPr>
              </a:p>
              <a:p>
                <a:pPr>
                  <a:lnSpc>
                    <a:spcPct val="150000"/>
                  </a:lnSpc>
                </a:pPr>
                <a:r>
                  <a:rPr lang="en-US" sz="2000">
                    <a:latin typeface="Arial" pitchFamily="34" charset="0"/>
                    <a:cs typeface="Arial" pitchFamily="34" charset="0"/>
                  </a:rPr>
                  <a:t>Hệ </a:t>
                </a:r>
                <a:r>
                  <a:rPr lang="en-US" sz="2000" err="1">
                    <a:latin typeface="Arial" pitchFamily="34" charset="0"/>
                    <a:cs typeface="Arial" pitchFamily="34" charset="0"/>
                  </a:rPr>
                  <a:t>số</a:t>
                </a:r>
                <a:r>
                  <a:rPr lang="en-US" sz="2000">
                    <a:latin typeface="Arial" pitchFamily="34" charset="0"/>
                    <a:cs typeface="Arial" pitchFamily="34" charset="0"/>
                  </a:rPr>
                  <a:t> </a:t>
                </a:r>
                <a:r>
                  <a:rPr lang="en-US" sz="2000" err="1">
                    <a:latin typeface="Arial" pitchFamily="34" charset="0"/>
                    <a:cs typeface="Arial" pitchFamily="34" charset="0"/>
                  </a:rPr>
                  <a:t>điều</a:t>
                </a:r>
                <a:r>
                  <a:rPr lang="en-US" sz="2000">
                    <a:latin typeface="Arial" pitchFamily="34" charset="0"/>
                    <a:cs typeface="Arial" pitchFamily="34" charset="0"/>
                  </a:rPr>
                  <a:t> </a:t>
                </a:r>
                <a:r>
                  <a:rPr lang="en-US" sz="2000" err="1">
                    <a:latin typeface="Arial" pitchFamily="34" charset="0"/>
                    <a:cs typeface="Arial" pitchFamily="34" charset="0"/>
                  </a:rPr>
                  <a:t>chế</a:t>
                </a:r>
                <a:r>
                  <a:rPr lang="en-US" sz="2000">
                    <a:latin typeface="Arial" pitchFamily="34" charset="0"/>
                    <a:cs typeface="Arial" pitchFamily="34" charset="0"/>
                  </a:rPr>
                  <a:t>: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𝐷</m:t>
                    </m:r>
                    <m:r>
                      <a:rPr lang="en-US" sz="2000" b="0" i="1" smtClean="0">
                        <a:latin typeface="Cambria Math" panose="02040503050406030204" pitchFamily="18" charset="0"/>
                        <a:cs typeface="Times New Roman" panose="02020603050405020304" pitchFamily="18" charset="0"/>
                      </a:rPr>
                      <m:t>=1− </m:t>
                    </m:r>
                    <m:f>
                      <m:fPr>
                        <m:ctrlPr>
                          <a:rPr lang="en-US" sz="2000" b="0" i="1" smtClean="0">
                            <a:latin typeface="Cambria Math" panose="02040503050406030204" pitchFamily="18" charset="0"/>
                            <a:cs typeface="Times New Roman" panose="02020603050405020304" pitchFamily="18" charset="0"/>
                          </a:rPr>
                        </m:ctrlPr>
                      </m:fPr>
                      <m:nu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𝑖𝑛</m:t>
                            </m:r>
                          </m:sub>
                        </m:sSub>
                      </m:num>
                      <m:den>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a:cs typeface="Times New Roman" panose="02020603050405020304" pitchFamily="18" charset="0"/>
                              </a:rPr>
                              <m:t>𝑜𝑢𝑡</m:t>
                            </m:r>
                          </m:sub>
                        </m:sSub>
                      </m:den>
                    </m:f>
                    <m:r>
                      <a:rPr lang="en-US" sz="2000" b="0" i="1" smtClean="0">
                        <a:latin typeface="Cambria Math" panose="02040503050406030204" pitchFamily="18" charset="0"/>
                        <a:cs typeface="Times New Roman" panose="02020603050405020304" pitchFamily="18" charset="0"/>
                      </a:rPr>
                      <m:t>=1− </m:t>
                    </m:r>
                    <m:f>
                      <m:fPr>
                        <m:ctrlPr>
                          <a:rPr lang="en-US" sz="2000" b="0" i="1" smtClean="0">
                            <a:latin typeface="Cambria Math" panose="02040503050406030204" pitchFamily="18" charset="0"/>
                            <a:cs typeface="Times New Roman" panose="02020603050405020304" pitchFamily="18" charset="0"/>
                          </a:rPr>
                        </m:ctrlPr>
                      </m:fPr>
                      <m:num>
                        <m:r>
                          <a:rPr lang="en-US" sz="2000" b="0" i="1" smtClean="0">
                            <a:latin typeface="Cambria Math"/>
                            <a:cs typeface="Times New Roman" panose="02020603050405020304" pitchFamily="18" charset="0"/>
                          </a:rPr>
                          <m:t>310</m:t>
                        </m:r>
                      </m:num>
                      <m:den>
                        <m:r>
                          <a:rPr lang="en-US" sz="2000" b="0" i="1" smtClean="0">
                            <a:latin typeface="Cambria Math" panose="02040503050406030204" pitchFamily="18" charset="0"/>
                            <a:cs typeface="Times New Roman" panose="02020603050405020304" pitchFamily="18" charset="0"/>
                          </a:rPr>
                          <m:t>400</m:t>
                        </m:r>
                      </m:den>
                    </m:f>
                    <m:r>
                      <a:rPr lang="en-US" sz="2000" b="0" i="1" smtClean="0">
                        <a:latin typeface="Cambria Math" panose="02040503050406030204" pitchFamily="18" charset="0"/>
                        <a:cs typeface="Times New Roman" panose="02020603050405020304" pitchFamily="18" charset="0"/>
                      </a:rPr>
                      <m:t>=0</m:t>
                    </m:r>
                    <m:r>
                      <a:rPr lang="en-US" sz="2000" b="0" i="1" smtClean="0">
                        <a:latin typeface="Cambria Math"/>
                        <a:cs typeface="Times New Roman" panose="02020603050405020304" pitchFamily="18" charset="0"/>
                      </a:rPr>
                      <m:t>.225</m:t>
                    </m:r>
                  </m:oMath>
                </a14:m>
                <a:endParaRPr lang="en-US" sz="2000" b="0">
                  <a:latin typeface="Arial" pitchFamily="34" charset="0"/>
                  <a:cs typeface="Times New Roman" panose="02020603050405020304" pitchFamily="18" charset="0"/>
                </a:endParaRPr>
              </a:p>
              <a:p>
                <a:pPr>
                  <a:lnSpc>
                    <a:spcPct val="150000"/>
                  </a:lnSpc>
                </a:pPr>
                <a:r>
                  <a:rPr lang="en-US" sz="2000">
                    <a:latin typeface="Arial" pitchFamily="34" charset="0"/>
                    <a:cs typeface="Arial" pitchFamily="34" charset="0"/>
                  </a:rPr>
                  <a:t>Điện </a:t>
                </a:r>
                <a:r>
                  <a:rPr lang="en-US" sz="2000" err="1">
                    <a:latin typeface="Arial" pitchFamily="34" charset="0"/>
                    <a:cs typeface="Arial" pitchFamily="34" charset="0"/>
                  </a:rPr>
                  <a:t>tải</a:t>
                </a:r>
                <a:r>
                  <a:rPr lang="en-US" sz="2000">
                    <a:latin typeface="Arial" pitchFamily="34" charset="0"/>
                    <a:cs typeface="Arial" pitchFamily="34" charset="0"/>
                  </a:rPr>
                  <a:t> </a:t>
                </a:r>
                <a:r>
                  <a:rPr lang="en-US" sz="2000" err="1">
                    <a:latin typeface="Arial" pitchFamily="34" charset="0"/>
                    <a:cs typeface="Arial" pitchFamily="34" charset="0"/>
                  </a:rPr>
                  <a:t>trở</a:t>
                </a:r>
                <a:r>
                  <a:rPr lang="en-US" sz="2000">
                    <a:latin typeface="Arial" pitchFamily="34" charset="0"/>
                    <a:cs typeface="Arial" pitchFamily="34" charset="0"/>
                  </a:rPr>
                  <a:t> </a:t>
                </a:r>
                <a:r>
                  <a:rPr lang="en-US" sz="2000" err="1">
                    <a:latin typeface="Arial" pitchFamily="34" charset="0"/>
                    <a:cs typeface="Arial" pitchFamily="34" charset="0"/>
                  </a:rPr>
                  <a:t>tương</a:t>
                </a:r>
                <a:r>
                  <a:rPr lang="en-US" sz="2000">
                    <a:latin typeface="Arial" pitchFamily="34" charset="0"/>
                    <a:cs typeface="Arial" pitchFamily="34" charset="0"/>
                  </a:rPr>
                  <a:t> </a:t>
                </a:r>
                <a:r>
                  <a:rPr lang="en-US" sz="2000" err="1">
                    <a:latin typeface="Arial" pitchFamily="34" charset="0"/>
                    <a:cs typeface="Arial" pitchFamily="34" charset="0"/>
                  </a:rPr>
                  <a:t>đương</a:t>
                </a:r>
                <a:r>
                  <a:rPr lang="en-US" sz="2000">
                    <a:latin typeface="Arial" pitchFamily="34" charset="0"/>
                    <a:cs typeface="Arial" pitchFamily="34" charset="0"/>
                  </a:rPr>
                  <a:t>: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𝑅</m:t>
                    </m:r>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sSubSup>
                          <m:sSubSupPr>
                            <m:ctrlPr>
                              <a:rPr lang="en-US" sz="2000" b="0" i="1" smtClean="0">
                                <a:latin typeface="Cambria Math" panose="02040503050406030204" pitchFamily="18" charset="0"/>
                                <a:cs typeface="Times New Roman" panose="02020603050405020304" pitchFamily="18" charset="0"/>
                              </a:rPr>
                            </m:ctrlPr>
                          </m:sSubSup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a:cs typeface="Times New Roman" panose="02020603050405020304" pitchFamily="18" charset="0"/>
                              </a:rPr>
                              <m:t>𝑜𝑢𝑡</m:t>
                            </m:r>
                          </m:sub>
                          <m:sup>
                            <m:r>
                              <a:rPr lang="en-US" sz="2000" b="0" i="1" smtClean="0">
                                <a:latin typeface="Cambria Math" panose="02040503050406030204" pitchFamily="18" charset="0"/>
                                <a:cs typeface="Times New Roman" panose="02020603050405020304" pitchFamily="18" charset="0"/>
                              </a:rPr>
                              <m:t>2</m:t>
                            </m:r>
                          </m:sup>
                        </m:sSubSup>
                      </m:num>
                      <m:den>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a:rPr lang="en-US" sz="2000" b="0" i="1" smtClean="0">
                                <a:latin typeface="Cambria Math"/>
                                <a:cs typeface="Times New Roman" panose="02020603050405020304" pitchFamily="18" charset="0"/>
                              </a:rPr>
                              <m:t>𝑜</m:t>
                            </m:r>
                          </m:sub>
                        </m:sSub>
                      </m:den>
                    </m:f>
                    <m:r>
                      <a:rPr lang="en-US" sz="2000" b="0" i="1" smtClean="0">
                        <a:latin typeface="Cambria Math" panose="02040503050406030204" pitchFamily="18" charset="0"/>
                        <a:cs typeface="Times New Roman" panose="02020603050405020304" pitchFamily="18" charset="0"/>
                      </a:rPr>
                      <m:t>=</m:t>
                    </m:r>
                    <m:f>
                      <m:fPr>
                        <m:ctrlPr>
                          <a:rPr lang="en-US" sz="2000" b="0" i="1" smtClean="0">
                            <a:latin typeface="Cambria Math" panose="02040503050406030204" pitchFamily="18" charset="0"/>
                            <a:cs typeface="Times New Roman" panose="02020603050405020304" pitchFamily="18" charset="0"/>
                          </a:rPr>
                        </m:ctrlPr>
                      </m:fPr>
                      <m:num>
                        <m:sSup>
                          <m:sSupPr>
                            <m:ctrlPr>
                              <a:rPr lang="en-US" sz="2000" b="0" i="1" smtClean="0">
                                <a:latin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cs typeface="Times New Roman" panose="02020603050405020304" pitchFamily="18" charset="0"/>
                              </a:rPr>
                              <m:t>400</m:t>
                            </m:r>
                          </m:e>
                          <m:sup>
                            <m:r>
                              <a:rPr lang="en-US" sz="2000" b="0" i="1" smtClean="0">
                                <a:latin typeface="Cambria Math" panose="02040503050406030204" pitchFamily="18" charset="0"/>
                                <a:cs typeface="Times New Roman" panose="02020603050405020304" pitchFamily="18" charset="0"/>
                              </a:rPr>
                              <m:t>2</m:t>
                            </m:r>
                          </m:sup>
                        </m:sSup>
                      </m:num>
                      <m:den>
                        <m:r>
                          <a:rPr lang="en-US" sz="2000" b="0" i="1" smtClean="0">
                            <a:latin typeface="Cambria Math" panose="02040503050406030204" pitchFamily="18" charset="0"/>
                            <a:cs typeface="Times New Roman" panose="02020603050405020304" pitchFamily="18" charset="0"/>
                          </a:rPr>
                          <m:t>1</m:t>
                        </m:r>
                        <m:r>
                          <a:rPr lang="en-US" sz="2000" b="0" i="1" smtClean="0">
                            <a:latin typeface="Cambria Math"/>
                            <a:cs typeface="Times New Roman" panose="02020603050405020304" pitchFamily="18" charset="0"/>
                          </a:rPr>
                          <m:t>000</m:t>
                        </m:r>
                      </m:den>
                    </m:f>
                    <m:r>
                      <a:rPr lang="en-US" sz="2000" b="0" i="1" smtClean="0">
                        <a:latin typeface="Cambria Math" panose="02040503050406030204" pitchFamily="18" charset="0"/>
                        <a:cs typeface="Times New Roman" panose="02020603050405020304" pitchFamily="18" charset="0"/>
                      </a:rPr>
                      <m:t>=160 (</m:t>
                    </m:r>
                    <m:r>
                      <a:rPr lang="en-US" sz="2000" i="1" dirty="0" smtClean="0">
                        <a:latin typeface="Cambria Math" panose="02040503050406030204" pitchFamily="18" charset="0"/>
                      </a:rPr>
                      <m:t>𝛺</m:t>
                    </m:r>
                    <m:r>
                      <a:rPr lang="en-US" sz="2000" b="0" i="1" dirty="0" smtClean="0">
                        <a:latin typeface="Cambria Math" panose="02040503050406030204" pitchFamily="18" charset="0"/>
                      </a:rPr>
                      <m:t>)</m:t>
                    </m:r>
                  </m:oMath>
                </a14:m>
                <a:endParaRPr lang="en-US" sz="2000">
                  <a:latin typeface="Arial" pitchFamily="34" charset="0"/>
                  <a:cs typeface="Arial" pitchFamily="34" charset="0"/>
                </a:endParaRPr>
              </a:p>
            </p:txBody>
          </p:sp>
        </mc:Choice>
        <mc:Fallback xmlns="">
          <p:sp>
            <p:nvSpPr>
              <p:cNvPr id="4" name="TextBox 3">
                <a:extLst>
                  <a:ext uri="{FF2B5EF4-FFF2-40B4-BE49-F238E27FC236}">
                    <a16:creationId xmlns:a16="http://schemas.microsoft.com/office/drawing/2014/main" id="{DC63094A-E7E2-647F-4742-420D1672CDEA}"/>
                  </a:ext>
                </a:extLst>
              </p:cNvPr>
              <p:cNvSpPr txBox="1">
                <a:spLocks noRot="1" noChangeAspect="1" noMove="1" noResize="1" noEditPoints="1" noAdjustHandles="1" noChangeArrowheads="1" noChangeShapeType="1" noTextEdit="1"/>
              </p:cNvSpPr>
              <p:nvPr/>
            </p:nvSpPr>
            <p:spPr>
              <a:xfrm>
                <a:off x="93600" y="1429391"/>
                <a:ext cx="8515350" cy="2242858"/>
              </a:xfrm>
              <a:prstGeom prst="rect">
                <a:avLst/>
              </a:prstGeom>
              <a:blipFill>
                <a:blip r:embed="rId2"/>
                <a:stretch>
                  <a:fillRect l="-716"/>
                </a:stretch>
              </a:blipFill>
            </p:spPr>
            <p:txBody>
              <a:bodyPr/>
              <a:lstStyle/>
              <a:p>
                <a:r>
                  <a:rPr lang="en-US">
                    <a:noFill/>
                  </a:rPr>
                  <a:t> </a:t>
                </a:r>
              </a:p>
            </p:txBody>
          </p:sp>
        </mc:Fallback>
      </mc:AlternateContent>
      <p:sp>
        <p:nvSpPr>
          <p:cNvPr id="6" name="Rectangle 4">
            <a:extLst>
              <a:ext uri="{FF2B5EF4-FFF2-40B4-BE49-F238E27FC236}">
                <a16:creationId xmlns:a16="http://schemas.microsoft.com/office/drawing/2014/main" id="{813D1241-FC94-2806-A845-0060DF39F2EC}"/>
              </a:ext>
            </a:extLst>
          </p:cNvPr>
          <p:cNvSpPr/>
          <p:nvPr/>
        </p:nvSpPr>
        <p:spPr>
          <a:xfrm>
            <a:off x="121032" y="1257038"/>
            <a:ext cx="2373086" cy="400110"/>
          </a:xfrm>
          <a:prstGeom prst="rect">
            <a:avLst/>
          </a:prstGeom>
        </p:spPr>
        <p:txBody>
          <a:bodyPr wrap="none">
            <a:spAutoFit/>
          </a:bodyPr>
          <a:lstStyle/>
          <a:p>
            <a:pPr marL="12700">
              <a:lnSpc>
                <a:spcPct val="100000"/>
              </a:lnSpc>
              <a:spcBef>
                <a:spcPts val="1200"/>
              </a:spcBef>
              <a:buClr>
                <a:srgbClr val="595958"/>
              </a:buClr>
              <a:buSzPct val="79166"/>
              <a:tabLst>
                <a:tab pos="354965" algn="l"/>
                <a:tab pos="355600" algn="l"/>
              </a:tabLst>
            </a:pPr>
            <a:r>
              <a:rPr lang="vi-VN" sz="2000" b="1" spc="-5">
                <a:latin typeface="Arial" pitchFamily="34" charset="0"/>
                <a:cs typeface="Arial" pitchFamily="34" charset="0"/>
              </a:rPr>
              <a:t>Tính</a:t>
            </a:r>
            <a:r>
              <a:rPr lang="vi-VN" sz="2000" b="1" spc="-25">
                <a:latin typeface="Arial" pitchFamily="34" charset="0"/>
                <a:cs typeface="Arial" pitchFamily="34" charset="0"/>
              </a:rPr>
              <a:t> </a:t>
            </a:r>
            <a:r>
              <a:rPr lang="vi-VN" sz="2000" b="1">
                <a:latin typeface="Arial" pitchFamily="34" charset="0"/>
                <a:cs typeface="Arial" pitchFamily="34" charset="0"/>
              </a:rPr>
              <a:t>toán</a:t>
            </a:r>
            <a:r>
              <a:rPr lang="vi-VN" sz="2000" b="1" spc="-10">
                <a:latin typeface="Arial" pitchFamily="34" charset="0"/>
                <a:cs typeface="Arial" pitchFamily="34" charset="0"/>
              </a:rPr>
              <a:t> </a:t>
            </a:r>
            <a:r>
              <a:rPr lang="vi-VN" sz="2000" b="1" spc="-5">
                <a:latin typeface="Arial" pitchFamily="34" charset="0"/>
                <a:cs typeface="Arial" pitchFamily="34" charset="0"/>
              </a:rPr>
              <a:t>điện</a:t>
            </a:r>
            <a:r>
              <a:rPr lang="vi-VN" sz="2000" b="1" spc="-35">
                <a:latin typeface="Arial" pitchFamily="34" charset="0"/>
                <a:cs typeface="Arial" pitchFamily="34" charset="0"/>
              </a:rPr>
              <a:t> </a:t>
            </a:r>
            <a:r>
              <a:rPr lang="vi-VN" sz="2000" b="1">
                <a:latin typeface="Arial" pitchFamily="34" charset="0"/>
                <a:cs typeface="Arial" pitchFamily="34" charset="0"/>
              </a:rPr>
              <a:t>trở</a:t>
            </a:r>
          </a:p>
        </p:txBody>
      </p:sp>
      <mc:AlternateContent xmlns:mc="http://schemas.openxmlformats.org/markup-compatibility/2006" xmlns:a14="http://schemas.microsoft.com/office/drawing/2010/main">
        <mc:Choice Requires="a14">
          <p:sp>
            <p:nvSpPr>
              <p:cNvPr id="7" name="TextBox 28">
                <a:extLst>
                  <a:ext uri="{FF2B5EF4-FFF2-40B4-BE49-F238E27FC236}">
                    <a16:creationId xmlns:a16="http://schemas.microsoft.com/office/drawing/2014/main" id="{1DC8199E-C225-B1E8-F4F4-4F8099F278EF}"/>
                  </a:ext>
                </a:extLst>
              </p:cNvPr>
              <p:cNvSpPr txBox="1"/>
              <p:nvPr/>
            </p:nvSpPr>
            <p:spPr>
              <a:xfrm>
                <a:off x="55671" y="3472194"/>
                <a:ext cx="9224515" cy="3010952"/>
              </a:xfrm>
              <a:prstGeom prst="rect">
                <a:avLst/>
              </a:prstGeom>
              <a:noFill/>
            </p:spPr>
            <p:txBody>
              <a:bodyPr wrap="square" rtlCol="0">
                <a:spAutoFit/>
              </a:bodyPr>
              <a:lstStyle/>
              <a:p>
                <a:endParaRPr lang="en-US" sz="2000" b="1">
                  <a:latin typeface="Arial" pitchFamily="34" charset="0"/>
                  <a:cs typeface="Arial" pitchFamily="34" charset="0"/>
                </a:endParaRPr>
              </a:p>
              <a:p>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trung</a:t>
                </a:r>
                <a:r>
                  <a:rPr lang="en-US" sz="2000">
                    <a:latin typeface="Arial" pitchFamily="34" charset="0"/>
                    <a:cs typeface="Arial" pitchFamily="34" charset="0"/>
                  </a:rPr>
                  <a:t> </a:t>
                </a:r>
                <a:r>
                  <a:rPr lang="en-US" sz="2000" err="1">
                    <a:latin typeface="Arial" pitchFamily="34" charset="0"/>
                    <a:cs typeface="Arial" pitchFamily="34" charset="0"/>
                  </a:rPr>
                  <a:t>bình</a:t>
                </a:r>
                <a:r>
                  <a:rPr lang="en-US" sz="2000">
                    <a:latin typeface="Arial" pitchFamily="34" charset="0"/>
                    <a:cs typeface="Arial" pitchFamily="34" charset="0"/>
                  </a:rPr>
                  <a:t> </a:t>
                </a:r>
                <a:r>
                  <a:rPr lang="en-US" sz="2000" err="1">
                    <a:latin typeface="Arial" pitchFamily="34" charset="0"/>
                    <a:cs typeface="Arial" pitchFamily="34" charset="0"/>
                  </a:rPr>
                  <a:t>trên</a:t>
                </a:r>
                <a:r>
                  <a:rPr lang="en-US" sz="2000">
                    <a:latin typeface="Arial" pitchFamily="34" charset="0"/>
                    <a:cs typeface="Arial" pitchFamily="34" charset="0"/>
                  </a:rPr>
                  <a:t> </a:t>
                </a:r>
                <a:r>
                  <a:rPr lang="en-US" sz="2000" err="1">
                    <a:latin typeface="Arial" pitchFamily="34" charset="0"/>
                    <a:cs typeface="Arial" pitchFamily="34" charset="0"/>
                  </a:rPr>
                  <a:t>cuộn</a:t>
                </a:r>
                <a:r>
                  <a:rPr lang="en-US" sz="2000">
                    <a:latin typeface="Arial" pitchFamily="34" charset="0"/>
                    <a:cs typeface="Arial" pitchFamily="34" charset="0"/>
                  </a:rPr>
                  <a:t> </a:t>
                </a:r>
                <a:r>
                  <a:rPr lang="en-US" sz="2000" err="1">
                    <a:latin typeface="Arial" pitchFamily="34" charset="0"/>
                    <a:cs typeface="Arial" pitchFamily="34" charset="0"/>
                  </a:rPr>
                  <a:t>cảm</a:t>
                </a:r>
                <a:r>
                  <a:rPr lang="en-US" sz="2000">
                    <a:latin typeface="Arial" pitchFamily="34" charset="0"/>
                    <a:cs typeface="Arial" pitchFamily="34" charset="0"/>
                  </a:rPr>
                  <a:t>:</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𝐿</m:t>
                        </m:r>
                      </m:sub>
                    </m:sSub>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0</m:t>
                            </m:r>
                          </m:sub>
                        </m:sSub>
                      </m:num>
                      <m:den>
                        <m:r>
                          <a:rPr lang="en-US" sz="2000" b="0" i="1" smtClean="0">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𝐷</m:t>
                        </m:r>
                      </m:den>
                    </m:f>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2,5</m:t>
                        </m:r>
                      </m:num>
                      <m:den>
                        <m:r>
                          <a:rPr lang="en-US" sz="2000" b="0" i="1" smtClean="0">
                            <a:latin typeface="Cambria Math" panose="02040503050406030204" pitchFamily="18" charset="0"/>
                            <a:cs typeface="Times New Roman" panose="02020603050405020304" pitchFamily="18" charset="0"/>
                          </a:rPr>
                          <m:t>1−0,</m:t>
                        </m:r>
                        <m:r>
                          <a:rPr lang="en-US" sz="2000" b="0" i="1" smtClean="0">
                            <a:latin typeface="Cambria Math"/>
                            <a:cs typeface="Times New Roman" panose="02020603050405020304" pitchFamily="18" charset="0"/>
                          </a:rPr>
                          <m:t>22</m:t>
                        </m:r>
                        <m:r>
                          <a:rPr lang="en-US" sz="2000" b="0" i="1" smtClean="0">
                            <a:latin typeface="Cambria Math" panose="02040503050406030204" pitchFamily="18" charset="0"/>
                            <a:cs typeface="Times New Roman" panose="02020603050405020304" pitchFamily="18" charset="0"/>
                          </a:rPr>
                          <m:t>5</m:t>
                        </m:r>
                      </m:den>
                    </m:f>
                    <m:r>
                      <a:rPr lang="en-US" sz="2000" b="0" i="1" smtClean="0">
                        <a:latin typeface="Cambria Math" panose="02040503050406030204" pitchFamily="18" charset="0"/>
                        <a:cs typeface="Times New Roman" panose="02020603050405020304" pitchFamily="18" charset="0"/>
                      </a:rPr>
                      <m:t>=</m:t>
                    </m:r>
                    <m:r>
                      <a:rPr lang="en-US" sz="2000" b="0" i="1" smtClean="0">
                        <a:latin typeface="Cambria Math"/>
                        <a:cs typeface="Times New Roman" panose="02020603050405020304" pitchFamily="18" charset="0"/>
                      </a:rPr>
                      <m:t>3.225</m:t>
                    </m:r>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𝐴</m:t>
                    </m:r>
                  </m:oMath>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a:latin typeface="Arial" pitchFamily="34" charset="0"/>
                    <a:cs typeface="Arial" pitchFamily="34" charset="0"/>
                  </a:rPr>
                  <a:t>Độ </a:t>
                </a:r>
                <a:r>
                  <a:rPr lang="en-US" sz="2000" err="1">
                    <a:latin typeface="Arial" pitchFamily="34" charset="0"/>
                    <a:cs typeface="Arial" pitchFamily="34" charset="0"/>
                  </a:rPr>
                  <a:t>đập</a:t>
                </a:r>
                <a:r>
                  <a:rPr lang="en-US" sz="2000">
                    <a:latin typeface="Arial" pitchFamily="34" charset="0"/>
                    <a:cs typeface="Arial" pitchFamily="34" charset="0"/>
                  </a:rPr>
                  <a:t> </a:t>
                </a:r>
                <a:r>
                  <a:rPr lang="en-US" sz="2000" err="1">
                    <a:latin typeface="Arial" pitchFamily="34" charset="0"/>
                    <a:cs typeface="Arial" pitchFamily="34" charset="0"/>
                  </a:rPr>
                  <a:t>mạch</a:t>
                </a:r>
                <a:r>
                  <a:rPr lang="en-US" sz="2000">
                    <a:latin typeface="Arial" pitchFamily="34" charset="0"/>
                    <a:cs typeface="Arial" pitchFamily="34" charset="0"/>
                  </a:rPr>
                  <a:t> </a:t>
                </a:r>
                <a:r>
                  <a:rPr lang="en-US" sz="2000" err="1">
                    <a:latin typeface="Arial" pitchFamily="34" charset="0"/>
                    <a:cs typeface="Arial" pitchFamily="34" charset="0"/>
                  </a:rPr>
                  <a:t>của</a:t>
                </a:r>
                <a:r>
                  <a:rPr lang="en-US" sz="2000">
                    <a:latin typeface="Arial" pitchFamily="34" charset="0"/>
                    <a:cs typeface="Arial" pitchFamily="34" charset="0"/>
                  </a:rPr>
                  <a:t> </a:t>
                </a:r>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14:m>
                  <m:oMath xmlns:m="http://schemas.openxmlformats.org/officeDocument/2006/math">
                    <m:r>
                      <m:rPr>
                        <m:sty m:val="p"/>
                      </m:rPr>
                      <a:rPr lang="en-US" sz="2000" i="1"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𝐿</m:t>
                        </m:r>
                      </m:sub>
                    </m:sSub>
                    <m:r>
                      <a:rPr lang="en-US" sz="2000" b="0" i="1" smtClean="0">
                        <a:latin typeface="Cambria Math" panose="02040503050406030204" pitchFamily="18" charset="0"/>
                      </a:rPr>
                      <m:t>=</m:t>
                    </m:r>
                    <m:r>
                      <a:rPr lang="en-US" sz="2000" b="0" i="1" smtClean="0">
                        <a:latin typeface="Cambria Math" panose="02040503050406030204" pitchFamily="18" charset="0"/>
                      </a:rPr>
                      <m:t>𝐷</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𝑠</m:t>
                        </m:r>
                      </m:sub>
                    </m:sSub>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b="0" i="1" smtClean="0">
                                <a:latin typeface="Cambria Math" panose="02040503050406030204" pitchFamily="18" charset="0"/>
                              </a:rPr>
                              <m:t>𝑖𝑛</m:t>
                            </m:r>
                          </m:sub>
                        </m:sSub>
                      </m:num>
                      <m:den>
                        <m:r>
                          <a:rPr lang="en-US" sz="2000" b="0" i="1" smtClean="0">
                            <a:latin typeface="Cambria Math" panose="02040503050406030204" pitchFamily="18" charset="0"/>
                          </a:rPr>
                          <m:t>2</m:t>
                        </m:r>
                        <m:r>
                          <a:rPr lang="en-US" sz="2000" b="0" i="1" smtClean="0">
                            <a:latin typeface="Cambria Math" panose="02040503050406030204" pitchFamily="18" charset="0"/>
                          </a:rPr>
                          <m:t>𝐿</m:t>
                        </m:r>
                      </m:den>
                    </m:f>
                  </m:oMath>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a:latin typeface="Arial" pitchFamily="34" charset="0"/>
                    <a:cs typeface="Arial" pitchFamily="34" charset="0"/>
                  </a:rPr>
                  <a:t>Hệ </a:t>
                </a:r>
                <a:r>
                  <a:rPr lang="en-US" sz="2000" err="1">
                    <a:latin typeface="Arial" pitchFamily="34" charset="0"/>
                    <a:cs typeface="Arial" pitchFamily="34" charset="0"/>
                  </a:rPr>
                  <a:t>số</a:t>
                </a:r>
                <a:r>
                  <a:rPr lang="en-US" sz="2000">
                    <a:latin typeface="Arial" pitchFamily="34" charset="0"/>
                    <a:cs typeface="Arial" pitchFamily="34" charset="0"/>
                  </a:rPr>
                  <a:t> </a:t>
                </a:r>
                <a:r>
                  <a:rPr lang="en-US" sz="2000" err="1">
                    <a:latin typeface="Arial" pitchFamily="34" charset="0"/>
                    <a:cs typeface="Arial" pitchFamily="34" charset="0"/>
                  </a:rPr>
                  <a:t>đập</a:t>
                </a:r>
                <a:r>
                  <a:rPr lang="en-US" sz="2000">
                    <a:latin typeface="Arial" pitchFamily="34" charset="0"/>
                    <a:cs typeface="Arial" pitchFamily="34" charset="0"/>
                  </a:rPr>
                  <a:t> </a:t>
                </a:r>
                <a:r>
                  <a:rPr lang="en-US" sz="2000" err="1">
                    <a:latin typeface="Arial" pitchFamily="34" charset="0"/>
                    <a:cs typeface="Arial" pitchFamily="34" charset="0"/>
                  </a:rPr>
                  <a:t>mạch</a:t>
                </a:r>
                <a:r>
                  <a:rPr lang="en-US" sz="2000">
                    <a:latin typeface="Arial" pitchFamily="34" charset="0"/>
                    <a:cs typeface="Arial" pitchFamily="34" charset="0"/>
                  </a:rPr>
                  <a:t> </a:t>
                </a:r>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trong</a:t>
                </a:r>
                <a:r>
                  <a:rPr lang="en-US" sz="2000">
                    <a:latin typeface="Arial" pitchFamily="34" charset="0"/>
                    <a:cs typeface="Arial" pitchFamily="34" charset="0"/>
                  </a:rPr>
                  <a:t> </a:t>
                </a:r>
                <a:r>
                  <a:rPr lang="en-US" sz="2000" err="1">
                    <a:latin typeface="Arial" pitchFamily="34" charset="0"/>
                    <a:cs typeface="Arial" pitchFamily="34" charset="0"/>
                  </a:rPr>
                  <a:t>khoảng</a:t>
                </a:r>
                <a:r>
                  <a:rPr lang="en-US" sz="2000">
                    <a:latin typeface="Arial" pitchFamily="34" charset="0"/>
                    <a:cs typeface="Arial" pitchFamily="34" charset="0"/>
                  </a:rPr>
                  <a:t> (10-20%)</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𝐿</m:t>
                        </m:r>
                      </m:sub>
                    </m:sSub>
                  </m:oMath>
                </a14:m>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14:m>
                  <m:oMath xmlns:m="http://schemas.openxmlformats.org/officeDocument/2006/math">
                    <m:r>
                      <m:rPr>
                        <m:sty m:val="p"/>
                      </m:rPr>
                      <a:rPr lang="en-US" sz="2000" i="1">
                        <a:latin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m:t>
                        </m:r>
                      </m:sub>
                    </m:sSub>
                    <m:r>
                      <a:rPr lang="en-US" sz="2000" b="0" i="0" smtClean="0">
                        <a:latin typeface="Cambria Math"/>
                      </a:rPr>
                      <m:t>=</m:t>
                    </m:r>
                    <m:r>
                      <a:rPr lang="en-US" sz="2000" b="0" i="0" smtClean="0">
                        <a:latin typeface="Cambria Math" panose="02040503050406030204" pitchFamily="18" charset="0"/>
                      </a:rPr>
                      <m:t>1</m:t>
                    </m:r>
                    <m:r>
                      <a:rPr lang="en-US" sz="2000" b="0" i="0" smtClean="0">
                        <a:latin typeface="Cambria Math"/>
                      </a:rPr>
                      <m:t>1</m:t>
                    </m:r>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𝐿</m:t>
                        </m:r>
                      </m:sub>
                    </m:sSub>
                  </m:oMath>
                </a14:m>
                <a:endParaRPr lang="en-US" sz="2000">
                  <a:latin typeface="Arial" pitchFamily="34" charset="0"/>
                  <a:cs typeface="Arial" pitchFamily="34" charset="0"/>
                </a:endParaRPr>
              </a:p>
              <a:p>
                <a14:m>
                  <m:oMath xmlns:m="http://schemas.openxmlformats.org/officeDocument/2006/math">
                    <m:r>
                      <a:rPr lang="en-US" sz="2000" b="0" i="1" smtClean="0">
                        <a:latin typeface="Cambria Math" panose="02040503050406030204" pitchFamily="18" charset="0"/>
                      </a:rPr>
                      <m:t>   </m:t>
                    </m:r>
                    <m:r>
                      <a:rPr lang="en-US" sz="2000" b="0" i="1" smtClean="0">
                        <a:latin typeface="Cambria Math"/>
                      </a:rPr>
                      <m:t>           </m:t>
                    </m:r>
                    <m:r>
                      <a:rPr lang="en-US" sz="2000" b="0" i="1" smtClean="0">
                        <a:latin typeface="Cambria Math" panose="02040503050406030204" pitchFamily="18" charset="0"/>
                      </a:rPr>
                      <m:t>  </m:t>
                    </m:r>
                    <m:r>
                      <a:rPr lang="en-US" sz="2000" i="1" smtClean="0">
                        <a:latin typeface="Cambria Math" panose="02040503050406030204" pitchFamily="18" charset="0"/>
                      </a:rPr>
                      <m:t>⇒</m:t>
                    </m:r>
                    <m:r>
                      <a:rPr lang="en-US" sz="2000" b="0" i="1" smtClean="0">
                        <a:latin typeface="Cambria Math" panose="02040503050406030204" pitchFamily="18" charset="0"/>
                      </a:rPr>
                      <m:t>𝐿</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b="0" i="1" smtClean="0">
                                <a:latin typeface="Cambria Math" panose="02040503050406030204" pitchFamily="18" charset="0"/>
                              </a:rPr>
                              <m:t>𝑖𝑛</m:t>
                            </m:r>
                          </m:sub>
                        </m:sSub>
                        <m:r>
                          <a:rPr lang="en-US" sz="2000" b="0" i="1" smtClean="0">
                            <a:latin typeface="Cambria Math" panose="02040503050406030204" pitchFamily="18" charset="0"/>
                          </a:rPr>
                          <m:t>𝐷</m:t>
                        </m:r>
                      </m:num>
                      <m:den>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𝑠</m:t>
                            </m:r>
                          </m:sub>
                        </m:sSub>
                        <m:r>
                          <m:rPr>
                            <m:sty m:val="p"/>
                          </m:rPr>
                          <a:rPr lang="en-US" sz="2000" b="0" i="1"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𝐿</m:t>
                            </m:r>
                          </m:sub>
                        </m:sSub>
                      </m:den>
                    </m:f>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a:rPr>
                          <m:t>310</m:t>
                        </m:r>
                        <m:r>
                          <a:rPr lang="en-US" sz="2000" i="1">
                            <a:latin typeface="Cambria Math" panose="02040503050406030204" pitchFamily="18" charset="0"/>
                            <a:ea typeface="Cambria Math"/>
                          </a:rPr>
                          <m:t>∙</m:t>
                        </m:r>
                        <m:r>
                          <a:rPr lang="en-US" sz="2000" b="0" i="1" smtClean="0">
                            <a:latin typeface="Cambria Math" panose="02040503050406030204" pitchFamily="18" charset="0"/>
                          </a:rPr>
                          <m:t>0,</m:t>
                        </m:r>
                        <m:r>
                          <a:rPr lang="en-US" sz="2000" b="0" i="1" smtClean="0">
                            <a:latin typeface="Cambria Math"/>
                          </a:rPr>
                          <m:t>22</m:t>
                        </m:r>
                        <m:r>
                          <a:rPr lang="en-US" sz="2000" b="0" i="1" smtClean="0">
                            <a:latin typeface="Cambria Math" panose="02040503050406030204" pitchFamily="18" charset="0"/>
                          </a:rPr>
                          <m:t>5</m:t>
                        </m:r>
                      </m:num>
                      <m:den>
                        <m:r>
                          <a:rPr lang="en-US" sz="2000" b="0" i="1" smtClean="0">
                            <a:latin typeface="Cambria Math" panose="02040503050406030204" pitchFamily="18" charset="0"/>
                          </a:rPr>
                          <m:t>2</m:t>
                        </m:r>
                        <m:r>
                          <a:rPr lang="en-US" sz="2000" b="0" i="1" smtClean="0">
                            <a:latin typeface="Cambria Math"/>
                            <a:ea typeface="Cambria Math"/>
                          </a:rPr>
                          <m:t>∙</m:t>
                        </m:r>
                        <m:r>
                          <a:rPr lang="en-US" sz="2000" b="0" i="1" smtClean="0">
                            <a:latin typeface="Cambria Math" panose="02040503050406030204" pitchFamily="18" charset="0"/>
                          </a:rPr>
                          <m:t>100000</m:t>
                        </m:r>
                        <m:r>
                          <a:rPr lang="en-US" sz="2000" b="0" i="1" smtClean="0">
                            <a:latin typeface="Cambria Math"/>
                            <a:ea typeface="Cambria Math"/>
                          </a:rPr>
                          <m:t>∙</m:t>
                        </m:r>
                        <m:r>
                          <a:rPr lang="en-US" sz="2000" b="0" i="1" smtClean="0">
                            <a:latin typeface="Cambria Math" panose="02040503050406030204" pitchFamily="18" charset="0"/>
                          </a:rPr>
                          <m:t>1</m:t>
                        </m:r>
                        <m:r>
                          <a:rPr lang="en-US" sz="2000" b="0" i="1" smtClean="0">
                            <a:latin typeface="Cambria Math"/>
                          </a:rPr>
                          <m:t>1</m:t>
                        </m:r>
                        <m:r>
                          <a:rPr lang="en-US" sz="2000" b="0" i="1" smtClean="0">
                            <a:latin typeface="Cambria Math" panose="02040503050406030204" pitchFamily="18" charset="0"/>
                          </a:rPr>
                          <m:t>%</m:t>
                        </m:r>
                        <m:r>
                          <a:rPr lang="en-US" sz="2000" b="0" i="1" smtClean="0">
                            <a:latin typeface="Cambria Math"/>
                            <a:ea typeface="Cambria Math"/>
                          </a:rPr>
                          <m:t>∙3.225</m:t>
                        </m:r>
                      </m:den>
                    </m:f>
                    <m:r>
                      <a:rPr lang="en-US" sz="2000" b="0" i="0" smtClean="0">
                        <a:latin typeface="Cambria Math"/>
                      </a:rPr>
                      <m:t>=0.98 </m:t>
                    </m:r>
                    <m:r>
                      <m:rPr>
                        <m:sty m:val="p"/>
                      </m:rPr>
                      <a:rPr lang="en-US" sz="2000" b="0" i="0" smtClean="0">
                        <a:latin typeface="Cambria Math"/>
                      </a:rPr>
                      <m:t>mH</m:t>
                    </m:r>
                  </m:oMath>
                </a14:m>
                <a:r>
                  <a:rPr lang="en-US" sz="2000">
                    <a:latin typeface="Arial" pitchFamily="34" charset="0"/>
                    <a:cs typeface="Arial" pitchFamily="34" charset="0"/>
                  </a:rPr>
                  <a:t> =&gt; Chọn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cảm</a:t>
                </a:r>
                <a:r>
                  <a:rPr lang="en-US" sz="2000">
                    <a:latin typeface="Arial" pitchFamily="34" charset="0"/>
                    <a:cs typeface="Arial" pitchFamily="34" charset="0"/>
                  </a:rPr>
                  <a:t> </a:t>
                </a:r>
                <a14:m>
                  <m:oMath xmlns:m="http://schemas.openxmlformats.org/officeDocument/2006/math">
                    <m:r>
                      <a:rPr lang="en-US" sz="2000" i="1">
                        <a:latin typeface="Cambria Math"/>
                        <a:cs typeface="Arial" pitchFamily="34" charset="0"/>
                      </a:rPr>
                      <m:t>1</m:t>
                    </m:r>
                    <m:r>
                      <a:rPr lang="en-US" sz="2000" i="1">
                        <a:latin typeface="Cambria Math"/>
                        <a:cs typeface="Arial" pitchFamily="34" charset="0"/>
                      </a:rPr>
                      <m:t>𝑚𝐻</m:t>
                    </m:r>
                  </m:oMath>
                </a14:m>
                <a:endParaRPr lang="en-US" sz="2000">
                  <a:latin typeface="Arial" pitchFamily="34" charset="0"/>
                  <a:cs typeface="Arial" pitchFamily="34" charset="0"/>
                </a:endParaRPr>
              </a:p>
              <a:p>
                <a:endParaRPr lang="en-US" sz="2000">
                  <a:latin typeface="Arial" pitchFamily="34" charset="0"/>
                  <a:cs typeface="Arial" pitchFamily="34" charset="0"/>
                </a:endParaRPr>
              </a:p>
            </p:txBody>
          </p:sp>
        </mc:Choice>
        <mc:Fallback xmlns="">
          <p:sp>
            <p:nvSpPr>
              <p:cNvPr id="7" name="TextBox 28">
                <a:extLst>
                  <a:ext uri="{FF2B5EF4-FFF2-40B4-BE49-F238E27FC236}">
                    <a16:creationId xmlns:a16="http://schemas.microsoft.com/office/drawing/2014/main" id="{1DC8199E-C225-B1E8-F4F4-4F8099F278EF}"/>
                  </a:ext>
                </a:extLst>
              </p:cNvPr>
              <p:cNvSpPr txBox="1">
                <a:spLocks noRot="1" noChangeAspect="1" noMove="1" noResize="1" noEditPoints="1" noAdjustHandles="1" noChangeArrowheads="1" noChangeShapeType="1" noTextEdit="1"/>
              </p:cNvSpPr>
              <p:nvPr/>
            </p:nvSpPr>
            <p:spPr>
              <a:xfrm>
                <a:off x="55671" y="3472194"/>
                <a:ext cx="9224515" cy="3010952"/>
              </a:xfrm>
              <a:prstGeom prst="rect">
                <a:avLst/>
              </a:prstGeom>
              <a:blipFill>
                <a:blip r:embed="rId3"/>
                <a:stretch>
                  <a:fillRect l="-661"/>
                </a:stretch>
              </a:blipFill>
            </p:spPr>
            <p:txBody>
              <a:bodyPr/>
              <a:lstStyle/>
              <a:p>
                <a:r>
                  <a:rPr lang="en-US">
                    <a:noFill/>
                  </a:rPr>
                  <a:t> </a:t>
                </a:r>
              </a:p>
            </p:txBody>
          </p:sp>
        </mc:Fallback>
      </mc:AlternateContent>
      <p:sp>
        <p:nvSpPr>
          <p:cNvPr id="8" name="Rectangle 2">
            <a:extLst>
              <a:ext uri="{FF2B5EF4-FFF2-40B4-BE49-F238E27FC236}">
                <a16:creationId xmlns:a16="http://schemas.microsoft.com/office/drawing/2014/main" id="{C2B13551-4D04-2AFD-DEEE-12B2C559CD25}"/>
              </a:ext>
            </a:extLst>
          </p:cNvPr>
          <p:cNvSpPr/>
          <p:nvPr/>
        </p:nvSpPr>
        <p:spPr>
          <a:xfrm>
            <a:off x="55672" y="3472194"/>
            <a:ext cx="2606804" cy="400110"/>
          </a:xfrm>
          <a:prstGeom prst="rect">
            <a:avLst/>
          </a:prstGeom>
        </p:spPr>
        <p:txBody>
          <a:bodyPr wrap="none">
            <a:spAutoFit/>
          </a:bodyPr>
          <a:lstStyle/>
          <a:p>
            <a:r>
              <a:rPr lang="en-US" sz="2000" b="1" err="1">
                <a:latin typeface="Arial" pitchFamily="34" charset="0"/>
                <a:cs typeface="Arial" pitchFamily="34" charset="0"/>
              </a:rPr>
              <a:t>Tính</a:t>
            </a:r>
            <a:r>
              <a:rPr lang="en-US" sz="2000" b="1">
                <a:latin typeface="Arial" pitchFamily="34" charset="0"/>
                <a:cs typeface="Arial" pitchFamily="34" charset="0"/>
              </a:rPr>
              <a:t> </a:t>
            </a:r>
            <a:r>
              <a:rPr lang="en-US" sz="2000" b="1" err="1">
                <a:latin typeface="Arial" pitchFamily="34" charset="0"/>
                <a:cs typeface="Arial" pitchFamily="34" charset="0"/>
              </a:rPr>
              <a:t>toán</a:t>
            </a:r>
            <a:r>
              <a:rPr lang="en-US" sz="2000" b="1">
                <a:latin typeface="Arial" pitchFamily="34" charset="0"/>
                <a:cs typeface="Arial" pitchFamily="34" charset="0"/>
              </a:rPr>
              <a:t> </a:t>
            </a:r>
            <a:r>
              <a:rPr lang="en-US" sz="2000" b="1" err="1">
                <a:latin typeface="Arial" pitchFamily="34" charset="0"/>
                <a:cs typeface="Arial" pitchFamily="34" charset="0"/>
              </a:rPr>
              <a:t>cuộn</a:t>
            </a:r>
            <a:r>
              <a:rPr lang="en-US" sz="2000" b="1">
                <a:latin typeface="Arial" pitchFamily="34" charset="0"/>
                <a:cs typeface="Arial" pitchFamily="34" charset="0"/>
              </a:rPr>
              <a:t> </a:t>
            </a:r>
            <a:r>
              <a:rPr lang="en-US" sz="2000" b="1" err="1">
                <a:latin typeface="Arial" pitchFamily="34" charset="0"/>
                <a:cs typeface="Arial" pitchFamily="34" charset="0"/>
              </a:rPr>
              <a:t>cảm</a:t>
            </a:r>
            <a:endParaRPr lang="en-US" sz="2000" b="1">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9" name="Rectangle 4">
                <a:extLst>
                  <a:ext uri="{FF2B5EF4-FFF2-40B4-BE49-F238E27FC236}">
                    <a16:creationId xmlns:a16="http://schemas.microsoft.com/office/drawing/2014/main" id="{0914ECC8-1E3C-228A-8B57-F1C707E10E9C}"/>
                  </a:ext>
                </a:extLst>
              </p:cNvPr>
              <p:cNvSpPr/>
              <p:nvPr/>
            </p:nvSpPr>
            <p:spPr>
              <a:xfrm>
                <a:off x="93600" y="7959402"/>
                <a:ext cx="2530949" cy="400110"/>
              </a:xfrm>
              <a:prstGeom prst="rect">
                <a:avLst/>
              </a:prstGeom>
            </p:spPr>
            <p:txBody>
              <a:bodyPr wrap="none">
                <a:spAutoFit/>
              </a:bodyPr>
              <a:lstStyle/>
              <a:p>
                <a:r>
                  <a:rPr lang="en-US" sz="2000">
                    <a:latin typeface="Arial" pitchFamily="34" charset="0"/>
                    <a:cs typeface="Arial" pitchFamily="34" charset="0"/>
                  </a:rPr>
                  <a:t>Chọn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cảm</a:t>
                </a:r>
                <a:r>
                  <a:rPr lang="en-US" sz="2000">
                    <a:latin typeface="Arial" pitchFamily="34" charset="0"/>
                    <a:cs typeface="Arial" pitchFamily="34" charset="0"/>
                  </a:rPr>
                  <a:t> </a:t>
                </a:r>
                <a14:m>
                  <m:oMath xmlns:m="http://schemas.openxmlformats.org/officeDocument/2006/math">
                    <m:r>
                      <a:rPr lang="en-US" sz="2000" b="0" i="1" smtClean="0">
                        <a:latin typeface="Cambria Math"/>
                        <a:cs typeface="Arial" pitchFamily="34" charset="0"/>
                      </a:rPr>
                      <m:t>1</m:t>
                    </m:r>
                    <m:r>
                      <a:rPr lang="en-US" sz="2000" b="0" i="1" smtClean="0">
                        <a:latin typeface="Cambria Math"/>
                        <a:cs typeface="Arial" pitchFamily="34" charset="0"/>
                      </a:rPr>
                      <m:t>𝑚𝐻</m:t>
                    </m:r>
                  </m:oMath>
                </a14:m>
                <a:endParaRPr lang="en-US" sz="2000">
                  <a:latin typeface="Arial" pitchFamily="34" charset="0"/>
                  <a:cs typeface="Arial" pitchFamily="34" charset="0"/>
                </a:endParaRPr>
              </a:p>
            </p:txBody>
          </p:sp>
        </mc:Choice>
        <mc:Fallback xmlns="">
          <p:sp>
            <p:nvSpPr>
              <p:cNvPr id="9" name="Rectangle 4">
                <a:extLst>
                  <a:ext uri="{FF2B5EF4-FFF2-40B4-BE49-F238E27FC236}">
                    <a16:creationId xmlns:a16="http://schemas.microsoft.com/office/drawing/2014/main" id="{0914ECC8-1E3C-228A-8B57-F1C707E10E9C}"/>
                  </a:ext>
                </a:extLst>
              </p:cNvPr>
              <p:cNvSpPr>
                <a:spLocks noRot="1" noChangeAspect="1" noMove="1" noResize="1" noEditPoints="1" noAdjustHandles="1" noChangeArrowheads="1" noChangeShapeType="1" noTextEdit="1"/>
              </p:cNvSpPr>
              <p:nvPr/>
            </p:nvSpPr>
            <p:spPr>
              <a:xfrm>
                <a:off x="93600" y="7959402"/>
                <a:ext cx="2530949" cy="400110"/>
              </a:xfrm>
              <a:prstGeom prst="rect">
                <a:avLst/>
              </a:prstGeom>
              <a:blipFill>
                <a:blip r:embed="rId4"/>
                <a:stretch>
                  <a:fillRect l="-2404" t="-7692" b="-29231"/>
                </a:stretch>
              </a:blipFill>
            </p:spPr>
            <p:txBody>
              <a:bodyPr/>
              <a:lstStyle/>
              <a:p>
                <a:r>
                  <a:rPr lang="en-US">
                    <a:noFill/>
                  </a:rPr>
                  <a:t> </a:t>
                </a:r>
              </a:p>
            </p:txBody>
          </p:sp>
        </mc:Fallback>
      </mc:AlternateContent>
    </p:spTree>
    <p:extLst>
      <p:ext uri="{BB962C8B-B14F-4D97-AF65-F5344CB8AC3E}">
        <p14:creationId xmlns:p14="http://schemas.microsoft.com/office/powerpoint/2010/main" val="3105287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C1C3-2145-B94D-8D26-4306F1D55391}"/>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1C55EE2-6269-6694-B9C7-5E128D0179AB}"/>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9</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0A6F68BB-CAFE-8667-5ED2-9A06C7F0D416}"/>
              </a:ext>
            </a:extLst>
          </p:cNvPr>
          <p:cNvSpPr>
            <a:spLocks noGrp="1"/>
          </p:cNvSpPr>
          <p:nvPr>
            <p:ph type="title"/>
          </p:nvPr>
        </p:nvSpPr>
        <p:spPr/>
        <p:txBody>
          <a:bodyPr>
            <a:normAutofit fontScale="90000"/>
          </a:bodyPr>
          <a:lstStyle/>
          <a:p>
            <a:r>
              <a:rPr lang="en-US"/>
              <a:t>1. Tổng quan chung và thông số mạch lực</a:t>
            </a:r>
          </a:p>
        </p:txBody>
      </p:sp>
      <mc:AlternateContent xmlns:mc="http://schemas.openxmlformats.org/markup-compatibility/2006" xmlns:a14="http://schemas.microsoft.com/office/drawing/2010/main">
        <mc:Choice Requires="a14">
          <p:sp>
            <p:nvSpPr>
              <p:cNvPr id="3" name="TextBox 15">
                <a:extLst>
                  <a:ext uri="{FF2B5EF4-FFF2-40B4-BE49-F238E27FC236}">
                    <a16:creationId xmlns:a16="http://schemas.microsoft.com/office/drawing/2014/main" id="{83DB3E9C-6781-1F53-C814-363E6B37E6F5}"/>
                  </a:ext>
                </a:extLst>
              </p:cNvPr>
              <p:cNvSpPr txBox="1"/>
              <p:nvPr/>
            </p:nvSpPr>
            <p:spPr>
              <a:xfrm>
                <a:off x="152400" y="1976582"/>
                <a:ext cx="8915400" cy="3453446"/>
              </a:xfrm>
              <a:prstGeom prst="rect">
                <a:avLst/>
              </a:prstGeom>
              <a:noFill/>
            </p:spPr>
            <p:txBody>
              <a:bodyPr wrap="square" rtlCol="0">
                <a:spAutoFit/>
              </a:bodyPr>
              <a:lstStyle/>
              <a:p>
                <a:endParaRPr lang="en-US" sz="2000" b="1">
                  <a:latin typeface="Arial" pitchFamily="34" charset="0"/>
                  <a:cs typeface="Arial" pitchFamily="34" charset="0"/>
                </a:endParaRPr>
              </a:p>
              <a:p>
                <a:r>
                  <a:rPr lang="en-US" sz="2000" err="1">
                    <a:latin typeface="Arial" pitchFamily="34" charset="0"/>
                    <a:cs typeface="Arial" pitchFamily="34" charset="0"/>
                  </a:rPr>
                  <a:t>Vai</a:t>
                </a:r>
                <a:r>
                  <a:rPr lang="en-US" sz="2000">
                    <a:latin typeface="Arial" pitchFamily="34" charset="0"/>
                    <a:cs typeface="Arial" pitchFamily="34" charset="0"/>
                  </a:rPr>
                  <a:t> </a:t>
                </a:r>
                <a:r>
                  <a:rPr lang="en-US" sz="2000" err="1">
                    <a:latin typeface="Arial" pitchFamily="34" charset="0"/>
                    <a:cs typeface="Arial" pitchFamily="34" charset="0"/>
                  </a:rPr>
                  <a:t>trò</a:t>
                </a:r>
                <a:r>
                  <a:rPr lang="en-US" sz="2000">
                    <a:latin typeface="Arial" pitchFamily="34" charset="0"/>
                    <a:cs typeface="Arial" pitchFamily="34" charset="0"/>
                  </a:rPr>
                  <a:t> </a:t>
                </a:r>
                <a:r>
                  <a:rPr lang="en-US" sz="2000" err="1">
                    <a:latin typeface="Arial" pitchFamily="34" charset="0"/>
                    <a:cs typeface="Arial" pitchFamily="34" charset="0"/>
                  </a:rPr>
                  <a:t>tụ</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C ở </a:t>
                </a:r>
                <a:r>
                  <a:rPr lang="en-US" sz="2000" err="1">
                    <a:latin typeface="Arial" pitchFamily="34" charset="0"/>
                    <a:cs typeface="Arial" pitchFamily="34" charset="0"/>
                  </a:rPr>
                  <a:t>đầu</a:t>
                </a:r>
                <a:r>
                  <a:rPr lang="en-US" sz="2000">
                    <a:latin typeface="Arial" pitchFamily="34" charset="0"/>
                    <a:cs typeface="Arial" pitchFamily="34" charset="0"/>
                  </a:rPr>
                  <a:t> </a:t>
                </a:r>
                <a:r>
                  <a:rPr lang="en-US" sz="2000" err="1">
                    <a:latin typeface="Arial" pitchFamily="34" charset="0"/>
                    <a:cs typeface="Arial" pitchFamily="34" charset="0"/>
                  </a:rPr>
                  <a:t>ra</a:t>
                </a:r>
                <a:r>
                  <a:rPr lang="en-US" sz="2000">
                    <a:latin typeface="Arial" pitchFamily="34" charset="0"/>
                    <a:cs typeface="Arial" pitchFamily="34" charset="0"/>
                  </a:rPr>
                  <a:t> </a:t>
                </a:r>
                <a:r>
                  <a:rPr lang="en-US" sz="2000" err="1">
                    <a:latin typeface="Arial" pitchFamily="34" charset="0"/>
                    <a:cs typeface="Arial" pitchFamily="34" charset="0"/>
                  </a:rPr>
                  <a:t>là</a:t>
                </a:r>
                <a:r>
                  <a:rPr lang="en-US" sz="2000">
                    <a:latin typeface="Arial" pitchFamily="34" charset="0"/>
                    <a:cs typeface="Arial" pitchFamily="34" charset="0"/>
                  </a:rPr>
                  <a:t> </a:t>
                </a:r>
                <a:r>
                  <a:rPr lang="en-US" sz="2000" err="1">
                    <a:latin typeface="Arial" pitchFamily="34" charset="0"/>
                    <a:cs typeface="Arial" pitchFamily="34" charset="0"/>
                  </a:rPr>
                  <a:t>lưu</a:t>
                </a:r>
                <a:r>
                  <a:rPr lang="en-US" sz="2000">
                    <a:latin typeface="Arial" pitchFamily="34" charset="0"/>
                    <a:cs typeface="Arial" pitchFamily="34" charset="0"/>
                  </a:rPr>
                  <a:t> </a:t>
                </a:r>
                <a:r>
                  <a:rPr lang="en-US" sz="2000" err="1">
                    <a:latin typeface="Arial" pitchFamily="34" charset="0"/>
                    <a:cs typeface="Arial" pitchFamily="34" charset="0"/>
                  </a:rPr>
                  <a:t>trữ</a:t>
                </a:r>
                <a:r>
                  <a:rPr lang="en-US" sz="2000">
                    <a:latin typeface="Arial" pitchFamily="34" charset="0"/>
                    <a:cs typeface="Arial" pitchFamily="34" charset="0"/>
                  </a:rPr>
                  <a:t> </a:t>
                </a:r>
                <a:r>
                  <a:rPr lang="en-US" sz="2000" err="1">
                    <a:latin typeface="Arial" pitchFamily="34" charset="0"/>
                    <a:cs typeface="Arial" pitchFamily="34" charset="0"/>
                  </a:rPr>
                  <a:t>phần</a:t>
                </a:r>
                <a:r>
                  <a:rPr lang="en-US" sz="2000">
                    <a:latin typeface="Arial" pitchFamily="34" charset="0"/>
                    <a:cs typeface="Arial" pitchFamily="34" charset="0"/>
                  </a:rPr>
                  <a:t> </a:t>
                </a:r>
                <a:r>
                  <a:rPr lang="en-US" sz="2000" err="1">
                    <a:latin typeface="Arial" pitchFamily="34" charset="0"/>
                    <a:cs typeface="Arial" pitchFamily="34" charset="0"/>
                  </a:rPr>
                  <a:t>năng</a:t>
                </a:r>
                <a:r>
                  <a:rPr lang="en-US" sz="2000">
                    <a:latin typeface="Arial" pitchFamily="34" charset="0"/>
                    <a:cs typeface="Arial" pitchFamily="34" charset="0"/>
                  </a:rPr>
                  <a:t> </a:t>
                </a:r>
                <a:r>
                  <a:rPr lang="en-US" sz="2000" err="1">
                    <a:latin typeface="Arial" pitchFamily="34" charset="0"/>
                    <a:cs typeface="Arial" pitchFamily="34" charset="0"/>
                  </a:rPr>
                  <a:t>lượng</a:t>
                </a:r>
                <a:r>
                  <a:rPr lang="en-US" sz="2000">
                    <a:latin typeface="Arial" pitchFamily="34" charset="0"/>
                    <a:cs typeface="Arial" pitchFamily="34" charset="0"/>
                  </a:rPr>
                  <a:t> </a:t>
                </a:r>
                <a:r>
                  <a:rPr lang="en-US" sz="2000" err="1">
                    <a:latin typeface="Arial" pitchFamily="34" charset="0"/>
                    <a:cs typeface="Arial" pitchFamily="34" charset="0"/>
                  </a:rPr>
                  <a:t>sai</a:t>
                </a:r>
                <a:r>
                  <a:rPr lang="en-US" sz="2000">
                    <a:latin typeface="Arial" pitchFamily="34" charset="0"/>
                    <a:cs typeface="Arial" pitchFamily="34" charset="0"/>
                  </a:rPr>
                  <a:t> </a:t>
                </a:r>
                <a:r>
                  <a:rPr lang="en-US" sz="2000" err="1">
                    <a:latin typeface="Arial" pitchFamily="34" charset="0"/>
                    <a:cs typeface="Arial" pitchFamily="34" charset="0"/>
                  </a:rPr>
                  <a:t>khác</a:t>
                </a:r>
                <a:r>
                  <a:rPr lang="en-US" sz="2000">
                    <a:latin typeface="Arial" pitchFamily="34" charset="0"/>
                    <a:cs typeface="Arial" pitchFamily="34" charset="0"/>
                  </a:rPr>
                  <a:t> </a:t>
                </a:r>
                <a:r>
                  <a:rPr lang="en-US" sz="2000" err="1">
                    <a:latin typeface="Arial" pitchFamily="34" charset="0"/>
                    <a:cs typeface="Arial" pitchFamily="34" charset="0"/>
                  </a:rPr>
                  <a:t>giữa</a:t>
                </a:r>
                <a:r>
                  <a:rPr lang="en-US" sz="2000">
                    <a:latin typeface="Arial" pitchFamily="34" charset="0"/>
                    <a:cs typeface="Arial" pitchFamily="34" charset="0"/>
                  </a:rPr>
                  <a:t> </a:t>
                </a:r>
                <a:r>
                  <a:rPr lang="en-US" sz="2000" err="1">
                    <a:latin typeface="Arial" pitchFamily="34" charset="0"/>
                    <a:cs typeface="Arial" pitchFamily="34" charset="0"/>
                  </a:rPr>
                  <a:t>đầu</a:t>
                </a:r>
                <a:r>
                  <a:rPr lang="en-US" sz="2000">
                    <a:latin typeface="Arial" pitchFamily="34" charset="0"/>
                    <a:cs typeface="Arial" pitchFamily="34" charset="0"/>
                  </a:rPr>
                  <a:t> </a:t>
                </a:r>
                <a:r>
                  <a:rPr lang="en-US" sz="2000" err="1">
                    <a:latin typeface="Arial" pitchFamily="34" charset="0"/>
                    <a:cs typeface="Arial" pitchFamily="34" charset="0"/>
                  </a:rPr>
                  <a:t>vào</a:t>
                </a:r>
                <a:r>
                  <a:rPr lang="en-US" sz="2000">
                    <a:latin typeface="Arial" pitchFamily="34" charset="0"/>
                    <a:cs typeface="Arial" pitchFamily="34" charset="0"/>
                  </a:rPr>
                  <a:t> </a:t>
                </a:r>
                <a:r>
                  <a:rPr lang="en-US" sz="2000" err="1">
                    <a:latin typeface="Arial" pitchFamily="34" charset="0"/>
                    <a:cs typeface="Arial" pitchFamily="34" charset="0"/>
                  </a:rPr>
                  <a:t>và</a:t>
                </a:r>
                <a:r>
                  <a:rPr lang="en-US" sz="2000">
                    <a:latin typeface="Arial" pitchFamily="34" charset="0"/>
                    <a:cs typeface="Arial" pitchFamily="34" charset="0"/>
                  </a:rPr>
                  <a:t> </a:t>
                </a:r>
                <a:r>
                  <a:rPr lang="en-US" sz="2000" err="1">
                    <a:latin typeface="Arial" pitchFamily="34" charset="0"/>
                    <a:cs typeface="Arial" pitchFamily="34" charset="0"/>
                  </a:rPr>
                  <a:t>đầu</a:t>
                </a:r>
                <a:r>
                  <a:rPr lang="en-US" sz="2000">
                    <a:latin typeface="Arial" pitchFamily="34" charset="0"/>
                    <a:cs typeface="Arial" pitchFamily="34" charset="0"/>
                  </a:rPr>
                  <a:t> </a:t>
                </a:r>
                <a:r>
                  <a:rPr lang="en-US" sz="2000" err="1">
                    <a:latin typeface="Arial" pitchFamily="34" charset="0"/>
                    <a:cs typeface="Arial" pitchFamily="34" charset="0"/>
                  </a:rPr>
                  <a:t>ra.</a:t>
                </a:r>
                <a:r>
                  <a:rPr lang="en-US" sz="2000">
                    <a:latin typeface="Arial" pitchFamily="34" charset="0"/>
                    <a:cs typeface="Arial" pitchFamily="34" charset="0"/>
                  </a:rPr>
                  <a:t> Theo </a:t>
                </a:r>
                <a:r>
                  <a:rPr lang="en-US" sz="2000" err="1">
                    <a:latin typeface="Arial" pitchFamily="34" charset="0"/>
                    <a:cs typeface="Arial" pitchFamily="34" charset="0"/>
                  </a:rPr>
                  <a:t>điều</a:t>
                </a:r>
                <a:r>
                  <a:rPr lang="en-US" sz="2000">
                    <a:latin typeface="Arial" pitchFamily="34" charset="0"/>
                    <a:cs typeface="Arial" pitchFamily="34" charset="0"/>
                  </a:rPr>
                  <a:t> </a:t>
                </a:r>
                <a:r>
                  <a:rPr lang="en-US" sz="2000" err="1">
                    <a:latin typeface="Arial" pitchFamily="34" charset="0"/>
                    <a:cs typeface="Arial" pitchFamily="34" charset="0"/>
                  </a:rPr>
                  <a:t>kiện</a:t>
                </a:r>
                <a:r>
                  <a:rPr lang="en-US" sz="2000">
                    <a:latin typeface="Arial" pitchFamily="34" charset="0"/>
                    <a:cs typeface="Arial" pitchFamily="34" charset="0"/>
                  </a:rPr>
                  <a:t> </a:t>
                </a:r>
                <a:r>
                  <a:rPr lang="en-US" sz="2000" err="1">
                    <a:latin typeface="Arial" pitchFamily="34" charset="0"/>
                    <a:cs typeface="Arial" pitchFamily="34" charset="0"/>
                  </a:rPr>
                  <a:t>này</a:t>
                </a:r>
                <a:r>
                  <a:rPr lang="en-US" sz="2000">
                    <a:latin typeface="Arial" pitchFamily="34" charset="0"/>
                    <a:cs typeface="Arial" pitchFamily="34" charset="0"/>
                  </a:rPr>
                  <a:t> </a:t>
                </a:r>
                <a:r>
                  <a:rPr lang="en-US" sz="2000" err="1">
                    <a:latin typeface="Arial" pitchFamily="34" charset="0"/>
                    <a:cs typeface="Arial" pitchFamily="34" charset="0"/>
                  </a:rPr>
                  <a:t>thì</a:t>
                </a:r>
                <a:r>
                  <a:rPr lang="en-US" sz="2000">
                    <a:latin typeface="Arial" pitchFamily="34" charset="0"/>
                    <a:cs typeface="Arial" pitchFamily="34" charset="0"/>
                  </a:rPr>
                  <a:t> </a:t>
                </a:r>
                <a:r>
                  <a:rPr lang="en-US" sz="2000" err="1">
                    <a:latin typeface="Arial" pitchFamily="34" charset="0"/>
                    <a:cs typeface="Arial" pitchFamily="34" charset="0"/>
                  </a:rPr>
                  <a:t>tụ</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C </a:t>
                </a:r>
                <a:r>
                  <a:rPr lang="en-US" sz="2000" err="1">
                    <a:latin typeface="Arial" pitchFamily="34" charset="0"/>
                    <a:cs typeface="Arial" pitchFamily="34" charset="0"/>
                  </a:rPr>
                  <a:t>được</a:t>
                </a:r>
                <a:r>
                  <a:rPr lang="en-US" sz="2000">
                    <a:latin typeface="Arial" pitchFamily="34" charset="0"/>
                    <a:cs typeface="Arial" pitchFamily="34" charset="0"/>
                  </a:rPr>
                  <a:t> </a:t>
                </a:r>
                <a:r>
                  <a:rPr lang="en-US" sz="2000" err="1">
                    <a:latin typeface="Arial" pitchFamily="34" charset="0"/>
                    <a:cs typeface="Arial" pitchFamily="34" charset="0"/>
                  </a:rPr>
                  <a:t>tính</a:t>
                </a:r>
                <a:r>
                  <a:rPr lang="en-US" sz="2000">
                    <a:latin typeface="Arial" pitchFamily="34" charset="0"/>
                    <a:cs typeface="Arial" pitchFamily="34" charset="0"/>
                  </a:rPr>
                  <a:t>:</a:t>
                </a:r>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Times New Roman" panose="02020603050405020304" pitchFamily="18" charset="0"/>
                        </a:rPr>
                        <m:t>𝐶</m:t>
                      </m:r>
                      <m:r>
                        <a:rPr lang="en-US" sz="2000" b="0" i="1" smtClean="0">
                          <a:latin typeface="Cambria Math" panose="02040503050406030204" pitchFamily="18" charset="0"/>
                          <a:cs typeface="Times New Roman" panose="02020603050405020304" pitchFamily="18" charset="0"/>
                        </a:rPr>
                        <m:t>= </m:t>
                      </m:r>
                      <m:f>
                        <m:fPr>
                          <m:ctrlPr>
                            <a:rPr lang="en-US" sz="2000" b="0" i="1" smtClean="0">
                              <a:latin typeface="Cambria Math" panose="02040503050406030204" pitchFamily="18" charset="0"/>
                              <a:cs typeface="Times New Roman" panose="02020603050405020304" pitchFamily="18" charset="0"/>
                            </a:rPr>
                          </m:ctrlPr>
                        </m:fPr>
                        <m:num>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𝑃</m:t>
                              </m:r>
                            </m:e>
                            <m:sub>
                              <m:r>
                                <a:rPr lang="en-US" sz="2000" b="0" i="1" smtClean="0">
                                  <a:latin typeface="Cambria Math" panose="02040503050406030204" pitchFamily="18" charset="0"/>
                                  <a:cs typeface="Times New Roman" panose="02020603050405020304" pitchFamily="18" charset="0"/>
                                </a:rPr>
                                <m:t>0</m:t>
                              </m:r>
                            </m:sub>
                          </m:sSub>
                        </m:num>
                        <m:den>
                          <m:r>
                            <a:rPr lang="en-US" sz="2000" b="0" i="1" smtClean="0">
                              <a:latin typeface="Cambria Math" panose="02040503050406030204" pitchFamily="18" charset="0"/>
                              <a:cs typeface="Times New Roman" panose="02020603050405020304" pitchFamily="18" charset="0"/>
                            </a:rPr>
                            <m:t>2</m:t>
                          </m:r>
                          <m:r>
                            <m:rPr>
                              <m:sty m:val="p"/>
                            </m:rPr>
                            <a:rPr lang="en-US" sz="2000" b="0" i="1"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0</m:t>
                              </m:r>
                            </m:sub>
                          </m:sSub>
                          <m:r>
                            <a:rPr lang="en-US" sz="2000" b="0" i="1" smtClean="0">
                              <a:latin typeface="Cambria Math"/>
                              <a:ea typeface="Cambria Math"/>
                            </a:rPr>
                            <m:t>𝜔</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b="0" i="1" smtClean="0">
                                  <a:latin typeface="Cambria Math" panose="02040503050406030204" pitchFamily="18" charset="0"/>
                                </a:rPr>
                                <m:t>0</m:t>
                              </m:r>
                            </m:sub>
                          </m:sSub>
                        </m:den>
                      </m:f>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cs typeface="Times New Roman" panose="02020603050405020304" pitchFamily="18" charset="0"/>
                        </a:rPr>
                        <m:t>𝐹</m:t>
                      </m:r>
                      <m:r>
                        <a:rPr lang="en-US" sz="2000" b="0" i="1" smtClean="0">
                          <a:latin typeface="Cambria Math" panose="02040503050406030204" pitchFamily="18" charset="0"/>
                          <a:cs typeface="Times New Roman" panose="02020603050405020304" pitchFamily="18" charset="0"/>
                        </a:rPr>
                        <m:t>)</m:t>
                      </m:r>
                    </m:oMath>
                  </m:oMathPara>
                </a14:m>
                <a:endParaRPr lang="en-US" sz="2000">
                  <a:latin typeface="Arial" pitchFamily="34" charset="0"/>
                  <a:cs typeface="Arial" pitchFamily="34" charset="0"/>
                </a:endParaRPr>
              </a:p>
              <a:p>
                <a:pPr algn="ctr"/>
                <a:endParaRPr lang="en-US" sz="2000">
                  <a:latin typeface="Arial" pitchFamily="34" charset="0"/>
                  <a:cs typeface="Arial" pitchFamily="34" charset="0"/>
                </a:endParaRPr>
              </a:p>
              <a:p>
                <a:r>
                  <a:rPr lang="en-US" sz="2000" err="1">
                    <a:latin typeface="Arial" pitchFamily="34" charset="0"/>
                    <a:cs typeface="Arial" pitchFamily="34" charset="0"/>
                  </a:rPr>
                  <a:t>Trong</a:t>
                </a:r>
                <a:r>
                  <a:rPr lang="en-US" sz="2000">
                    <a:latin typeface="Arial" pitchFamily="34" charset="0"/>
                    <a:cs typeface="Arial" pitchFamily="34" charset="0"/>
                  </a:rPr>
                  <a:t> </a:t>
                </a:r>
                <a:r>
                  <a:rPr lang="en-US" sz="2000" err="1">
                    <a:latin typeface="Arial" pitchFamily="34" charset="0"/>
                    <a:cs typeface="Arial" pitchFamily="34" charset="0"/>
                  </a:rPr>
                  <a:t>đó</a:t>
                </a:r>
                <a:r>
                  <a:rPr lang="en-US" sz="2000">
                    <a:latin typeface="Arial" pitchFamily="34" charset="0"/>
                    <a:cs typeface="Arial" pitchFamily="34" charset="0"/>
                  </a:rPr>
                  <a:t>: </a:t>
                </a:r>
                <a14:m>
                  <m:oMath xmlns:m="http://schemas.openxmlformats.org/officeDocument/2006/math">
                    <m:r>
                      <m:rPr>
                        <m:sty m:val="p"/>
                      </m:rPr>
                      <a:rPr lang="en-US" sz="2000" i="1"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0</m:t>
                        </m:r>
                      </m:sub>
                    </m:sSub>
                  </m:oMath>
                </a14:m>
                <a:r>
                  <a:rPr lang="en-US" sz="2000">
                    <a:latin typeface="Arial" pitchFamily="34" charset="0"/>
                    <a:cs typeface="Arial" pitchFamily="34" charset="0"/>
                  </a:rPr>
                  <a:t> </a:t>
                </a:r>
                <a:r>
                  <a:rPr lang="en-US" sz="2000" err="1">
                    <a:latin typeface="Arial" pitchFamily="34" charset="0"/>
                    <a:cs typeface="Arial" pitchFamily="34" charset="0"/>
                  </a:rPr>
                  <a:t>là</a:t>
                </a:r>
                <a:r>
                  <a:rPr lang="en-US" sz="2000">
                    <a:latin typeface="Arial" pitchFamily="34" charset="0"/>
                    <a:cs typeface="Arial" pitchFamily="34" charset="0"/>
                  </a:rPr>
                  <a:t> đập mạch điện </a:t>
                </a:r>
                <a:r>
                  <a:rPr lang="en-US" sz="2000" err="1">
                    <a:latin typeface="Arial" pitchFamily="34" charset="0"/>
                    <a:cs typeface="Arial" pitchFamily="34" charset="0"/>
                  </a:rPr>
                  <a:t>áp</a:t>
                </a:r>
                <a:r>
                  <a:rPr lang="en-US" sz="2000">
                    <a:latin typeface="Arial" pitchFamily="34" charset="0"/>
                    <a:cs typeface="Arial" pitchFamily="34" charset="0"/>
                  </a:rPr>
                  <a:t> </a:t>
                </a:r>
                <a:r>
                  <a:rPr lang="en-US" sz="2000" err="1">
                    <a:latin typeface="Arial" pitchFamily="34" charset="0"/>
                    <a:cs typeface="Arial" pitchFamily="34" charset="0"/>
                  </a:rPr>
                  <a:t>đầu</a:t>
                </a:r>
                <a:r>
                  <a:rPr lang="en-US" sz="2000">
                    <a:latin typeface="Arial" pitchFamily="34" charset="0"/>
                    <a:cs typeface="Arial" pitchFamily="34" charset="0"/>
                  </a:rPr>
                  <a:t> </a:t>
                </a:r>
                <a:r>
                  <a:rPr lang="en-US" sz="2000" err="1">
                    <a:latin typeface="Arial" pitchFamily="34" charset="0"/>
                    <a:cs typeface="Arial" pitchFamily="34" charset="0"/>
                  </a:rPr>
                  <a:t>ra</a:t>
                </a:r>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14:m>
                  <m:oMath xmlns:m="http://schemas.openxmlformats.org/officeDocument/2006/math">
                    <m:r>
                      <m:rPr>
                        <m:sty m:val="p"/>
                      </m:rPr>
                      <a:rPr lang="en-US" sz="2000" i="1">
                        <a:latin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0</m:t>
                        </m:r>
                      </m:sub>
                    </m:sSub>
                  </m:oMath>
                </a14:m>
                <a:r>
                  <a:rPr lang="en-US" sz="2000">
                    <a:latin typeface="Arial" pitchFamily="34" charset="0"/>
                    <a:cs typeface="Arial" pitchFamily="34" charset="0"/>
                  </a:rPr>
                  <a:t>=5V</a:t>
                </a:r>
              </a:p>
              <a:p>
                <a:pPr algn="ct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𝐶</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1000</m:t>
                          </m:r>
                        </m:num>
                        <m:den>
                          <m:r>
                            <a:rPr lang="en-US" sz="2000" b="0" i="1" smtClean="0">
                              <a:latin typeface="Cambria Math" panose="02040503050406030204" pitchFamily="18" charset="0"/>
                            </a:rPr>
                            <m:t>2</m:t>
                          </m:r>
                          <m:r>
                            <a:rPr lang="en-US" sz="2000" b="0" i="1" smtClean="0">
                              <a:latin typeface="Cambria Math"/>
                              <a:ea typeface="Cambria Math"/>
                            </a:rPr>
                            <m:t>∙</m:t>
                          </m:r>
                          <m:r>
                            <a:rPr lang="en-US" sz="2000" b="0" i="1" smtClean="0">
                              <a:latin typeface="Cambria Math"/>
                            </a:rPr>
                            <m:t>5</m:t>
                          </m:r>
                          <m:r>
                            <a:rPr lang="en-US" sz="2000" i="1">
                              <a:latin typeface="Cambria Math" panose="02040503050406030204" pitchFamily="18" charset="0"/>
                              <a:ea typeface="Cambria Math"/>
                            </a:rPr>
                            <m:t>∙</m:t>
                          </m:r>
                          <m:r>
                            <a:rPr lang="en-US" sz="2000" b="0" i="1" smtClean="0">
                              <a:latin typeface="Cambria Math" panose="02040503050406030204" pitchFamily="18" charset="0"/>
                            </a:rPr>
                            <m:t>314</m:t>
                          </m:r>
                          <m:r>
                            <a:rPr lang="en-US" sz="2000" b="0" i="1" smtClean="0">
                              <a:latin typeface="Cambria Math"/>
                              <a:ea typeface="Cambria Math"/>
                            </a:rPr>
                            <m:t>∙</m:t>
                          </m:r>
                          <m:r>
                            <a:rPr lang="en-US" sz="2000" b="0" i="1" smtClean="0">
                              <a:latin typeface="Cambria Math" panose="02040503050406030204" pitchFamily="18" charset="0"/>
                            </a:rPr>
                            <m:t>400</m:t>
                          </m:r>
                        </m:den>
                      </m:f>
                      <m:r>
                        <a:rPr lang="en-US" sz="2000" b="0" i="1" smtClean="0">
                          <a:latin typeface="Cambria Math" panose="02040503050406030204" pitchFamily="18" charset="0"/>
                        </a:rPr>
                        <m:t>=</m:t>
                      </m:r>
                      <m:r>
                        <a:rPr lang="en-US" sz="2000" b="0" i="1" smtClean="0">
                          <a:latin typeface="Cambria Math"/>
                        </a:rPr>
                        <m:t>796.2</m:t>
                      </m:r>
                      <m:r>
                        <a:rPr lang="en-US" sz="2000" b="0" i="1" smtClean="0">
                          <a:latin typeface="Cambria Math" panose="02040503050406030204" pitchFamily="18" charset="0"/>
                        </a:rPr>
                        <m:t> </m:t>
                      </m:r>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𝜇</m:t>
                          </m:r>
                          <m:r>
                            <a:rPr lang="en-US" sz="2000" b="0" i="1" dirty="0" smtClean="0">
                              <a:latin typeface="Cambria Math" panose="02040503050406030204" pitchFamily="18" charset="0"/>
                            </a:rPr>
                            <m:t>𝐹</m:t>
                          </m:r>
                        </m:e>
                      </m:d>
                    </m:oMath>
                  </m:oMathPara>
                </a14:m>
                <a:endParaRPr lang="en-US" sz="2000" b="0">
                  <a:latin typeface="Arial" pitchFamily="34" charset="0"/>
                  <a:cs typeface="Arial" pitchFamily="34" charset="0"/>
                </a:endParaRPr>
              </a:p>
              <a:p>
                <a:pPr algn="ctr"/>
                <a:endParaRPr lang="en-US" sz="2000" b="0">
                  <a:latin typeface="Arial" pitchFamily="34" charset="0"/>
                  <a:cs typeface="Arial" pitchFamily="34" charset="0"/>
                </a:endParaRPr>
              </a:p>
              <a:p>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tụ</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14:m>
                  <m:oMath xmlns:m="http://schemas.openxmlformats.org/officeDocument/2006/math">
                    <m:r>
                      <a:rPr lang="en-US" sz="2000" b="0" i="1" smtClean="0">
                        <a:latin typeface="Cambria Math"/>
                        <a:cs typeface="Arial" pitchFamily="34" charset="0"/>
                      </a:rPr>
                      <m:t>820 (</m:t>
                    </m:r>
                    <m:r>
                      <a:rPr lang="en-US" sz="2000" b="0" i="1" smtClean="0">
                        <a:latin typeface="Cambria Math"/>
                        <a:ea typeface="Cambria Math"/>
                        <a:cs typeface="Arial" pitchFamily="34" charset="0"/>
                      </a:rPr>
                      <m:t>𝜇</m:t>
                    </m:r>
                    <m:r>
                      <a:rPr lang="en-US" sz="2000" b="0" i="1" smtClean="0">
                        <a:latin typeface="Cambria Math"/>
                        <a:ea typeface="Cambria Math"/>
                        <a:cs typeface="Arial" pitchFamily="34" charset="0"/>
                      </a:rPr>
                      <m:t>𝐹</m:t>
                    </m:r>
                    <m:r>
                      <a:rPr lang="en-US" sz="2000" b="0" i="1" smtClean="0">
                        <a:latin typeface="Cambria Math"/>
                        <a:ea typeface="Cambria Math"/>
                        <a:cs typeface="Arial" pitchFamily="34" charset="0"/>
                      </a:rPr>
                      <m:t>)</m:t>
                    </m:r>
                  </m:oMath>
                </a14:m>
                <a:endParaRPr lang="en-US" sz="2000">
                  <a:latin typeface="Arial" pitchFamily="34" charset="0"/>
                  <a:cs typeface="Arial" pitchFamily="34" charset="0"/>
                </a:endParaRPr>
              </a:p>
            </p:txBody>
          </p:sp>
        </mc:Choice>
        <mc:Fallback xmlns="">
          <p:sp>
            <p:nvSpPr>
              <p:cNvPr id="3" name="TextBox 15">
                <a:extLst>
                  <a:ext uri="{FF2B5EF4-FFF2-40B4-BE49-F238E27FC236}">
                    <a16:creationId xmlns:a16="http://schemas.microsoft.com/office/drawing/2014/main" id="{83DB3E9C-6781-1F53-C814-363E6B37E6F5}"/>
                  </a:ext>
                </a:extLst>
              </p:cNvPr>
              <p:cNvSpPr txBox="1">
                <a:spLocks noRot="1" noChangeAspect="1" noMove="1" noResize="1" noEditPoints="1" noAdjustHandles="1" noChangeArrowheads="1" noChangeShapeType="1" noTextEdit="1"/>
              </p:cNvSpPr>
              <p:nvPr/>
            </p:nvSpPr>
            <p:spPr>
              <a:xfrm>
                <a:off x="152400" y="1976582"/>
                <a:ext cx="8915400" cy="3453446"/>
              </a:xfrm>
              <a:prstGeom prst="rect">
                <a:avLst/>
              </a:prstGeom>
              <a:blipFill>
                <a:blip r:embed="rId2"/>
                <a:stretch>
                  <a:fillRect l="-684" b="-2293"/>
                </a:stretch>
              </a:blipFill>
            </p:spPr>
            <p:txBody>
              <a:bodyPr/>
              <a:lstStyle/>
              <a:p>
                <a:r>
                  <a:rPr lang="en-US">
                    <a:noFill/>
                  </a:rPr>
                  <a:t> </a:t>
                </a:r>
              </a:p>
            </p:txBody>
          </p:sp>
        </mc:Fallback>
      </mc:AlternateContent>
      <p:sp>
        <p:nvSpPr>
          <p:cNvPr id="4" name="object 3">
            <a:extLst>
              <a:ext uri="{FF2B5EF4-FFF2-40B4-BE49-F238E27FC236}">
                <a16:creationId xmlns:a16="http://schemas.microsoft.com/office/drawing/2014/main" id="{2A988EB7-160F-7ADA-8FE4-CB06A54A0C3F}"/>
              </a:ext>
            </a:extLst>
          </p:cNvPr>
          <p:cNvSpPr txBox="1"/>
          <p:nvPr/>
        </p:nvSpPr>
        <p:spPr>
          <a:xfrm>
            <a:off x="550800" y="985982"/>
            <a:ext cx="7450200" cy="536044"/>
          </a:xfrm>
          <a:prstGeom prst="rect">
            <a:avLst/>
          </a:prstGeom>
        </p:spPr>
        <p:txBody>
          <a:bodyPr vert="horz" wrap="square" lIns="0" tIns="165100" rIns="0" bIns="0" rtlCol="0">
            <a:spAutoFit/>
          </a:bodyPr>
          <a:lstStyle/>
          <a:p>
            <a:pPr marL="12700">
              <a:lnSpc>
                <a:spcPct val="100000"/>
              </a:lnSpc>
              <a:spcBef>
                <a:spcPts val="1300"/>
              </a:spcBef>
              <a:buClr>
                <a:srgbClr val="595958"/>
              </a:buClr>
              <a:buSzPct val="79166"/>
              <a:tabLst>
                <a:tab pos="241300" algn="l"/>
              </a:tabLst>
            </a:pPr>
            <a:r>
              <a:rPr sz="2400" b="1" spc="-5">
                <a:latin typeface="Arial" pitchFamily="34" charset="0"/>
                <a:cs typeface="Arial" pitchFamily="34" charset="0"/>
              </a:rPr>
              <a:t>Tính </a:t>
            </a:r>
            <a:r>
              <a:rPr sz="2400" b="1">
                <a:latin typeface="Arial" pitchFamily="34" charset="0"/>
                <a:cs typeface="Arial" pitchFamily="34" charset="0"/>
              </a:rPr>
              <a:t>toán các</a:t>
            </a:r>
            <a:r>
              <a:rPr sz="2400" b="1" spc="-15">
                <a:latin typeface="Arial" pitchFamily="34" charset="0"/>
                <a:cs typeface="Arial" pitchFamily="34" charset="0"/>
              </a:rPr>
              <a:t> </a:t>
            </a:r>
            <a:r>
              <a:rPr sz="2400" b="1" spc="-5">
                <a:latin typeface="Arial" pitchFamily="34" charset="0"/>
                <a:cs typeface="Arial" pitchFamily="34" charset="0"/>
              </a:rPr>
              <a:t>phần</a:t>
            </a:r>
            <a:r>
              <a:rPr sz="2400" b="1">
                <a:latin typeface="Arial" pitchFamily="34" charset="0"/>
                <a:cs typeface="Arial" pitchFamily="34" charset="0"/>
              </a:rPr>
              <a:t> tử</a:t>
            </a:r>
            <a:r>
              <a:rPr sz="2400" b="1" spc="-10">
                <a:latin typeface="Arial" pitchFamily="34" charset="0"/>
                <a:cs typeface="Arial" pitchFamily="34" charset="0"/>
              </a:rPr>
              <a:t> </a:t>
            </a:r>
            <a:r>
              <a:rPr sz="2400" b="1" spc="-5">
                <a:latin typeface="Arial" pitchFamily="34" charset="0"/>
                <a:cs typeface="Arial" pitchFamily="34" charset="0"/>
              </a:rPr>
              <a:t>thụ</a:t>
            </a:r>
            <a:r>
              <a:rPr sz="2400" b="1" spc="-10">
                <a:latin typeface="Arial" pitchFamily="34" charset="0"/>
                <a:cs typeface="Arial" pitchFamily="34" charset="0"/>
              </a:rPr>
              <a:t> </a:t>
            </a:r>
            <a:r>
              <a:rPr sz="2400" b="1" spc="-5">
                <a:latin typeface="Arial" pitchFamily="34" charset="0"/>
                <a:cs typeface="Arial" pitchFamily="34" charset="0"/>
              </a:rPr>
              <a:t>động</a:t>
            </a:r>
            <a:r>
              <a:rPr sz="2400" b="1" spc="5">
                <a:latin typeface="Arial" pitchFamily="34" charset="0"/>
                <a:cs typeface="Arial" pitchFamily="34" charset="0"/>
              </a:rPr>
              <a:t> </a:t>
            </a:r>
            <a:r>
              <a:rPr sz="2400" b="1" spc="-5">
                <a:latin typeface="Arial" pitchFamily="34" charset="0"/>
                <a:cs typeface="Arial" pitchFamily="34" charset="0"/>
              </a:rPr>
              <a:t>trong </a:t>
            </a:r>
            <a:r>
              <a:rPr sz="2400" b="1" err="1">
                <a:latin typeface="Arial" pitchFamily="34" charset="0"/>
                <a:cs typeface="Arial" pitchFamily="34" charset="0"/>
              </a:rPr>
              <a:t>mạch</a:t>
            </a:r>
            <a:r>
              <a:rPr sz="2400" b="1" spc="-20">
                <a:latin typeface="Arial" pitchFamily="34" charset="0"/>
                <a:cs typeface="Arial" pitchFamily="34" charset="0"/>
              </a:rPr>
              <a:t> </a:t>
            </a:r>
            <a:r>
              <a:rPr sz="2400" b="1" spc="-5" err="1">
                <a:latin typeface="Arial" pitchFamily="34" charset="0"/>
                <a:cs typeface="Arial" pitchFamily="34" charset="0"/>
              </a:rPr>
              <a:t>lực</a:t>
            </a:r>
            <a:endParaRPr sz="2400" b="1">
              <a:latin typeface="Arial" pitchFamily="34" charset="0"/>
              <a:cs typeface="Arial" pitchFamily="34" charset="0"/>
            </a:endParaRPr>
          </a:p>
        </p:txBody>
      </p:sp>
      <p:sp>
        <p:nvSpPr>
          <p:cNvPr id="6" name="Rectangle 3">
            <a:extLst>
              <a:ext uri="{FF2B5EF4-FFF2-40B4-BE49-F238E27FC236}">
                <a16:creationId xmlns:a16="http://schemas.microsoft.com/office/drawing/2014/main" id="{CE0F3268-C40B-1BAA-3882-A78F9AC2F1D2}"/>
              </a:ext>
            </a:extLst>
          </p:cNvPr>
          <p:cNvSpPr/>
          <p:nvPr/>
        </p:nvSpPr>
        <p:spPr>
          <a:xfrm>
            <a:off x="762000" y="1522026"/>
            <a:ext cx="3089307" cy="400110"/>
          </a:xfrm>
          <a:prstGeom prst="rect">
            <a:avLst/>
          </a:prstGeom>
        </p:spPr>
        <p:txBody>
          <a:bodyPr wrap="none">
            <a:spAutoFit/>
          </a:bodyPr>
          <a:lstStyle/>
          <a:p>
            <a:r>
              <a:rPr lang="en-US" sz="2000" b="1" err="1">
                <a:latin typeface="Arial" pitchFamily="34" charset="0"/>
                <a:cs typeface="Arial" pitchFamily="34" charset="0"/>
              </a:rPr>
              <a:t>Tính</a:t>
            </a:r>
            <a:r>
              <a:rPr lang="en-US" sz="2000" b="1">
                <a:latin typeface="Arial" pitchFamily="34" charset="0"/>
                <a:cs typeface="Arial" pitchFamily="34" charset="0"/>
              </a:rPr>
              <a:t> </a:t>
            </a:r>
            <a:r>
              <a:rPr lang="en-US" sz="2000" b="1" err="1">
                <a:latin typeface="Arial" pitchFamily="34" charset="0"/>
                <a:cs typeface="Arial" pitchFamily="34" charset="0"/>
              </a:rPr>
              <a:t>toán</a:t>
            </a:r>
            <a:r>
              <a:rPr lang="en-US" sz="2000" b="1">
                <a:latin typeface="Arial" pitchFamily="34" charset="0"/>
                <a:cs typeface="Arial" pitchFamily="34" charset="0"/>
              </a:rPr>
              <a:t> </a:t>
            </a:r>
            <a:r>
              <a:rPr lang="en-US" sz="2000" b="1" err="1">
                <a:latin typeface="Arial" pitchFamily="34" charset="0"/>
                <a:cs typeface="Arial" pitchFamily="34" charset="0"/>
              </a:rPr>
              <a:t>tụ</a:t>
            </a:r>
            <a:r>
              <a:rPr lang="en-US" sz="2000" b="1">
                <a:latin typeface="Arial" pitchFamily="34" charset="0"/>
                <a:cs typeface="Arial" pitchFamily="34" charset="0"/>
              </a:rPr>
              <a:t> </a:t>
            </a:r>
            <a:r>
              <a:rPr lang="en-US" sz="2000" b="1" err="1">
                <a:latin typeface="Arial" pitchFamily="34" charset="0"/>
                <a:cs typeface="Arial" pitchFamily="34" charset="0"/>
              </a:rPr>
              <a:t>điện</a:t>
            </a:r>
            <a:r>
              <a:rPr lang="en-US" sz="2000" b="1">
                <a:latin typeface="Arial" pitchFamily="34" charset="0"/>
                <a:cs typeface="Arial" pitchFamily="34" charset="0"/>
              </a:rPr>
              <a:t> </a:t>
            </a:r>
            <a:r>
              <a:rPr lang="en-US" sz="2000" b="1" err="1">
                <a:latin typeface="Arial" pitchFamily="34" charset="0"/>
                <a:cs typeface="Arial" pitchFamily="34" charset="0"/>
              </a:rPr>
              <a:t>đầu</a:t>
            </a:r>
            <a:r>
              <a:rPr lang="en-US" sz="2000" b="1">
                <a:latin typeface="Arial" pitchFamily="34" charset="0"/>
                <a:cs typeface="Arial" pitchFamily="34" charset="0"/>
              </a:rPr>
              <a:t> </a:t>
            </a:r>
            <a:r>
              <a:rPr lang="en-US" sz="2000" b="1" err="1">
                <a:latin typeface="Arial" pitchFamily="34" charset="0"/>
                <a:cs typeface="Arial" pitchFamily="34" charset="0"/>
              </a:rPr>
              <a:t>ra</a:t>
            </a:r>
            <a:endParaRPr lang="en-US" sz="2000" b="1">
              <a:latin typeface="Arial" pitchFamily="34" charset="0"/>
              <a:cs typeface="Arial" pitchFamily="34" charset="0"/>
            </a:endParaRPr>
          </a:p>
        </p:txBody>
      </p:sp>
    </p:spTree>
    <p:extLst>
      <p:ext uri="{BB962C8B-B14F-4D97-AF65-F5344CB8AC3E}">
        <p14:creationId xmlns:p14="http://schemas.microsoft.com/office/powerpoint/2010/main" val="3269309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8A3C-2C8C-A462-B524-4F409F10CB5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B85A2F4-CF04-81AD-6433-6A50991773F6}"/>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10</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D0456F99-717D-6D92-3CBD-12665FE486A6}"/>
              </a:ext>
            </a:extLst>
          </p:cNvPr>
          <p:cNvSpPr>
            <a:spLocks noGrp="1"/>
          </p:cNvSpPr>
          <p:nvPr>
            <p:ph type="title"/>
          </p:nvPr>
        </p:nvSpPr>
        <p:spPr/>
        <p:txBody>
          <a:bodyPr>
            <a:normAutofit fontScale="90000"/>
          </a:bodyPr>
          <a:lstStyle/>
          <a:p>
            <a:r>
              <a:rPr lang="en-US"/>
              <a:t>1. Tổng quan chung và thông số mạch lực</a:t>
            </a:r>
          </a:p>
        </p:txBody>
      </p:sp>
      <mc:AlternateContent xmlns:mc="http://schemas.openxmlformats.org/markup-compatibility/2006" xmlns:a14="http://schemas.microsoft.com/office/drawing/2010/main">
        <mc:Choice Requires="a14">
          <p:sp>
            <p:nvSpPr>
              <p:cNvPr id="2" name="TextBox 5">
                <a:extLst>
                  <a:ext uri="{FF2B5EF4-FFF2-40B4-BE49-F238E27FC236}">
                    <a16:creationId xmlns:a16="http://schemas.microsoft.com/office/drawing/2014/main" id="{3D53AE51-EB9C-4B85-E3D0-D697E7581103}"/>
                  </a:ext>
                </a:extLst>
              </p:cNvPr>
              <p:cNvSpPr txBox="1"/>
              <p:nvPr/>
            </p:nvSpPr>
            <p:spPr>
              <a:xfrm>
                <a:off x="550800" y="1694037"/>
                <a:ext cx="8026400" cy="4401205"/>
              </a:xfrm>
              <a:prstGeom prst="rect">
                <a:avLst/>
              </a:prstGeom>
              <a:noFill/>
            </p:spPr>
            <p:txBody>
              <a:bodyPr wrap="square" rtlCol="0">
                <a:spAutoFit/>
              </a:bodyPr>
              <a:lstStyle/>
              <a:p>
                <a:endParaRPr lang="en-US" sz="2000">
                  <a:latin typeface="Arial" pitchFamily="34" charset="0"/>
                  <a:cs typeface="Arial" pitchFamily="34" charset="0"/>
                </a:endParaRPr>
              </a:p>
              <a:p>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hiệu</a:t>
                </a:r>
                <a:r>
                  <a:rPr lang="en-US" sz="2000">
                    <a:latin typeface="Arial" pitchFamily="34" charset="0"/>
                    <a:cs typeface="Arial" pitchFamily="34" charset="0"/>
                  </a:rPr>
                  <a:t> </a:t>
                </a:r>
                <a:r>
                  <a:rPr lang="en-US" sz="2000" err="1">
                    <a:latin typeface="Arial" pitchFamily="34" charset="0"/>
                    <a:cs typeface="Arial" pitchFamily="34" charset="0"/>
                  </a:rPr>
                  <a:t>dụng</a:t>
                </a:r>
                <a:r>
                  <a:rPr lang="en-US" sz="2000">
                    <a:latin typeface="Arial" pitchFamily="34" charset="0"/>
                    <a:cs typeface="Arial" pitchFamily="34" charset="0"/>
                  </a:rPr>
                  <a:t> qua diode:</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𝐷</m:t>
                          </m:r>
                        </m:sub>
                      </m:sSub>
                      <m:r>
                        <a:rPr lang="en-US" sz="2000" b="0" i="1" smtClean="0">
                          <a:latin typeface="Cambria Math" panose="02040503050406030204" pitchFamily="18" charset="0"/>
                          <a:cs typeface="Times New Roman" panose="02020603050405020304" pitchFamily="18" charset="0"/>
                        </a:rPr>
                        <m:t>=</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𝐷</m:t>
                          </m:r>
                        </m:e>
                      </m:d>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𝐿</m:t>
                          </m:r>
                        </m:sub>
                      </m:sSub>
                      <m:r>
                        <a:rPr lang="en-US" sz="2000" b="0" i="1" smtClean="0">
                          <a:latin typeface="Cambria Math" panose="02040503050406030204" pitchFamily="18" charset="0"/>
                          <a:cs typeface="Times New Roman" panose="02020603050405020304" pitchFamily="18" charset="0"/>
                        </a:rPr>
                        <m:t>=</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1−0</m:t>
                          </m:r>
                          <m:r>
                            <a:rPr lang="en-US" sz="2000" b="0" i="1" smtClean="0">
                              <a:latin typeface="Cambria Math"/>
                              <a:cs typeface="Times New Roman" panose="02020603050405020304" pitchFamily="18" charset="0"/>
                            </a:rPr>
                            <m:t>.225</m:t>
                          </m:r>
                        </m:e>
                      </m:d>
                      <m:r>
                        <a:rPr lang="en-US" sz="2000" b="0" i="1" smtClean="0">
                          <a:latin typeface="Cambria Math" panose="02040503050406030204" pitchFamily="18" charset="0"/>
                          <a:cs typeface="Times New Roman" panose="02020603050405020304" pitchFamily="18" charset="0"/>
                        </a:rPr>
                        <m:t>.</m:t>
                      </m:r>
                      <m:r>
                        <a:rPr lang="en-US" sz="2000" b="0" i="1" smtClean="0">
                          <a:latin typeface="Cambria Math"/>
                          <a:cs typeface="Times New Roman" panose="02020603050405020304" pitchFamily="18" charset="0"/>
                        </a:rPr>
                        <m:t>3.225</m:t>
                      </m:r>
                      <m:r>
                        <a:rPr lang="en-US" sz="2000" b="0" i="1" smtClean="0">
                          <a:latin typeface="Cambria Math" panose="02040503050406030204" pitchFamily="18" charset="0"/>
                          <a:cs typeface="Times New Roman" panose="02020603050405020304" pitchFamily="18" charset="0"/>
                        </a:rPr>
                        <m:t>=2,5 </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𝐴</m:t>
                          </m:r>
                        </m:e>
                      </m:d>
                    </m:oMath>
                  </m:oMathPara>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hệ</a:t>
                </a:r>
                <a:r>
                  <a:rPr lang="en-US" sz="2000">
                    <a:latin typeface="Arial" pitchFamily="34" charset="0"/>
                    <a:cs typeface="Arial" pitchFamily="34" charset="0"/>
                  </a:rPr>
                  <a:t> </a:t>
                </a:r>
                <a:r>
                  <a:rPr lang="en-US" sz="2000" err="1">
                    <a:latin typeface="Arial" pitchFamily="34" charset="0"/>
                    <a:cs typeface="Arial" pitchFamily="34" charset="0"/>
                  </a:rPr>
                  <a:t>số</a:t>
                </a:r>
                <a:r>
                  <a:rPr lang="en-US" sz="2000">
                    <a:latin typeface="Arial" pitchFamily="34" charset="0"/>
                    <a:cs typeface="Arial" pitchFamily="34" charset="0"/>
                  </a:rPr>
                  <a:t> </a:t>
                </a:r>
                <a:r>
                  <a:rPr lang="en-US" sz="2000" err="1">
                    <a:latin typeface="Arial" pitchFamily="34" charset="0"/>
                    <a:cs typeface="Arial" pitchFamily="34" charset="0"/>
                  </a:rPr>
                  <a:t>dự</a:t>
                </a:r>
                <a:r>
                  <a:rPr lang="en-US" sz="2000">
                    <a:latin typeface="Arial" pitchFamily="34" charset="0"/>
                    <a:cs typeface="Arial" pitchFamily="34" charset="0"/>
                  </a:rPr>
                  <a:t> </a:t>
                </a:r>
                <a:r>
                  <a:rPr lang="en-US" sz="2000" err="1">
                    <a:latin typeface="Arial" pitchFamily="34" charset="0"/>
                    <a:cs typeface="Arial" pitchFamily="34" charset="0"/>
                  </a:rPr>
                  <a:t>trữ</a:t>
                </a:r>
                <a:r>
                  <a:rPr lang="en-US" sz="2000">
                    <a:latin typeface="Arial" pitchFamily="34" charset="0"/>
                    <a:cs typeface="Arial" pitchFamily="34" charset="0"/>
                  </a:rPr>
                  <a:t> </a:t>
                </a:r>
                <a:r>
                  <a:rPr lang="en-US" sz="2000" err="1">
                    <a:latin typeface="Arial" pitchFamily="34" charset="0"/>
                    <a:cs typeface="Arial" pitchFamily="34" charset="0"/>
                  </a:rPr>
                  <a:t>dòng</a:t>
                </a:r>
                <a:r>
                  <a:rPr lang="en-US" sz="2000">
                    <a:latin typeface="Arial" pitchFamily="34" charset="0"/>
                    <a:cs typeface="Arial" pitchFamily="34" charset="0"/>
                  </a:rPr>
                  <a: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𝐾</m:t>
                        </m:r>
                      </m:e>
                      <m:sub>
                        <m:r>
                          <a:rPr lang="en-US" sz="2000" b="0" i="1" smtClean="0">
                            <a:latin typeface="Cambria Math" panose="02040503050406030204" pitchFamily="18" charset="0"/>
                            <a:cs typeface="Times New Roman" panose="02020603050405020304" pitchFamily="18" charset="0"/>
                          </a:rPr>
                          <m:t>𝑖</m:t>
                        </m:r>
                      </m:sub>
                    </m:sSub>
                    <m:r>
                      <a:rPr lang="en-US" sz="2000" b="0" i="1" smtClean="0">
                        <a:latin typeface="Cambria Math" panose="02040503050406030204" pitchFamily="18" charset="0"/>
                        <a:cs typeface="Times New Roman" panose="02020603050405020304" pitchFamily="18" charset="0"/>
                      </a:rPr>
                      <m:t>=2.5</m:t>
                    </m:r>
                  </m:oMath>
                </a14:m>
                <a:r>
                  <a:rPr lang="en-US" sz="2000">
                    <a:latin typeface="Arial" pitchFamily="34" charset="0"/>
                    <a:cs typeface="Arial" pitchFamily="34" charset="0"/>
                  </a:rPr>
                  <a:t> </a:t>
                </a:r>
                <a:r>
                  <a:rPr lang="en-US" sz="2000" err="1">
                    <a:latin typeface="Arial" pitchFamily="34" charset="0"/>
                    <a:cs typeface="Arial" pitchFamily="34" charset="0"/>
                  </a:rPr>
                  <a:t>thì</a:t>
                </a:r>
                <a:r>
                  <a:rPr lang="en-US" sz="2000">
                    <a:latin typeface="Arial" pitchFamily="34" charset="0"/>
                    <a:cs typeface="Arial" pitchFamily="34" charset="0"/>
                  </a:rPr>
                  <a:t> Diode </a:t>
                </a:r>
                <a:r>
                  <a:rPr lang="en-US" sz="2000" err="1">
                    <a:latin typeface="Arial" pitchFamily="34" charset="0"/>
                    <a:cs typeface="Arial" pitchFamily="34" charset="0"/>
                  </a:rPr>
                  <a:t>cần</a:t>
                </a:r>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cho</a:t>
                </a:r>
                <a:r>
                  <a:rPr lang="en-US" sz="2000">
                    <a:latin typeface="Arial" pitchFamily="34" charset="0"/>
                    <a:cs typeface="Arial" pitchFamily="34" charset="0"/>
                  </a:rPr>
                  <a:t> </a:t>
                </a:r>
                <a:r>
                  <a:rPr lang="en-US" sz="2000" err="1">
                    <a:latin typeface="Arial" pitchFamily="34" charset="0"/>
                    <a:cs typeface="Arial" pitchFamily="34" charset="0"/>
                  </a:rPr>
                  <a:t>phép</a:t>
                </a:r>
                <a:r>
                  <a:rPr lang="en-US" sz="2000">
                    <a:latin typeface="Arial" pitchFamily="34" charset="0"/>
                    <a:cs typeface="Arial" pitchFamily="34" charset="0"/>
                  </a:rPr>
                  <a:t> </a:t>
                </a:r>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liên</a:t>
                </a:r>
                <a:r>
                  <a:rPr lang="en-US" sz="2000">
                    <a:latin typeface="Arial" pitchFamily="34" charset="0"/>
                    <a:cs typeface="Arial" pitchFamily="34" charset="0"/>
                  </a:rPr>
                  <a:t> </a:t>
                </a:r>
                <a:r>
                  <a:rPr lang="en-US" sz="2000" err="1">
                    <a:latin typeface="Arial" pitchFamily="34" charset="0"/>
                    <a:cs typeface="Arial" pitchFamily="34" charset="0"/>
                  </a:rPr>
                  <a:t>tục</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cs typeface="Times New Roman" panose="02020603050405020304" pitchFamily="18" charset="0"/>
                            </a:rPr>
                          </m:ctrlPr>
                        </m:sSubSup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𝐷</m:t>
                          </m:r>
                        </m:sub>
                        <m:sup>
                          <m:r>
                            <a:rPr lang="en-US" sz="2000" b="0" i="1" smtClean="0">
                              <a:latin typeface="Cambria Math" panose="02040503050406030204" pitchFamily="18" charset="0"/>
                              <a:cs typeface="Times New Roman" panose="02020603050405020304" pitchFamily="18" charset="0"/>
                            </a:rPr>
                            <m:t>′</m:t>
                          </m:r>
                        </m:sup>
                      </m:sSubSup>
                      <m:r>
                        <a:rPr lang="en-US" sz="2000" b="0" i="1" smtClean="0">
                          <a:latin typeface="Cambria Math" panose="02040503050406030204" pitchFamily="18" charset="0"/>
                          <a:cs typeface="Times New Roman" panose="02020603050405020304" pitchFamily="18" charset="0"/>
                        </a:rPr>
                        <m:t>=2,5</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𝐷</m:t>
                          </m:r>
                        </m:sub>
                      </m:sSub>
                      <m:r>
                        <a:rPr lang="en-US" sz="2000" b="0" i="1" smtClean="0">
                          <a:latin typeface="Cambria Math" panose="02040503050406030204" pitchFamily="18" charset="0"/>
                          <a:cs typeface="Times New Roman" panose="02020603050405020304" pitchFamily="18" charset="0"/>
                        </a:rPr>
                        <m:t>=2,5.2,5=6,25 (</m:t>
                      </m:r>
                      <m:r>
                        <a:rPr lang="en-US" sz="2000" b="0" i="1" smtClean="0">
                          <a:latin typeface="Cambria Math" panose="02040503050406030204" pitchFamily="18" charset="0"/>
                          <a:cs typeface="Times New Roman" panose="02020603050405020304" pitchFamily="18" charset="0"/>
                        </a:rPr>
                        <m:t>𝐴</m:t>
                      </m:r>
                      <m:r>
                        <a:rPr lang="en-US" sz="2000" b="0" i="1" smtClean="0">
                          <a:latin typeface="Cambria Math" panose="02040503050406030204" pitchFamily="18" charset="0"/>
                          <a:cs typeface="Times New Roman" panose="02020603050405020304" pitchFamily="18" charset="0"/>
                        </a:rPr>
                        <m:t>)</m:t>
                      </m:r>
                    </m:oMath>
                  </m:oMathPara>
                </a14:m>
                <a:endParaRPr lang="en-US" sz="2000">
                  <a:latin typeface="Arial" pitchFamily="34" charset="0"/>
                  <a:cs typeface="Arial" pitchFamily="34" charset="0"/>
                </a:endParaRPr>
              </a:p>
              <a:p>
                <a:endParaRPr lang="en-US" sz="2000">
                  <a:latin typeface="Arial" pitchFamily="34" charset="0"/>
                  <a:cs typeface="Arial" pitchFamily="34" charset="0"/>
                </a:endParaRPr>
              </a:p>
              <a:p>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áp</a:t>
                </a:r>
                <a:r>
                  <a:rPr lang="en-US" sz="2000">
                    <a:latin typeface="Arial" pitchFamily="34" charset="0"/>
                    <a:cs typeface="Arial" pitchFamily="34" charset="0"/>
                  </a:rPr>
                  <a:t> </a:t>
                </a:r>
                <a:r>
                  <a:rPr lang="en-US" sz="2000" err="1">
                    <a:latin typeface="Arial" pitchFamily="34" charset="0"/>
                    <a:cs typeface="Arial" pitchFamily="34" charset="0"/>
                  </a:rPr>
                  <a:t>cực</a:t>
                </a:r>
                <a:r>
                  <a:rPr lang="en-US" sz="2000">
                    <a:latin typeface="Arial" pitchFamily="34" charset="0"/>
                    <a:cs typeface="Arial" pitchFamily="34" charset="0"/>
                  </a:rPr>
                  <a:t> </a:t>
                </a:r>
                <a:r>
                  <a:rPr lang="en-US" sz="2000" err="1">
                    <a:latin typeface="Arial" pitchFamily="34" charset="0"/>
                    <a:cs typeface="Arial" pitchFamily="34" charset="0"/>
                  </a:rPr>
                  <a:t>đại</a:t>
                </a:r>
                <a:r>
                  <a:rPr lang="en-US" sz="2000">
                    <a:latin typeface="Arial" pitchFamily="34" charset="0"/>
                    <a:cs typeface="Arial" pitchFamily="34" charset="0"/>
                  </a:rPr>
                  <a:t> </a:t>
                </a:r>
                <a:r>
                  <a:rPr lang="en-US" sz="2000" err="1">
                    <a:latin typeface="Arial" pitchFamily="34" charset="0"/>
                    <a:cs typeface="Arial" pitchFamily="34" charset="0"/>
                  </a:rPr>
                  <a:t>đặt</a:t>
                </a:r>
                <a:r>
                  <a:rPr lang="en-US" sz="2000">
                    <a:latin typeface="Arial" pitchFamily="34" charset="0"/>
                    <a:cs typeface="Arial" pitchFamily="34" charset="0"/>
                  </a:rPr>
                  <a:t> </a:t>
                </a:r>
                <a:r>
                  <a:rPr lang="en-US" sz="2000" err="1">
                    <a:latin typeface="Arial" pitchFamily="34" charset="0"/>
                    <a:cs typeface="Arial" pitchFamily="34" charset="0"/>
                  </a:rPr>
                  <a:t>trên</a:t>
                </a:r>
                <a:r>
                  <a:rPr lang="en-US" sz="2000">
                    <a:latin typeface="Arial" pitchFamily="34" charset="0"/>
                    <a:cs typeface="Arial" pitchFamily="34" charset="0"/>
                  </a:rPr>
                  <a:t> Diode D </a:t>
                </a:r>
                <a:r>
                  <a:rPr lang="en-US" sz="2000" err="1">
                    <a:latin typeface="Arial" pitchFamily="34" charset="0"/>
                    <a:cs typeface="Arial" pitchFamily="34" charset="0"/>
                  </a:rPr>
                  <a:t>khi</a:t>
                </a:r>
                <a:r>
                  <a:rPr lang="en-US" sz="2000">
                    <a:latin typeface="Arial" pitchFamily="34" charset="0"/>
                    <a:cs typeface="Arial" pitchFamily="34" charset="0"/>
                  </a:rPr>
                  <a:t> </a:t>
                </a:r>
                <a:r>
                  <a:rPr lang="en-US" sz="2000" err="1">
                    <a:latin typeface="Arial" pitchFamily="34" charset="0"/>
                    <a:cs typeface="Arial" pitchFamily="34" charset="0"/>
                  </a:rPr>
                  <a:t>phân</a:t>
                </a:r>
                <a:r>
                  <a:rPr lang="en-US" sz="2000">
                    <a:latin typeface="Arial" pitchFamily="34" charset="0"/>
                    <a:cs typeface="Arial" pitchFamily="34" charset="0"/>
                  </a:rPr>
                  <a:t> </a:t>
                </a:r>
                <a:r>
                  <a:rPr lang="en-US" sz="2000" err="1">
                    <a:latin typeface="Arial" pitchFamily="34" charset="0"/>
                    <a:cs typeface="Arial" pitchFamily="34" charset="0"/>
                  </a:rPr>
                  <a:t>cực</a:t>
                </a:r>
                <a:r>
                  <a:rPr lang="en-US" sz="2000">
                    <a:latin typeface="Arial" pitchFamily="34" charset="0"/>
                    <a:cs typeface="Arial" pitchFamily="34" charset="0"/>
                  </a:rPr>
                  <a:t> </a:t>
                </a:r>
                <a:r>
                  <a:rPr lang="en-US" sz="2000" err="1">
                    <a:latin typeface="Arial" pitchFamily="34" charset="0"/>
                    <a:cs typeface="Arial" pitchFamily="34" charset="0"/>
                  </a:rPr>
                  <a:t>ngược</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𝐷</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0</m:t>
                          </m:r>
                        </m:sub>
                      </m:sSub>
                      <m:r>
                        <a:rPr lang="en-US" sz="2000" b="0" i="1" smtClean="0">
                          <a:latin typeface="Cambria Math" panose="02040503050406030204" pitchFamily="18" charset="0"/>
                          <a:cs typeface="Times New Roman" panose="02020603050405020304" pitchFamily="18" charset="0"/>
                        </a:rPr>
                        <m:t>=400 </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𝑉</m:t>
                          </m:r>
                        </m:e>
                      </m:d>
                    </m:oMath>
                  </m:oMathPara>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hệ</a:t>
                </a:r>
                <a:r>
                  <a:rPr lang="en-US" sz="2000">
                    <a:latin typeface="Arial" pitchFamily="34" charset="0"/>
                    <a:cs typeface="Arial" pitchFamily="34" charset="0"/>
                  </a:rPr>
                  <a:t> </a:t>
                </a:r>
                <a:r>
                  <a:rPr lang="en-US" sz="2000" err="1">
                    <a:latin typeface="Arial" pitchFamily="34" charset="0"/>
                    <a:cs typeface="Arial" pitchFamily="34" charset="0"/>
                  </a:rPr>
                  <a:t>số</a:t>
                </a:r>
                <a:r>
                  <a:rPr lang="en-US" sz="2000">
                    <a:latin typeface="Arial" pitchFamily="34" charset="0"/>
                    <a:cs typeface="Arial" pitchFamily="34" charset="0"/>
                  </a:rPr>
                  <a:t> </a:t>
                </a:r>
                <a:r>
                  <a:rPr lang="en-US" sz="2000" err="1">
                    <a:latin typeface="Arial" pitchFamily="34" charset="0"/>
                    <a:cs typeface="Arial" pitchFamily="34" charset="0"/>
                  </a:rPr>
                  <a:t>dự</a:t>
                </a:r>
                <a:r>
                  <a:rPr lang="en-US" sz="2000">
                    <a:latin typeface="Arial" pitchFamily="34" charset="0"/>
                    <a:cs typeface="Arial" pitchFamily="34" charset="0"/>
                  </a:rPr>
                  <a:t> </a:t>
                </a:r>
                <a:r>
                  <a:rPr lang="en-US" sz="2000" err="1">
                    <a:latin typeface="Arial" pitchFamily="34" charset="0"/>
                    <a:cs typeface="Arial" pitchFamily="34" charset="0"/>
                  </a:rPr>
                  <a:t>trữ</a:t>
                </a:r>
                <a:r>
                  <a:rPr lang="en-US" sz="2000">
                    <a:latin typeface="Arial" pitchFamily="34" charset="0"/>
                    <a:cs typeface="Arial" pitchFamily="34" charset="0"/>
                  </a:rPr>
                  <a: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𝐾</m:t>
                        </m:r>
                      </m:e>
                      <m:sub>
                        <m:r>
                          <a:rPr lang="en-US" sz="2000" b="0" i="1" smtClean="0">
                            <a:latin typeface="Cambria Math" panose="02040503050406030204" pitchFamily="18" charset="0"/>
                            <a:cs typeface="Times New Roman" panose="02020603050405020304" pitchFamily="18" charset="0"/>
                          </a:rPr>
                          <m:t>𝑣</m:t>
                        </m:r>
                      </m:sub>
                    </m:sSub>
                    <m:r>
                      <a:rPr lang="en-US" sz="2000" b="0" i="1" smtClean="0">
                        <a:latin typeface="Cambria Math" panose="02040503050406030204" pitchFamily="18" charset="0"/>
                        <a:cs typeface="Times New Roman" panose="02020603050405020304" pitchFamily="18" charset="0"/>
                      </a:rPr>
                      <m:t>=1,5</m:t>
                    </m:r>
                  </m:oMath>
                </a14:m>
                <a:r>
                  <a:rPr lang="en-US" sz="2000">
                    <a:latin typeface="Arial" pitchFamily="34" charset="0"/>
                    <a:cs typeface="Arial" pitchFamily="34" charset="0"/>
                  </a:rPr>
                  <a:t> </a:t>
                </a:r>
                <a:r>
                  <a:rPr lang="en-US" sz="2000" err="1">
                    <a:latin typeface="Arial" pitchFamily="34" charset="0"/>
                    <a:cs typeface="Arial" pitchFamily="34" charset="0"/>
                  </a:rPr>
                  <a:t>thì</a:t>
                </a:r>
                <a:r>
                  <a:rPr lang="en-US" sz="2000">
                    <a:latin typeface="Arial" pitchFamily="34" charset="0"/>
                    <a:cs typeface="Arial" pitchFamily="34" charset="0"/>
                  </a:rPr>
                  <a:t> Diode </a:t>
                </a:r>
                <a:r>
                  <a:rPr lang="en-US" sz="2000" err="1">
                    <a:latin typeface="Arial" pitchFamily="34" charset="0"/>
                    <a:cs typeface="Arial" pitchFamily="34" charset="0"/>
                  </a:rPr>
                  <a:t>cần</a:t>
                </a:r>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cho</a:t>
                </a:r>
                <a:r>
                  <a:rPr lang="en-US" sz="2000">
                    <a:latin typeface="Arial" pitchFamily="34" charset="0"/>
                    <a:cs typeface="Arial" pitchFamily="34" charset="0"/>
                  </a:rPr>
                  <a:t> </a:t>
                </a:r>
                <a:r>
                  <a:rPr lang="en-US" sz="2000" err="1">
                    <a:latin typeface="Arial" pitchFamily="34" charset="0"/>
                    <a:cs typeface="Arial" pitchFamily="34" charset="0"/>
                  </a:rPr>
                  <a:t>phép</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áp</a:t>
                </a:r>
                <a:r>
                  <a:rPr lang="en-US" sz="2000">
                    <a:latin typeface="Arial" pitchFamily="34" charset="0"/>
                    <a:cs typeface="Arial" pitchFamily="34" charset="0"/>
                  </a:rPr>
                  <a:t> </a:t>
                </a:r>
                <a:r>
                  <a:rPr lang="en-US" sz="2000" err="1">
                    <a:latin typeface="Arial" pitchFamily="34" charset="0"/>
                    <a:cs typeface="Arial" pitchFamily="34" charset="0"/>
                  </a:rPr>
                  <a:t>phân</a:t>
                </a:r>
                <a:r>
                  <a:rPr lang="en-US" sz="2000">
                    <a:latin typeface="Arial" pitchFamily="34" charset="0"/>
                    <a:cs typeface="Arial" pitchFamily="34" charset="0"/>
                  </a:rPr>
                  <a:t> </a:t>
                </a:r>
                <a:r>
                  <a:rPr lang="en-US" sz="2000" err="1">
                    <a:latin typeface="Arial" pitchFamily="34" charset="0"/>
                    <a:cs typeface="Arial" pitchFamily="34" charset="0"/>
                  </a:rPr>
                  <a:t>cực</a:t>
                </a:r>
                <a:r>
                  <a:rPr lang="en-US" sz="2000">
                    <a:latin typeface="Arial" pitchFamily="34" charset="0"/>
                    <a:cs typeface="Arial" pitchFamily="34" charset="0"/>
                  </a:rPr>
                  <a:t> </a:t>
                </a:r>
                <a:r>
                  <a:rPr lang="en-US" sz="2000" err="1">
                    <a:latin typeface="Arial" pitchFamily="34" charset="0"/>
                    <a:cs typeface="Arial" pitchFamily="34" charset="0"/>
                  </a:rPr>
                  <a:t>ngược</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cs typeface="Times New Roman" panose="02020603050405020304" pitchFamily="18" charset="0"/>
                            </a:rPr>
                          </m:ctrlPr>
                        </m:sSubSup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𝐷</m:t>
                          </m:r>
                        </m:sub>
                        <m:sup>
                          <m:r>
                            <a:rPr lang="en-US" sz="2000" b="0" i="1" smtClean="0">
                              <a:latin typeface="Cambria Math" panose="02040503050406030204" pitchFamily="18" charset="0"/>
                              <a:cs typeface="Times New Roman" panose="02020603050405020304" pitchFamily="18" charset="0"/>
                            </a:rPr>
                            <m:t>′</m:t>
                          </m:r>
                        </m:sup>
                      </m:sSubSup>
                      <m:r>
                        <a:rPr lang="en-US" sz="2000" b="0" i="1" smtClean="0">
                          <a:latin typeface="Cambria Math" panose="02040503050406030204" pitchFamily="18" charset="0"/>
                          <a:cs typeface="Times New Roman" panose="02020603050405020304" pitchFamily="18" charset="0"/>
                        </a:rPr>
                        <m:t>=1,5</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𝐷</m:t>
                          </m:r>
                        </m:sub>
                      </m:sSub>
                      <m:r>
                        <a:rPr lang="en-US" sz="2000" b="0" i="1" smtClean="0">
                          <a:latin typeface="Cambria Math" panose="02040503050406030204" pitchFamily="18" charset="0"/>
                          <a:cs typeface="Times New Roman" panose="02020603050405020304" pitchFamily="18" charset="0"/>
                        </a:rPr>
                        <m:t>=1,5.400=600 (</m:t>
                      </m:r>
                      <m:r>
                        <a:rPr lang="en-US" sz="2000" b="0" i="1" smtClean="0">
                          <a:latin typeface="Cambria Math" panose="02040503050406030204" pitchFamily="18" charset="0"/>
                          <a:cs typeface="Times New Roman" panose="02020603050405020304" pitchFamily="18" charset="0"/>
                        </a:rPr>
                        <m:t>𝑉</m:t>
                      </m:r>
                      <m:r>
                        <a:rPr lang="en-US" sz="2000" b="0" i="1" smtClean="0">
                          <a:latin typeface="Cambria Math" panose="02040503050406030204" pitchFamily="18" charset="0"/>
                          <a:cs typeface="Times New Roman" panose="02020603050405020304" pitchFamily="18" charset="0"/>
                        </a:rPr>
                        <m:t>)</m:t>
                      </m:r>
                    </m:oMath>
                  </m:oMathPara>
                </a14:m>
                <a:endParaRPr lang="en-US" sz="2000">
                  <a:latin typeface="Arial" pitchFamily="34" charset="0"/>
                  <a:cs typeface="Arial" pitchFamily="34" charset="0"/>
                </a:endParaRPr>
              </a:p>
            </p:txBody>
          </p:sp>
        </mc:Choice>
        <mc:Fallback xmlns="">
          <p:sp>
            <p:nvSpPr>
              <p:cNvPr id="2" name="TextBox 5">
                <a:extLst>
                  <a:ext uri="{FF2B5EF4-FFF2-40B4-BE49-F238E27FC236}">
                    <a16:creationId xmlns:a16="http://schemas.microsoft.com/office/drawing/2014/main" id="{3D53AE51-EB9C-4B85-E3D0-D697E7581103}"/>
                  </a:ext>
                </a:extLst>
              </p:cNvPr>
              <p:cNvSpPr txBox="1">
                <a:spLocks noRot="1" noChangeAspect="1" noMove="1" noResize="1" noEditPoints="1" noAdjustHandles="1" noChangeArrowheads="1" noChangeShapeType="1" noTextEdit="1"/>
              </p:cNvSpPr>
              <p:nvPr/>
            </p:nvSpPr>
            <p:spPr>
              <a:xfrm>
                <a:off x="550800" y="1694037"/>
                <a:ext cx="8026400" cy="4401205"/>
              </a:xfrm>
              <a:prstGeom prst="rect">
                <a:avLst/>
              </a:prstGeom>
              <a:blipFill>
                <a:blip r:embed="rId2"/>
                <a:stretch>
                  <a:fillRect l="-759" b="-693"/>
                </a:stretch>
              </a:blipFill>
            </p:spPr>
            <p:txBody>
              <a:bodyPr/>
              <a:lstStyle/>
              <a:p>
                <a:r>
                  <a:rPr lang="en-US">
                    <a:noFill/>
                  </a:rPr>
                  <a:t> </a:t>
                </a:r>
              </a:p>
            </p:txBody>
          </p:sp>
        </mc:Fallback>
      </mc:AlternateContent>
      <p:sp>
        <p:nvSpPr>
          <p:cNvPr id="3" name="object 3">
            <a:extLst>
              <a:ext uri="{FF2B5EF4-FFF2-40B4-BE49-F238E27FC236}">
                <a16:creationId xmlns:a16="http://schemas.microsoft.com/office/drawing/2014/main" id="{1DE0C2FB-4562-9FCD-66CC-39B52EA17593}"/>
              </a:ext>
            </a:extLst>
          </p:cNvPr>
          <p:cNvSpPr txBox="1"/>
          <p:nvPr/>
        </p:nvSpPr>
        <p:spPr>
          <a:xfrm>
            <a:off x="550800" y="884382"/>
            <a:ext cx="7450200" cy="536044"/>
          </a:xfrm>
          <a:prstGeom prst="rect">
            <a:avLst/>
          </a:prstGeom>
        </p:spPr>
        <p:txBody>
          <a:bodyPr vert="horz" wrap="square" lIns="0" tIns="165100" rIns="0" bIns="0" rtlCol="0">
            <a:spAutoFit/>
          </a:bodyPr>
          <a:lstStyle/>
          <a:p>
            <a:pPr marL="12700">
              <a:lnSpc>
                <a:spcPct val="100000"/>
              </a:lnSpc>
              <a:spcBef>
                <a:spcPts val="1300"/>
              </a:spcBef>
              <a:buClr>
                <a:srgbClr val="595958"/>
              </a:buClr>
              <a:buSzPct val="79166"/>
              <a:tabLst>
                <a:tab pos="241300" algn="l"/>
              </a:tabLst>
            </a:pPr>
            <a:r>
              <a:rPr sz="2400" b="1" spc="-5">
                <a:latin typeface="Arial" pitchFamily="34" charset="0"/>
                <a:cs typeface="Arial" pitchFamily="34" charset="0"/>
              </a:rPr>
              <a:t>Tính </a:t>
            </a:r>
            <a:r>
              <a:rPr sz="2400" b="1">
                <a:latin typeface="Arial" pitchFamily="34" charset="0"/>
                <a:cs typeface="Arial" pitchFamily="34" charset="0"/>
              </a:rPr>
              <a:t>toán các</a:t>
            </a:r>
            <a:r>
              <a:rPr sz="2400" b="1" spc="-15">
                <a:latin typeface="Arial" pitchFamily="34" charset="0"/>
                <a:cs typeface="Arial" pitchFamily="34" charset="0"/>
              </a:rPr>
              <a:t> </a:t>
            </a:r>
            <a:r>
              <a:rPr sz="2400" b="1" spc="-5">
                <a:latin typeface="Arial" pitchFamily="34" charset="0"/>
                <a:cs typeface="Arial" pitchFamily="34" charset="0"/>
              </a:rPr>
              <a:t>phần</a:t>
            </a:r>
            <a:r>
              <a:rPr sz="2400" b="1">
                <a:latin typeface="Arial" pitchFamily="34" charset="0"/>
                <a:cs typeface="Arial" pitchFamily="34" charset="0"/>
              </a:rPr>
              <a:t> tử</a:t>
            </a:r>
            <a:r>
              <a:rPr sz="2400" b="1" spc="-10">
                <a:latin typeface="Arial" pitchFamily="34" charset="0"/>
                <a:cs typeface="Arial" pitchFamily="34" charset="0"/>
              </a:rPr>
              <a:t> </a:t>
            </a:r>
            <a:r>
              <a:rPr sz="2400" b="1" spc="-5">
                <a:latin typeface="Arial" pitchFamily="34" charset="0"/>
                <a:cs typeface="Arial" pitchFamily="34" charset="0"/>
              </a:rPr>
              <a:t>thụ</a:t>
            </a:r>
            <a:r>
              <a:rPr sz="2400" b="1" spc="-10">
                <a:latin typeface="Arial" pitchFamily="34" charset="0"/>
                <a:cs typeface="Arial" pitchFamily="34" charset="0"/>
              </a:rPr>
              <a:t> </a:t>
            </a:r>
            <a:r>
              <a:rPr sz="2400" b="1" spc="-5">
                <a:latin typeface="Arial" pitchFamily="34" charset="0"/>
                <a:cs typeface="Arial" pitchFamily="34" charset="0"/>
              </a:rPr>
              <a:t>động</a:t>
            </a:r>
            <a:r>
              <a:rPr sz="2400" b="1" spc="5">
                <a:latin typeface="Arial" pitchFamily="34" charset="0"/>
                <a:cs typeface="Arial" pitchFamily="34" charset="0"/>
              </a:rPr>
              <a:t> </a:t>
            </a:r>
            <a:r>
              <a:rPr sz="2400" b="1" spc="-5">
                <a:latin typeface="Arial" pitchFamily="34" charset="0"/>
                <a:cs typeface="Arial" pitchFamily="34" charset="0"/>
              </a:rPr>
              <a:t>trong </a:t>
            </a:r>
            <a:r>
              <a:rPr sz="2400" b="1" err="1">
                <a:latin typeface="Arial" pitchFamily="34" charset="0"/>
                <a:cs typeface="Arial" pitchFamily="34" charset="0"/>
              </a:rPr>
              <a:t>mạch</a:t>
            </a:r>
            <a:r>
              <a:rPr sz="2400" b="1" spc="-20">
                <a:latin typeface="Arial" pitchFamily="34" charset="0"/>
                <a:cs typeface="Arial" pitchFamily="34" charset="0"/>
              </a:rPr>
              <a:t> </a:t>
            </a:r>
            <a:r>
              <a:rPr sz="2400" b="1" spc="-5" err="1">
                <a:latin typeface="Arial" pitchFamily="34" charset="0"/>
                <a:cs typeface="Arial" pitchFamily="34" charset="0"/>
              </a:rPr>
              <a:t>lực</a:t>
            </a:r>
            <a:endParaRPr sz="2400" b="1">
              <a:latin typeface="Arial" pitchFamily="34" charset="0"/>
              <a:cs typeface="Arial" pitchFamily="34" charset="0"/>
            </a:endParaRPr>
          </a:p>
        </p:txBody>
      </p:sp>
      <p:sp>
        <p:nvSpPr>
          <p:cNvPr id="4" name="Rectangle 2">
            <a:extLst>
              <a:ext uri="{FF2B5EF4-FFF2-40B4-BE49-F238E27FC236}">
                <a16:creationId xmlns:a16="http://schemas.microsoft.com/office/drawing/2014/main" id="{32C24BCF-D33A-72C1-209A-C85ECC93B6D2}"/>
              </a:ext>
            </a:extLst>
          </p:cNvPr>
          <p:cNvSpPr/>
          <p:nvPr/>
        </p:nvSpPr>
        <p:spPr>
          <a:xfrm>
            <a:off x="550800" y="1493982"/>
            <a:ext cx="2194832" cy="400110"/>
          </a:xfrm>
          <a:prstGeom prst="rect">
            <a:avLst/>
          </a:prstGeom>
        </p:spPr>
        <p:txBody>
          <a:bodyPr wrap="none">
            <a:spAutoFit/>
          </a:bodyPr>
          <a:lstStyle/>
          <a:p>
            <a:r>
              <a:rPr lang="en-US" sz="2000" b="1" err="1">
                <a:latin typeface="Arial" pitchFamily="34" charset="0"/>
                <a:cs typeface="Arial" pitchFamily="34" charset="0"/>
              </a:rPr>
              <a:t>Tính</a:t>
            </a:r>
            <a:r>
              <a:rPr lang="en-US" sz="2000" b="1">
                <a:latin typeface="Arial" pitchFamily="34" charset="0"/>
                <a:cs typeface="Arial" pitchFamily="34" charset="0"/>
              </a:rPr>
              <a:t> </a:t>
            </a:r>
            <a:r>
              <a:rPr lang="en-US" sz="2000" b="1" err="1">
                <a:latin typeface="Arial" pitchFamily="34" charset="0"/>
                <a:cs typeface="Arial" pitchFamily="34" charset="0"/>
              </a:rPr>
              <a:t>chọn</a:t>
            </a:r>
            <a:r>
              <a:rPr lang="en-US" sz="2000" b="1">
                <a:latin typeface="Arial" pitchFamily="34" charset="0"/>
                <a:cs typeface="Arial" pitchFamily="34" charset="0"/>
              </a:rPr>
              <a:t> Diode</a:t>
            </a:r>
          </a:p>
        </p:txBody>
      </p:sp>
    </p:spTree>
    <p:extLst>
      <p:ext uri="{BB962C8B-B14F-4D97-AF65-F5344CB8AC3E}">
        <p14:creationId xmlns:p14="http://schemas.microsoft.com/office/powerpoint/2010/main" val="220877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84A08-E4FD-A5C0-5628-365FD0EFA4BE}"/>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8F007E78-90BA-E55A-4CF8-81EB81D5636E}"/>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11</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111272C3-81BA-B3D1-A679-7384E2C3ECB9}"/>
              </a:ext>
            </a:extLst>
          </p:cNvPr>
          <p:cNvSpPr>
            <a:spLocks noGrp="1"/>
          </p:cNvSpPr>
          <p:nvPr>
            <p:ph type="title"/>
          </p:nvPr>
        </p:nvSpPr>
        <p:spPr/>
        <p:txBody>
          <a:bodyPr>
            <a:normAutofit fontScale="90000"/>
          </a:bodyPr>
          <a:lstStyle/>
          <a:p>
            <a:r>
              <a:rPr lang="en-US"/>
              <a:t>1. Tổng quan chung và thông số mạch lực</a:t>
            </a:r>
          </a:p>
        </p:txBody>
      </p:sp>
      <mc:AlternateContent xmlns:mc="http://schemas.openxmlformats.org/markup-compatibility/2006" xmlns:a14="http://schemas.microsoft.com/office/drawing/2010/main">
        <mc:Choice Requires="a14">
          <p:sp>
            <p:nvSpPr>
              <p:cNvPr id="2" name="TextBox 3">
                <a:extLst>
                  <a:ext uri="{FF2B5EF4-FFF2-40B4-BE49-F238E27FC236}">
                    <a16:creationId xmlns:a16="http://schemas.microsoft.com/office/drawing/2014/main" id="{CE4AD3AD-BF35-9F02-05D0-8987B57A9585}"/>
                  </a:ext>
                </a:extLst>
              </p:cNvPr>
              <p:cNvSpPr txBox="1"/>
              <p:nvPr/>
            </p:nvSpPr>
            <p:spPr>
              <a:xfrm>
                <a:off x="550800" y="1981200"/>
                <a:ext cx="8229600" cy="4093428"/>
              </a:xfrm>
              <a:prstGeom prst="rect">
                <a:avLst/>
              </a:prstGeom>
              <a:noFill/>
            </p:spPr>
            <p:txBody>
              <a:bodyPr wrap="square" rtlCol="0">
                <a:spAutoFit/>
              </a:bodyPr>
              <a:lstStyle/>
              <a:p>
                <a:endParaRPr lang="en-US" sz="2000">
                  <a:latin typeface="Arial" pitchFamily="34" charset="0"/>
                  <a:cs typeface="Arial" pitchFamily="34" charset="0"/>
                </a:endParaRPr>
              </a:p>
              <a:p>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hiệu</a:t>
                </a:r>
                <a:r>
                  <a:rPr lang="en-US" sz="2000">
                    <a:latin typeface="Arial" pitchFamily="34" charset="0"/>
                    <a:cs typeface="Arial" pitchFamily="34" charset="0"/>
                  </a:rPr>
                  <a:t> </a:t>
                </a:r>
                <a:r>
                  <a:rPr lang="en-US" sz="2000" err="1">
                    <a:latin typeface="Arial" pitchFamily="34" charset="0"/>
                    <a:cs typeface="Arial" pitchFamily="34" charset="0"/>
                  </a:rPr>
                  <a:t>dụng</a:t>
                </a:r>
                <a:r>
                  <a:rPr lang="en-US" sz="2000">
                    <a:latin typeface="Arial" pitchFamily="34" charset="0"/>
                    <a:cs typeface="Arial" pitchFamily="34" charset="0"/>
                  </a:rPr>
                  <a:t> </a:t>
                </a:r>
                <a:r>
                  <a:rPr lang="en-US" sz="2000" err="1">
                    <a:latin typeface="Arial" pitchFamily="34" charset="0"/>
                    <a:cs typeface="Arial" pitchFamily="34" charset="0"/>
                  </a:rPr>
                  <a:t>trên</a:t>
                </a:r>
                <a:r>
                  <a:rPr lang="en-US" sz="2000">
                    <a:latin typeface="Arial" pitchFamily="34" charset="0"/>
                    <a:cs typeface="Arial" pitchFamily="34" charset="0"/>
                  </a:rPr>
                  <a:t> van</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𝑉</m:t>
                          </m:r>
                        </m:sub>
                      </m:sSub>
                      <m:r>
                        <a:rPr lang="en-US" sz="2000" b="0" i="1" smtClean="0">
                          <a:latin typeface="Cambria Math" panose="02040503050406030204" pitchFamily="18" charset="0"/>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𝐷</m:t>
                      </m:r>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𝐿</m:t>
                          </m:r>
                        </m:sub>
                      </m:sSub>
                      <m:r>
                        <a:rPr lang="en-US" sz="2000" b="0" i="1" smtClean="0">
                          <a:latin typeface="Cambria Math" panose="02040503050406030204" pitchFamily="18" charset="0"/>
                          <a:cs typeface="Times New Roman" panose="02020603050405020304" pitchFamily="18" charset="0"/>
                        </a:rPr>
                        <m:t>=0</m:t>
                      </m:r>
                      <m:r>
                        <a:rPr lang="en-US" sz="2000" b="0" i="1" smtClean="0">
                          <a:latin typeface="Cambria Math"/>
                          <a:cs typeface="Times New Roman" panose="02020603050405020304" pitchFamily="18" charset="0"/>
                        </a:rPr>
                        <m:t>.225</m:t>
                      </m:r>
                      <m:r>
                        <a:rPr lang="en-US" sz="2000" i="1">
                          <a:latin typeface="Cambria Math" panose="02040503050406030204" pitchFamily="18" charset="0"/>
                          <a:ea typeface="Cambria Math"/>
                          <a:cs typeface="Times New Roman" panose="02020603050405020304" pitchFamily="18" charset="0"/>
                        </a:rPr>
                        <m:t>∙</m:t>
                      </m:r>
                      <m:r>
                        <a:rPr lang="en-US" sz="2000" b="0" i="1" smtClean="0">
                          <a:latin typeface="Cambria Math"/>
                          <a:cs typeface="Times New Roman" panose="02020603050405020304" pitchFamily="18" charset="0"/>
                        </a:rPr>
                        <m:t>3.225</m:t>
                      </m:r>
                      <m:r>
                        <a:rPr lang="en-US" sz="2000" b="0" i="1" smtClean="0">
                          <a:latin typeface="Cambria Math" panose="02040503050406030204" pitchFamily="18" charset="0"/>
                          <a:cs typeface="Times New Roman" panose="02020603050405020304" pitchFamily="18" charset="0"/>
                        </a:rPr>
                        <m:t>=</m:t>
                      </m:r>
                      <m:r>
                        <a:rPr lang="en-US" sz="2000" b="0" i="1" smtClean="0">
                          <a:latin typeface="Cambria Math"/>
                          <a:cs typeface="Times New Roman" panose="02020603050405020304" pitchFamily="18" charset="0"/>
                        </a:rPr>
                        <m:t>0.7256</m:t>
                      </m:r>
                      <m:r>
                        <a:rPr lang="en-US" sz="2000" b="0" i="1" smtClean="0">
                          <a:latin typeface="Cambria Math" panose="02040503050406030204" pitchFamily="18" charset="0"/>
                          <a:cs typeface="Times New Roman" panose="02020603050405020304" pitchFamily="18" charset="0"/>
                        </a:rPr>
                        <m:t> </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𝐴</m:t>
                          </m:r>
                        </m:e>
                      </m:d>
                    </m:oMath>
                  </m:oMathPara>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hệ</a:t>
                </a:r>
                <a:r>
                  <a:rPr lang="en-US" sz="2000">
                    <a:latin typeface="Arial" pitchFamily="34" charset="0"/>
                    <a:cs typeface="Arial" pitchFamily="34" charset="0"/>
                  </a:rPr>
                  <a:t> </a:t>
                </a:r>
                <a:r>
                  <a:rPr lang="en-US" sz="2000" err="1">
                    <a:latin typeface="Arial" pitchFamily="34" charset="0"/>
                    <a:cs typeface="Arial" pitchFamily="34" charset="0"/>
                  </a:rPr>
                  <a:t>dự</a:t>
                </a:r>
                <a:r>
                  <a:rPr lang="en-US" sz="2000">
                    <a:latin typeface="Arial" pitchFamily="34" charset="0"/>
                    <a:cs typeface="Arial" pitchFamily="34" charset="0"/>
                  </a:rPr>
                  <a:t> </a:t>
                </a:r>
                <a:r>
                  <a:rPr lang="en-US" sz="2000" err="1">
                    <a:latin typeface="Arial" pitchFamily="34" charset="0"/>
                    <a:cs typeface="Arial" pitchFamily="34" charset="0"/>
                  </a:rPr>
                  <a:t>trữ</a:t>
                </a:r>
                <a:r>
                  <a:rPr lang="en-US" sz="2000">
                    <a:latin typeface="Arial" pitchFamily="34" charset="0"/>
                    <a:cs typeface="Arial" pitchFamily="34" charset="0"/>
                  </a:rPr>
                  <a: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𝐾</m:t>
                        </m:r>
                      </m:e>
                      <m:sub>
                        <m:r>
                          <a:rPr lang="en-US" sz="2000" b="0" i="1" smtClean="0">
                            <a:latin typeface="Cambria Math" panose="02040503050406030204" pitchFamily="18" charset="0"/>
                            <a:cs typeface="Times New Roman" panose="02020603050405020304" pitchFamily="18" charset="0"/>
                          </a:rPr>
                          <m:t>𝑖</m:t>
                        </m:r>
                      </m:sub>
                    </m:sSub>
                    <m:r>
                      <a:rPr lang="en-US" sz="2000" b="0" i="1" smtClean="0">
                        <a:latin typeface="Cambria Math" panose="02040503050406030204" pitchFamily="18" charset="0"/>
                        <a:cs typeface="Times New Roman" panose="02020603050405020304" pitchFamily="18" charset="0"/>
                      </a:rPr>
                      <m:t>=2,5</m:t>
                    </m:r>
                  </m:oMath>
                </a14:m>
                <a:r>
                  <a:rPr lang="en-US" sz="2000">
                    <a:latin typeface="Arial" pitchFamily="34" charset="0"/>
                    <a:cs typeface="Arial" pitchFamily="34" charset="0"/>
                  </a:rPr>
                  <a:t> </a:t>
                </a:r>
                <a:r>
                  <a:rPr lang="en-US" sz="2000" err="1">
                    <a:latin typeface="Arial" pitchFamily="34" charset="0"/>
                    <a:cs typeface="Arial" pitchFamily="34" charset="0"/>
                  </a:rPr>
                  <a:t>thì</a:t>
                </a:r>
                <a:r>
                  <a:rPr lang="en-US" sz="2000">
                    <a:latin typeface="Arial" pitchFamily="34" charset="0"/>
                    <a:cs typeface="Arial" pitchFamily="34" charset="0"/>
                  </a:rPr>
                  <a:t> van </a:t>
                </a:r>
                <a:r>
                  <a:rPr lang="en-US" sz="2000" err="1">
                    <a:latin typeface="Arial" pitchFamily="34" charset="0"/>
                    <a:cs typeface="Arial" pitchFamily="34" charset="0"/>
                  </a:rPr>
                  <a:t>cần</a:t>
                </a:r>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cho</a:t>
                </a:r>
                <a:r>
                  <a:rPr lang="en-US" sz="2000">
                    <a:latin typeface="Arial" pitchFamily="34" charset="0"/>
                    <a:cs typeface="Arial" pitchFamily="34" charset="0"/>
                  </a:rPr>
                  <a:t> </a:t>
                </a:r>
                <a:r>
                  <a:rPr lang="en-US" sz="2000" err="1">
                    <a:latin typeface="Arial" pitchFamily="34" charset="0"/>
                    <a:cs typeface="Arial" pitchFamily="34" charset="0"/>
                  </a:rPr>
                  <a:t>phép</a:t>
                </a:r>
                <a:r>
                  <a:rPr lang="en-US" sz="2000">
                    <a:latin typeface="Arial" pitchFamily="34" charset="0"/>
                    <a:cs typeface="Arial" pitchFamily="34" charset="0"/>
                  </a:rPr>
                  <a:t> </a:t>
                </a:r>
                <a:r>
                  <a:rPr lang="en-US" sz="2000" err="1">
                    <a:latin typeface="Arial" pitchFamily="34" charset="0"/>
                    <a:cs typeface="Arial" pitchFamily="34" charset="0"/>
                  </a:rPr>
                  <a:t>dòng</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liên</a:t>
                </a:r>
                <a:r>
                  <a:rPr lang="en-US" sz="2000">
                    <a:latin typeface="Arial" pitchFamily="34" charset="0"/>
                    <a:cs typeface="Arial" pitchFamily="34" charset="0"/>
                  </a:rPr>
                  <a:t> </a:t>
                </a:r>
                <a:r>
                  <a:rPr lang="en-US" sz="2000" err="1">
                    <a:latin typeface="Arial" pitchFamily="34" charset="0"/>
                    <a:cs typeface="Arial" pitchFamily="34" charset="0"/>
                  </a:rPr>
                  <a:t>tục</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cs typeface="Times New Roman" panose="02020603050405020304" pitchFamily="18" charset="0"/>
                            </a:rPr>
                          </m:ctrlPr>
                        </m:sSubSup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𝑉</m:t>
                          </m:r>
                        </m:sub>
                        <m:sup>
                          <m:r>
                            <a:rPr lang="en-US" sz="2000" b="0" i="1" smtClean="0">
                              <a:latin typeface="Cambria Math" panose="02040503050406030204" pitchFamily="18" charset="0"/>
                              <a:cs typeface="Times New Roman" panose="02020603050405020304" pitchFamily="18" charset="0"/>
                            </a:rPr>
                            <m:t>′</m:t>
                          </m:r>
                        </m:sup>
                      </m:sSubSup>
                      <m:r>
                        <a:rPr lang="en-US" sz="2000" b="0" i="1" smtClean="0">
                          <a:latin typeface="Cambria Math" panose="02040503050406030204" pitchFamily="18" charset="0"/>
                          <a:cs typeface="Times New Roman" panose="02020603050405020304" pitchFamily="18" charset="0"/>
                        </a:rPr>
                        <m:t>=2,5</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𝐼</m:t>
                          </m:r>
                        </m:e>
                        <m:sub>
                          <m:r>
                            <a:rPr lang="en-US" sz="2000" b="0" i="1" smtClean="0">
                              <a:latin typeface="Cambria Math" panose="02040503050406030204" pitchFamily="18" charset="0"/>
                              <a:cs typeface="Times New Roman" panose="02020603050405020304" pitchFamily="18" charset="0"/>
                            </a:rPr>
                            <m:t>𝑉</m:t>
                          </m:r>
                        </m:sub>
                      </m:sSub>
                      <m:r>
                        <a:rPr lang="en-US" sz="2000" b="0" i="1" smtClean="0">
                          <a:latin typeface="Cambria Math" panose="02040503050406030204" pitchFamily="18" charset="0"/>
                          <a:cs typeface="Times New Roman" panose="02020603050405020304" pitchFamily="18" charset="0"/>
                        </a:rPr>
                        <m:t>=2</m:t>
                      </m:r>
                      <m:r>
                        <a:rPr lang="en-US" sz="2000" b="0" i="1" smtClean="0">
                          <a:latin typeface="Cambria Math"/>
                          <a:cs typeface="Times New Roman" panose="02020603050405020304" pitchFamily="18" charset="0"/>
                        </a:rPr>
                        <m:t>.</m:t>
                      </m:r>
                      <m:r>
                        <a:rPr lang="en-US" sz="2000" b="0" i="1" smtClean="0">
                          <a:latin typeface="Cambria Math" panose="02040503050406030204" pitchFamily="18" charset="0"/>
                          <a:cs typeface="Times New Roman" panose="02020603050405020304" pitchFamily="18" charset="0"/>
                        </a:rPr>
                        <m:t>5</m:t>
                      </m:r>
                      <m:r>
                        <a:rPr lang="en-US" sz="2000" b="0" i="1" smtClean="0">
                          <a:latin typeface="Cambria Math"/>
                          <a:ea typeface="Cambria Math"/>
                          <a:cs typeface="Times New Roman" panose="02020603050405020304" pitchFamily="18" charset="0"/>
                        </a:rPr>
                        <m:t>∙</m:t>
                      </m:r>
                      <m:r>
                        <a:rPr lang="en-US" sz="2000" b="0" i="1" smtClean="0">
                          <a:latin typeface="Cambria Math"/>
                          <a:cs typeface="Times New Roman" panose="02020603050405020304" pitchFamily="18" charset="0"/>
                        </a:rPr>
                        <m:t>0.7256</m:t>
                      </m:r>
                      <m:r>
                        <a:rPr lang="en-US" sz="2000" b="0" i="1" smtClean="0">
                          <a:latin typeface="Cambria Math" panose="02040503050406030204" pitchFamily="18" charset="0"/>
                          <a:cs typeface="Times New Roman" panose="02020603050405020304" pitchFamily="18" charset="0"/>
                        </a:rPr>
                        <m:t>=</m:t>
                      </m:r>
                      <m:r>
                        <a:rPr lang="en-US" sz="2000" b="0" i="1" smtClean="0">
                          <a:latin typeface="Cambria Math"/>
                          <a:cs typeface="Times New Roman" panose="02020603050405020304" pitchFamily="18" charset="0"/>
                        </a:rPr>
                        <m:t>1.81</m:t>
                      </m:r>
                      <m:r>
                        <a:rPr lang="en-US" sz="2000" b="0" i="1" smtClean="0">
                          <a:latin typeface="Cambria Math" panose="02040503050406030204" pitchFamily="18" charset="0"/>
                          <a:cs typeface="Times New Roman" panose="02020603050405020304" pitchFamily="18" charset="0"/>
                        </a:rPr>
                        <m:t> </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𝐴</m:t>
                          </m:r>
                        </m:e>
                      </m:d>
                    </m:oMath>
                  </m:oMathPara>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áp</a:t>
                </a:r>
                <a:r>
                  <a:rPr lang="en-US" sz="2000">
                    <a:latin typeface="Arial" pitchFamily="34" charset="0"/>
                    <a:cs typeface="Arial" pitchFamily="34" charset="0"/>
                  </a:rPr>
                  <a:t> </a:t>
                </a:r>
                <a:r>
                  <a:rPr lang="en-US" sz="2000" err="1">
                    <a:latin typeface="Arial" pitchFamily="34" charset="0"/>
                    <a:cs typeface="Arial" pitchFamily="34" charset="0"/>
                  </a:rPr>
                  <a:t>đặt</a:t>
                </a:r>
                <a:r>
                  <a:rPr lang="en-US" sz="2000">
                    <a:latin typeface="Arial" pitchFamily="34" charset="0"/>
                    <a:cs typeface="Arial" pitchFamily="34" charset="0"/>
                  </a:rPr>
                  <a:t> </a:t>
                </a:r>
                <a:r>
                  <a:rPr lang="en-US" sz="2000" err="1">
                    <a:latin typeface="Arial" pitchFamily="34" charset="0"/>
                    <a:cs typeface="Arial" pitchFamily="34" charset="0"/>
                  </a:rPr>
                  <a:t>cực</a:t>
                </a:r>
                <a:r>
                  <a:rPr lang="en-US" sz="2000">
                    <a:latin typeface="Arial" pitchFamily="34" charset="0"/>
                    <a:cs typeface="Arial" pitchFamily="34" charset="0"/>
                  </a:rPr>
                  <a:t> </a:t>
                </a:r>
                <a:r>
                  <a:rPr lang="en-US" sz="2000" err="1">
                    <a:latin typeface="Arial" pitchFamily="34" charset="0"/>
                    <a:cs typeface="Arial" pitchFamily="34" charset="0"/>
                  </a:rPr>
                  <a:t>đại</a:t>
                </a:r>
                <a:r>
                  <a:rPr lang="en-US" sz="2000">
                    <a:latin typeface="Arial" pitchFamily="34" charset="0"/>
                    <a:cs typeface="Arial" pitchFamily="34" charset="0"/>
                  </a:rPr>
                  <a:t> </a:t>
                </a:r>
                <a:r>
                  <a:rPr lang="en-US" sz="2000" err="1">
                    <a:latin typeface="Arial" pitchFamily="34" charset="0"/>
                    <a:cs typeface="Arial" pitchFamily="34" charset="0"/>
                  </a:rPr>
                  <a:t>lên</a:t>
                </a:r>
                <a:r>
                  <a:rPr lang="en-US" sz="2000">
                    <a:latin typeface="Arial" pitchFamily="34" charset="0"/>
                    <a:cs typeface="Arial" pitchFamily="34" charset="0"/>
                  </a:rPr>
                  <a:t> van </a:t>
                </a:r>
                <a:r>
                  <a:rPr lang="en-US" sz="2000" err="1">
                    <a:latin typeface="Arial" pitchFamily="34" charset="0"/>
                    <a:cs typeface="Arial" pitchFamily="34" charset="0"/>
                  </a:rPr>
                  <a:t>khi</a:t>
                </a:r>
                <a:r>
                  <a:rPr lang="en-US" sz="2000">
                    <a:latin typeface="Arial" pitchFamily="34" charset="0"/>
                    <a:cs typeface="Arial" pitchFamily="34" charset="0"/>
                  </a:rPr>
                  <a:t> </a:t>
                </a:r>
                <a:r>
                  <a:rPr lang="en-US" sz="2000" err="1">
                    <a:latin typeface="Arial" pitchFamily="34" charset="0"/>
                    <a:cs typeface="Arial" pitchFamily="34" charset="0"/>
                  </a:rPr>
                  <a:t>khóa</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𝑉</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0</m:t>
                          </m:r>
                        </m:sub>
                      </m:sSub>
                      <m:r>
                        <a:rPr lang="en-US" sz="2000" b="0" i="1" smtClean="0">
                          <a:latin typeface="Cambria Math" panose="02040503050406030204" pitchFamily="18" charset="0"/>
                          <a:cs typeface="Times New Roman" panose="02020603050405020304" pitchFamily="18" charset="0"/>
                        </a:rPr>
                        <m:t>=400 </m:t>
                      </m:r>
                      <m:d>
                        <m:dPr>
                          <m:ctrlPr>
                            <a:rPr lang="en-US" sz="2000" b="0" i="1" smtClean="0">
                              <a:latin typeface="Cambria Math" panose="02040503050406030204" pitchFamily="18" charset="0"/>
                              <a:cs typeface="Times New Roman" panose="02020603050405020304" pitchFamily="18" charset="0"/>
                            </a:rPr>
                          </m:ctrlPr>
                        </m:dPr>
                        <m:e>
                          <m:r>
                            <a:rPr lang="en-US" sz="2000" b="0" i="1" smtClean="0">
                              <a:latin typeface="Cambria Math" panose="02040503050406030204" pitchFamily="18" charset="0"/>
                              <a:cs typeface="Times New Roman" panose="02020603050405020304" pitchFamily="18" charset="0"/>
                            </a:rPr>
                            <m:t>𝑉</m:t>
                          </m:r>
                        </m:e>
                      </m:d>
                    </m:oMath>
                  </m:oMathPara>
                </a14:m>
                <a:endParaRPr lang="en-US" sz="2000" b="0">
                  <a:latin typeface="Arial" pitchFamily="34" charset="0"/>
                  <a:cs typeface="Arial" pitchFamily="34" charset="0"/>
                </a:endParaRPr>
              </a:p>
              <a:p>
                <a:endParaRPr lang="en-US" sz="2000" b="0">
                  <a:latin typeface="Arial" pitchFamily="34" charset="0"/>
                  <a:cs typeface="Arial" pitchFamily="34" charset="0"/>
                </a:endParaRPr>
              </a:p>
              <a:p>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hệ</a:t>
                </a:r>
                <a:r>
                  <a:rPr lang="en-US" sz="2000">
                    <a:latin typeface="Arial" pitchFamily="34" charset="0"/>
                    <a:cs typeface="Arial" pitchFamily="34" charset="0"/>
                  </a:rPr>
                  <a:t> </a:t>
                </a:r>
                <a:r>
                  <a:rPr lang="en-US" sz="2000" err="1">
                    <a:latin typeface="Arial" pitchFamily="34" charset="0"/>
                    <a:cs typeface="Arial" pitchFamily="34" charset="0"/>
                  </a:rPr>
                  <a:t>số</a:t>
                </a:r>
                <a:r>
                  <a:rPr lang="en-US" sz="2000">
                    <a:latin typeface="Arial" pitchFamily="34" charset="0"/>
                    <a:cs typeface="Arial" pitchFamily="34" charset="0"/>
                  </a:rPr>
                  <a:t> </a:t>
                </a:r>
                <a:r>
                  <a:rPr lang="en-US" sz="2000" err="1">
                    <a:latin typeface="Arial" pitchFamily="34" charset="0"/>
                    <a:cs typeface="Arial" pitchFamily="34" charset="0"/>
                  </a:rPr>
                  <a:t>dự</a:t>
                </a:r>
                <a:r>
                  <a:rPr lang="en-US" sz="2000">
                    <a:latin typeface="Arial" pitchFamily="34" charset="0"/>
                    <a:cs typeface="Arial" pitchFamily="34" charset="0"/>
                  </a:rPr>
                  <a:t> </a:t>
                </a:r>
                <a:r>
                  <a:rPr lang="en-US" sz="2000" err="1">
                    <a:latin typeface="Arial" pitchFamily="34" charset="0"/>
                    <a:cs typeface="Arial" pitchFamily="34" charset="0"/>
                  </a:rPr>
                  <a:t>trưc</a:t>
                </a:r>
                <a:r>
                  <a:rPr lang="en-US" sz="2000">
                    <a:latin typeface="Arial" pitchFamily="34" charset="0"/>
                    <a:cs typeface="Arial" pitchFamily="34" charset="0"/>
                  </a:rPr>
                  <a:t> </a:t>
                </a:r>
                <a:r>
                  <a:rPr lang="en-US" sz="2000" err="1">
                    <a:latin typeface="Arial" pitchFamily="34" charset="0"/>
                    <a:cs typeface="Arial" pitchFamily="34" charset="0"/>
                  </a:rPr>
                  <a:t>áp</a:t>
                </a:r>
                <a:r>
                  <a:rPr lang="en-US" sz="2000">
                    <a:latin typeface="Arial" pitchFamily="34" charset="0"/>
                    <a:cs typeface="Arial" pitchFamily="34" charset="0"/>
                  </a:rPr>
                  <a: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𝐾</m:t>
                        </m:r>
                      </m:e>
                      <m:sub>
                        <m:r>
                          <a:rPr lang="en-US" sz="2000" b="0" i="1" smtClean="0">
                            <a:latin typeface="Cambria Math" panose="02040503050406030204" pitchFamily="18" charset="0"/>
                            <a:cs typeface="Times New Roman" panose="02020603050405020304" pitchFamily="18" charset="0"/>
                          </a:rPr>
                          <m:t>𝑉</m:t>
                        </m:r>
                      </m:sub>
                    </m:sSub>
                    <m:r>
                      <a:rPr lang="en-US" sz="2000" b="0" i="1" smtClean="0">
                        <a:latin typeface="Cambria Math" panose="02040503050406030204" pitchFamily="18" charset="0"/>
                        <a:cs typeface="Times New Roman" panose="02020603050405020304" pitchFamily="18" charset="0"/>
                      </a:rPr>
                      <m:t>=1,5</m:t>
                    </m:r>
                  </m:oMath>
                </a14:m>
                <a:r>
                  <a:rPr lang="en-US" sz="2000">
                    <a:latin typeface="Arial" pitchFamily="34" charset="0"/>
                    <a:cs typeface="Arial" pitchFamily="34" charset="0"/>
                  </a:rPr>
                  <a:t> </a:t>
                </a:r>
                <a:r>
                  <a:rPr lang="en-US" sz="2000" err="1">
                    <a:latin typeface="Arial" pitchFamily="34" charset="0"/>
                    <a:cs typeface="Arial" pitchFamily="34" charset="0"/>
                  </a:rPr>
                  <a:t>thì</a:t>
                </a:r>
                <a:r>
                  <a:rPr lang="en-US" sz="2000">
                    <a:latin typeface="Arial" pitchFamily="34" charset="0"/>
                    <a:cs typeface="Arial" pitchFamily="34" charset="0"/>
                  </a:rPr>
                  <a:t> van </a:t>
                </a:r>
                <a:r>
                  <a:rPr lang="en-US" sz="2000" err="1">
                    <a:latin typeface="Arial" pitchFamily="34" charset="0"/>
                    <a:cs typeface="Arial" pitchFamily="34" charset="0"/>
                  </a:rPr>
                  <a:t>cần</a:t>
                </a:r>
                <a:r>
                  <a:rPr lang="en-US" sz="2000">
                    <a:latin typeface="Arial" pitchFamily="34" charset="0"/>
                    <a:cs typeface="Arial" pitchFamily="34" charset="0"/>
                  </a:rPr>
                  <a:t> </a:t>
                </a:r>
                <a:r>
                  <a:rPr lang="en-US" sz="2000" err="1">
                    <a:latin typeface="Arial" pitchFamily="34" charset="0"/>
                    <a:cs typeface="Arial" pitchFamily="34" charset="0"/>
                  </a:rPr>
                  <a:t>chọn</a:t>
                </a:r>
                <a:r>
                  <a:rPr lang="en-US" sz="2000">
                    <a:latin typeface="Arial" pitchFamily="34" charset="0"/>
                    <a:cs typeface="Arial" pitchFamily="34" charset="0"/>
                  </a:rPr>
                  <a:t> </a:t>
                </a:r>
                <a:r>
                  <a:rPr lang="en-US" sz="2000" err="1">
                    <a:latin typeface="Arial" pitchFamily="34" charset="0"/>
                    <a:cs typeface="Arial" pitchFamily="34" charset="0"/>
                  </a:rPr>
                  <a:t>cho</a:t>
                </a:r>
                <a:r>
                  <a:rPr lang="en-US" sz="2000">
                    <a:latin typeface="Arial" pitchFamily="34" charset="0"/>
                    <a:cs typeface="Arial" pitchFamily="34" charset="0"/>
                  </a:rPr>
                  <a:t> </a:t>
                </a:r>
                <a:r>
                  <a:rPr lang="en-US" sz="2000" err="1">
                    <a:latin typeface="Arial" pitchFamily="34" charset="0"/>
                    <a:cs typeface="Arial" pitchFamily="34" charset="0"/>
                  </a:rPr>
                  <a:t>phép</a:t>
                </a:r>
                <a:r>
                  <a:rPr lang="en-US" sz="2000">
                    <a:latin typeface="Arial" pitchFamily="34" charset="0"/>
                    <a:cs typeface="Arial" pitchFamily="34" charset="0"/>
                  </a:rPr>
                  <a:t> </a:t>
                </a:r>
                <a:r>
                  <a:rPr lang="en-US" sz="2000" err="1">
                    <a:latin typeface="Arial" pitchFamily="34" charset="0"/>
                    <a:cs typeface="Arial" pitchFamily="34" charset="0"/>
                  </a:rPr>
                  <a:t>điện</a:t>
                </a:r>
                <a:r>
                  <a:rPr lang="en-US" sz="2000">
                    <a:latin typeface="Arial" pitchFamily="34" charset="0"/>
                    <a:cs typeface="Arial" pitchFamily="34" charset="0"/>
                  </a:rPr>
                  <a:t> </a:t>
                </a:r>
                <a:r>
                  <a:rPr lang="en-US" sz="2000" err="1">
                    <a:latin typeface="Arial" pitchFamily="34" charset="0"/>
                    <a:cs typeface="Arial" pitchFamily="34" charset="0"/>
                  </a:rPr>
                  <a:t>áp</a:t>
                </a:r>
                <a:r>
                  <a:rPr lang="en-US" sz="2000">
                    <a:latin typeface="Arial" pitchFamily="34" charset="0"/>
                    <a:cs typeface="Arial" pitchFamily="34" charset="0"/>
                  </a:rPr>
                  <a:t> </a:t>
                </a:r>
                <a:r>
                  <a:rPr lang="en-US" sz="2000" err="1">
                    <a:latin typeface="Arial" pitchFamily="34" charset="0"/>
                    <a:cs typeface="Arial" pitchFamily="34" charset="0"/>
                  </a:rPr>
                  <a:t>đạt</a:t>
                </a:r>
                <a:r>
                  <a:rPr lang="en-US" sz="2000">
                    <a:latin typeface="Arial" pitchFamily="34" charset="0"/>
                    <a:cs typeface="Arial" pitchFamily="34" charset="0"/>
                  </a:rPr>
                  <a:t> </a:t>
                </a:r>
                <a:r>
                  <a:rPr lang="en-US" sz="2000" err="1">
                    <a:latin typeface="Arial" pitchFamily="34" charset="0"/>
                    <a:cs typeface="Arial" pitchFamily="34" charset="0"/>
                  </a:rPr>
                  <a:t>lên</a:t>
                </a:r>
                <a:r>
                  <a:rPr lang="en-US" sz="2000">
                    <a:latin typeface="Arial" pitchFamily="34" charset="0"/>
                    <a:cs typeface="Arial" pitchFamily="34" charset="0"/>
                  </a:rPr>
                  <a:t> </a:t>
                </a:r>
                <a:r>
                  <a:rPr lang="en-US" sz="2000" err="1">
                    <a:latin typeface="Arial" pitchFamily="34" charset="0"/>
                    <a:cs typeface="Arial" pitchFamily="34" charset="0"/>
                  </a:rPr>
                  <a:t>cực</a:t>
                </a:r>
                <a:r>
                  <a:rPr lang="en-US" sz="2000">
                    <a:latin typeface="Arial" pitchFamily="34" charset="0"/>
                    <a:cs typeface="Arial" pitchFamily="34" charset="0"/>
                  </a:rPr>
                  <a:t> DS </a:t>
                </a:r>
                <a:r>
                  <a:rPr lang="en-US" sz="2000" err="1">
                    <a:latin typeface="Arial" pitchFamily="34" charset="0"/>
                    <a:cs typeface="Arial" pitchFamily="34" charset="0"/>
                  </a:rPr>
                  <a:t>khi</a:t>
                </a:r>
                <a:r>
                  <a:rPr lang="en-US" sz="2000">
                    <a:latin typeface="Arial" pitchFamily="34" charset="0"/>
                    <a:cs typeface="Arial" pitchFamily="34" charset="0"/>
                  </a:rPr>
                  <a:t> </a:t>
                </a:r>
                <a:r>
                  <a:rPr lang="en-US" sz="2000" err="1">
                    <a:latin typeface="Arial" pitchFamily="34" charset="0"/>
                    <a:cs typeface="Arial" pitchFamily="34" charset="0"/>
                  </a:rPr>
                  <a:t>khóa</a:t>
                </a:r>
                <a:r>
                  <a:rPr lang="en-US" sz="2000">
                    <a:latin typeface="Arial" pitchFamily="34" charset="0"/>
                    <a:cs typeface="Arial" pitchFamily="34" charset="0"/>
                  </a:rPr>
                  <a:t>:</a:t>
                </a:r>
              </a:p>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cs typeface="Times New Roman" panose="02020603050405020304" pitchFamily="18" charset="0"/>
                            </a:rPr>
                          </m:ctrlPr>
                        </m:sSubSup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𝑉</m:t>
                          </m:r>
                        </m:sub>
                        <m:sup>
                          <m:r>
                            <a:rPr lang="en-US" sz="2000" b="0" i="1" smtClean="0">
                              <a:latin typeface="Cambria Math" panose="02040503050406030204" pitchFamily="18" charset="0"/>
                              <a:cs typeface="Times New Roman" panose="02020603050405020304" pitchFamily="18" charset="0"/>
                            </a:rPr>
                            <m:t>′</m:t>
                          </m:r>
                        </m:sup>
                      </m:sSubSup>
                      <m:r>
                        <a:rPr lang="en-US" sz="2000" b="0" i="1" smtClean="0">
                          <a:latin typeface="Cambria Math" panose="02040503050406030204" pitchFamily="18" charset="0"/>
                          <a:cs typeface="Times New Roman" panose="02020603050405020304" pitchFamily="18" charset="0"/>
                        </a:rPr>
                        <m:t>=1,5</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𝑈</m:t>
                          </m:r>
                        </m:e>
                        <m:sub>
                          <m:r>
                            <a:rPr lang="en-US" sz="2000" b="0" i="1" smtClean="0">
                              <a:latin typeface="Cambria Math" panose="02040503050406030204" pitchFamily="18" charset="0"/>
                              <a:cs typeface="Times New Roman" panose="02020603050405020304" pitchFamily="18" charset="0"/>
                            </a:rPr>
                            <m:t>𝑉</m:t>
                          </m:r>
                        </m:sub>
                      </m:sSub>
                      <m:r>
                        <a:rPr lang="en-US" sz="2000" b="0" i="1" smtClean="0">
                          <a:latin typeface="Cambria Math" panose="02040503050406030204" pitchFamily="18" charset="0"/>
                          <a:cs typeface="Times New Roman" panose="02020603050405020304" pitchFamily="18" charset="0"/>
                        </a:rPr>
                        <m:t>=1,5.400=600 (</m:t>
                      </m:r>
                      <m:r>
                        <a:rPr lang="en-US" sz="2000" b="0" i="1" smtClean="0">
                          <a:latin typeface="Cambria Math" panose="02040503050406030204" pitchFamily="18" charset="0"/>
                          <a:cs typeface="Times New Roman" panose="02020603050405020304" pitchFamily="18" charset="0"/>
                        </a:rPr>
                        <m:t>𝑉</m:t>
                      </m:r>
                      <m:r>
                        <a:rPr lang="en-US" sz="2000" b="0" i="1" smtClean="0">
                          <a:latin typeface="Cambria Math" panose="02040503050406030204" pitchFamily="18" charset="0"/>
                          <a:cs typeface="Times New Roman" panose="02020603050405020304" pitchFamily="18" charset="0"/>
                        </a:rPr>
                        <m:t>)</m:t>
                      </m:r>
                    </m:oMath>
                  </m:oMathPara>
                </a14:m>
                <a:endParaRPr lang="en-US" sz="2000">
                  <a:latin typeface="Arial" pitchFamily="34" charset="0"/>
                  <a:cs typeface="Arial" pitchFamily="34" charset="0"/>
                </a:endParaRPr>
              </a:p>
            </p:txBody>
          </p:sp>
        </mc:Choice>
        <mc:Fallback xmlns="">
          <p:sp>
            <p:nvSpPr>
              <p:cNvPr id="2" name="TextBox 3">
                <a:extLst>
                  <a:ext uri="{FF2B5EF4-FFF2-40B4-BE49-F238E27FC236}">
                    <a16:creationId xmlns:a16="http://schemas.microsoft.com/office/drawing/2014/main" id="{CE4AD3AD-BF35-9F02-05D0-8987B57A9585}"/>
                  </a:ext>
                </a:extLst>
              </p:cNvPr>
              <p:cNvSpPr txBox="1">
                <a:spLocks noRot="1" noChangeAspect="1" noMove="1" noResize="1" noEditPoints="1" noAdjustHandles="1" noChangeArrowheads="1" noChangeShapeType="1" noTextEdit="1"/>
              </p:cNvSpPr>
              <p:nvPr/>
            </p:nvSpPr>
            <p:spPr>
              <a:xfrm>
                <a:off x="550800" y="1981200"/>
                <a:ext cx="8229600" cy="4093428"/>
              </a:xfrm>
              <a:prstGeom prst="rect">
                <a:avLst/>
              </a:prstGeom>
              <a:blipFill>
                <a:blip r:embed="rId2"/>
                <a:stretch>
                  <a:fillRect l="-741" b="-745"/>
                </a:stretch>
              </a:blipFill>
            </p:spPr>
            <p:txBody>
              <a:bodyPr/>
              <a:lstStyle/>
              <a:p>
                <a:r>
                  <a:rPr lang="en-US">
                    <a:noFill/>
                  </a:rPr>
                  <a:t> </a:t>
                </a:r>
              </a:p>
            </p:txBody>
          </p:sp>
        </mc:Fallback>
      </mc:AlternateContent>
      <p:sp>
        <p:nvSpPr>
          <p:cNvPr id="3" name="object 3">
            <a:extLst>
              <a:ext uri="{FF2B5EF4-FFF2-40B4-BE49-F238E27FC236}">
                <a16:creationId xmlns:a16="http://schemas.microsoft.com/office/drawing/2014/main" id="{E9399717-5916-B355-EACD-E54ECECF0686}"/>
              </a:ext>
            </a:extLst>
          </p:cNvPr>
          <p:cNvSpPr txBox="1"/>
          <p:nvPr/>
        </p:nvSpPr>
        <p:spPr>
          <a:xfrm>
            <a:off x="550800" y="990600"/>
            <a:ext cx="7450200" cy="536044"/>
          </a:xfrm>
          <a:prstGeom prst="rect">
            <a:avLst/>
          </a:prstGeom>
        </p:spPr>
        <p:txBody>
          <a:bodyPr vert="horz" wrap="square" lIns="0" tIns="165100" rIns="0" bIns="0" rtlCol="0">
            <a:spAutoFit/>
          </a:bodyPr>
          <a:lstStyle/>
          <a:p>
            <a:pPr marL="12700">
              <a:lnSpc>
                <a:spcPct val="100000"/>
              </a:lnSpc>
              <a:spcBef>
                <a:spcPts val="1300"/>
              </a:spcBef>
              <a:buClr>
                <a:srgbClr val="595958"/>
              </a:buClr>
              <a:buSzPct val="79166"/>
              <a:tabLst>
                <a:tab pos="241300" algn="l"/>
              </a:tabLst>
            </a:pPr>
            <a:r>
              <a:rPr sz="2400" b="1" spc="-5">
                <a:latin typeface="Arial" pitchFamily="34" charset="0"/>
                <a:cs typeface="Arial" pitchFamily="34" charset="0"/>
              </a:rPr>
              <a:t>Tính </a:t>
            </a:r>
            <a:r>
              <a:rPr sz="2400" b="1">
                <a:latin typeface="Arial" pitchFamily="34" charset="0"/>
                <a:cs typeface="Arial" pitchFamily="34" charset="0"/>
              </a:rPr>
              <a:t>toán các</a:t>
            </a:r>
            <a:r>
              <a:rPr sz="2400" b="1" spc="-15">
                <a:latin typeface="Arial" pitchFamily="34" charset="0"/>
                <a:cs typeface="Arial" pitchFamily="34" charset="0"/>
              </a:rPr>
              <a:t> </a:t>
            </a:r>
            <a:r>
              <a:rPr sz="2400" b="1" spc="-5">
                <a:latin typeface="Arial" pitchFamily="34" charset="0"/>
                <a:cs typeface="Arial" pitchFamily="34" charset="0"/>
              </a:rPr>
              <a:t>phần</a:t>
            </a:r>
            <a:r>
              <a:rPr sz="2400" b="1">
                <a:latin typeface="Arial" pitchFamily="34" charset="0"/>
                <a:cs typeface="Arial" pitchFamily="34" charset="0"/>
              </a:rPr>
              <a:t> tử</a:t>
            </a:r>
            <a:r>
              <a:rPr sz="2400" b="1" spc="-10">
                <a:latin typeface="Arial" pitchFamily="34" charset="0"/>
                <a:cs typeface="Arial" pitchFamily="34" charset="0"/>
              </a:rPr>
              <a:t> </a:t>
            </a:r>
            <a:r>
              <a:rPr lang="en-US" sz="2400" b="1" spc="-5">
                <a:latin typeface="Arial" pitchFamily="34" charset="0"/>
                <a:cs typeface="Arial" pitchFamily="34" charset="0"/>
              </a:rPr>
              <a:t>chủ</a:t>
            </a:r>
            <a:r>
              <a:rPr sz="2400" b="1" spc="-10">
                <a:latin typeface="Arial" pitchFamily="34" charset="0"/>
                <a:cs typeface="Arial" pitchFamily="34" charset="0"/>
              </a:rPr>
              <a:t> </a:t>
            </a:r>
            <a:r>
              <a:rPr sz="2400" b="1" spc="-5">
                <a:latin typeface="Arial" pitchFamily="34" charset="0"/>
                <a:cs typeface="Arial" pitchFamily="34" charset="0"/>
              </a:rPr>
              <a:t>động</a:t>
            </a:r>
            <a:r>
              <a:rPr sz="2400" b="1" spc="5">
                <a:latin typeface="Arial" pitchFamily="34" charset="0"/>
                <a:cs typeface="Arial" pitchFamily="34" charset="0"/>
              </a:rPr>
              <a:t> </a:t>
            </a:r>
            <a:r>
              <a:rPr sz="2400" b="1" spc="-5">
                <a:latin typeface="Arial" pitchFamily="34" charset="0"/>
                <a:cs typeface="Arial" pitchFamily="34" charset="0"/>
              </a:rPr>
              <a:t>trong </a:t>
            </a:r>
            <a:r>
              <a:rPr sz="2400" b="1" err="1">
                <a:latin typeface="Arial" pitchFamily="34" charset="0"/>
                <a:cs typeface="Arial" pitchFamily="34" charset="0"/>
              </a:rPr>
              <a:t>mạch</a:t>
            </a:r>
            <a:r>
              <a:rPr sz="2400" b="1" spc="-20">
                <a:latin typeface="Arial" pitchFamily="34" charset="0"/>
                <a:cs typeface="Arial" pitchFamily="34" charset="0"/>
              </a:rPr>
              <a:t> </a:t>
            </a:r>
            <a:r>
              <a:rPr sz="2400" b="1" spc="-5" err="1">
                <a:latin typeface="Arial" pitchFamily="34" charset="0"/>
                <a:cs typeface="Arial" pitchFamily="34" charset="0"/>
              </a:rPr>
              <a:t>lực</a:t>
            </a:r>
            <a:endParaRPr sz="2400" b="1">
              <a:latin typeface="Arial" pitchFamily="34" charset="0"/>
              <a:cs typeface="Arial" pitchFamily="34" charset="0"/>
            </a:endParaRPr>
          </a:p>
        </p:txBody>
      </p:sp>
      <p:sp>
        <p:nvSpPr>
          <p:cNvPr id="4" name="Rectangle 2">
            <a:extLst>
              <a:ext uri="{FF2B5EF4-FFF2-40B4-BE49-F238E27FC236}">
                <a16:creationId xmlns:a16="http://schemas.microsoft.com/office/drawing/2014/main" id="{6C5B7108-DF3F-FC6E-FCBE-14FE80DCDA14}"/>
              </a:ext>
            </a:extLst>
          </p:cNvPr>
          <p:cNvSpPr/>
          <p:nvPr/>
        </p:nvSpPr>
        <p:spPr>
          <a:xfrm>
            <a:off x="685800" y="1534002"/>
            <a:ext cx="2550698" cy="400110"/>
          </a:xfrm>
          <a:prstGeom prst="rect">
            <a:avLst/>
          </a:prstGeom>
        </p:spPr>
        <p:txBody>
          <a:bodyPr wrap="none">
            <a:spAutoFit/>
          </a:bodyPr>
          <a:lstStyle/>
          <a:p>
            <a:r>
              <a:rPr lang="en-US" sz="2000" b="1" err="1">
                <a:latin typeface="Arial" pitchFamily="34" charset="0"/>
                <a:cs typeface="Arial" pitchFamily="34" charset="0"/>
              </a:rPr>
              <a:t>Tính</a:t>
            </a:r>
            <a:r>
              <a:rPr lang="en-US" sz="2000" b="1">
                <a:latin typeface="Arial" pitchFamily="34" charset="0"/>
                <a:cs typeface="Arial" pitchFamily="34" charset="0"/>
              </a:rPr>
              <a:t> </a:t>
            </a:r>
            <a:r>
              <a:rPr lang="en-US" sz="2000" b="1" err="1">
                <a:latin typeface="Arial" pitchFamily="34" charset="0"/>
                <a:cs typeface="Arial" pitchFamily="34" charset="0"/>
              </a:rPr>
              <a:t>chọn</a:t>
            </a:r>
            <a:r>
              <a:rPr lang="en-US" sz="2000" b="1">
                <a:latin typeface="Arial" pitchFamily="34" charset="0"/>
                <a:cs typeface="Arial" pitchFamily="34" charset="0"/>
              </a:rPr>
              <a:t> MOSFET</a:t>
            </a:r>
          </a:p>
        </p:txBody>
      </p:sp>
    </p:spTree>
    <p:extLst>
      <p:ext uri="{BB962C8B-B14F-4D97-AF65-F5344CB8AC3E}">
        <p14:creationId xmlns:p14="http://schemas.microsoft.com/office/powerpoint/2010/main" val="1901069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B930A2-E589-45A0-13D2-8EF3F80237E9}"/>
              </a:ext>
            </a:extLst>
          </p:cNvPr>
          <p:cNvSpPr>
            <a:spLocks noGrp="1"/>
          </p:cNvSpPr>
          <p:nvPr>
            <p:ph type="sldNum" sz="quarter" idx="12"/>
          </p:nvPr>
        </p:nvSpPr>
        <p:spPr/>
        <p:txBody>
          <a:bodyPr/>
          <a:lstStyle/>
          <a:p>
            <a:fld id="{9EA0BE3B-158A-4EDF-80DC-E394A0D1600F}" type="slidenum">
              <a:rPr lang="en-US" smtClean="0">
                <a:latin typeface="Linh AvantGarde" panose="02000603030000020004"/>
              </a:rPr>
              <a:pPr/>
              <a:t>12</a:t>
            </a:fld>
            <a:endParaRPr lang="en-US">
              <a:latin typeface="Linh AvantGarde" panose="02000603030000020004"/>
            </a:endParaRPr>
          </a:p>
        </p:txBody>
      </p:sp>
      <p:sp>
        <p:nvSpPr>
          <p:cNvPr id="3" name="Title 2">
            <a:extLst>
              <a:ext uri="{FF2B5EF4-FFF2-40B4-BE49-F238E27FC236}">
                <a16:creationId xmlns:a16="http://schemas.microsoft.com/office/drawing/2014/main" id="{3F16ED0F-2109-3002-3E73-E6ADA874A612}"/>
              </a:ext>
            </a:extLst>
          </p:cNvPr>
          <p:cNvSpPr>
            <a:spLocks noGrp="1"/>
          </p:cNvSpPr>
          <p:nvPr>
            <p:ph type="title"/>
          </p:nvPr>
        </p:nvSpPr>
        <p:spPr/>
        <p:txBody>
          <a:bodyPr>
            <a:normAutofit fontScale="90000"/>
          </a:bodyPr>
          <a:lstStyle/>
          <a:p>
            <a:r>
              <a:rPr lang="en-US"/>
              <a:t>Module PFC</a:t>
            </a:r>
          </a:p>
        </p:txBody>
      </p:sp>
      <p:sp>
        <p:nvSpPr>
          <p:cNvPr id="4" name="Content Placeholder 3">
            <a:extLst>
              <a:ext uri="{FF2B5EF4-FFF2-40B4-BE49-F238E27FC236}">
                <a16:creationId xmlns:a16="http://schemas.microsoft.com/office/drawing/2014/main" id="{5B74FBF4-B569-59EE-80CB-5E89AFAA8B3B}"/>
              </a:ext>
            </a:extLst>
          </p:cNvPr>
          <p:cNvSpPr>
            <a:spLocks noGrp="1"/>
          </p:cNvSpPr>
          <p:nvPr>
            <p:ph sz="quarter" idx="13"/>
          </p:nvPr>
        </p:nvSpPr>
        <p:spPr>
          <a:xfrm>
            <a:off x="385183" y="1438223"/>
            <a:ext cx="11514528" cy="4909124"/>
          </a:xfrm>
        </p:spPr>
        <p:txBody>
          <a:bodyPr/>
          <a:lstStyle/>
          <a:p>
            <a:r>
              <a:rPr lang="en-US" sz="2000">
                <a:latin typeface="+mn-lt"/>
                <a:cs typeface="Arial" panose="020B0604020202020204" pitchFamily="34" charset="0"/>
              </a:rPr>
              <a:t>Ta có thể thay thế mạch PFC bằng module IC TIDA-00707  của TI</a:t>
            </a:r>
          </a:p>
          <a:p>
            <a:r>
              <a:rPr lang="en-US" sz="2000">
                <a:latin typeface="+mn-lt"/>
                <a:cs typeface="Arial" panose="020B0604020202020204" pitchFamily="34" charset="0"/>
              </a:rPr>
              <a:t>Thông số của TIDA-00707</a:t>
            </a:r>
          </a:p>
          <a:p>
            <a:r>
              <a:rPr lang="en-US" sz="2000">
                <a:latin typeface="+mn-lt"/>
                <a:cs typeface="Arial" panose="020B0604020202020204" pitchFamily="34" charset="0"/>
              </a:rPr>
              <a:t>Điện áp đầu vào: (VinAC) :195V-270V</a:t>
            </a:r>
          </a:p>
          <a:p>
            <a:r>
              <a:rPr lang="en-US" sz="2000">
                <a:latin typeface="+mn-lt"/>
                <a:cs typeface="Arial" panose="020B0604020202020204" pitchFamily="34" charset="0"/>
              </a:rPr>
              <a:t>Điện áp đầu ra:400V</a:t>
            </a:r>
          </a:p>
          <a:p>
            <a:r>
              <a:rPr lang="en-US" sz="2000">
                <a:latin typeface="+mn-lt"/>
                <a:cs typeface="Arial" panose="020B0604020202020204" pitchFamily="34" charset="0"/>
              </a:rPr>
              <a:t>Dòng điện đầu ra: 2.56A</a:t>
            </a:r>
          </a:p>
          <a:p>
            <a:r>
              <a:rPr lang="en-US" sz="2000">
                <a:latin typeface="+mn-lt"/>
                <a:cs typeface="Arial" panose="020B0604020202020204" pitchFamily="34" charset="0"/>
              </a:rPr>
              <a:t>Công suất bộ biến đổi (Po): 1000W</a:t>
            </a:r>
          </a:p>
          <a:p>
            <a:r>
              <a:rPr lang="en-US" sz="2000">
                <a:latin typeface="+mn-lt"/>
                <a:cs typeface="Arial" panose="020B0604020202020204" pitchFamily="34" charset="0"/>
              </a:rPr>
              <a:t>Tần số điện áp đầu vào: 47-63 Hz</a:t>
            </a:r>
          </a:p>
          <a:p>
            <a:r>
              <a:rPr lang="en-US" sz="2000">
                <a:latin typeface="+mn-lt"/>
                <a:cs typeface="Arial" panose="020B0604020202020204" pitchFamily="34" charset="0"/>
              </a:rPr>
              <a:t>PF:0,99</a:t>
            </a:r>
          </a:p>
          <a:p>
            <a:pPr marL="0" indent="0">
              <a:buNone/>
            </a:pPr>
            <a:r>
              <a:rPr lang="en-US" sz="2000" i="1">
                <a:solidFill>
                  <a:srgbClr val="FF0000"/>
                </a:solidFill>
              </a:rPr>
              <a:t>https://www.ti.com/lit/ug/tidubk8b/tidubk8b.pdf</a:t>
            </a:r>
            <a:endParaRPr lang="en-US" sz="2000"/>
          </a:p>
        </p:txBody>
      </p:sp>
      <p:pic>
        <p:nvPicPr>
          <p:cNvPr id="5" name="Picture 4">
            <a:extLst>
              <a:ext uri="{FF2B5EF4-FFF2-40B4-BE49-F238E27FC236}">
                <a16:creationId xmlns:a16="http://schemas.microsoft.com/office/drawing/2014/main" id="{DB5A9C90-FFBC-06BF-8ECD-DC3AFAC786EE}"/>
              </a:ext>
            </a:extLst>
          </p:cNvPr>
          <p:cNvPicPr>
            <a:picLocks noChangeAspect="1"/>
          </p:cNvPicPr>
          <p:nvPr/>
        </p:nvPicPr>
        <p:blipFill>
          <a:blip r:embed="rId2"/>
          <a:stretch>
            <a:fillRect/>
          </a:stretch>
        </p:blipFill>
        <p:spPr>
          <a:xfrm>
            <a:off x="6603499" y="1859493"/>
            <a:ext cx="5465148" cy="3307826"/>
          </a:xfrm>
          <a:prstGeom prst="rect">
            <a:avLst/>
          </a:prstGeom>
        </p:spPr>
      </p:pic>
    </p:spTree>
    <p:extLst>
      <p:ext uri="{BB962C8B-B14F-4D97-AF65-F5344CB8AC3E}">
        <p14:creationId xmlns:p14="http://schemas.microsoft.com/office/powerpoint/2010/main" val="354686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47E38-C1B7-8E67-46F6-F646963952ED}"/>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0741E495-5BC7-87B8-C6E8-BEF6F61B95CD}"/>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13</a:t>
            </a:fld>
            <a:endParaRPr lang="en-US" sz="3600">
              <a:latin typeface="Times New Roman" panose="02020603050405020304" pitchFamily="18" charset="0"/>
              <a:cs typeface="Times New Roman" panose="02020603050405020304" pitchFamily="18" charset="0"/>
            </a:endParaRPr>
          </a:p>
        </p:txBody>
      </p:sp>
      <p:sp>
        <p:nvSpPr>
          <p:cNvPr id="2" name="TextBox 18">
            <a:extLst>
              <a:ext uri="{FF2B5EF4-FFF2-40B4-BE49-F238E27FC236}">
                <a16:creationId xmlns:a16="http://schemas.microsoft.com/office/drawing/2014/main" id="{53CAE9DD-3C95-1C67-600D-AF8B929F5857}"/>
              </a:ext>
            </a:extLst>
          </p:cNvPr>
          <p:cNvSpPr txBox="1"/>
          <p:nvPr/>
        </p:nvSpPr>
        <p:spPr>
          <a:xfrm>
            <a:off x="113162" y="931758"/>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Cấu trúc điều khiển bộ PFC</a:t>
            </a:r>
          </a:p>
        </p:txBody>
      </p:sp>
      <p:pic>
        <p:nvPicPr>
          <p:cNvPr id="6" name="Picture 11" descr="Diagram, schematic&#10;&#10;Description automatically generated">
            <a:extLst>
              <a:ext uri="{FF2B5EF4-FFF2-40B4-BE49-F238E27FC236}">
                <a16:creationId xmlns:a16="http://schemas.microsoft.com/office/drawing/2014/main" id="{2316B7C3-C6B7-5768-7DC5-CB848DB63EA7}"/>
              </a:ext>
            </a:extLst>
          </p:cNvPr>
          <p:cNvPicPr>
            <a:picLocks noChangeAspect="1"/>
          </p:cNvPicPr>
          <p:nvPr/>
        </p:nvPicPr>
        <p:blipFill rotWithShape="1">
          <a:blip r:embed="rId2">
            <a:extLst>
              <a:ext uri="{28A0092B-C50C-407E-A947-70E740481C1C}">
                <a14:useLocalDpi xmlns:a14="http://schemas.microsoft.com/office/drawing/2010/main" val="0"/>
              </a:ext>
            </a:extLst>
          </a:blip>
          <a:srcRect l="18589" t="27728" r="22624" b="20793"/>
          <a:stretch/>
        </p:blipFill>
        <p:spPr>
          <a:xfrm>
            <a:off x="6723075" y="888401"/>
            <a:ext cx="4039226" cy="2083165"/>
          </a:xfrm>
          <a:prstGeom prst="rect">
            <a:avLst/>
          </a:prstGeom>
        </p:spPr>
      </p:pic>
      <p:sp>
        <p:nvSpPr>
          <p:cNvPr id="8" name="Title 1">
            <a:extLst>
              <a:ext uri="{FF2B5EF4-FFF2-40B4-BE49-F238E27FC236}">
                <a16:creationId xmlns:a16="http://schemas.microsoft.com/office/drawing/2014/main" id="{B71746CD-0EF4-B0B9-0613-BDC2B03A6E75}"/>
              </a:ext>
            </a:extLst>
          </p:cNvPr>
          <p:cNvSpPr>
            <a:spLocks noGrp="1"/>
          </p:cNvSpPr>
          <p:nvPr>
            <p:ph type="title"/>
          </p:nvPr>
        </p:nvSpPr>
        <p:spPr>
          <a:xfrm>
            <a:off x="338138" y="112713"/>
            <a:ext cx="11515725" cy="436562"/>
          </a:xfrm>
        </p:spPr>
        <p:txBody>
          <a:bodyPr>
            <a:normAutofit fontScale="90000"/>
          </a:bodyPr>
          <a:lstStyle/>
          <a:p>
            <a:r>
              <a:rPr lang="en-US"/>
              <a:t>2. Thiết kế cấu trúc điều khiển</a:t>
            </a:r>
          </a:p>
        </p:txBody>
      </p:sp>
      <p:pic>
        <p:nvPicPr>
          <p:cNvPr id="7" name="Hình ảnh 6" descr="Ảnh có chứa văn bản, biểu đồ, hàng, Phông chữ&#10;&#10;Nội dung do AI tạo ra có thể không chính xác.">
            <a:extLst>
              <a:ext uri="{FF2B5EF4-FFF2-40B4-BE49-F238E27FC236}">
                <a16:creationId xmlns:a16="http://schemas.microsoft.com/office/drawing/2014/main" id="{BE53F4C0-5FDD-AB27-079D-73B6043440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2050" y="3000543"/>
            <a:ext cx="9867900" cy="2952750"/>
          </a:xfrm>
          <a:prstGeom prst="rect">
            <a:avLst/>
          </a:prstGeom>
        </p:spPr>
      </p:pic>
      <p:cxnSp>
        <p:nvCxnSpPr>
          <p:cNvPr id="12" name="Đường kết nối: Mũi tên Gấp khúc 11">
            <a:extLst>
              <a:ext uri="{FF2B5EF4-FFF2-40B4-BE49-F238E27FC236}">
                <a16:creationId xmlns:a16="http://schemas.microsoft.com/office/drawing/2014/main" id="{D779C81C-792E-9BED-2950-C5127BBD20DA}"/>
              </a:ext>
            </a:extLst>
          </p:cNvPr>
          <p:cNvCxnSpPr>
            <a:cxnSpLocks/>
          </p:cNvCxnSpPr>
          <p:nvPr/>
        </p:nvCxnSpPr>
        <p:spPr>
          <a:xfrm rot="5400000" flipH="1" flipV="1">
            <a:off x="7529208" y="2552859"/>
            <a:ext cx="1877438" cy="924128"/>
          </a:xfrm>
          <a:prstGeom prst="bentConnector3">
            <a:avLst>
              <a:gd name="adj1" fmla="val -1295"/>
            </a:avLst>
          </a:prstGeom>
          <a:ln>
            <a:tailEnd type="triangle"/>
          </a:ln>
        </p:spPr>
        <p:style>
          <a:lnRef idx="2">
            <a:schemeClr val="dk1"/>
          </a:lnRef>
          <a:fillRef idx="0">
            <a:schemeClr val="dk1"/>
          </a:fillRef>
          <a:effectRef idx="1">
            <a:schemeClr val="dk1"/>
          </a:effectRef>
          <a:fontRef idx="minor">
            <a:schemeClr val="tx1"/>
          </a:fontRef>
        </p:style>
      </p:cxnSp>
      <p:cxnSp>
        <p:nvCxnSpPr>
          <p:cNvPr id="21" name="Đường kết nối: Mũi tên Gấp khúc 20">
            <a:extLst>
              <a:ext uri="{FF2B5EF4-FFF2-40B4-BE49-F238E27FC236}">
                <a16:creationId xmlns:a16="http://schemas.microsoft.com/office/drawing/2014/main" id="{61B71F2C-A185-5917-CD30-87130F4F81D1}"/>
              </a:ext>
            </a:extLst>
          </p:cNvPr>
          <p:cNvCxnSpPr>
            <a:cxnSpLocks/>
          </p:cNvCxnSpPr>
          <p:nvPr/>
        </p:nvCxnSpPr>
        <p:spPr>
          <a:xfrm rot="16200000" flipH="1">
            <a:off x="7962943" y="1669147"/>
            <a:ext cx="2381570" cy="1478609"/>
          </a:xfrm>
          <a:prstGeom prst="bentConnector3">
            <a:avLst>
              <a:gd name="adj1" fmla="val 96155"/>
            </a:avLst>
          </a:prstGeom>
          <a:ln>
            <a:tailEnd type="triangle"/>
          </a:ln>
        </p:spPr>
        <p:style>
          <a:lnRef idx="2">
            <a:schemeClr val="dk1"/>
          </a:lnRef>
          <a:fillRef idx="0">
            <a:schemeClr val="dk1"/>
          </a:fillRef>
          <a:effectRef idx="1">
            <a:schemeClr val="dk1"/>
          </a:effectRef>
          <a:fontRef idx="minor">
            <a:schemeClr val="tx1"/>
          </a:fontRef>
        </p:style>
      </p:cxnSp>
      <p:cxnSp>
        <p:nvCxnSpPr>
          <p:cNvPr id="31" name="Đường nối Thẳng 30">
            <a:extLst>
              <a:ext uri="{FF2B5EF4-FFF2-40B4-BE49-F238E27FC236}">
                <a16:creationId xmlns:a16="http://schemas.microsoft.com/office/drawing/2014/main" id="{CAD15CB8-4D42-5AE7-F2BC-1ACE738FA35F}"/>
              </a:ext>
            </a:extLst>
          </p:cNvPr>
          <p:cNvCxnSpPr/>
          <p:nvPr/>
        </p:nvCxnSpPr>
        <p:spPr>
          <a:xfrm>
            <a:off x="9980579" y="1848255"/>
            <a:ext cx="126459" cy="227949"/>
          </a:xfrm>
          <a:prstGeom prst="line">
            <a:avLst/>
          </a:prstGeom>
        </p:spPr>
        <p:style>
          <a:lnRef idx="2">
            <a:schemeClr val="dk1"/>
          </a:lnRef>
          <a:fillRef idx="0">
            <a:schemeClr val="dk1"/>
          </a:fillRef>
          <a:effectRef idx="1">
            <a:schemeClr val="dk1"/>
          </a:effectRef>
          <a:fontRef idx="minor">
            <a:schemeClr val="tx1"/>
          </a:fontRef>
        </p:style>
      </p:cxnSp>
      <p:cxnSp>
        <p:nvCxnSpPr>
          <p:cNvPr id="32" name="Đường nối Thẳng 31">
            <a:extLst>
              <a:ext uri="{FF2B5EF4-FFF2-40B4-BE49-F238E27FC236}">
                <a16:creationId xmlns:a16="http://schemas.microsoft.com/office/drawing/2014/main" id="{F6CD0CCD-076A-2FB2-4F5A-C184566DC58C}"/>
              </a:ext>
            </a:extLst>
          </p:cNvPr>
          <p:cNvCxnSpPr>
            <a:cxnSpLocks/>
          </p:cNvCxnSpPr>
          <p:nvPr/>
        </p:nvCxnSpPr>
        <p:spPr>
          <a:xfrm flipH="1">
            <a:off x="9980579" y="2076204"/>
            <a:ext cx="126459" cy="158052"/>
          </a:xfrm>
          <a:prstGeom prst="line">
            <a:avLst/>
          </a:prstGeom>
        </p:spPr>
        <p:style>
          <a:lnRef idx="2">
            <a:schemeClr val="dk1"/>
          </a:lnRef>
          <a:fillRef idx="0">
            <a:schemeClr val="dk1"/>
          </a:fillRef>
          <a:effectRef idx="1">
            <a:schemeClr val="dk1"/>
          </a:effectRef>
          <a:fontRef idx="minor">
            <a:schemeClr val="tx1"/>
          </a:fontRef>
        </p:style>
      </p:cxnSp>
      <p:cxnSp>
        <p:nvCxnSpPr>
          <p:cNvPr id="36" name="Đường nối Thẳng 35">
            <a:extLst>
              <a:ext uri="{FF2B5EF4-FFF2-40B4-BE49-F238E27FC236}">
                <a16:creationId xmlns:a16="http://schemas.microsoft.com/office/drawing/2014/main" id="{96085A73-B6D2-1B93-D74E-7546BC1F5393}"/>
              </a:ext>
            </a:extLst>
          </p:cNvPr>
          <p:cNvCxnSpPr>
            <a:cxnSpLocks/>
          </p:cNvCxnSpPr>
          <p:nvPr/>
        </p:nvCxnSpPr>
        <p:spPr>
          <a:xfrm>
            <a:off x="9990310" y="2408451"/>
            <a:ext cx="0" cy="2084773"/>
          </a:xfrm>
          <a:prstGeom prst="line">
            <a:avLst/>
          </a:prstGeom>
        </p:spPr>
        <p:style>
          <a:lnRef idx="2">
            <a:schemeClr val="dk1"/>
          </a:lnRef>
          <a:fillRef idx="0">
            <a:schemeClr val="dk1"/>
          </a:fillRef>
          <a:effectRef idx="1">
            <a:schemeClr val="dk1"/>
          </a:effectRef>
          <a:fontRef idx="minor">
            <a:schemeClr val="tx1"/>
          </a:fontRef>
        </p:style>
      </p:cxnSp>
      <p:cxnSp>
        <p:nvCxnSpPr>
          <p:cNvPr id="42" name="Đường nối Thẳng 41">
            <a:extLst>
              <a:ext uri="{FF2B5EF4-FFF2-40B4-BE49-F238E27FC236}">
                <a16:creationId xmlns:a16="http://schemas.microsoft.com/office/drawing/2014/main" id="{2C63B0C5-F464-6D1F-BB17-9B7BD24303A2}"/>
              </a:ext>
            </a:extLst>
          </p:cNvPr>
          <p:cNvCxnSpPr/>
          <p:nvPr/>
        </p:nvCxnSpPr>
        <p:spPr>
          <a:xfrm>
            <a:off x="10107038" y="2076204"/>
            <a:ext cx="0" cy="332247"/>
          </a:xfrm>
          <a:prstGeom prst="line">
            <a:avLst/>
          </a:prstGeom>
        </p:spPr>
        <p:style>
          <a:lnRef idx="2">
            <a:schemeClr val="dk1"/>
          </a:lnRef>
          <a:fillRef idx="0">
            <a:schemeClr val="dk1"/>
          </a:fillRef>
          <a:effectRef idx="1">
            <a:schemeClr val="dk1"/>
          </a:effectRef>
          <a:fontRef idx="minor">
            <a:schemeClr val="tx1"/>
          </a:fontRef>
        </p:style>
      </p:cxnSp>
      <p:cxnSp>
        <p:nvCxnSpPr>
          <p:cNvPr id="44" name="Đường nối Thẳng 43">
            <a:extLst>
              <a:ext uri="{FF2B5EF4-FFF2-40B4-BE49-F238E27FC236}">
                <a16:creationId xmlns:a16="http://schemas.microsoft.com/office/drawing/2014/main" id="{A7999A09-0524-A9F2-1234-E1D6A1BFD8A5}"/>
              </a:ext>
            </a:extLst>
          </p:cNvPr>
          <p:cNvCxnSpPr>
            <a:cxnSpLocks/>
          </p:cNvCxnSpPr>
          <p:nvPr/>
        </p:nvCxnSpPr>
        <p:spPr>
          <a:xfrm>
            <a:off x="9980579" y="2408451"/>
            <a:ext cx="126459" cy="0"/>
          </a:xfrm>
          <a:prstGeom prst="line">
            <a:avLst/>
          </a:prstGeom>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BD8ABBCF-708C-D578-F65D-64C4C7A221EF}"/>
              </a:ext>
            </a:extLst>
          </p:cNvPr>
          <p:cNvPicPr>
            <a:picLocks noChangeAspect="1"/>
          </p:cNvPicPr>
          <p:nvPr/>
        </p:nvPicPr>
        <p:blipFill>
          <a:blip r:embed="rId4"/>
          <a:stretch>
            <a:fillRect/>
          </a:stretch>
        </p:blipFill>
        <p:spPr>
          <a:xfrm>
            <a:off x="6556793" y="1546697"/>
            <a:ext cx="924128" cy="982493"/>
          </a:xfrm>
          <a:prstGeom prst="rect">
            <a:avLst/>
          </a:prstGeom>
        </p:spPr>
      </p:pic>
      <p:pic>
        <p:nvPicPr>
          <p:cNvPr id="15" name="Picture 14">
            <a:extLst>
              <a:ext uri="{FF2B5EF4-FFF2-40B4-BE49-F238E27FC236}">
                <a16:creationId xmlns:a16="http://schemas.microsoft.com/office/drawing/2014/main" id="{63F26DAF-250B-D235-24D0-164018640233}"/>
              </a:ext>
            </a:extLst>
          </p:cNvPr>
          <p:cNvPicPr>
            <a:picLocks noChangeAspect="1"/>
          </p:cNvPicPr>
          <p:nvPr/>
        </p:nvPicPr>
        <p:blipFill>
          <a:blip r:embed="rId5"/>
          <a:stretch>
            <a:fillRect/>
          </a:stretch>
        </p:blipFill>
        <p:spPr>
          <a:xfrm>
            <a:off x="6623569" y="1256488"/>
            <a:ext cx="790575" cy="304800"/>
          </a:xfrm>
          <a:prstGeom prst="rect">
            <a:avLst/>
          </a:prstGeom>
        </p:spPr>
      </p:pic>
    </p:spTree>
    <p:extLst>
      <p:ext uri="{BB962C8B-B14F-4D97-AF65-F5344CB8AC3E}">
        <p14:creationId xmlns:p14="http://schemas.microsoft.com/office/powerpoint/2010/main" val="3360833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B7CB1-5897-6E26-AAAD-AC84AC2840AF}"/>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16E6A15-83EC-9E7E-117F-6C2E3D9A97BF}"/>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14</a:t>
            </a:fld>
            <a:endParaRPr lang="en-US" sz="360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FAE44C27-29C4-E0F0-A7B7-F406FE04F066}"/>
              </a:ext>
            </a:extLst>
          </p:cNvPr>
          <p:cNvSpPr>
            <a:spLocks noGrp="1"/>
          </p:cNvSpPr>
          <p:nvPr>
            <p:ph type="title"/>
          </p:nvPr>
        </p:nvSpPr>
        <p:spPr>
          <a:xfrm>
            <a:off x="221407" y="326721"/>
            <a:ext cx="11515725" cy="436562"/>
          </a:xfrm>
        </p:spPr>
        <p:txBody>
          <a:bodyPr>
            <a:normAutofit fontScale="90000"/>
          </a:bodyPr>
          <a:lstStyle/>
          <a:p>
            <a:r>
              <a:rPr lang="en-US"/>
              <a:t>3. Mô hình hóa và tổng hợp bộ điều khiển PI</a:t>
            </a:r>
            <a:br>
              <a:rPr lang="en-US"/>
            </a:br>
            <a:endParaRPr lang="en-US"/>
          </a:p>
        </p:txBody>
      </p:sp>
      <p:pic>
        <p:nvPicPr>
          <p:cNvPr id="8" name="Picture 4" descr="Diagram, schematic&#10;&#10;Description automatically generated">
            <a:extLst>
              <a:ext uri="{FF2B5EF4-FFF2-40B4-BE49-F238E27FC236}">
                <a16:creationId xmlns:a16="http://schemas.microsoft.com/office/drawing/2014/main" id="{BFD50F5F-1B41-7D77-F1E2-D849FC3D51B3}"/>
              </a:ext>
            </a:extLst>
          </p:cNvPr>
          <p:cNvPicPr>
            <a:picLocks noChangeAspect="1"/>
          </p:cNvPicPr>
          <p:nvPr/>
        </p:nvPicPr>
        <p:blipFill rotWithShape="1">
          <a:blip r:embed="rId3">
            <a:extLst>
              <a:ext uri="{28A0092B-C50C-407E-A947-70E740481C1C}">
                <a14:useLocalDpi xmlns:a14="http://schemas.microsoft.com/office/drawing/2010/main" val="0"/>
              </a:ext>
            </a:extLst>
          </a:blip>
          <a:srcRect l="18589" t="27728" r="22624" b="20793"/>
          <a:stretch/>
        </p:blipFill>
        <p:spPr>
          <a:xfrm>
            <a:off x="806450" y="1091479"/>
            <a:ext cx="4489450" cy="2315361"/>
          </a:xfrm>
          <a:prstGeom prst="rect">
            <a:avLst/>
          </a:prstGeom>
        </p:spPr>
      </p:pic>
      <p:pic>
        <p:nvPicPr>
          <p:cNvPr id="9" name="Picture 5" descr="Diagram&#10;&#10;Description automatically generated">
            <a:extLst>
              <a:ext uri="{FF2B5EF4-FFF2-40B4-BE49-F238E27FC236}">
                <a16:creationId xmlns:a16="http://schemas.microsoft.com/office/drawing/2014/main" id="{BCE5BCE3-5CA9-4BB3-93E7-F43056633023}"/>
              </a:ext>
            </a:extLst>
          </p:cNvPr>
          <p:cNvPicPr>
            <a:picLocks noChangeAspect="1"/>
          </p:cNvPicPr>
          <p:nvPr/>
        </p:nvPicPr>
        <p:blipFill rotWithShape="1">
          <a:blip r:embed="rId4">
            <a:extLst>
              <a:ext uri="{28A0092B-C50C-407E-A947-70E740481C1C}">
                <a14:useLocalDpi xmlns:a14="http://schemas.microsoft.com/office/drawing/2010/main" val="0"/>
              </a:ext>
            </a:extLst>
          </a:blip>
          <a:srcRect l="9755" t="32408" r="44765" b="18235"/>
          <a:stretch/>
        </p:blipFill>
        <p:spPr>
          <a:xfrm>
            <a:off x="1438275" y="3778132"/>
            <a:ext cx="3692525" cy="2360131"/>
          </a:xfrm>
          <a:prstGeom prst="rect">
            <a:avLst/>
          </a:prstGeom>
        </p:spPr>
      </p:pic>
      <p:cxnSp>
        <p:nvCxnSpPr>
          <p:cNvPr id="11" name="Straight Arrow Connector 7">
            <a:extLst>
              <a:ext uri="{FF2B5EF4-FFF2-40B4-BE49-F238E27FC236}">
                <a16:creationId xmlns:a16="http://schemas.microsoft.com/office/drawing/2014/main" id="{EDB43A3F-9136-4308-EA7E-AB0E75533099}"/>
              </a:ext>
            </a:extLst>
          </p:cNvPr>
          <p:cNvCxnSpPr/>
          <p:nvPr/>
        </p:nvCxnSpPr>
        <p:spPr>
          <a:xfrm>
            <a:off x="3152775" y="3517664"/>
            <a:ext cx="0" cy="381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8">
                <a:extLst>
                  <a:ext uri="{FF2B5EF4-FFF2-40B4-BE49-F238E27FC236}">
                    <a16:creationId xmlns:a16="http://schemas.microsoft.com/office/drawing/2014/main" id="{31724364-14E9-E3F0-A80E-565EA8CED481}"/>
                  </a:ext>
                </a:extLst>
              </p:cNvPr>
              <p:cNvSpPr txBox="1"/>
              <p:nvPr/>
            </p:nvSpPr>
            <p:spPr>
              <a:xfrm>
                <a:off x="5613400" y="1231900"/>
                <a:ext cx="5772150" cy="2155334"/>
              </a:xfrm>
              <a:prstGeom prst="rect">
                <a:avLst/>
              </a:prstGeom>
              <a:noFill/>
            </p:spPr>
            <p:txBody>
              <a:bodyPr wrap="square" rtlCol="0">
                <a:spAutoFit/>
              </a:bodyPr>
              <a:lstStyle/>
              <a:p>
                <a:r>
                  <a:rPr lang="en-US" sz="2000"/>
                  <a:t>Các phương trình Kirchhoff của sơ đồ</a:t>
                </a:r>
              </a:p>
              <a:p>
                <a:r>
                  <a:rPr lang="en-US" sz="2000"/>
                  <a:t> </a:t>
                </a:r>
                <a14:m>
                  <m:oMath xmlns:m="http://schemas.openxmlformats.org/officeDocument/2006/math">
                    <m:d>
                      <m:dPr>
                        <m:begChr m:val="{"/>
                        <m:endChr m:val=""/>
                        <m:ctrlPr>
                          <a:rPr lang="en-US" sz="2000" i="1" smtClean="0">
                            <a:solidFill>
                              <a:srgbClr val="000000"/>
                            </a:solidFill>
                            <a:latin typeface="Cambria Math" panose="02040503050406030204" pitchFamily="18" charset="0"/>
                          </a:rPr>
                        </m:ctrlPr>
                      </m:dPr>
                      <m:e>
                        <m:eqArr>
                          <m:eqArrPr>
                            <m:ctrlPr>
                              <a:rPr lang="en-US" sz="2000" i="1" smtClean="0">
                                <a:solidFill>
                                  <a:srgbClr val="000000"/>
                                </a:solidFill>
                                <a:latin typeface="Cambria Math" panose="02040503050406030204" pitchFamily="18" charset="0"/>
                              </a:rPr>
                            </m:ctrlPr>
                          </m:eqArrPr>
                          <m:e>
                            <m:r>
                              <a:rPr lang="en-US" sz="2000" i="1">
                                <a:solidFill>
                                  <a:srgbClr val="000000"/>
                                </a:solidFill>
                                <a:latin typeface="Cambria Math" panose="02040503050406030204" pitchFamily="18" charset="0"/>
                              </a:rPr>
                              <m:t>&amp;</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𝐿𝑑</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𝑖</m:t>
                                    </m:r>
                                  </m:e>
                                  <m:sub>
                                    <m:r>
                                      <a:rPr lang="en-US" sz="2000" b="0" i="1" smtClean="0">
                                        <a:solidFill>
                                          <a:srgbClr val="000000"/>
                                        </a:solidFill>
                                        <a:latin typeface="Cambria Math" panose="02040503050406030204" pitchFamily="18" charset="0"/>
                                      </a:rPr>
                                      <m:t>𝐿</m:t>
                                    </m:r>
                                  </m:sub>
                                </m:sSub>
                              </m:num>
                              <m:den>
                                <m:r>
                                  <a:rPr lang="en-US" sz="2000" b="0" i="1" smtClean="0">
                                    <a:solidFill>
                                      <a:srgbClr val="000000"/>
                                    </a:solidFill>
                                    <a:latin typeface="Cambria Math" panose="02040503050406030204" pitchFamily="18" charset="0"/>
                                  </a:rPr>
                                  <m:t>𝑑𝑡</m:t>
                                </m:r>
                              </m:den>
                            </m:f>
                            <m:r>
                              <a:rPr lang="en-US" sz="2000" b="0" i="1" smtClean="0">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𝑢</m:t>
                                </m:r>
                              </m:e>
                              <m:sub>
                                <m:r>
                                  <a:rPr lang="en-US" sz="2000" b="0" i="1" smtClean="0">
                                    <a:solidFill>
                                      <a:srgbClr val="000000"/>
                                    </a:solidFill>
                                    <a:latin typeface="Cambria Math" panose="02040503050406030204" pitchFamily="18" charset="0"/>
                                  </a:rPr>
                                  <m:t>𝑖𝑛</m:t>
                                </m:r>
                              </m:sub>
                            </m:sSub>
                            <m:r>
                              <a:rPr lang="en-US" sz="2000" b="0" i="1" smtClean="0">
                                <a:solidFill>
                                  <a:srgbClr val="000000"/>
                                </a:solidFill>
                                <a:latin typeface="Cambria Math" panose="02040503050406030204" pitchFamily="18" charset="0"/>
                              </a:rPr>
                              <m:t>−</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1−</m:t>
                                </m:r>
                                <m:r>
                                  <a:rPr lang="en-US" sz="2000" b="0" i="1" smtClean="0">
                                    <a:solidFill>
                                      <a:srgbClr val="000000"/>
                                    </a:solidFill>
                                    <a:latin typeface="Cambria Math" panose="02040503050406030204" pitchFamily="18" charset="0"/>
                                  </a:rPr>
                                  <m:t>𝑑</m:t>
                                </m:r>
                              </m:e>
                            </m:d>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𝑢</m:t>
                                </m:r>
                              </m:e>
                              <m:sub>
                                <m:r>
                                  <a:rPr lang="en-US" sz="2000" b="0" i="1" smtClean="0">
                                    <a:solidFill>
                                      <a:srgbClr val="000000"/>
                                    </a:solidFill>
                                    <a:latin typeface="Cambria Math" panose="02040503050406030204" pitchFamily="18" charset="0"/>
                                  </a:rPr>
                                  <m:t>𝑜</m:t>
                                </m:r>
                              </m:sub>
                            </m:sSub>
                          </m:e>
                          <m:e>
                            <m:r>
                              <a:rPr lang="en-US" sz="2000" i="1">
                                <a:solidFill>
                                  <a:srgbClr val="000000"/>
                                </a:solidFill>
                                <a:latin typeface="Cambria Math" panose="02040503050406030204" pitchFamily="18" charset="0"/>
                              </a:rPr>
                              <m:t>&amp;</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𝐶𝑑</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𝑢</m:t>
                                    </m:r>
                                  </m:e>
                                  <m:sub>
                                    <m:r>
                                      <a:rPr lang="en-US" sz="2000" b="0" i="1" smtClean="0">
                                        <a:solidFill>
                                          <a:srgbClr val="000000"/>
                                        </a:solidFill>
                                        <a:latin typeface="Cambria Math" panose="02040503050406030204" pitchFamily="18" charset="0"/>
                                      </a:rPr>
                                      <m:t>𝑜</m:t>
                                    </m:r>
                                  </m:sub>
                                </m:sSub>
                              </m:num>
                              <m:den>
                                <m:r>
                                  <a:rPr lang="en-US" sz="2000" b="0" i="1" smtClean="0">
                                    <a:solidFill>
                                      <a:srgbClr val="000000"/>
                                    </a:solidFill>
                                    <a:latin typeface="Cambria Math" panose="02040503050406030204" pitchFamily="18" charset="0"/>
                                  </a:rPr>
                                  <m:t>𝑑𝑡</m:t>
                                </m:r>
                              </m:den>
                            </m:f>
                            <m:r>
                              <a:rPr lang="en-US" sz="2000" b="0" i="1" smtClean="0">
                                <a:solidFill>
                                  <a:srgbClr val="000000"/>
                                </a:solidFill>
                                <a:latin typeface="Cambria Math" panose="02040503050406030204" pitchFamily="18" charset="0"/>
                              </a:rPr>
                              <m:t>=</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1−</m:t>
                                </m:r>
                                <m:r>
                                  <a:rPr lang="en-US" sz="2000" b="0" i="1" smtClean="0">
                                    <a:solidFill>
                                      <a:srgbClr val="000000"/>
                                    </a:solidFill>
                                    <a:latin typeface="Cambria Math" panose="02040503050406030204" pitchFamily="18" charset="0"/>
                                  </a:rPr>
                                  <m:t>𝑑</m:t>
                                </m:r>
                              </m:e>
                            </m:d>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𝑖</m:t>
                                </m:r>
                              </m:e>
                              <m:sub>
                                <m:r>
                                  <a:rPr lang="en-US" sz="2000" b="0" i="1" smtClean="0">
                                    <a:solidFill>
                                      <a:srgbClr val="000000"/>
                                    </a:solidFill>
                                    <a:latin typeface="Cambria Math" panose="02040503050406030204" pitchFamily="18" charset="0"/>
                                  </a:rPr>
                                  <m:t>𝐿</m:t>
                                </m:r>
                              </m:sub>
                            </m:sSub>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𝑢</m:t>
                                    </m:r>
                                  </m:e>
                                  <m:sub>
                                    <m:r>
                                      <a:rPr lang="en-US" sz="2000" b="0" i="1" smtClean="0">
                                        <a:solidFill>
                                          <a:srgbClr val="000000"/>
                                        </a:solidFill>
                                        <a:latin typeface="Cambria Math" panose="02040503050406030204" pitchFamily="18" charset="0"/>
                                      </a:rPr>
                                      <m:t>𝑜</m:t>
                                    </m:r>
                                  </m:sub>
                                </m:sSub>
                              </m:num>
                              <m:den>
                                <m:r>
                                  <a:rPr lang="en-US" sz="2000" b="0" i="1" smtClean="0">
                                    <a:solidFill>
                                      <a:srgbClr val="000000"/>
                                    </a:solidFill>
                                    <a:latin typeface="Cambria Math" panose="02040503050406030204" pitchFamily="18" charset="0"/>
                                  </a:rPr>
                                  <m:t>𝑅</m:t>
                                </m:r>
                              </m:den>
                            </m:f>
                            <m:r>
                              <a:rPr lang="en-US" sz="2000" i="1" smtClean="0">
                                <a:solidFill>
                                  <a:srgbClr val="000000"/>
                                </a:solidFill>
                                <a:latin typeface="Cambria Math" panose="02040503050406030204" pitchFamily="18" charset="0"/>
                              </a:rPr>
                              <m:t> </m:t>
                            </m:r>
                          </m:e>
                        </m:eqArr>
                      </m:e>
                    </m:d>
                  </m:oMath>
                </a14:m>
                <a:endParaRPr lang="en-US" sz="2000" b="0"/>
              </a:p>
              <a:p>
                <a:endParaRPr lang="en-US" sz="2000" b="0"/>
              </a:p>
              <a:p>
                <a:endParaRPr lang="en-US" sz="2000"/>
              </a:p>
            </p:txBody>
          </p:sp>
        </mc:Choice>
        <mc:Fallback xmlns="">
          <p:sp>
            <p:nvSpPr>
              <p:cNvPr id="12" name="TextBox 8">
                <a:extLst>
                  <a:ext uri="{FF2B5EF4-FFF2-40B4-BE49-F238E27FC236}">
                    <a16:creationId xmlns:a16="http://schemas.microsoft.com/office/drawing/2014/main" id="{31724364-14E9-E3F0-A80E-565EA8CED481}"/>
                  </a:ext>
                </a:extLst>
              </p:cNvPr>
              <p:cNvSpPr txBox="1">
                <a:spLocks noRot="1" noChangeAspect="1" noMove="1" noResize="1" noEditPoints="1" noAdjustHandles="1" noChangeArrowheads="1" noChangeShapeType="1" noTextEdit="1"/>
              </p:cNvSpPr>
              <p:nvPr/>
            </p:nvSpPr>
            <p:spPr>
              <a:xfrm>
                <a:off x="5613400" y="1231900"/>
                <a:ext cx="5772150" cy="2155334"/>
              </a:xfrm>
              <a:prstGeom prst="rect">
                <a:avLst/>
              </a:prstGeom>
              <a:blipFill>
                <a:blip r:embed="rId5"/>
                <a:stretch>
                  <a:fillRect l="-1162" t="-1412"/>
                </a:stretch>
              </a:blipFill>
            </p:spPr>
            <p:txBody>
              <a:bodyPr/>
              <a:lstStyle/>
              <a:p>
                <a:r>
                  <a:rPr lang="en-US">
                    <a:noFill/>
                  </a:rPr>
                  <a:t> </a:t>
                </a:r>
              </a:p>
            </p:txBody>
          </p:sp>
        </mc:Fallback>
      </mc:AlternateContent>
      <p:sp>
        <p:nvSpPr>
          <p:cNvPr id="14" name="TextBox 11">
            <a:extLst>
              <a:ext uri="{FF2B5EF4-FFF2-40B4-BE49-F238E27FC236}">
                <a16:creationId xmlns:a16="http://schemas.microsoft.com/office/drawing/2014/main" id="{B82E4B96-8ED7-2FC6-7D1A-24AD2B3BBA65}"/>
              </a:ext>
            </a:extLst>
          </p:cNvPr>
          <p:cNvSpPr txBox="1"/>
          <p:nvPr/>
        </p:nvSpPr>
        <p:spPr>
          <a:xfrm>
            <a:off x="5694196" y="3027914"/>
            <a:ext cx="5772150" cy="400110"/>
          </a:xfrm>
          <a:prstGeom prst="rect">
            <a:avLst/>
          </a:prstGeom>
          <a:noFill/>
        </p:spPr>
        <p:txBody>
          <a:bodyPr wrap="square" rtlCol="0">
            <a:spAutoFit/>
          </a:bodyPr>
          <a:lstStyle/>
          <a:p>
            <a:r>
              <a:rPr lang="en-US" sz="2000"/>
              <a:t>Tuyến tính hóa quanh điểm làm việc</a:t>
            </a:r>
          </a:p>
        </p:txBody>
      </p:sp>
      <p:pic>
        <p:nvPicPr>
          <p:cNvPr id="15" name="Picture 13">
            <a:extLst>
              <a:ext uri="{FF2B5EF4-FFF2-40B4-BE49-F238E27FC236}">
                <a16:creationId xmlns:a16="http://schemas.microsoft.com/office/drawing/2014/main" id="{BD987653-CE27-6FD1-28E0-CF85C0EED49A}"/>
              </a:ext>
            </a:extLst>
          </p:cNvPr>
          <p:cNvPicPr>
            <a:picLocks noChangeAspect="1"/>
          </p:cNvPicPr>
          <p:nvPr/>
        </p:nvPicPr>
        <p:blipFill>
          <a:blip r:embed="rId6"/>
          <a:stretch>
            <a:fillRect/>
          </a:stretch>
        </p:blipFill>
        <p:spPr>
          <a:xfrm>
            <a:off x="5740400" y="3429000"/>
            <a:ext cx="1362076" cy="1513418"/>
          </a:xfrm>
          <a:prstGeom prst="rect">
            <a:avLst/>
          </a:prstGeom>
        </p:spPr>
      </p:pic>
      <p:sp>
        <p:nvSpPr>
          <p:cNvPr id="16" name="TextBox 14">
            <a:extLst>
              <a:ext uri="{FF2B5EF4-FFF2-40B4-BE49-F238E27FC236}">
                <a16:creationId xmlns:a16="http://schemas.microsoft.com/office/drawing/2014/main" id="{01D79B73-8557-4C3D-CD21-952E8726D5E9}"/>
              </a:ext>
            </a:extLst>
          </p:cNvPr>
          <p:cNvSpPr txBox="1"/>
          <p:nvPr/>
        </p:nvSpPr>
        <p:spPr>
          <a:xfrm>
            <a:off x="5613400" y="4958197"/>
            <a:ext cx="5772150" cy="400110"/>
          </a:xfrm>
          <a:prstGeom prst="rect">
            <a:avLst/>
          </a:prstGeom>
          <a:noFill/>
        </p:spPr>
        <p:txBody>
          <a:bodyPr wrap="square" rtlCol="0">
            <a:spAutoFit/>
          </a:bodyPr>
          <a:lstStyle/>
          <a:p>
            <a:r>
              <a:rPr lang="en-US" sz="2000"/>
              <a:t>Các giá trị xác lập</a:t>
            </a:r>
          </a:p>
        </p:txBody>
      </p:sp>
      <p:pic>
        <p:nvPicPr>
          <p:cNvPr id="17" name="Picture 16">
            <a:extLst>
              <a:ext uri="{FF2B5EF4-FFF2-40B4-BE49-F238E27FC236}">
                <a16:creationId xmlns:a16="http://schemas.microsoft.com/office/drawing/2014/main" id="{2316D401-E1AE-4C8F-4791-740DB7983C4C}"/>
              </a:ext>
            </a:extLst>
          </p:cNvPr>
          <p:cNvPicPr>
            <a:picLocks noChangeAspect="1"/>
          </p:cNvPicPr>
          <p:nvPr/>
        </p:nvPicPr>
        <p:blipFill>
          <a:blip r:embed="rId7"/>
          <a:stretch>
            <a:fillRect/>
          </a:stretch>
        </p:blipFill>
        <p:spPr>
          <a:xfrm>
            <a:off x="5837238" y="5374086"/>
            <a:ext cx="1363664" cy="661170"/>
          </a:xfrm>
          <a:prstGeom prst="rect">
            <a:avLst/>
          </a:prstGeom>
        </p:spPr>
      </p:pic>
      <p:pic>
        <p:nvPicPr>
          <p:cNvPr id="18" name="Picture 18">
            <a:extLst>
              <a:ext uri="{FF2B5EF4-FFF2-40B4-BE49-F238E27FC236}">
                <a16:creationId xmlns:a16="http://schemas.microsoft.com/office/drawing/2014/main" id="{A6BAB9A2-A791-2EFD-284F-D16CB38FA938}"/>
              </a:ext>
            </a:extLst>
          </p:cNvPr>
          <p:cNvPicPr>
            <a:picLocks noChangeAspect="1"/>
          </p:cNvPicPr>
          <p:nvPr/>
        </p:nvPicPr>
        <p:blipFill>
          <a:blip r:embed="rId8"/>
          <a:stretch>
            <a:fillRect/>
          </a:stretch>
        </p:blipFill>
        <p:spPr>
          <a:xfrm>
            <a:off x="7505702" y="5357535"/>
            <a:ext cx="990598" cy="660399"/>
          </a:xfrm>
          <a:prstGeom prst="rect">
            <a:avLst/>
          </a:prstGeom>
        </p:spPr>
      </p:pic>
      <p:pic>
        <p:nvPicPr>
          <p:cNvPr id="2" name="Picture 1">
            <a:extLst>
              <a:ext uri="{FF2B5EF4-FFF2-40B4-BE49-F238E27FC236}">
                <a16:creationId xmlns:a16="http://schemas.microsoft.com/office/drawing/2014/main" id="{CE5CAD0D-4585-895B-5423-1D12435F66C0}"/>
              </a:ext>
            </a:extLst>
          </p:cNvPr>
          <p:cNvPicPr>
            <a:picLocks noChangeAspect="1"/>
          </p:cNvPicPr>
          <p:nvPr/>
        </p:nvPicPr>
        <p:blipFill>
          <a:blip r:embed="rId9"/>
          <a:stretch>
            <a:fillRect/>
          </a:stretch>
        </p:blipFill>
        <p:spPr>
          <a:xfrm>
            <a:off x="806449" y="1819072"/>
            <a:ext cx="1046588" cy="1112687"/>
          </a:xfrm>
          <a:prstGeom prst="rect">
            <a:avLst/>
          </a:prstGeom>
        </p:spPr>
      </p:pic>
      <p:pic>
        <p:nvPicPr>
          <p:cNvPr id="10" name="Picture 9">
            <a:extLst>
              <a:ext uri="{FF2B5EF4-FFF2-40B4-BE49-F238E27FC236}">
                <a16:creationId xmlns:a16="http://schemas.microsoft.com/office/drawing/2014/main" id="{DA8A593A-7D67-4A22-670A-906EA32F2A38}"/>
              </a:ext>
            </a:extLst>
          </p:cNvPr>
          <p:cNvPicPr>
            <a:picLocks noChangeAspect="1"/>
          </p:cNvPicPr>
          <p:nvPr/>
        </p:nvPicPr>
        <p:blipFill>
          <a:blip r:embed="rId10"/>
          <a:stretch>
            <a:fillRect/>
          </a:stretch>
        </p:blipFill>
        <p:spPr>
          <a:xfrm>
            <a:off x="583037" y="1090826"/>
            <a:ext cx="952500" cy="800100"/>
          </a:xfrm>
          <a:prstGeom prst="rect">
            <a:avLst/>
          </a:prstGeom>
        </p:spPr>
      </p:pic>
    </p:spTree>
    <p:extLst>
      <p:ext uri="{BB962C8B-B14F-4D97-AF65-F5344CB8AC3E}">
        <p14:creationId xmlns:p14="http://schemas.microsoft.com/office/powerpoint/2010/main" val="3928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A6C86-64C5-8165-0E68-CF59BB2098BA}"/>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377D3170-1E8A-4042-1978-9ED030C2EF39}"/>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F484F16B-402A-51F9-D31A-04F52F5AB553}"/>
              </a:ext>
            </a:extLst>
          </p:cNvPr>
          <p:cNvSpPr>
            <a:spLocks noGrp="1"/>
          </p:cNvSpPr>
          <p:nvPr>
            <p:ph type="title"/>
          </p:nvPr>
        </p:nvSpPr>
        <p:spPr/>
        <p:txBody>
          <a:bodyPr>
            <a:normAutofit fontScale="90000"/>
          </a:bodyPr>
          <a:lstStyle/>
          <a:p>
            <a:r>
              <a:rPr lang="en-US"/>
              <a:t>3. Mô hình hóa và tổng hợp bộ điều khiển PI</a:t>
            </a:r>
          </a:p>
        </p:txBody>
      </p:sp>
      <p:pic>
        <p:nvPicPr>
          <p:cNvPr id="2" name="Picture 6">
            <a:extLst>
              <a:ext uri="{FF2B5EF4-FFF2-40B4-BE49-F238E27FC236}">
                <a16:creationId xmlns:a16="http://schemas.microsoft.com/office/drawing/2014/main" id="{42C4AAE2-BAB6-EDDE-6D71-4F1EB175707D}"/>
              </a:ext>
            </a:extLst>
          </p:cNvPr>
          <p:cNvPicPr>
            <a:picLocks noChangeAspect="1"/>
          </p:cNvPicPr>
          <p:nvPr/>
        </p:nvPicPr>
        <p:blipFill rotWithShape="1">
          <a:blip r:embed="rId2">
            <a:extLst>
              <a:ext uri="{28A0092B-C50C-407E-A947-70E740481C1C}">
                <a14:useLocalDpi xmlns:a14="http://schemas.microsoft.com/office/drawing/2010/main" val="0"/>
              </a:ext>
            </a:extLst>
          </a:blip>
          <a:srcRect l="37021" t="32037" r="8227" b="28334"/>
          <a:stretch/>
        </p:blipFill>
        <p:spPr>
          <a:xfrm>
            <a:off x="682625" y="1409700"/>
            <a:ext cx="5918200" cy="2522898"/>
          </a:xfrm>
          <a:prstGeom prst="rect">
            <a:avLst/>
          </a:prstGeom>
        </p:spPr>
      </p:pic>
      <p:sp>
        <p:nvSpPr>
          <p:cNvPr id="4" name="TextBox 15">
            <a:extLst>
              <a:ext uri="{FF2B5EF4-FFF2-40B4-BE49-F238E27FC236}">
                <a16:creationId xmlns:a16="http://schemas.microsoft.com/office/drawing/2014/main" id="{EB831864-168C-1C15-43DD-95AC2B6C8991}"/>
              </a:ext>
            </a:extLst>
          </p:cNvPr>
          <p:cNvSpPr txBox="1"/>
          <p:nvPr/>
        </p:nvSpPr>
        <p:spPr>
          <a:xfrm>
            <a:off x="1466850" y="4051300"/>
            <a:ext cx="4349750" cy="707886"/>
          </a:xfrm>
          <a:prstGeom prst="rect">
            <a:avLst/>
          </a:prstGeom>
          <a:noFill/>
        </p:spPr>
        <p:txBody>
          <a:bodyPr wrap="square" rtlCol="0">
            <a:spAutoFit/>
          </a:bodyPr>
          <a:lstStyle/>
          <a:p>
            <a:r>
              <a:rPr lang="en-US" sz="2000"/>
              <a:t>Hình 2.1. Sơ đồ Boost PFC dạng tín hiệu nhỏ </a:t>
            </a:r>
          </a:p>
        </p:txBody>
      </p:sp>
      <p:sp>
        <p:nvSpPr>
          <p:cNvPr id="6" name="TextBox 17">
            <a:extLst>
              <a:ext uri="{FF2B5EF4-FFF2-40B4-BE49-F238E27FC236}">
                <a16:creationId xmlns:a16="http://schemas.microsoft.com/office/drawing/2014/main" id="{2E68C7D7-55DA-1D34-1770-042C4926BFC4}"/>
              </a:ext>
            </a:extLst>
          </p:cNvPr>
          <p:cNvSpPr txBox="1"/>
          <p:nvPr/>
        </p:nvSpPr>
        <p:spPr>
          <a:xfrm>
            <a:off x="6673661" y="1219200"/>
            <a:ext cx="4965700" cy="707886"/>
          </a:xfrm>
          <a:prstGeom prst="rect">
            <a:avLst/>
          </a:prstGeom>
          <a:noFill/>
        </p:spPr>
        <p:txBody>
          <a:bodyPr wrap="square" rtlCol="0">
            <a:spAutoFit/>
          </a:bodyPr>
          <a:lstStyle/>
          <a:p>
            <a:r>
              <a:rPr lang="en-US" sz="2000"/>
              <a:t>Các phương trình Kirchhoff được viết lại dưới dạng tín hiệu nhỏ như sau:</a:t>
            </a:r>
          </a:p>
        </p:txBody>
      </p:sp>
      <mc:AlternateContent xmlns:mc="http://schemas.openxmlformats.org/markup-compatibility/2006" xmlns:a14="http://schemas.microsoft.com/office/drawing/2010/main">
        <mc:Choice Requires="a14">
          <p:sp>
            <p:nvSpPr>
              <p:cNvPr id="9" name="TextBox 19">
                <a:extLst>
                  <a:ext uri="{FF2B5EF4-FFF2-40B4-BE49-F238E27FC236}">
                    <a16:creationId xmlns:a16="http://schemas.microsoft.com/office/drawing/2014/main" id="{A286CCF9-06CB-CCAB-99A4-AEA690FD50B1}"/>
                  </a:ext>
                </a:extLst>
              </p:cNvPr>
              <p:cNvSpPr txBox="1"/>
              <p:nvPr/>
            </p:nvSpPr>
            <p:spPr>
              <a:xfrm>
                <a:off x="6673661" y="3097321"/>
                <a:ext cx="4965700" cy="400110"/>
              </a:xfrm>
              <a:prstGeom prst="rect">
                <a:avLst/>
              </a:prstGeom>
              <a:noFill/>
            </p:spPr>
            <p:txBody>
              <a:bodyPr wrap="square" rtlCol="0">
                <a:spAutoFit/>
              </a:bodyPr>
              <a:lstStyle/>
              <a:p>
                <a:r>
                  <a:rPr lang="en-US" sz="2000"/>
                  <a:t>Trong đó: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=1 −</m:t>
                    </m:r>
                    <m:r>
                      <a:rPr lang="en-US" sz="2000" b="0" i="1" smtClean="0">
                        <a:latin typeface="Cambria Math" panose="02040503050406030204" pitchFamily="18" charset="0"/>
                      </a:rPr>
                      <m:t>𝐷</m:t>
                    </m:r>
                    <m:r>
                      <a:rPr lang="en-US" sz="2000" b="0" i="1" smtClean="0">
                        <a:latin typeface="Cambria Math" panose="02040503050406030204" pitchFamily="18" charset="0"/>
                      </a:rPr>
                      <m:t> </m:t>
                    </m:r>
                  </m:oMath>
                </a14:m>
                <a:endParaRPr lang="en-US" sz="2000"/>
              </a:p>
            </p:txBody>
          </p:sp>
        </mc:Choice>
        <mc:Fallback xmlns="">
          <p:sp>
            <p:nvSpPr>
              <p:cNvPr id="9" name="TextBox 19">
                <a:extLst>
                  <a:ext uri="{FF2B5EF4-FFF2-40B4-BE49-F238E27FC236}">
                    <a16:creationId xmlns:a16="http://schemas.microsoft.com/office/drawing/2014/main" id="{A286CCF9-06CB-CCAB-99A4-AEA690FD50B1}"/>
                  </a:ext>
                </a:extLst>
              </p:cNvPr>
              <p:cNvSpPr txBox="1">
                <a:spLocks noRot="1" noChangeAspect="1" noMove="1" noResize="1" noEditPoints="1" noAdjustHandles="1" noChangeArrowheads="1" noChangeShapeType="1" noTextEdit="1"/>
              </p:cNvSpPr>
              <p:nvPr/>
            </p:nvSpPr>
            <p:spPr>
              <a:xfrm>
                <a:off x="6673661" y="3097321"/>
                <a:ext cx="4965700" cy="400110"/>
              </a:xfrm>
              <a:prstGeom prst="rect">
                <a:avLst/>
              </a:prstGeom>
              <a:blipFill>
                <a:blip r:embed="rId3"/>
                <a:stretch>
                  <a:fillRect l="-1351" t="-7576" b="-25758"/>
                </a:stretch>
              </a:blipFill>
            </p:spPr>
            <p:txBody>
              <a:bodyPr/>
              <a:lstStyle/>
              <a:p>
                <a:r>
                  <a:rPr lang="en-US">
                    <a:noFill/>
                  </a:rPr>
                  <a:t> </a:t>
                </a:r>
              </a:p>
            </p:txBody>
          </p:sp>
        </mc:Fallback>
      </mc:AlternateContent>
      <p:sp>
        <p:nvSpPr>
          <p:cNvPr id="11" name="Arrow: Down 20">
            <a:extLst>
              <a:ext uri="{FF2B5EF4-FFF2-40B4-BE49-F238E27FC236}">
                <a16:creationId xmlns:a16="http://schemas.microsoft.com/office/drawing/2014/main" id="{01C386C0-9FDE-AE7D-257F-865611C740CA}"/>
              </a:ext>
            </a:extLst>
          </p:cNvPr>
          <p:cNvSpPr/>
          <p:nvPr/>
        </p:nvSpPr>
        <p:spPr>
          <a:xfrm>
            <a:off x="8991505" y="3613081"/>
            <a:ext cx="330011" cy="5969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1">
            <a:extLst>
              <a:ext uri="{FF2B5EF4-FFF2-40B4-BE49-F238E27FC236}">
                <a16:creationId xmlns:a16="http://schemas.microsoft.com/office/drawing/2014/main" id="{7E0C244C-097A-65F9-D6FC-4ABD3B6F8E16}"/>
              </a:ext>
            </a:extLst>
          </p:cNvPr>
          <p:cNvSpPr txBox="1"/>
          <p:nvPr/>
        </p:nvSpPr>
        <p:spPr>
          <a:xfrm>
            <a:off x="9419185" y="3711476"/>
            <a:ext cx="1600389" cy="400110"/>
          </a:xfrm>
          <a:prstGeom prst="rect">
            <a:avLst/>
          </a:prstGeom>
          <a:noFill/>
        </p:spPr>
        <p:txBody>
          <a:bodyPr wrap="square" rtlCol="0">
            <a:spAutoFit/>
          </a:bodyPr>
          <a:lstStyle/>
          <a:p>
            <a:r>
              <a:rPr lang="en-US" sz="2000"/>
              <a:t>Laplace hóa</a:t>
            </a:r>
          </a:p>
        </p:txBody>
      </p:sp>
      <p:pic>
        <p:nvPicPr>
          <p:cNvPr id="13" name="Picture 25">
            <a:extLst>
              <a:ext uri="{FF2B5EF4-FFF2-40B4-BE49-F238E27FC236}">
                <a16:creationId xmlns:a16="http://schemas.microsoft.com/office/drawing/2014/main" id="{22D4CB37-65FF-6B35-820C-069342400238}"/>
              </a:ext>
            </a:extLst>
          </p:cNvPr>
          <p:cNvPicPr>
            <a:picLocks noChangeAspect="1"/>
          </p:cNvPicPr>
          <p:nvPr/>
        </p:nvPicPr>
        <p:blipFill>
          <a:blip r:embed="rId4"/>
          <a:stretch>
            <a:fillRect/>
          </a:stretch>
        </p:blipFill>
        <p:spPr>
          <a:xfrm>
            <a:off x="7023514" y="4400846"/>
            <a:ext cx="4265992" cy="1025998"/>
          </a:xfrm>
          <a:prstGeom prst="rect">
            <a:avLst/>
          </a:prstGeom>
        </p:spPr>
      </p:pic>
      <p:pic>
        <p:nvPicPr>
          <p:cNvPr id="14" name="Picture 4" descr="Diagram, schematic&#10;&#10;Description automatically generated">
            <a:extLst>
              <a:ext uri="{FF2B5EF4-FFF2-40B4-BE49-F238E27FC236}">
                <a16:creationId xmlns:a16="http://schemas.microsoft.com/office/drawing/2014/main" id="{8EDE4716-8B39-817F-BBAF-C9D20A36E997}"/>
              </a:ext>
            </a:extLst>
          </p:cNvPr>
          <p:cNvPicPr>
            <a:picLocks noChangeAspect="1"/>
          </p:cNvPicPr>
          <p:nvPr/>
        </p:nvPicPr>
        <p:blipFill rotWithShape="1">
          <a:blip r:embed="rId5">
            <a:extLst>
              <a:ext uri="{28A0092B-C50C-407E-A947-70E740481C1C}">
                <a14:useLocalDpi xmlns:a14="http://schemas.microsoft.com/office/drawing/2010/main" val="0"/>
              </a:ext>
            </a:extLst>
          </a:blip>
          <a:srcRect l="18805" t="51986" r="76405" b="41173"/>
          <a:stretch/>
        </p:blipFill>
        <p:spPr>
          <a:xfrm>
            <a:off x="675831" y="2442559"/>
            <a:ext cx="475615" cy="400111"/>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C9E311D-817E-E437-1668-90EF7D69CF03}"/>
                  </a:ext>
                </a:extLst>
              </p:cNvPr>
              <p:cNvSpPr txBox="1"/>
              <p:nvPr/>
            </p:nvSpPr>
            <p:spPr>
              <a:xfrm>
                <a:off x="6600825" y="1739186"/>
                <a:ext cx="6094378" cy="13408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solidFill>
                                <a:srgbClr val="000000"/>
                              </a:solidFill>
                              <a:latin typeface="Cambria Math" panose="02040503050406030204" pitchFamily="18" charset="0"/>
                            </a:rPr>
                          </m:ctrlPr>
                        </m:dPr>
                        <m:e>
                          <m:eqArr>
                            <m:eqArrPr>
                              <m:ctrlPr>
                                <a:rPr lang="en-US" i="1" smtClean="0">
                                  <a:solidFill>
                                    <a:srgbClr val="000000"/>
                                  </a:solidFill>
                                  <a:latin typeface="Cambria Math" panose="02040503050406030204" pitchFamily="18" charset="0"/>
                                </a:rPr>
                              </m:ctrlPr>
                            </m:eqArrPr>
                            <m:e>
                              <m:r>
                                <a:rPr lang="en-US" i="1">
                                  <a:solidFill>
                                    <a:srgbClr val="000000"/>
                                  </a:solidFill>
                                  <a:latin typeface="Cambria Math" panose="02040503050406030204" pitchFamily="18" charset="0"/>
                                </a:rPr>
                                <m:t>&amp;</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𝐿𝑑</m:t>
                                  </m:r>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𝑖</m:t>
                                          </m:r>
                                        </m:e>
                                        <m:sub>
                                          <m:r>
                                            <a:rPr lang="en-US" b="0" i="1" smtClean="0">
                                              <a:solidFill>
                                                <a:srgbClr val="000000"/>
                                              </a:solidFill>
                                              <a:latin typeface="Cambria Math" panose="02040503050406030204" pitchFamily="18" charset="0"/>
                                            </a:rPr>
                                            <m:t>𝐿</m:t>
                                          </m:r>
                                        </m:sub>
                                      </m:sSub>
                                    </m:e>
                                  </m:acc>
                                </m:num>
                                <m:den>
                                  <m:r>
                                    <a:rPr lang="en-US" b="0" i="1" smtClean="0">
                                      <a:solidFill>
                                        <a:srgbClr val="000000"/>
                                      </a:solidFill>
                                      <a:latin typeface="Cambria Math" panose="02040503050406030204" pitchFamily="18" charset="0"/>
                                    </a:rPr>
                                    <m:t>𝑑𝑡</m:t>
                                  </m:r>
                                </m:den>
                              </m:f>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𝑈</m:t>
                                  </m:r>
                                </m:e>
                                <m:sub>
                                  <m:r>
                                    <a:rPr lang="en-US" b="0" i="1" smtClean="0">
                                      <a:solidFill>
                                        <a:srgbClr val="000000"/>
                                      </a:solidFill>
                                      <a:latin typeface="Cambria Math" panose="02040503050406030204" pitchFamily="18" charset="0"/>
                                    </a:rPr>
                                    <m:t>𝑜</m:t>
                                  </m:r>
                                </m:sub>
                              </m:sSub>
                              <m:acc>
                                <m:accPr>
                                  <m:chr m:val="̃"/>
                                  <m:ctrlPr>
                                    <a:rPr lang="en-US" b="0" i="1" smtClean="0">
                                      <a:solidFill>
                                        <a:srgbClr val="000000"/>
                                      </a:solidFill>
                                      <a:latin typeface="Cambria Math" panose="02040503050406030204" pitchFamily="18" charset="0"/>
                                    </a:rPr>
                                  </m:ctrlPr>
                                </m:accPr>
                                <m:e>
                                  <m:r>
                                    <a:rPr lang="en-US" b="0" i="1" smtClean="0">
                                      <a:solidFill>
                                        <a:srgbClr val="000000"/>
                                      </a:solidFill>
                                      <a:latin typeface="Cambria Math" panose="02040503050406030204" pitchFamily="18" charset="0"/>
                                    </a:rPr>
                                    <m:t>𝑑</m:t>
                                  </m:r>
                                </m:e>
                              </m:acc>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𝑡</m:t>
                                  </m:r>
                                </m:e>
                              </m:d>
                              <m:r>
                                <a:rPr lang="en-US" b="0" i="1" smtClean="0">
                                  <a:solidFill>
                                    <a:srgbClr val="000000"/>
                                  </a:solidFill>
                                  <a:latin typeface="Cambria Math" panose="02040503050406030204" pitchFamily="18" charset="0"/>
                                </a:rPr>
                                <m:t>−</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𝐷</m:t>
                                  </m:r>
                                </m:e>
                                <m:sup>
                                  <m:r>
                                    <a:rPr lang="en-US" b="0" i="1" smtClean="0">
                                      <a:solidFill>
                                        <a:srgbClr val="000000"/>
                                      </a:solidFill>
                                      <a:latin typeface="Cambria Math" panose="02040503050406030204" pitchFamily="18" charset="0"/>
                                    </a:rPr>
                                    <m:t>′</m:t>
                                  </m:r>
                                </m:sup>
                              </m:sSup>
                              <m:r>
                                <a:rPr lang="en-US" b="0" i="1" smtClean="0">
                                  <a:solidFill>
                                    <a:srgbClr val="000000"/>
                                  </a:solidFill>
                                  <a:latin typeface="Cambria Math" panose="02040503050406030204" pitchFamily="18" charset="0"/>
                                </a:rPr>
                                <m:t> </m:t>
                              </m:r>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𝑢</m:t>
                                      </m:r>
                                    </m:e>
                                    <m:sub>
                                      <m:r>
                                        <a:rPr lang="en-US" b="0" i="1" smtClean="0">
                                          <a:solidFill>
                                            <a:srgbClr val="000000"/>
                                          </a:solidFill>
                                          <a:latin typeface="Cambria Math" panose="02040503050406030204" pitchFamily="18" charset="0"/>
                                        </a:rPr>
                                        <m:t>𝑜</m:t>
                                      </m:r>
                                    </m:sub>
                                  </m:sSub>
                                </m:e>
                              </m:acc>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𝑡</m:t>
                                  </m:r>
                                </m:e>
                              </m:d>
                              <m:r>
                                <a:rPr lang="en-US" b="0" i="1" smtClean="0">
                                  <a:solidFill>
                                    <a:srgbClr val="000000"/>
                                  </a:solidFill>
                                  <a:latin typeface="Cambria Math" panose="02040503050406030204" pitchFamily="18" charset="0"/>
                                </a:rPr>
                                <m:t>+</m:t>
                              </m:r>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𝑢</m:t>
                                      </m:r>
                                    </m:e>
                                    <m:sub>
                                      <m:r>
                                        <a:rPr lang="en-US" b="0" i="1" smtClean="0">
                                          <a:solidFill>
                                            <a:srgbClr val="000000"/>
                                          </a:solidFill>
                                          <a:latin typeface="Cambria Math" panose="02040503050406030204" pitchFamily="18" charset="0"/>
                                        </a:rPr>
                                        <m:t>𝑖𝑛</m:t>
                                      </m:r>
                                    </m:sub>
                                  </m:sSub>
                                </m:e>
                              </m:acc>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e>
                            <m:e>
                              <m:r>
                                <a:rPr lang="en-US" i="1">
                                  <a:solidFill>
                                    <a:srgbClr val="000000"/>
                                  </a:solidFill>
                                  <a:latin typeface="Cambria Math" panose="02040503050406030204" pitchFamily="18" charset="0"/>
                                </a:rPr>
                                <m:t>&amp;</m:t>
                              </m:r>
                              <m:f>
                                <m:fPr>
                                  <m:ctrlPr>
                                    <a:rPr lang="en-US" b="0" i="1" smtClean="0">
                                      <a:solidFill>
                                        <a:srgbClr val="000000"/>
                                      </a:solidFill>
                                      <a:latin typeface="Cambria Math" panose="02040503050406030204" pitchFamily="18" charset="0"/>
                                    </a:rPr>
                                  </m:ctrlPr>
                                </m:fPr>
                                <m:num>
                                  <m:r>
                                    <a:rPr lang="en-US" b="0" i="1" smtClean="0">
                                      <a:solidFill>
                                        <a:srgbClr val="000000"/>
                                      </a:solidFill>
                                      <a:latin typeface="Cambria Math" panose="02040503050406030204" pitchFamily="18" charset="0"/>
                                    </a:rPr>
                                    <m:t>𝐶𝑑</m:t>
                                  </m:r>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𝑢</m:t>
                                          </m:r>
                                        </m:e>
                                        <m:sub>
                                          <m:r>
                                            <a:rPr lang="en-US" b="0" i="1" smtClean="0">
                                              <a:solidFill>
                                                <a:srgbClr val="000000"/>
                                              </a:solidFill>
                                              <a:latin typeface="Cambria Math" panose="02040503050406030204" pitchFamily="18" charset="0"/>
                                            </a:rPr>
                                            <m:t>𝑜</m:t>
                                          </m:r>
                                        </m:sub>
                                      </m:sSub>
                                    </m:e>
                                  </m:acc>
                                </m:num>
                                <m:den>
                                  <m:r>
                                    <a:rPr lang="en-US" b="0" i="1" smtClean="0">
                                      <a:solidFill>
                                        <a:srgbClr val="000000"/>
                                      </a:solidFill>
                                      <a:latin typeface="Cambria Math" panose="02040503050406030204" pitchFamily="18" charset="0"/>
                                    </a:rPr>
                                    <m:t>𝑑𝑡</m:t>
                                  </m:r>
                                </m:den>
                              </m:f>
                              <m:r>
                                <a:rPr lang="en-US" b="0" i="1" smtClean="0">
                                  <a:solidFill>
                                    <a:srgbClr val="000000"/>
                                  </a:solidFill>
                                  <a:latin typeface="Cambria Math" panose="02040503050406030204" pitchFamily="18" charset="0"/>
                                </a:rPr>
                                <m:t>=−</m:t>
                              </m:r>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𝐼</m:t>
                                  </m:r>
                                </m:e>
                                <m:sub>
                                  <m:r>
                                    <a:rPr lang="en-US" b="0" i="1" smtClean="0">
                                      <a:solidFill>
                                        <a:srgbClr val="000000"/>
                                      </a:solidFill>
                                      <a:latin typeface="Cambria Math" panose="02040503050406030204" pitchFamily="18" charset="0"/>
                                    </a:rPr>
                                    <m:t>𝐿</m:t>
                                  </m:r>
                                </m:sub>
                              </m:sSub>
                              <m:r>
                                <a:rPr lang="en-US" i="1" smtClean="0">
                                  <a:solidFill>
                                    <a:srgbClr val="000000"/>
                                  </a:solidFill>
                                  <a:latin typeface="Cambria Math" panose="02040503050406030204" pitchFamily="18" charset="0"/>
                                </a:rPr>
                                <m:t> </m:t>
                              </m:r>
                              <m:acc>
                                <m:accPr>
                                  <m:chr m:val="̃"/>
                                  <m:ctrlPr>
                                    <a:rPr lang="en-US" b="0" i="1" smtClean="0">
                                      <a:solidFill>
                                        <a:srgbClr val="000000"/>
                                      </a:solidFill>
                                      <a:latin typeface="Cambria Math" panose="02040503050406030204" pitchFamily="18" charset="0"/>
                                    </a:rPr>
                                  </m:ctrlPr>
                                </m:accPr>
                                <m:e>
                                  <m:r>
                                    <a:rPr lang="en-US" b="0" i="1" smtClean="0">
                                      <a:solidFill>
                                        <a:srgbClr val="000000"/>
                                      </a:solidFill>
                                      <a:latin typeface="Cambria Math" panose="02040503050406030204" pitchFamily="18" charset="0"/>
                                    </a:rPr>
                                    <m:t>𝑑</m:t>
                                  </m:r>
                                </m:e>
                              </m:acc>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𝑡</m:t>
                                  </m:r>
                                </m:e>
                              </m:d>
                              <m:r>
                                <a:rPr lang="en-US" b="0" i="1" smtClean="0">
                                  <a:solidFill>
                                    <a:srgbClr val="000000"/>
                                  </a:solidFill>
                                  <a:latin typeface="Cambria Math" panose="02040503050406030204" pitchFamily="18" charset="0"/>
                                </a:rPr>
                                <m:t>−</m:t>
                              </m:r>
                              <m:f>
                                <m:fPr>
                                  <m:ctrlPr>
                                    <a:rPr lang="en-US" b="0" i="1" smtClean="0">
                                      <a:solidFill>
                                        <a:srgbClr val="000000"/>
                                      </a:solidFill>
                                      <a:latin typeface="Cambria Math" panose="02040503050406030204" pitchFamily="18" charset="0"/>
                                    </a:rPr>
                                  </m:ctrlPr>
                                </m:fPr>
                                <m:num>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𝑢</m:t>
                                          </m:r>
                                        </m:e>
                                        <m:sub>
                                          <m:r>
                                            <a:rPr lang="en-US" b="0" i="1" smtClean="0">
                                              <a:solidFill>
                                                <a:srgbClr val="000000"/>
                                              </a:solidFill>
                                              <a:latin typeface="Cambria Math" panose="02040503050406030204" pitchFamily="18" charset="0"/>
                                            </a:rPr>
                                            <m:t>𝑜</m:t>
                                          </m:r>
                                        </m:sub>
                                      </m:sSub>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𝑡</m:t>
                                          </m:r>
                                        </m:e>
                                      </m:d>
                                    </m:e>
                                  </m:acc>
                                </m:num>
                                <m:den>
                                  <m:r>
                                    <a:rPr lang="en-US" b="0" i="1" smtClean="0">
                                      <a:solidFill>
                                        <a:srgbClr val="000000"/>
                                      </a:solidFill>
                                      <a:latin typeface="Cambria Math" panose="02040503050406030204" pitchFamily="18" charset="0"/>
                                    </a:rPr>
                                    <m:t>𝑅</m:t>
                                  </m:r>
                                </m:den>
                              </m:f>
                              <m:r>
                                <a:rPr lang="en-US" b="0" i="1" smtClean="0">
                                  <a:solidFill>
                                    <a:srgbClr val="000000"/>
                                  </a:solidFill>
                                  <a:latin typeface="Cambria Math" panose="02040503050406030204" pitchFamily="18" charset="0"/>
                                </a:rPr>
                                <m:t>+</m:t>
                              </m:r>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𝐷</m:t>
                                  </m:r>
                                </m:e>
                                <m:sup>
                                  <m:r>
                                    <a:rPr lang="en-US" b="0" i="1" smtClean="0">
                                      <a:solidFill>
                                        <a:srgbClr val="000000"/>
                                      </a:solidFill>
                                      <a:latin typeface="Cambria Math" panose="02040503050406030204" pitchFamily="18" charset="0"/>
                                    </a:rPr>
                                    <m:t>′</m:t>
                                  </m:r>
                                </m:sup>
                              </m:sSup>
                              <m:r>
                                <a:rPr lang="en-US" b="0" i="1" smtClean="0">
                                  <a:solidFill>
                                    <a:srgbClr val="000000"/>
                                  </a:solidFill>
                                  <a:latin typeface="Cambria Math" panose="02040503050406030204" pitchFamily="18" charset="0"/>
                                </a:rPr>
                                <m:t> </m:t>
                              </m:r>
                              <m:acc>
                                <m:accPr>
                                  <m:chr m:val="̃"/>
                                  <m:ctrlPr>
                                    <a:rPr lang="en-US" b="0" i="1" smtClean="0">
                                      <a:solidFill>
                                        <a:srgbClr val="000000"/>
                                      </a:solidFill>
                                      <a:latin typeface="Cambria Math" panose="02040503050406030204" pitchFamily="18" charset="0"/>
                                    </a:rPr>
                                  </m:ctrlPr>
                                </m:accPr>
                                <m:e>
                                  <m:sSub>
                                    <m:sSubPr>
                                      <m:ctrlPr>
                                        <a:rPr lang="en-US" b="0"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𝑖</m:t>
                                      </m:r>
                                    </m:e>
                                    <m:sub>
                                      <m:r>
                                        <a:rPr lang="en-US" b="0" i="1" smtClean="0">
                                          <a:solidFill>
                                            <a:srgbClr val="000000"/>
                                          </a:solidFill>
                                          <a:latin typeface="Cambria Math" panose="02040503050406030204" pitchFamily="18" charset="0"/>
                                        </a:rPr>
                                        <m:t>𝐿</m:t>
                                      </m:r>
                                    </m:sub>
                                  </m:sSub>
                                </m:e>
                              </m:acc>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𝑡</m:t>
                              </m:r>
                              <m:r>
                                <a:rPr lang="en-US" b="0" i="1" smtClean="0">
                                  <a:solidFill>
                                    <a:srgbClr val="000000"/>
                                  </a:solidFill>
                                  <a:latin typeface="Cambria Math" panose="02040503050406030204" pitchFamily="18" charset="0"/>
                                </a:rPr>
                                <m:t>)</m:t>
                              </m:r>
                            </m:e>
                          </m:eqArr>
                        </m:e>
                      </m:d>
                    </m:oMath>
                  </m:oMathPara>
                </a14:m>
                <a:endParaRPr lang="en-US"/>
              </a:p>
            </p:txBody>
          </p:sp>
        </mc:Choice>
        <mc:Fallback xmlns="">
          <p:sp>
            <p:nvSpPr>
              <p:cNvPr id="16" name="TextBox 15">
                <a:extLst>
                  <a:ext uri="{FF2B5EF4-FFF2-40B4-BE49-F238E27FC236}">
                    <a16:creationId xmlns:a16="http://schemas.microsoft.com/office/drawing/2014/main" id="{4C9E311D-817E-E437-1668-90EF7D69CF03}"/>
                  </a:ext>
                </a:extLst>
              </p:cNvPr>
              <p:cNvSpPr txBox="1">
                <a:spLocks noRot="1" noChangeAspect="1" noMove="1" noResize="1" noEditPoints="1" noAdjustHandles="1" noChangeArrowheads="1" noChangeShapeType="1" noTextEdit="1"/>
              </p:cNvSpPr>
              <p:nvPr/>
            </p:nvSpPr>
            <p:spPr>
              <a:xfrm>
                <a:off x="6600825" y="1739186"/>
                <a:ext cx="6094378" cy="134088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2311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B1C68-B8C4-EF5A-05A2-4DA56C1EA3AB}"/>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DA484A6F-0E2C-2ABB-5E22-11855CF91627}"/>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16</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87615905-C2BA-0672-8628-3903093B5DF1}"/>
              </a:ext>
            </a:extLst>
          </p:cNvPr>
          <p:cNvSpPr>
            <a:spLocks noGrp="1"/>
          </p:cNvSpPr>
          <p:nvPr>
            <p:ph type="title"/>
          </p:nvPr>
        </p:nvSpPr>
        <p:spPr/>
        <p:txBody>
          <a:bodyPr>
            <a:normAutofit fontScale="90000"/>
          </a:bodyPr>
          <a:lstStyle/>
          <a:p>
            <a:r>
              <a:rPr lang="en-US"/>
              <a:t>3. Mô hình hóa và tổng hợp bộ điều khiển PI</a:t>
            </a:r>
          </a:p>
        </p:txBody>
      </p:sp>
      <mc:AlternateContent xmlns:mc="http://schemas.openxmlformats.org/markup-compatibility/2006" xmlns:a14="http://schemas.microsoft.com/office/drawing/2010/main">
        <mc:Choice Requires="a14">
          <p:sp>
            <p:nvSpPr>
              <p:cNvPr id="17" name="TextBox 17">
                <a:extLst>
                  <a:ext uri="{FF2B5EF4-FFF2-40B4-BE49-F238E27FC236}">
                    <a16:creationId xmlns:a16="http://schemas.microsoft.com/office/drawing/2014/main" id="{5AECB22F-9CEB-3404-9843-0CCB69B50530}"/>
                  </a:ext>
                </a:extLst>
              </p:cNvPr>
              <p:cNvSpPr txBox="1"/>
              <p:nvPr/>
            </p:nvSpPr>
            <p:spPr>
              <a:xfrm>
                <a:off x="463360" y="1509287"/>
                <a:ext cx="10649139" cy="526939"/>
              </a:xfrm>
              <a:prstGeom prst="rect">
                <a:avLst/>
              </a:prstGeom>
              <a:noFill/>
            </p:spPr>
            <p:txBody>
              <a:bodyPr wrap="square" rtlCol="0">
                <a:spAutoFit/>
              </a:bodyPr>
              <a:lstStyle/>
              <a:p>
                <a:r>
                  <a:rPr lang="en-US" sz="2000">
                    <a:solidFill>
                      <a:prstClr val="black"/>
                    </a:solidFill>
                    <a:latin typeface="Calibri" panose="020F0502020204030204"/>
                  </a:rPr>
                  <a:t>Do mạch vòng dòng điện được thiết kế ở dải tần số cao nên dung kháng tụ điện </a:t>
                </a:r>
                <a14:m>
                  <m:oMath xmlns:m="http://schemas.openxmlformats.org/officeDocument/2006/math">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𝑍</m:t>
                        </m:r>
                      </m:e>
                      <m:sub>
                        <m:r>
                          <a:rPr lang="en-US" sz="2000" i="1" smtClean="0">
                            <a:solidFill>
                              <a:prstClr val="black"/>
                            </a:solidFill>
                            <a:latin typeface="Cambria Math" panose="02040503050406030204" pitchFamily="18" charset="0"/>
                          </a:rPr>
                          <m:t>𝑐</m:t>
                        </m:r>
                      </m:sub>
                    </m:sSub>
                    <m:r>
                      <a:rPr lang="en-US" sz="2000" i="1" smtClean="0">
                        <a:solidFill>
                          <a:prstClr val="black"/>
                        </a:solidFill>
                        <a:latin typeface="Cambria Math" panose="02040503050406030204" pitchFamily="18" charset="0"/>
                      </a:rPr>
                      <m:t>= </m:t>
                    </m:r>
                    <m:f>
                      <m:fPr>
                        <m:ctrlPr>
                          <a:rPr lang="en-US" sz="2000" i="1" smtClean="0">
                            <a:solidFill>
                              <a:prstClr val="black"/>
                            </a:solidFill>
                            <a:latin typeface="Cambria Math" panose="02040503050406030204" pitchFamily="18" charset="0"/>
                          </a:rPr>
                        </m:ctrlPr>
                      </m:fPr>
                      <m:num>
                        <m:r>
                          <a:rPr lang="en-US" sz="2000" i="1" smtClean="0">
                            <a:solidFill>
                              <a:prstClr val="black"/>
                            </a:solidFill>
                            <a:latin typeface="Cambria Math" panose="02040503050406030204" pitchFamily="18" charset="0"/>
                          </a:rPr>
                          <m:t>1</m:t>
                        </m:r>
                      </m:num>
                      <m:den>
                        <m:r>
                          <a:rPr lang="en-US" sz="2000" i="1" smtClean="0">
                            <a:solidFill>
                              <a:prstClr val="black"/>
                            </a:solidFill>
                            <a:latin typeface="Cambria Math" panose="02040503050406030204" pitchFamily="18" charset="0"/>
                            <a:ea typeface="Cambria Math" panose="02040503050406030204" pitchFamily="18" charset="0"/>
                          </a:rPr>
                          <m:t>𝜔</m:t>
                        </m:r>
                        <m:r>
                          <a:rPr lang="en-US" sz="2000" i="1" smtClean="0">
                            <a:solidFill>
                              <a:prstClr val="black"/>
                            </a:solidFill>
                            <a:latin typeface="Cambria Math" panose="02040503050406030204" pitchFamily="18" charset="0"/>
                            <a:ea typeface="Cambria Math" panose="02040503050406030204" pitchFamily="18" charset="0"/>
                          </a:rPr>
                          <m:t>𝐶</m:t>
                        </m:r>
                      </m:den>
                    </m:f>
                  </m:oMath>
                </a14:m>
                <a:r>
                  <a:rPr lang="en-US" sz="2000">
                    <a:solidFill>
                      <a:prstClr val="black"/>
                    </a:solidFill>
                    <a:latin typeface="Calibri" panose="020F0502020204030204"/>
                  </a:rPr>
                  <a:t> là rất nhỏ</a:t>
                </a:r>
              </a:p>
            </p:txBody>
          </p:sp>
        </mc:Choice>
        <mc:Fallback xmlns="">
          <p:sp>
            <p:nvSpPr>
              <p:cNvPr id="17" name="TextBox 17">
                <a:extLst>
                  <a:ext uri="{FF2B5EF4-FFF2-40B4-BE49-F238E27FC236}">
                    <a16:creationId xmlns:a16="http://schemas.microsoft.com/office/drawing/2014/main" id="{5AECB22F-9CEB-3404-9843-0CCB69B50530}"/>
                  </a:ext>
                </a:extLst>
              </p:cNvPr>
              <p:cNvSpPr txBox="1">
                <a:spLocks noRot="1" noChangeAspect="1" noMove="1" noResize="1" noEditPoints="1" noAdjustHandles="1" noChangeArrowheads="1" noChangeShapeType="1" noTextEdit="1"/>
              </p:cNvSpPr>
              <p:nvPr/>
            </p:nvSpPr>
            <p:spPr>
              <a:xfrm>
                <a:off x="463360" y="1509287"/>
                <a:ext cx="10649139" cy="526939"/>
              </a:xfrm>
              <a:prstGeom prst="rect">
                <a:avLst/>
              </a:prstGeom>
              <a:blipFill>
                <a:blip r:embed="rId2"/>
                <a:stretch>
                  <a:fillRect l="-572"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1">
                <a:extLst>
                  <a:ext uri="{FF2B5EF4-FFF2-40B4-BE49-F238E27FC236}">
                    <a16:creationId xmlns:a16="http://schemas.microsoft.com/office/drawing/2014/main" id="{4E712B26-5DA3-EDDA-F345-BB8474EB3439}"/>
                  </a:ext>
                </a:extLst>
              </p:cNvPr>
              <p:cNvSpPr txBox="1"/>
              <p:nvPr/>
            </p:nvSpPr>
            <p:spPr>
              <a:xfrm>
                <a:off x="463359" y="2041986"/>
                <a:ext cx="10649139" cy="400110"/>
              </a:xfrm>
              <a:prstGeom prst="rect">
                <a:avLst/>
              </a:prstGeom>
              <a:noFill/>
            </p:spPr>
            <p:txBody>
              <a:bodyPr wrap="square" rtlCol="0">
                <a:spAutoFit/>
              </a:bodyPr>
              <a:lstStyle/>
              <a:p>
                <a14:m>
                  <m:oMath xmlns:m="http://schemas.openxmlformats.org/officeDocument/2006/math">
                    <m:r>
                      <a:rPr lang="en-US" sz="2000" i="1" smtClean="0">
                        <a:solidFill>
                          <a:prstClr val="black"/>
                        </a:solidFill>
                        <a:latin typeface="Cambria Math" panose="02040503050406030204" pitchFamily="18" charset="0"/>
                        <a:ea typeface="Cambria Math" panose="02040503050406030204" pitchFamily="18" charset="0"/>
                      </a:rPr>
                      <m:t>→</m:t>
                    </m:r>
                  </m:oMath>
                </a14:m>
                <a:r>
                  <a:rPr lang="en-US" sz="2000">
                    <a:solidFill>
                      <a:prstClr val="black"/>
                    </a:solidFill>
                    <a:latin typeface="Calibri" panose="020F0502020204030204"/>
                  </a:rPr>
                  <a:t> Có thể coi tụ điện là ngắn mạch </a:t>
                </a:r>
                <a14:m>
                  <m:oMath xmlns:m="http://schemas.openxmlformats.org/officeDocument/2006/math">
                    <m:r>
                      <a:rPr lang="en-US" sz="2000" i="1" smtClean="0">
                        <a:solidFill>
                          <a:prstClr val="black"/>
                        </a:solidFill>
                        <a:latin typeface="Cambria Math" panose="02040503050406030204" pitchFamily="18" charset="0"/>
                        <a:ea typeface="Cambria Math" panose="02040503050406030204" pitchFamily="18" charset="0"/>
                      </a:rPr>
                      <m:t>→</m:t>
                    </m:r>
                  </m:oMath>
                </a14:m>
                <a:r>
                  <a:rPr lang="en-US" sz="2000">
                    <a:solidFill>
                      <a:prstClr val="black"/>
                    </a:solidFill>
                    <a:latin typeface="Calibri" panose="020F0502020204030204"/>
                  </a:rPr>
                  <a:t> </a:t>
                </a:r>
                <a14:m>
                  <m:oMath xmlns:m="http://schemas.openxmlformats.org/officeDocument/2006/math">
                    <m:acc>
                      <m:accPr>
                        <m:chr m:val="̃"/>
                        <m:ctrlPr>
                          <a:rPr lang="en-US" sz="2000" i="1" smtClean="0">
                            <a:solidFill>
                              <a:prstClr val="black"/>
                            </a:solidFill>
                            <a:latin typeface="Cambria Math" panose="02040503050406030204" pitchFamily="18" charset="0"/>
                          </a:rPr>
                        </m:ctrlPr>
                      </m:accPr>
                      <m:e>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𝑣</m:t>
                            </m:r>
                          </m:e>
                          <m:sub>
                            <m:r>
                              <a:rPr lang="en-US" sz="2000" i="1" smtClean="0">
                                <a:solidFill>
                                  <a:prstClr val="black"/>
                                </a:solidFill>
                                <a:latin typeface="Cambria Math" panose="02040503050406030204" pitchFamily="18" charset="0"/>
                              </a:rPr>
                              <m:t>0</m:t>
                            </m:r>
                          </m:sub>
                        </m:sSub>
                      </m:e>
                    </m:acc>
                    <m:r>
                      <a:rPr lang="en-US" sz="2000" i="1" smtClean="0">
                        <a:solidFill>
                          <a:prstClr val="black"/>
                        </a:solidFill>
                        <a:latin typeface="Cambria Math" panose="02040503050406030204" pitchFamily="18" charset="0"/>
                      </a:rPr>
                      <m:t> </m:t>
                    </m:r>
                    <m:d>
                      <m:dPr>
                        <m:ctrlPr>
                          <a:rPr lang="en-US" sz="2000" i="1" smtClean="0">
                            <a:solidFill>
                              <a:prstClr val="black"/>
                            </a:solidFill>
                            <a:latin typeface="Cambria Math" panose="02040503050406030204" pitchFamily="18" charset="0"/>
                          </a:rPr>
                        </m:ctrlPr>
                      </m:dPr>
                      <m:e>
                        <m:r>
                          <a:rPr lang="en-US" sz="2000" i="1" smtClean="0">
                            <a:solidFill>
                              <a:prstClr val="black"/>
                            </a:solidFill>
                            <a:latin typeface="Cambria Math" panose="02040503050406030204" pitchFamily="18" charset="0"/>
                          </a:rPr>
                          <m:t>𝑠</m:t>
                        </m:r>
                      </m:e>
                    </m:d>
                    <m:r>
                      <a:rPr lang="en-US" sz="2000" i="1" smtClean="0">
                        <a:solidFill>
                          <a:prstClr val="black"/>
                        </a:solidFill>
                        <a:latin typeface="Cambria Math" panose="02040503050406030204" pitchFamily="18" charset="0"/>
                      </a:rPr>
                      <m:t>=0</m:t>
                    </m:r>
                  </m:oMath>
                </a14:m>
                <a:r>
                  <a:rPr lang="en-US" sz="2000">
                    <a:solidFill>
                      <a:prstClr val="black"/>
                    </a:solidFill>
                    <a:latin typeface="Calibri" panose="020F0502020204030204"/>
                  </a:rPr>
                  <a:t> </a:t>
                </a:r>
              </a:p>
            </p:txBody>
          </p:sp>
        </mc:Choice>
        <mc:Fallback xmlns="">
          <p:sp>
            <p:nvSpPr>
              <p:cNvPr id="18" name="TextBox 11">
                <a:extLst>
                  <a:ext uri="{FF2B5EF4-FFF2-40B4-BE49-F238E27FC236}">
                    <a16:creationId xmlns:a16="http://schemas.microsoft.com/office/drawing/2014/main" id="{4E712B26-5DA3-EDDA-F345-BB8474EB3439}"/>
                  </a:ext>
                </a:extLst>
              </p:cNvPr>
              <p:cNvSpPr txBox="1">
                <a:spLocks noRot="1" noChangeAspect="1" noMove="1" noResize="1" noEditPoints="1" noAdjustHandles="1" noChangeArrowheads="1" noChangeShapeType="1" noTextEdit="1"/>
              </p:cNvSpPr>
              <p:nvPr/>
            </p:nvSpPr>
            <p:spPr>
              <a:xfrm>
                <a:off x="463359" y="2041986"/>
                <a:ext cx="10649139" cy="400110"/>
              </a:xfrm>
              <a:prstGeom prst="rect">
                <a:avLst/>
              </a:prstGeom>
              <a:blipFill>
                <a:blip r:embed="rId3"/>
                <a:stretch>
                  <a:fillRect t="-9091" b="-25758"/>
                </a:stretch>
              </a:blipFill>
            </p:spPr>
            <p:txBody>
              <a:bodyPr/>
              <a:lstStyle/>
              <a:p>
                <a:r>
                  <a:rPr lang="en-US">
                    <a:noFill/>
                  </a:rPr>
                  <a:t> </a:t>
                </a:r>
              </a:p>
            </p:txBody>
          </p:sp>
        </mc:Fallback>
      </mc:AlternateContent>
      <p:sp>
        <p:nvSpPr>
          <p:cNvPr id="19" name="TextBox 13">
            <a:extLst>
              <a:ext uri="{FF2B5EF4-FFF2-40B4-BE49-F238E27FC236}">
                <a16:creationId xmlns:a16="http://schemas.microsoft.com/office/drawing/2014/main" id="{B43B3562-5E1A-6FA5-1FF2-AD688F1DEC96}"/>
              </a:ext>
            </a:extLst>
          </p:cNvPr>
          <p:cNvSpPr txBox="1"/>
          <p:nvPr/>
        </p:nvSpPr>
        <p:spPr>
          <a:xfrm>
            <a:off x="463358" y="2516350"/>
            <a:ext cx="10649139" cy="400110"/>
          </a:xfrm>
          <a:prstGeom prst="rect">
            <a:avLst/>
          </a:prstGeom>
          <a:noFill/>
        </p:spPr>
        <p:txBody>
          <a:bodyPr wrap="square" rtlCol="0">
            <a:spAutoFit/>
          </a:bodyPr>
          <a:lstStyle/>
          <a:p>
            <a:r>
              <a:rPr lang="en-US" sz="2000">
                <a:solidFill>
                  <a:prstClr val="black"/>
                </a:solidFill>
                <a:latin typeface="Calibri" panose="020F0502020204030204"/>
              </a:rPr>
              <a:t>Khi đó, phương trình (1) trở thành:</a:t>
            </a:r>
          </a:p>
        </p:txBody>
      </p:sp>
      <p:pic>
        <p:nvPicPr>
          <p:cNvPr id="20" name="Picture 4">
            <a:extLst>
              <a:ext uri="{FF2B5EF4-FFF2-40B4-BE49-F238E27FC236}">
                <a16:creationId xmlns:a16="http://schemas.microsoft.com/office/drawing/2014/main" id="{1B8A6E3F-C8EC-D8DD-3616-E6CD5A39F5D0}"/>
              </a:ext>
            </a:extLst>
          </p:cNvPr>
          <p:cNvPicPr>
            <a:picLocks noChangeAspect="1"/>
          </p:cNvPicPr>
          <p:nvPr/>
        </p:nvPicPr>
        <p:blipFill>
          <a:blip r:embed="rId4"/>
          <a:stretch>
            <a:fillRect/>
          </a:stretch>
        </p:blipFill>
        <p:spPr>
          <a:xfrm>
            <a:off x="698499" y="2959029"/>
            <a:ext cx="2641601" cy="455991"/>
          </a:xfrm>
          <a:prstGeom prst="rect">
            <a:avLst/>
          </a:prstGeom>
        </p:spPr>
      </p:pic>
      <p:sp>
        <p:nvSpPr>
          <p:cNvPr id="21" name="TextBox 16">
            <a:extLst>
              <a:ext uri="{FF2B5EF4-FFF2-40B4-BE49-F238E27FC236}">
                <a16:creationId xmlns:a16="http://schemas.microsoft.com/office/drawing/2014/main" id="{7BB1C1CB-4303-C41E-F75D-FDAB1CB51435}"/>
              </a:ext>
            </a:extLst>
          </p:cNvPr>
          <p:cNvSpPr txBox="1"/>
          <p:nvPr/>
        </p:nvSpPr>
        <p:spPr>
          <a:xfrm>
            <a:off x="463358" y="3438498"/>
            <a:ext cx="10649139" cy="400110"/>
          </a:xfrm>
          <a:prstGeom prst="rect">
            <a:avLst/>
          </a:prstGeom>
          <a:noFill/>
        </p:spPr>
        <p:txBody>
          <a:bodyPr wrap="square" rtlCol="0">
            <a:spAutoFit/>
          </a:bodyPr>
          <a:lstStyle/>
          <a:p>
            <a:r>
              <a:rPr lang="en-US" sz="2000" err="1">
                <a:solidFill>
                  <a:prstClr val="black"/>
                </a:solidFill>
                <a:latin typeface="Calibri" panose="020F0502020204030204"/>
              </a:rPr>
              <a:t>Hàm</a:t>
            </a:r>
            <a:r>
              <a:rPr lang="en-US" sz="2000">
                <a:solidFill>
                  <a:prstClr val="black"/>
                </a:solidFill>
                <a:latin typeface="Calibri" panose="020F0502020204030204"/>
              </a:rPr>
              <a:t> </a:t>
            </a:r>
            <a:r>
              <a:rPr lang="en-US" sz="2000" err="1">
                <a:solidFill>
                  <a:prstClr val="black"/>
                </a:solidFill>
                <a:latin typeface="Calibri" panose="020F0502020204030204"/>
              </a:rPr>
              <a:t>truyền</a:t>
            </a:r>
            <a:r>
              <a:rPr lang="en-US" sz="2000">
                <a:solidFill>
                  <a:prstClr val="black"/>
                </a:solidFill>
                <a:latin typeface="Calibri" panose="020F0502020204030204"/>
              </a:rPr>
              <a:t> </a:t>
            </a:r>
            <a:r>
              <a:rPr lang="en-US" sz="2000" err="1">
                <a:solidFill>
                  <a:prstClr val="black"/>
                </a:solidFill>
                <a:latin typeface="Calibri" panose="020F0502020204030204"/>
              </a:rPr>
              <a:t>từ</a:t>
            </a:r>
            <a:r>
              <a:rPr lang="en-US" sz="2000">
                <a:solidFill>
                  <a:prstClr val="black"/>
                </a:solidFill>
                <a:latin typeface="Calibri" panose="020F0502020204030204"/>
              </a:rPr>
              <a:t> </a:t>
            </a:r>
            <a:r>
              <a:rPr lang="en-US" sz="2000" err="1">
                <a:solidFill>
                  <a:prstClr val="black"/>
                </a:solidFill>
                <a:latin typeface="Calibri" panose="020F0502020204030204"/>
              </a:rPr>
              <a:t>hệ</a:t>
            </a:r>
            <a:r>
              <a:rPr lang="en-US" sz="2000">
                <a:solidFill>
                  <a:prstClr val="black"/>
                </a:solidFill>
                <a:latin typeface="Calibri" panose="020F0502020204030204"/>
              </a:rPr>
              <a:t> </a:t>
            </a:r>
            <a:r>
              <a:rPr lang="en-US" sz="2000" err="1">
                <a:solidFill>
                  <a:prstClr val="black"/>
                </a:solidFill>
                <a:latin typeface="Calibri" panose="020F0502020204030204"/>
              </a:rPr>
              <a:t>số</a:t>
            </a:r>
            <a:r>
              <a:rPr lang="en-US" sz="2000">
                <a:solidFill>
                  <a:prstClr val="black"/>
                </a:solidFill>
                <a:latin typeface="Calibri" panose="020F0502020204030204"/>
              </a:rPr>
              <a:t> </a:t>
            </a:r>
            <a:r>
              <a:rPr lang="en-US" sz="2000" err="1">
                <a:solidFill>
                  <a:prstClr val="black"/>
                </a:solidFill>
                <a:latin typeface="Calibri" panose="020F0502020204030204"/>
              </a:rPr>
              <a:t>điều</a:t>
            </a:r>
            <a:r>
              <a:rPr lang="en-US" sz="2000">
                <a:solidFill>
                  <a:prstClr val="black"/>
                </a:solidFill>
                <a:latin typeface="Calibri" panose="020F0502020204030204"/>
              </a:rPr>
              <a:t> </a:t>
            </a:r>
            <a:r>
              <a:rPr lang="en-US" sz="2000" err="1">
                <a:solidFill>
                  <a:prstClr val="black"/>
                </a:solidFill>
                <a:latin typeface="Calibri" panose="020F0502020204030204"/>
              </a:rPr>
              <a:t>chế</a:t>
            </a:r>
            <a:r>
              <a:rPr lang="en-US" sz="2000">
                <a:solidFill>
                  <a:prstClr val="black"/>
                </a:solidFill>
                <a:latin typeface="Calibri" panose="020F0502020204030204"/>
              </a:rPr>
              <a:t> </a:t>
            </a:r>
            <a:r>
              <a:rPr lang="en-US" sz="2000" err="1">
                <a:solidFill>
                  <a:prstClr val="black"/>
                </a:solidFill>
                <a:latin typeface="Calibri" panose="020F0502020204030204"/>
              </a:rPr>
              <a:t>đến</a:t>
            </a:r>
            <a:r>
              <a:rPr lang="en-US" sz="2000">
                <a:solidFill>
                  <a:prstClr val="black"/>
                </a:solidFill>
                <a:latin typeface="Calibri" panose="020F0502020204030204"/>
              </a:rPr>
              <a:t> </a:t>
            </a:r>
            <a:r>
              <a:rPr lang="en-US" sz="2000" err="1">
                <a:solidFill>
                  <a:prstClr val="black"/>
                </a:solidFill>
                <a:latin typeface="Calibri" panose="020F0502020204030204"/>
              </a:rPr>
              <a:t>dòng</a:t>
            </a:r>
            <a:r>
              <a:rPr lang="en-US" sz="2000">
                <a:solidFill>
                  <a:prstClr val="black"/>
                </a:solidFill>
                <a:latin typeface="Calibri" panose="020F0502020204030204"/>
              </a:rPr>
              <a:t> </a:t>
            </a:r>
            <a:r>
              <a:rPr lang="en-US" sz="2000" err="1">
                <a:solidFill>
                  <a:prstClr val="black"/>
                </a:solidFill>
                <a:latin typeface="Calibri" panose="020F0502020204030204"/>
              </a:rPr>
              <a:t>điện</a:t>
            </a:r>
            <a:endParaRPr lang="en-US" sz="2000">
              <a:solidFill>
                <a:prstClr val="black"/>
              </a:solidFill>
              <a:latin typeface="Calibri" panose="020F0502020204030204"/>
            </a:endParaRPr>
          </a:p>
        </p:txBody>
      </p:sp>
      <p:pic>
        <p:nvPicPr>
          <p:cNvPr id="22" name="Picture 7">
            <a:extLst>
              <a:ext uri="{FF2B5EF4-FFF2-40B4-BE49-F238E27FC236}">
                <a16:creationId xmlns:a16="http://schemas.microsoft.com/office/drawing/2014/main" id="{F2B740B7-FE6E-3183-C675-03475ACD833F}"/>
              </a:ext>
            </a:extLst>
          </p:cNvPr>
          <p:cNvPicPr>
            <a:picLocks noChangeAspect="1"/>
          </p:cNvPicPr>
          <p:nvPr/>
        </p:nvPicPr>
        <p:blipFill>
          <a:blip r:embed="rId5"/>
          <a:stretch>
            <a:fillRect/>
          </a:stretch>
        </p:blipFill>
        <p:spPr>
          <a:xfrm>
            <a:off x="698499" y="3835451"/>
            <a:ext cx="2857501" cy="825868"/>
          </a:xfrm>
          <a:prstGeom prst="rect">
            <a:avLst/>
          </a:prstGeom>
        </p:spPr>
      </p:pic>
      <mc:AlternateContent xmlns:mc="http://schemas.openxmlformats.org/markup-compatibility/2006" xmlns:a14="http://schemas.microsoft.com/office/drawing/2010/main">
        <mc:Choice Requires="a14">
          <p:sp>
            <p:nvSpPr>
              <p:cNvPr id="23" name="TextBox 18">
                <a:extLst>
                  <a:ext uri="{FF2B5EF4-FFF2-40B4-BE49-F238E27FC236}">
                    <a16:creationId xmlns:a16="http://schemas.microsoft.com/office/drawing/2014/main" id="{0AC997FC-797E-22EA-D655-8707DD98DB6A}"/>
                  </a:ext>
                </a:extLst>
              </p:cNvPr>
              <p:cNvSpPr txBox="1"/>
              <p:nvPr/>
            </p:nvSpPr>
            <p:spPr>
              <a:xfrm>
                <a:off x="463358" y="1078952"/>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solidFill>
                      <a:prstClr val="black"/>
                    </a:solidFill>
                    <a:latin typeface="Calibri" panose="020F0502020204030204"/>
                  </a:rPr>
                  <a:t>Tính toán hàm truyền </a:t>
                </a:r>
                <a14:m>
                  <m:oMath xmlns:m="http://schemas.openxmlformats.org/officeDocument/2006/math">
                    <m:sSub>
                      <m:sSubPr>
                        <m:ctrlPr>
                          <a:rPr lang="en-US" sz="2000" i="1" smtClean="0">
                            <a:solidFill>
                              <a:prstClr val="black"/>
                            </a:solidFill>
                            <a:latin typeface="Cambria Math" panose="02040503050406030204" pitchFamily="18" charset="0"/>
                          </a:rPr>
                        </m:ctrlPr>
                      </m:sSubPr>
                      <m:e>
                        <m:r>
                          <a:rPr lang="en-US" sz="2000" i="1" smtClean="0">
                            <a:solidFill>
                              <a:prstClr val="black"/>
                            </a:solidFill>
                            <a:latin typeface="Cambria Math" panose="02040503050406030204" pitchFamily="18" charset="0"/>
                          </a:rPr>
                          <m:t>𝐺</m:t>
                        </m:r>
                      </m:e>
                      <m:sub>
                        <m:r>
                          <a:rPr lang="en-US" sz="2000" i="1" smtClean="0">
                            <a:solidFill>
                              <a:prstClr val="black"/>
                            </a:solidFill>
                            <a:latin typeface="Cambria Math" panose="02040503050406030204" pitchFamily="18" charset="0"/>
                          </a:rPr>
                          <m:t>𝑖𝑑</m:t>
                        </m:r>
                      </m:sub>
                    </m:sSub>
                    <m:r>
                      <a:rPr lang="en-US" sz="2000" i="1" smtClean="0">
                        <a:solidFill>
                          <a:prstClr val="black"/>
                        </a:solidFill>
                        <a:latin typeface="Cambria Math" panose="02040503050406030204" pitchFamily="18" charset="0"/>
                      </a:rPr>
                      <m:t>(</m:t>
                    </m:r>
                    <m:r>
                      <a:rPr lang="en-US" sz="2000" i="1" smtClean="0">
                        <a:solidFill>
                          <a:prstClr val="black"/>
                        </a:solidFill>
                        <a:latin typeface="Cambria Math" panose="02040503050406030204" pitchFamily="18" charset="0"/>
                      </a:rPr>
                      <m:t>𝑠</m:t>
                    </m:r>
                    <m:r>
                      <a:rPr lang="en-US" sz="2000" i="1" smtClean="0">
                        <a:solidFill>
                          <a:prstClr val="black"/>
                        </a:solidFill>
                        <a:latin typeface="Cambria Math" panose="02040503050406030204" pitchFamily="18" charset="0"/>
                      </a:rPr>
                      <m:t>)</m:t>
                    </m:r>
                  </m:oMath>
                </a14:m>
                <a:endParaRPr lang="en-US" sz="2000">
                  <a:solidFill>
                    <a:prstClr val="black"/>
                  </a:solidFill>
                  <a:latin typeface="Calibri" panose="020F0502020204030204"/>
                </a:endParaRPr>
              </a:p>
            </p:txBody>
          </p:sp>
        </mc:Choice>
        <mc:Fallback xmlns="">
          <p:sp>
            <p:nvSpPr>
              <p:cNvPr id="23" name="TextBox 18">
                <a:extLst>
                  <a:ext uri="{FF2B5EF4-FFF2-40B4-BE49-F238E27FC236}">
                    <a16:creationId xmlns:a16="http://schemas.microsoft.com/office/drawing/2014/main" id="{0AC997FC-797E-22EA-D655-8707DD98DB6A}"/>
                  </a:ext>
                </a:extLst>
              </p:cNvPr>
              <p:cNvSpPr txBox="1">
                <a:spLocks noRot="1" noChangeAspect="1" noMove="1" noResize="1" noEditPoints="1" noAdjustHandles="1" noChangeArrowheads="1" noChangeShapeType="1" noTextEdit="1"/>
              </p:cNvSpPr>
              <p:nvPr/>
            </p:nvSpPr>
            <p:spPr>
              <a:xfrm>
                <a:off x="463358" y="1078952"/>
                <a:ext cx="10649139" cy="400110"/>
              </a:xfrm>
              <a:prstGeom prst="rect">
                <a:avLst/>
              </a:prstGeom>
              <a:blipFill>
                <a:blip r:embed="rId6"/>
                <a:stretch>
                  <a:fillRect l="-515" t="-9091" b="-25758"/>
                </a:stretch>
              </a:blipFill>
            </p:spPr>
            <p:txBody>
              <a:bodyPr/>
              <a:lstStyle/>
              <a:p>
                <a:r>
                  <a:rPr lang="en-US">
                    <a:noFill/>
                  </a:rPr>
                  <a:t> </a:t>
                </a:r>
              </a:p>
            </p:txBody>
          </p:sp>
        </mc:Fallback>
      </mc:AlternateContent>
      <p:cxnSp>
        <p:nvCxnSpPr>
          <p:cNvPr id="26" name="Straight Connector 23">
            <a:extLst>
              <a:ext uri="{FF2B5EF4-FFF2-40B4-BE49-F238E27FC236}">
                <a16:creationId xmlns:a16="http://schemas.microsoft.com/office/drawing/2014/main" id="{789C4431-638A-2599-AACE-5DE3CF39B567}"/>
              </a:ext>
            </a:extLst>
          </p:cNvPr>
          <p:cNvCxnSpPr>
            <a:cxnSpLocks/>
          </p:cNvCxnSpPr>
          <p:nvPr/>
        </p:nvCxnSpPr>
        <p:spPr>
          <a:xfrm flipV="1">
            <a:off x="10088812" y="4082828"/>
            <a:ext cx="269449" cy="365309"/>
          </a:xfrm>
          <a:prstGeom prst="line">
            <a:avLst/>
          </a:prstGeom>
          <a:ln/>
        </p:spPr>
        <p:style>
          <a:lnRef idx="1">
            <a:schemeClr val="accent2"/>
          </a:lnRef>
          <a:fillRef idx="0">
            <a:schemeClr val="accent2"/>
          </a:fillRef>
          <a:effectRef idx="0">
            <a:schemeClr val="accent2"/>
          </a:effectRef>
          <a:fontRef idx="minor">
            <a:schemeClr val="tx1"/>
          </a:fontRef>
        </p:style>
      </p:cxnSp>
      <p:sp>
        <p:nvSpPr>
          <p:cNvPr id="27" name="TextBox 27">
            <a:extLst>
              <a:ext uri="{FF2B5EF4-FFF2-40B4-BE49-F238E27FC236}">
                <a16:creationId xmlns:a16="http://schemas.microsoft.com/office/drawing/2014/main" id="{5DE54CB6-10F8-C8F9-B831-9C5748DA43E3}"/>
              </a:ext>
            </a:extLst>
          </p:cNvPr>
          <p:cNvSpPr txBox="1"/>
          <p:nvPr/>
        </p:nvSpPr>
        <p:spPr>
          <a:xfrm>
            <a:off x="6488112" y="5387231"/>
            <a:ext cx="4349750" cy="707886"/>
          </a:xfrm>
          <a:prstGeom prst="rect">
            <a:avLst/>
          </a:prstGeom>
          <a:noFill/>
        </p:spPr>
        <p:txBody>
          <a:bodyPr wrap="square" rtlCol="0">
            <a:spAutoFit/>
          </a:bodyPr>
          <a:lstStyle/>
          <a:p>
            <a:pPr algn="ctr"/>
            <a:r>
              <a:rPr lang="en-US" sz="2000">
                <a:solidFill>
                  <a:prstClr val="black"/>
                </a:solidFill>
                <a:latin typeface="Calibri" panose="020F0502020204030204"/>
              </a:rPr>
              <a:t>Hình 2.1. Sơ đồ Boost PFC đơn giản hóa khi ngắn mạch tụ điện</a:t>
            </a:r>
          </a:p>
        </p:txBody>
      </p:sp>
      <p:sp>
        <p:nvSpPr>
          <p:cNvPr id="28" name="Hộp Văn bản 27">
            <a:extLst>
              <a:ext uri="{FF2B5EF4-FFF2-40B4-BE49-F238E27FC236}">
                <a16:creationId xmlns:a16="http://schemas.microsoft.com/office/drawing/2014/main" id="{260C77E9-BEF2-1A23-D7FC-E90EAD14E7A1}"/>
              </a:ext>
            </a:extLst>
          </p:cNvPr>
          <p:cNvSpPr txBox="1"/>
          <p:nvPr/>
        </p:nvSpPr>
        <p:spPr>
          <a:xfrm>
            <a:off x="962025" y="4882596"/>
            <a:ext cx="4175058" cy="646331"/>
          </a:xfrm>
          <a:prstGeom prst="rect">
            <a:avLst/>
          </a:prstGeom>
          <a:noFill/>
        </p:spPr>
        <p:txBody>
          <a:bodyPr wrap="square" rtlCol="0">
            <a:spAutoFit/>
          </a:bodyPr>
          <a:lstStyle/>
          <a:p>
            <a:r>
              <a:rPr lang="en-US">
                <a:solidFill>
                  <a:srgbClr val="FF0000"/>
                </a:solidFill>
              </a:rPr>
              <a:t>Đây là khâu tích phân</a:t>
            </a:r>
          </a:p>
          <a:p>
            <a:r>
              <a:rPr lang="en-US">
                <a:solidFill>
                  <a:srgbClr val="FF0000"/>
                </a:solidFill>
              </a:rPr>
              <a:t>=&gt;Ta sử dụng bộ điều khiển PI</a:t>
            </a:r>
          </a:p>
        </p:txBody>
      </p:sp>
      <p:cxnSp>
        <p:nvCxnSpPr>
          <p:cNvPr id="33" name="Straight Connector 32">
            <a:extLst>
              <a:ext uri="{FF2B5EF4-FFF2-40B4-BE49-F238E27FC236}">
                <a16:creationId xmlns:a16="http://schemas.microsoft.com/office/drawing/2014/main" id="{8AD0A1A6-6ED0-EDFA-BD98-73DB22889D47}"/>
              </a:ext>
            </a:extLst>
          </p:cNvPr>
          <p:cNvCxnSpPr>
            <a:cxnSpLocks/>
          </p:cNvCxnSpPr>
          <p:nvPr/>
        </p:nvCxnSpPr>
        <p:spPr>
          <a:xfrm>
            <a:off x="10233265" y="3813308"/>
            <a:ext cx="603811" cy="449905"/>
          </a:xfrm>
          <a:prstGeom prst="line">
            <a:avLst/>
          </a:prstGeom>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id="{34F41144-A6D2-1443-3B9C-6C420E3E36F2}"/>
              </a:ext>
            </a:extLst>
          </p:cNvPr>
          <p:cNvPicPr>
            <a:picLocks noChangeAspect="1"/>
          </p:cNvPicPr>
          <p:nvPr/>
        </p:nvPicPr>
        <p:blipFill>
          <a:blip r:embed="rId7"/>
          <a:stretch>
            <a:fillRect/>
          </a:stretch>
        </p:blipFill>
        <p:spPr>
          <a:xfrm>
            <a:off x="5575302" y="2097264"/>
            <a:ext cx="6553200" cy="3276600"/>
          </a:xfrm>
          <a:prstGeom prst="rect">
            <a:avLst/>
          </a:prstGeom>
        </p:spPr>
      </p:pic>
    </p:spTree>
    <p:extLst>
      <p:ext uri="{BB962C8B-B14F-4D97-AF65-F5344CB8AC3E}">
        <p14:creationId xmlns:p14="http://schemas.microsoft.com/office/powerpoint/2010/main" val="2256708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13519-C623-4638-CA8B-B284F9759FD3}"/>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FA6D88D-AB72-004B-5757-D4B2212BC626}"/>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17</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5E73D753-5BCB-D35C-2E6C-E0A62A68CABA}"/>
              </a:ext>
            </a:extLst>
          </p:cNvPr>
          <p:cNvSpPr>
            <a:spLocks noGrp="1"/>
          </p:cNvSpPr>
          <p:nvPr>
            <p:ph type="title"/>
          </p:nvPr>
        </p:nvSpPr>
        <p:spPr/>
        <p:txBody>
          <a:bodyPr>
            <a:normAutofit fontScale="90000"/>
          </a:bodyPr>
          <a:lstStyle/>
          <a:p>
            <a:r>
              <a:rPr lang="en-US"/>
              <a:t>3. Mô hình hóa và tổng hợp bộ điều khiển PI</a:t>
            </a:r>
          </a:p>
        </p:txBody>
      </p:sp>
      <p:pic>
        <p:nvPicPr>
          <p:cNvPr id="7" name="Hình ảnh 6">
            <a:extLst>
              <a:ext uri="{FF2B5EF4-FFF2-40B4-BE49-F238E27FC236}">
                <a16:creationId xmlns:a16="http://schemas.microsoft.com/office/drawing/2014/main" id="{3844347E-DD09-75D2-C056-7742D61D7528}"/>
              </a:ext>
            </a:extLst>
          </p:cNvPr>
          <p:cNvPicPr>
            <a:picLocks noChangeAspect="1"/>
          </p:cNvPicPr>
          <p:nvPr/>
        </p:nvPicPr>
        <p:blipFill>
          <a:blip r:embed="rId2"/>
          <a:srcRect l="10083" t="4786" r="8500" b="4445"/>
          <a:stretch/>
        </p:blipFill>
        <p:spPr>
          <a:xfrm>
            <a:off x="163637" y="867057"/>
            <a:ext cx="8525946" cy="5319733"/>
          </a:xfrm>
          <a:prstGeom prst="rect">
            <a:avLst/>
          </a:prstGeom>
        </p:spPr>
      </p:pic>
      <p:sp>
        <p:nvSpPr>
          <p:cNvPr id="8" name="Hộp Văn bản 7">
            <a:extLst>
              <a:ext uri="{FF2B5EF4-FFF2-40B4-BE49-F238E27FC236}">
                <a16:creationId xmlns:a16="http://schemas.microsoft.com/office/drawing/2014/main" id="{51505F94-CA76-A6AD-1253-FE829AB5E201}"/>
              </a:ext>
            </a:extLst>
          </p:cNvPr>
          <p:cNvSpPr txBox="1"/>
          <p:nvPr/>
        </p:nvSpPr>
        <p:spPr>
          <a:xfrm>
            <a:off x="8996116" y="2591166"/>
            <a:ext cx="2857148" cy="1477328"/>
          </a:xfrm>
          <a:prstGeom prst="rect">
            <a:avLst/>
          </a:prstGeom>
          <a:noFill/>
          <a:ln w="12700">
            <a:solidFill>
              <a:schemeClr val="accent1">
                <a:lumMod val="60000"/>
                <a:lumOff val="40000"/>
              </a:schemeClr>
            </a:solidFill>
          </a:ln>
        </p:spPr>
        <p:txBody>
          <a:bodyPr wrap="square" rtlCol="0">
            <a:spAutoFit/>
          </a:bodyPr>
          <a:lstStyle/>
          <a:p>
            <a:r>
              <a:rPr lang="en-US"/>
              <a:t>Như trên đồ thị bode ta thấy được tại tần số cao thì 2 đồ thị của hàm truyền trước và sau hạ bậc hoàn toàn trùng lên nhau</a:t>
            </a:r>
          </a:p>
        </p:txBody>
      </p:sp>
    </p:spTree>
    <p:extLst>
      <p:ext uri="{BB962C8B-B14F-4D97-AF65-F5344CB8AC3E}">
        <p14:creationId xmlns:p14="http://schemas.microsoft.com/office/powerpoint/2010/main" val="3295568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DE99A-C509-AA36-757E-9E7097676F81}"/>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54A43BE0-4FDE-FE54-D07D-C19A92A1C53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18</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DBF3E2A1-E082-C676-96F9-36F3611FC681}"/>
              </a:ext>
            </a:extLst>
          </p:cNvPr>
          <p:cNvSpPr>
            <a:spLocks noGrp="1"/>
          </p:cNvSpPr>
          <p:nvPr>
            <p:ph type="title"/>
          </p:nvPr>
        </p:nvSpPr>
        <p:spPr/>
        <p:txBody>
          <a:bodyPr>
            <a:normAutofit fontScale="90000"/>
          </a:bodyPr>
          <a:lstStyle/>
          <a:p>
            <a:r>
              <a:rPr lang="en-US"/>
              <a:t>3. Mô hình hóa và tổng hợp bộ điều khiển PI</a:t>
            </a:r>
          </a:p>
        </p:txBody>
      </p:sp>
      <p:sp>
        <p:nvSpPr>
          <p:cNvPr id="2" name="TextBox 18">
            <a:extLst>
              <a:ext uri="{FF2B5EF4-FFF2-40B4-BE49-F238E27FC236}">
                <a16:creationId xmlns:a16="http://schemas.microsoft.com/office/drawing/2014/main" id="{D8307959-889B-8C9F-D04A-D68C4C02C9FC}"/>
              </a:ext>
            </a:extLst>
          </p:cNvPr>
          <p:cNvSpPr txBox="1"/>
          <p:nvPr/>
        </p:nvSpPr>
        <p:spPr>
          <a:xfrm>
            <a:off x="463358" y="1078952"/>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Thiết kế mạch vòng dòng điện</a:t>
            </a:r>
          </a:p>
        </p:txBody>
      </p:sp>
      <p:sp>
        <p:nvSpPr>
          <p:cNvPr id="3" name="TextBox 14">
            <a:extLst>
              <a:ext uri="{FF2B5EF4-FFF2-40B4-BE49-F238E27FC236}">
                <a16:creationId xmlns:a16="http://schemas.microsoft.com/office/drawing/2014/main" id="{60AA2FD5-4068-715C-E5AE-8E165BFC6967}"/>
              </a:ext>
            </a:extLst>
          </p:cNvPr>
          <p:cNvSpPr txBox="1"/>
          <p:nvPr/>
        </p:nvSpPr>
        <p:spPr>
          <a:xfrm>
            <a:off x="463359" y="1479062"/>
            <a:ext cx="5059138" cy="400110"/>
          </a:xfrm>
          <a:prstGeom prst="rect">
            <a:avLst/>
          </a:prstGeom>
          <a:noFill/>
        </p:spPr>
        <p:txBody>
          <a:bodyPr wrap="square" rtlCol="0">
            <a:spAutoFit/>
          </a:bodyPr>
          <a:lstStyle/>
          <a:p>
            <a:r>
              <a:rPr lang="en-US" sz="2000"/>
              <a:t>Hàm truyền từ hệ số điều chế đến dòng điện</a:t>
            </a:r>
          </a:p>
        </p:txBody>
      </p:sp>
      <p:pic>
        <p:nvPicPr>
          <p:cNvPr id="4" name="Picture 20">
            <a:extLst>
              <a:ext uri="{FF2B5EF4-FFF2-40B4-BE49-F238E27FC236}">
                <a16:creationId xmlns:a16="http://schemas.microsoft.com/office/drawing/2014/main" id="{CE51EB32-8357-147C-9D00-E0DEB896D5DE}"/>
              </a:ext>
            </a:extLst>
          </p:cNvPr>
          <p:cNvPicPr>
            <a:picLocks noChangeAspect="1"/>
          </p:cNvPicPr>
          <p:nvPr/>
        </p:nvPicPr>
        <p:blipFill>
          <a:blip r:embed="rId2"/>
          <a:stretch>
            <a:fillRect/>
          </a:stretch>
        </p:blipFill>
        <p:spPr>
          <a:xfrm>
            <a:off x="698499" y="1876015"/>
            <a:ext cx="2742533" cy="792640"/>
          </a:xfrm>
          <a:prstGeom prst="rect">
            <a:avLst/>
          </a:prstGeom>
        </p:spPr>
      </p:pic>
      <p:sp>
        <p:nvSpPr>
          <p:cNvPr id="8" name="TextBox 22">
            <a:extLst>
              <a:ext uri="{FF2B5EF4-FFF2-40B4-BE49-F238E27FC236}">
                <a16:creationId xmlns:a16="http://schemas.microsoft.com/office/drawing/2014/main" id="{22980F26-4ED1-C70E-5EC9-5E9BE83BD8DA}"/>
              </a:ext>
            </a:extLst>
          </p:cNvPr>
          <p:cNvSpPr txBox="1"/>
          <p:nvPr/>
        </p:nvSpPr>
        <p:spPr>
          <a:xfrm>
            <a:off x="463358" y="3229501"/>
            <a:ext cx="6269975" cy="400110"/>
          </a:xfrm>
          <a:prstGeom prst="rect">
            <a:avLst/>
          </a:prstGeom>
          <a:noFill/>
        </p:spPr>
        <p:txBody>
          <a:bodyPr wrap="square" rtlCol="0">
            <a:spAutoFit/>
          </a:bodyPr>
          <a:lstStyle/>
          <a:p>
            <a:r>
              <a:rPr lang="en-US" sz="2000"/>
              <a:t>Hàm truyền mạch vòng kín mạch vòng dòng điện</a:t>
            </a:r>
          </a:p>
        </p:txBody>
      </p:sp>
      <p:pic>
        <p:nvPicPr>
          <p:cNvPr id="9" name="Picture 4">
            <a:extLst>
              <a:ext uri="{FF2B5EF4-FFF2-40B4-BE49-F238E27FC236}">
                <a16:creationId xmlns:a16="http://schemas.microsoft.com/office/drawing/2014/main" id="{0046EDF0-F94B-EA46-688D-12CDCA4A2F9A}"/>
              </a:ext>
            </a:extLst>
          </p:cNvPr>
          <p:cNvPicPr>
            <a:picLocks noChangeAspect="1"/>
          </p:cNvPicPr>
          <p:nvPr/>
        </p:nvPicPr>
        <p:blipFill>
          <a:blip r:embed="rId3"/>
          <a:stretch>
            <a:fillRect/>
          </a:stretch>
        </p:blipFill>
        <p:spPr>
          <a:xfrm>
            <a:off x="698499" y="3525108"/>
            <a:ext cx="6269974" cy="1237125"/>
          </a:xfrm>
          <a:prstGeom prst="rect">
            <a:avLst/>
          </a:prstGeom>
        </p:spPr>
      </p:pic>
      <p:sp>
        <p:nvSpPr>
          <p:cNvPr id="11" name="TextBox 23">
            <a:extLst>
              <a:ext uri="{FF2B5EF4-FFF2-40B4-BE49-F238E27FC236}">
                <a16:creationId xmlns:a16="http://schemas.microsoft.com/office/drawing/2014/main" id="{86FF50A3-601A-153F-EEFA-42C39BC8CDF1}"/>
              </a:ext>
            </a:extLst>
          </p:cNvPr>
          <p:cNvSpPr txBox="1"/>
          <p:nvPr/>
        </p:nvSpPr>
        <p:spPr>
          <a:xfrm>
            <a:off x="463358" y="4779778"/>
            <a:ext cx="5059138" cy="400110"/>
          </a:xfrm>
          <a:prstGeom prst="rect">
            <a:avLst/>
          </a:prstGeom>
          <a:noFill/>
        </p:spPr>
        <p:txBody>
          <a:bodyPr wrap="square" rtlCol="0">
            <a:spAutoFit/>
          </a:bodyPr>
          <a:lstStyle/>
          <a:p>
            <a:r>
              <a:rPr lang="en-US" sz="2000"/>
              <a:t>So sánh với khâu dao động bậc 2 chuẩn</a:t>
            </a:r>
          </a:p>
        </p:txBody>
      </p:sp>
      <p:pic>
        <p:nvPicPr>
          <p:cNvPr id="12" name="Picture 7">
            <a:extLst>
              <a:ext uri="{FF2B5EF4-FFF2-40B4-BE49-F238E27FC236}">
                <a16:creationId xmlns:a16="http://schemas.microsoft.com/office/drawing/2014/main" id="{33E0F443-B483-B040-294F-5AD0998EE19D}"/>
              </a:ext>
            </a:extLst>
          </p:cNvPr>
          <p:cNvPicPr>
            <a:picLocks noChangeAspect="1"/>
          </p:cNvPicPr>
          <p:nvPr/>
        </p:nvPicPr>
        <p:blipFill>
          <a:blip r:embed="rId4"/>
          <a:stretch>
            <a:fillRect/>
          </a:stretch>
        </p:blipFill>
        <p:spPr>
          <a:xfrm>
            <a:off x="698499" y="5197432"/>
            <a:ext cx="2646280" cy="817941"/>
          </a:xfrm>
          <a:prstGeom prst="rect">
            <a:avLst/>
          </a:prstGeom>
        </p:spPr>
      </p:pic>
      <mc:AlternateContent xmlns:mc="http://schemas.openxmlformats.org/markup-compatibility/2006" xmlns:a14="http://schemas.microsoft.com/office/drawing/2010/main">
        <mc:Choice Requires="a14">
          <p:sp>
            <p:nvSpPr>
              <p:cNvPr id="13" name="TextBox 26">
                <a:extLst>
                  <a:ext uri="{FF2B5EF4-FFF2-40B4-BE49-F238E27FC236}">
                    <a16:creationId xmlns:a16="http://schemas.microsoft.com/office/drawing/2014/main" id="{E3440AD2-34B5-382A-0D02-3CC2C6CD354F}"/>
                  </a:ext>
                </a:extLst>
              </p:cNvPr>
              <p:cNvSpPr txBox="1"/>
              <p:nvPr/>
            </p:nvSpPr>
            <p:spPr>
              <a:xfrm>
                <a:off x="3788085" y="5161336"/>
                <a:ext cx="5059138" cy="1015663"/>
              </a:xfrm>
              <a:prstGeom prst="rect">
                <a:avLst/>
              </a:prstGeom>
              <a:noFill/>
            </p:spPr>
            <p:txBody>
              <a:bodyPr wrap="square" rtlCol="0">
                <a:spAutoFit/>
              </a:bodyPr>
              <a:lstStyle/>
              <a:p>
                <a:r>
                  <a:rPr lang="en-US" sz="2000"/>
                  <a:t>Trong đó:</a:t>
                </a:r>
              </a:p>
              <a:p>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𝑛</m:t>
                        </m:r>
                      </m:sub>
                    </m:sSub>
                  </m:oMath>
                </a14:m>
                <a:r>
                  <a:rPr lang="en-US" sz="2000"/>
                  <a:t> là tần số dao động riêng </a:t>
                </a:r>
              </a:p>
              <a:p>
                <a14:m>
                  <m:oMath xmlns:m="http://schemas.openxmlformats.org/officeDocument/2006/math">
                    <m:r>
                      <a:rPr lang="en-US" sz="2000" i="1" smtClean="0">
                        <a:latin typeface="Cambria Math" panose="02040503050406030204" pitchFamily="18" charset="0"/>
                        <a:ea typeface="Cambria Math" panose="02040503050406030204" pitchFamily="18" charset="0"/>
                      </a:rPr>
                      <m:t>𝜉</m:t>
                    </m:r>
                  </m:oMath>
                </a14:m>
                <a:r>
                  <a:rPr lang="en-US" sz="2000"/>
                  <a:t> là hệ số tắt dần (</a:t>
                </a:r>
                <a14:m>
                  <m:oMath xmlns:m="http://schemas.openxmlformats.org/officeDocument/2006/math">
                    <m:r>
                      <a:rPr lang="en-US" sz="2000" i="1">
                        <a:latin typeface="Cambria Math" panose="02040503050406030204" pitchFamily="18" charset="0"/>
                        <a:ea typeface="Cambria Math" panose="02040503050406030204" pitchFamily="18" charset="0"/>
                      </a:rPr>
                      <m:t>𝜉</m:t>
                    </m:r>
                  </m:oMath>
                </a14:m>
                <a:r>
                  <a:rPr lang="en-US" sz="2000"/>
                  <a:t> = 0.707)</a:t>
                </a:r>
              </a:p>
            </p:txBody>
          </p:sp>
        </mc:Choice>
        <mc:Fallback xmlns="">
          <p:sp>
            <p:nvSpPr>
              <p:cNvPr id="13" name="TextBox 26">
                <a:extLst>
                  <a:ext uri="{FF2B5EF4-FFF2-40B4-BE49-F238E27FC236}">
                    <a16:creationId xmlns:a16="http://schemas.microsoft.com/office/drawing/2014/main" id="{E3440AD2-34B5-382A-0D02-3CC2C6CD354F}"/>
                  </a:ext>
                </a:extLst>
              </p:cNvPr>
              <p:cNvSpPr txBox="1">
                <a:spLocks noRot="1" noChangeAspect="1" noMove="1" noResize="1" noEditPoints="1" noAdjustHandles="1" noChangeArrowheads="1" noChangeShapeType="1" noTextEdit="1"/>
              </p:cNvSpPr>
              <p:nvPr/>
            </p:nvSpPr>
            <p:spPr>
              <a:xfrm>
                <a:off x="3788085" y="5161336"/>
                <a:ext cx="5059138" cy="1015663"/>
              </a:xfrm>
              <a:prstGeom prst="rect">
                <a:avLst/>
              </a:prstGeom>
              <a:blipFill>
                <a:blip r:embed="rId5"/>
                <a:stretch>
                  <a:fillRect l="-1205" t="-3614" b="-10241"/>
                </a:stretch>
              </a:blipFill>
            </p:spPr>
            <p:txBody>
              <a:bodyPr/>
              <a:lstStyle/>
              <a:p>
                <a:r>
                  <a:rPr lang="en-US">
                    <a:noFill/>
                  </a:rPr>
                  <a:t> </a:t>
                </a:r>
              </a:p>
            </p:txBody>
          </p:sp>
        </mc:Fallback>
      </mc:AlternateContent>
      <p:sp>
        <p:nvSpPr>
          <p:cNvPr id="14" name="TextBox 27">
            <a:extLst>
              <a:ext uri="{FF2B5EF4-FFF2-40B4-BE49-F238E27FC236}">
                <a16:creationId xmlns:a16="http://schemas.microsoft.com/office/drawing/2014/main" id="{139989B9-0D85-6F8B-4DAF-E35F416A881A}"/>
              </a:ext>
            </a:extLst>
          </p:cNvPr>
          <p:cNvSpPr txBox="1"/>
          <p:nvPr/>
        </p:nvSpPr>
        <p:spPr>
          <a:xfrm>
            <a:off x="7353443" y="1489123"/>
            <a:ext cx="4838557" cy="400110"/>
          </a:xfrm>
          <a:prstGeom prst="rect">
            <a:avLst/>
          </a:prstGeom>
          <a:noFill/>
        </p:spPr>
        <p:txBody>
          <a:bodyPr wrap="square" rtlCol="0">
            <a:spAutoFit/>
          </a:bodyPr>
          <a:lstStyle/>
          <a:p>
            <a:r>
              <a:rPr lang="en-US" sz="2000"/>
              <a:t>Đồng nhất hệ số 2 vế, ta thu được:</a:t>
            </a:r>
          </a:p>
        </p:txBody>
      </p:sp>
      <p:pic>
        <p:nvPicPr>
          <p:cNvPr id="15" name="Picture 10">
            <a:extLst>
              <a:ext uri="{FF2B5EF4-FFF2-40B4-BE49-F238E27FC236}">
                <a16:creationId xmlns:a16="http://schemas.microsoft.com/office/drawing/2014/main" id="{413C66B0-ED8E-B3C6-74A8-EC8BF8E7A744}"/>
              </a:ext>
            </a:extLst>
          </p:cNvPr>
          <p:cNvPicPr>
            <a:picLocks noChangeAspect="1"/>
          </p:cNvPicPr>
          <p:nvPr/>
        </p:nvPicPr>
        <p:blipFill>
          <a:blip r:embed="rId6"/>
          <a:stretch>
            <a:fillRect/>
          </a:stretch>
        </p:blipFill>
        <p:spPr>
          <a:xfrm>
            <a:off x="7572856" y="1899294"/>
            <a:ext cx="1583655" cy="1434254"/>
          </a:xfrm>
          <a:prstGeom prst="rect">
            <a:avLst/>
          </a:prstGeom>
        </p:spPr>
      </p:pic>
      <p:pic>
        <p:nvPicPr>
          <p:cNvPr id="16" name="Picture 28">
            <a:extLst>
              <a:ext uri="{FF2B5EF4-FFF2-40B4-BE49-F238E27FC236}">
                <a16:creationId xmlns:a16="http://schemas.microsoft.com/office/drawing/2014/main" id="{B8B53373-DF7D-279E-2A50-2010AFEF42D5}"/>
              </a:ext>
            </a:extLst>
          </p:cNvPr>
          <p:cNvPicPr>
            <a:picLocks noChangeAspect="1"/>
          </p:cNvPicPr>
          <p:nvPr/>
        </p:nvPicPr>
        <p:blipFill>
          <a:blip r:embed="rId7"/>
          <a:stretch>
            <a:fillRect/>
          </a:stretch>
        </p:blipFill>
        <p:spPr>
          <a:xfrm>
            <a:off x="9772721" y="1889233"/>
            <a:ext cx="1392104" cy="1435608"/>
          </a:xfrm>
          <a:prstGeom prst="rect">
            <a:avLst/>
          </a:prstGeom>
        </p:spPr>
      </p:pic>
      <p:sp>
        <p:nvSpPr>
          <p:cNvPr id="17" name="Arrow: Right 29">
            <a:extLst>
              <a:ext uri="{FF2B5EF4-FFF2-40B4-BE49-F238E27FC236}">
                <a16:creationId xmlns:a16="http://schemas.microsoft.com/office/drawing/2014/main" id="{D8D18E19-2DDE-3AD6-5798-EA3DF9EC9420}"/>
              </a:ext>
            </a:extLst>
          </p:cNvPr>
          <p:cNvSpPr/>
          <p:nvPr/>
        </p:nvSpPr>
        <p:spPr>
          <a:xfrm>
            <a:off x="9282009" y="2526632"/>
            <a:ext cx="388089" cy="130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52">
            <a:extLst>
              <a:ext uri="{FF2B5EF4-FFF2-40B4-BE49-F238E27FC236}">
                <a16:creationId xmlns:a16="http://schemas.microsoft.com/office/drawing/2014/main" id="{CAE4F76B-6317-7156-328D-DCCC5C8EE575}"/>
              </a:ext>
            </a:extLst>
          </p:cNvPr>
          <p:cNvGrpSpPr/>
          <p:nvPr/>
        </p:nvGrpSpPr>
        <p:grpSpPr>
          <a:xfrm>
            <a:off x="7189512" y="3891490"/>
            <a:ext cx="4573082" cy="1493798"/>
            <a:chOff x="7195930" y="3667538"/>
            <a:chExt cx="4573082" cy="1493798"/>
          </a:xfrm>
        </p:grpSpPr>
        <p:cxnSp>
          <p:nvCxnSpPr>
            <p:cNvPr id="19" name="Straight Arrow Connector 31">
              <a:extLst>
                <a:ext uri="{FF2B5EF4-FFF2-40B4-BE49-F238E27FC236}">
                  <a16:creationId xmlns:a16="http://schemas.microsoft.com/office/drawing/2014/main" id="{5E6FB330-E13C-666D-5153-47D8BBC16FD8}"/>
                </a:ext>
              </a:extLst>
            </p:cNvPr>
            <p:cNvCxnSpPr/>
            <p:nvPr/>
          </p:nvCxnSpPr>
          <p:spPr>
            <a:xfrm>
              <a:off x="7353443" y="4113905"/>
              <a:ext cx="70638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Oval 32">
              <a:extLst>
                <a:ext uri="{FF2B5EF4-FFF2-40B4-BE49-F238E27FC236}">
                  <a16:creationId xmlns:a16="http://schemas.microsoft.com/office/drawing/2014/main" id="{33CCE6D6-F5F7-E5E6-0D59-0FF0AC4C6077}"/>
                </a:ext>
              </a:extLst>
            </p:cNvPr>
            <p:cNvSpPr/>
            <p:nvPr/>
          </p:nvSpPr>
          <p:spPr>
            <a:xfrm>
              <a:off x="8069767" y="3935878"/>
              <a:ext cx="367748" cy="3478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34">
              <a:extLst>
                <a:ext uri="{FF2B5EF4-FFF2-40B4-BE49-F238E27FC236}">
                  <a16:creationId xmlns:a16="http://schemas.microsoft.com/office/drawing/2014/main" id="{30C19CAE-3185-9E7E-2757-2CC0F5AA6AE0}"/>
                </a:ext>
              </a:extLst>
            </p:cNvPr>
            <p:cNvCxnSpPr>
              <a:stCxn id="20" idx="6"/>
            </p:cNvCxnSpPr>
            <p:nvPr/>
          </p:nvCxnSpPr>
          <p:spPr>
            <a:xfrm>
              <a:off x="8437515" y="4109813"/>
              <a:ext cx="7189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tangle 35">
                  <a:extLst>
                    <a:ext uri="{FF2B5EF4-FFF2-40B4-BE49-F238E27FC236}">
                      <a16:creationId xmlns:a16="http://schemas.microsoft.com/office/drawing/2014/main" id="{03DB57E2-DD9C-0991-649D-0F331D16F289}"/>
                    </a:ext>
                  </a:extLst>
                </p:cNvPr>
                <p:cNvSpPr/>
                <p:nvPr/>
              </p:nvSpPr>
              <p:spPr>
                <a:xfrm>
                  <a:off x="10339877" y="3809045"/>
                  <a:ext cx="824948" cy="601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0</m:t>
                                </m:r>
                              </m:sub>
                            </m:sSub>
                          </m:num>
                          <m:den>
                            <m:r>
                              <a:rPr lang="en-US" b="0" i="1" smtClean="0">
                                <a:solidFill>
                                  <a:schemeClr val="tx1"/>
                                </a:solidFill>
                                <a:latin typeface="Cambria Math" panose="02040503050406030204" pitchFamily="18" charset="0"/>
                              </a:rPr>
                              <m:t>𝐿𝑠</m:t>
                            </m:r>
                          </m:den>
                        </m:f>
                      </m:oMath>
                    </m:oMathPara>
                  </a14:m>
                  <a:endParaRPr lang="en-US">
                    <a:solidFill>
                      <a:schemeClr val="tx1"/>
                    </a:solidFill>
                  </a:endParaRPr>
                </a:p>
              </p:txBody>
            </p:sp>
          </mc:Choice>
          <mc:Fallback xmlns="">
            <p:sp>
              <p:nvSpPr>
                <p:cNvPr id="22" name="Rectangle 35">
                  <a:extLst>
                    <a:ext uri="{FF2B5EF4-FFF2-40B4-BE49-F238E27FC236}">
                      <a16:creationId xmlns:a16="http://schemas.microsoft.com/office/drawing/2014/main" id="{03DB57E2-DD9C-0991-649D-0F331D16F289}"/>
                    </a:ext>
                  </a:extLst>
                </p:cNvPr>
                <p:cNvSpPr>
                  <a:spLocks noRot="1" noChangeAspect="1" noMove="1" noResize="1" noEditPoints="1" noAdjustHandles="1" noChangeArrowheads="1" noChangeShapeType="1" noTextEdit="1"/>
                </p:cNvSpPr>
                <p:nvPr/>
              </p:nvSpPr>
              <p:spPr>
                <a:xfrm>
                  <a:off x="10339877" y="3809045"/>
                  <a:ext cx="824948" cy="601535"/>
                </a:xfrm>
                <a:prstGeom prst="rect">
                  <a:avLst/>
                </a:prstGeom>
                <a:blipFill>
                  <a:blip r:embed="rId8"/>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36">
                  <a:extLst>
                    <a:ext uri="{FF2B5EF4-FFF2-40B4-BE49-F238E27FC236}">
                      <a16:creationId xmlns:a16="http://schemas.microsoft.com/office/drawing/2014/main" id="{79DA86EE-2CAF-0265-72E7-0E16460EDB3A}"/>
                    </a:ext>
                  </a:extLst>
                </p:cNvPr>
                <p:cNvSpPr/>
                <p:nvPr/>
              </p:nvSpPr>
              <p:spPr>
                <a:xfrm>
                  <a:off x="9156511" y="3811916"/>
                  <a:ext cx="824948" cy="601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𝑃</m:t>
                        </m:r>
                        <m:r>
                          <a:rPr lang="en-US" b="0" i="1" smtClean="0">
                            <a:solidFill>
                              <a:schemeClr val="tx1"/>
                            </a:solidFill>
                            <a:latin typeface="Cambria Math" panose="02040503050406030204" pitchFamily="18" charset="0"/>
                          </a:rPr>
                          <m:t>𝐼</m:t>
                        </m:r>
                      </m:oMath>
                    </m:oMathPara>
                  </a14:m>
                  <a:endParaRPr lang="en-US">
                    <a:solidFill>
                      <a:schemeClr val="tx1"/>
                    </a:solidFill>
                  </a:endParaRPr>
                </a:p>
              </p:txBody>
            </p:sp>
          </mc:Choice>
          <mc:Fallback xmlns="">
            <p:sp>
              <p:nvSpPr>
                <p:cNvPr id="23" name="Rectangle 36">
                  <a:extLst>
                    <a:ext uri="{FF2B5EF4-FFF2-40B4-BE49-F238E27FC236}">
                      <a16:creationId xmlns:a16="http://schemas.microsoft.com/office/drawing/2014/main" id="{79DA86EE-2CAF-0265-72E7-0E16460EDB3A}"/>
                    </a:ext>
                  </a:extLst>
                </p:cNvPr>
                <p:cNvSpPr>
                  <a:spLocks noRot="1" noChangeAspect="1" noMove="1" noResize="1" noEditPoints="1" noAdjustHandles="1" noChangeArrowheads="1" noChangeShapeType="1" noTextEdit="1"/>
                </p:cNvSpPr>
                <p:nvPr/>
              </p:nvSpPr>
              <p:spPr>
                <a:xfrm>
                  <a:off x="9156511" y="3811916"/>
                  <a:ext cx="824948" cy="601535"/>
                </a:xfrm>
                <a:prstGeom prst="rect">
                  <a:avLst/>
                </a:prstGeom>
                <a:blipFill>
                  <a:blip r:embed="rId9"/>
                  <a:stretch>
                    <a:fillRect/>
                  </a:stretch>
                </a:blipFill>
                <a:ln>
                  <a:solidFill>
                    <a:schemeClr val="tx1"/>
                  </a:solidFill>
                </a:ln>
              </p:spPr>
              <p:txBody>
                <a:bodyPr/>
                <a:lstStyle/>
                <a:p>
                  <a:r>
                    <a:rPr lang="en-US">
                      <a:noFill/>
                    </a:rPr>
                    <a:t> </a:t>
                  </a:r>
                </a:p>
              </p:txBody>
            </p:sp>
          </mc:Fallback>
        </mc:AlternateContent>
        <p:cxnSp>
          <p:nvCxnSpPr>
            <p:cNvPr id="24" name="Straight Connector 38">
              <a:extLst>
                <a:ext uri="{FF2B5EF4-FFF2-40B4-BE49-F238E27FC236}">
                  <a16:creationId xmlns:a16="http://schemas.microsoft.com/office/drawing/2014/main" id="{6C55F37E-990E-BEE1-FB89-6F9D7E37D15F}"/>
                </a:ext>
              </a:extLst>
            </p:cNvPr>
            <p:cNvCxnSpPr>
              <a:stCxn id="23" idx="3"/>
              <a:endCxn id="22" idx="1"/>
            </p:cNvCxnSpPr>
            <p:nvPr/>
          </p:nvCxnSpPr>
          <p:spPr>
            <a:xfrm flipV="1">
              <a:off x="9981459" y="4109813"/>
              <a:ext cx="358418" cy="28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40">
              <a:extLst>
                <a:ext uri="{FF2B5EF4-FFF2-40B4-BE49-F238E27FC236}">
                  <a16:creationId xmlns:a16="http://schemas.microsoft.com/office/drawing/2014/main" id="{06B89B98-F5AB-473B-C416-0826EA89BC14}"/>
                </a:ext>
              </a:extLst>
            </p:cNvPr>
            <p:cNvCxnSpPr>
              <a:stCxn id="22" idx="3"/>
            </p:cNvCxnSpPr>
            <p:nvPr/>
          </p:nvCxnSpPr>
          <p:spPr>
            <a:xfrm flipV="1">
              <a:off x="11164825" y="4109812"/>
              <a:ext cx="56334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42">
              <a:extLst>
                <a:ext uri="{FF2B5EF4-FFF2-40B4-BE49-F238E27FC236}">
                  <a16:creationId xmlns:a16="http://schemas.microsoft.com/office/drawing/2014/main" id="{BE518FBC-8837-D7CC-5CCA-91E46D791435}"/>
                </a:ext>
              </a:extLst>
            </p:cNvPr>
            <p:cNvCxnSpPr>
              <a:cxnSpLocks/>
            </p:cNvCxnSpPr>
            <p:nvPr/>
          </p:nvCxnSpPr>
          <p:spPr>
            <a:xfrm flipV="1">
              <a:off x="8253641" y="4283748"/>
              <a:ext cx="0" cy="8775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44">
              <a:extLst>
                <a:ext uri="{FF2B5EF4-FFF2-40B4-BE49-F238E27FC236}">
                  <a16:creationId xmlns:a16="http://schemas.microsoft.com/office/drawing/2014/main" id="{267FBD8E-B4D2-3DFD-EB84-5BCF259DE1A7}"/>
                </a:ext>
              </a:extLst>
            </p:cNvPr>
            <p:cNvCxnSpPr/>
            <p:nvPr/>
          </p:nvCxnSpPr>
          <p:spPr>
            <a:xfrm>
              <a:off x="8253641" y="5161336"/>
              <a:ext cx="31928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46">
              <a:extLst>
                <a:ext uri="{FF2B5EF4-FFF2-40B4-BE49-F238E27FC236}">
                  <a16:creationId xmlns:a16="http://schemas.microsoft.com/office/drawing/2014/main" id="{64EAC71D-9F48-CFBD-E6E8-3046017D2E2B}"/>
                </a:ext>
              </a:extLst>
            </p:cNvPr>
            <p:cNvCxnSpPr/>
            <p:nvPr/>
          </p:nvCxnSpPr>
          <p:spPr>
            <a:xfrm flipV="1">
              <a:off x="11446499" y="4109812"/>
              <a:ext cx="0" cy="1051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47">
              <a:extLst>
                <a:ext uri="{FF2B5EF4-FFF2-40B4-BE49-F238E27FC236}">
                  <a16:creationId xmlns:a16="http://schemas.microsoft.com/office/drawing/2014/main" id="{82084FCB-D980-BF1E-8EFE-0087070C32ED}"/>
                </a:ext>
              </a:extLst>
            </p:cNvPr>
            <p:cNvSpPr txBox="1"/>
            <p:nvPr/>
          </p:nvSpPr>
          <p:spPr>
            <a:xfrm>
              <a:off x="7817104" y="3667538"/>
              <a:ext cx="433513" cy="369332"/>
            </a:xfrm>
            <a:prstGeom prst="rect">
              <a:avLst/>
            </a:prstGeom>
            <a:noFill/>
          </p:spPr>
          <p:txBody>
            <a:bodyPr wrap="square" rtlCol="0">
              <a:spAutoFit/>
            </a:bodyPr>
            <a:lstStyle/>
            <a:p>
              <a:r>
                <a:rPr lang="en-US"/>
                <a:t>+</a:t>
              </a:r>
            </a:p>
          </p:txBody>
        </p:sp>
        <p:sp>
          <p:nvSpPr>
            <p:cNvPr id="30" name="TextBox 48">
              <a:extLst>
                <a:ext uri="{FF2B5EF4-FFF2-40B4-BE49-F238E27FC236}">
                  <a16:creationId xmlns:a16="http://schemas.microsoft.com/office/drawing/2014/main" id="{CE8928F2-90E8-68FE-2BF8-B28DA8531EF5}"/>
                </a:ext>
              </a:extLst>
            </p:cNvPr>
            <p:cNvSpPr txBox="1"/>
            <p:nvPr/>
          </p:nvSpPr>
          <p:spPr>
            <a:xfrm>
              <a:off x="7928083" y="4286980"/>
              <a:ext cx="433513" cy="369332"/>
            </a:xfrm>
            <a:prstGeom prst="rect">
              <a:avLst/>
            </a:prstGeom>
            <a:noFill/>
          </p:spPr>
          <p:txBody>
            <a:bodyPr wrap="square" rtlCol="0">
              <a:spAutoFit/>
            </a:bodyPr>
            <a:lstStyle/>
            <a:p>
              <a:r>
                <a:rPr lang="en-US"/>
                <a:t>-</a:t>
              </a:r>
            </a:p>
          </p:txBody>
        </p:sp>
        <mc:AlternateContent xmlns:mc="http://schemas.openxmlformats.org/markup-compatibility/2006" xmlns:a14="http://schemas.microsoft.com/office/drawing/2010/main">
          <mc:Choice Requires="a14">
            <p:sp>
              <p:nvSpPr>
                <p:cNvPr id="31" name="TextBox 49">
                  <a:extLst>
                    <a:ext uri="{FF2B5EF4-FFF2-40B4-BE49-F238E27FC236}">
                      <a16:creationId xmlns:a16="http://schemas.microsoft.com/office/drawing/2014/main" id="{88C00384-19CB-FAEF-89D6-82F8ED242B49}"/>
                    </a:ext>
                  </a:extLst>
                </p:cNvPr>
                <p:cNvSpPr txBox="1"/>
                <p:nvPr/>
              </p:nvSpPr>
              <p:spPr>
                <a:xfrm>
                  <a:off x="7195930" y="3667538"/>
                  <a:ext cx="491539" cy="401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Sup>
                              <m:sSubSupPr>
                                <m:ctrlPr>
                                  <a:rPr lang="en-US" i="1">
                                    <a:latin typeface="Cambria Math" panose="02040503050406030204" pitchFamily="18" charset="0"/>
                                  </a:rPr>
                                </m:ctrlPr>
                              </m:sSubSupPr>
                              <m:e>
                                <m:r>
                                  <a:rPr lang="en-US" i="1">
                                    <a:latin typeface="Cambria Math" panose="02040503050406030204" pitchFamily="18" charset="0"/>
                                  </a:rPr>
                                  <m:t>𝑖</m:t>
                                </m:r>
                              </m:e>
                              <m:sub>
                                <m:r>
                                  <a:rPr lang="en-US" i="1">
                                    <a:latin typeface="Cambria Math" panose="02040503050406030204" pitchFamily="18" charset="0"/>
                                  </a:rPr>
                                  <m:t>𝐿</m:t>
                                </m:r>
                              </m:sub>
                              <m:sup>
                                <m:r>
                                  <a:rPr lang="en-US" i="1">
                                    <a:latin typeface="Cambria Math" panose="02040503050406030204" pitchFamily="18" charset="0"/>
                                  </a:rPr>
                                  <m:t>∗</m:t>
                                </m:r>
                              </m:sup>
                            </m:sSubSup>
                            <m:r>
                              <m:rPr>
                                <m:nor/>
                              </m:rPr>
                              <a:rPr lang="en-US" i="0"/>
                              <m:t> </m:t>
                            </m:r>
                          </m:e>
                        </m:acc>
                      </m:oMath>
                    </m:oMathPara>
                  </a14:m>
                  <a:endParaRPr lang="en-US"/>
                </a:p>
              </p:txBody>
            </p:sp>
          </mc:Choice>
          <mc:Fallback xmlns="">
            <p:sp>
              <p:nvSpPr>
                <p:cNvPr id="31" name="TextBox 49">
                  <a:extLst>
                    <a:ext uri="{FF2B5EF4-FFF2-40B4-BE49-F238E27FC236}">
                      <a16:creationId xmlns:a16="http://schemas.microsoft.com/office/drawing/2014/main" id="{88C00384-19CB-FAEF-89D6-82F8ED242B49}"/>
                    </a:ext>
                  </a:extLst>
                </p:cNvPr>
                <p:cNvSpPr txBox="1">
                  <a:spLocks noRot="1" noChangeAspect="1" noMove="1" noResize="1" noEditPoints="1" noAdjustHandles="1" noChangeArrowheads="1" noChangeShapeType="1" noTextEdit="1"/>
                </p:cNvSpPr>
                <p:nvPr/>
              </p:nvSpPr>
              <p:spPr>
                <a:xfrm>
                  <a:off x="7195930" y="3667538"/>
                  <a:ext cx="491539" cy="401905"/>
                </a:xfrm>
                <a:prstGeom prst="rect">
                  <a:avLst/>
                </a:prstGeom>
                <a:blipFill>
                  <a:blip r:embed="rId10"/>
                  <a:stretch>
                    <a:fillRect r="-3704"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50">
                  <a:extLst>
                    <a:ext uri="{FF2B5EF4-FFF2-40B4-BE49-F238E27FC236}">
                      <a16:creationId xmlns:a16="http://schemas.microsoft.com/office/drawing/2014/main" id="{C95D9D60-4D62-2EEF-2DE4-36967780A869}"/>
                    </a:ext>
                  </a:extLst>
                </p:cNvPr>
                <p:cNvSpPr txBox="1"/>
                <p:nvPr/>
              </p:nvSpPr>
              <p:spPr>
                <a:xfrm>
                  <a:off x="11277473" y="3669606"/>
                  <a:ext cx="491539" cy="3743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𝐿</m:t>
                                </m:r>
                              </m:sub>
                            </m:sSub>
                          </m:e>
                        </m:acc>
                      </m:oMath>
                    </m:oMathPara>
                  </a14:m>
                  <a:endParaRPr lang="en-US"/>
                </a:p>
              </p:txBody>
            </p:sp>
          </mc:Choice>
          <mc:Fallback xmlns="">
            <p:sp>
              <p:nvSpPr>
                <p:cNvPr id="32" name="TextBox 50">
                  <a:extLst>
                    <a:ext uri="{FF2B5EF4-FFF2-40B4-BE49-F238E27FC236}">
                      <a16:creationId xmlns:a16="http://schemas.microsoft.com/office/drawing/2014/main" id="{C95D9D60-4D62-2EEF-2DE4-36967780A869}"/>
                    </a:ext>
                  </a:extLst>
                </p:cNvPr>
                <p:cNvSpPr txBox="1">
                  <a:spLocks noRot="1" noChangeAspect="1" noMove="1" noResize="1" noEditPoints="1" noAdjustHandles="1" noChangeArrowheads="1" noChangeShapeType="1" noTextEdit="1"/>
                </p:cNvSpPr>
                <p:nvPr/>
              </p:nvSpPr>
              <p:spPr>
                <a:xfrm>
                  <a:off x="11277473" y="3669606"/>
                  <a:ext cx="491539" cy="374333"/>
                </a:xfrm>
                <a:prstGeom prst="rect">
                  <a:avLst/>
                </a:prstGeom>
                <a:blipFill>
                  <a:blip r:embed="rId11"/>
                  <a:stretch>
                    <a:fillRect t="-9836" r="-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51">
                  <a:extLst>
                    <a:ext uri="{FF2B5EF4-FFF2-40B4-BE49-F238E27FC236}">
                      <a16:creationId xmlns:a16="http://schemas.microsoft.com/office/drawing/2014/main" id="{67D08259-4106-8FC7-3039-CC0B2C601786}"/>
                    </a:ext>
                  </a:extLst>
                </p:cNvPr>
                <p:cNvSpPr txBox="1"/>
                <p:nvPr/>
              </p:nvSpPr>
              <p:spPr>
                <a:xfrm>
                  <a:off x="9914898" y="3684842"/>
                  <a:ext cx="491539" cy="380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oMath>
                    </m:oMathPara>
                  </a14:m>
                  <a:endParaRPr lang="en-US"/>
                </a:p>
              </p:txBody>
            </p:sp>
          </mc:Choice>
          <mc:Fallback xmlns="">
            <p:sp>
              <p:nvSpPr>
                <p:cNvPr id="33" name="TextBox 51">
                  <a:extLst>
                    <a:ext uri="{FF2B5EF4-FFF2-40B4-BE49-F238E27FC236}">
                      <a16:creationId xmlns:a16="http://schemas.microsoft.com/office/drawing/2014/main" id="{67D08259-4106-8FC7-3039-CC0B2C601786}"/>
                    </a:ext>
                  </a:extLst>
                </p:cNvPr>
                <p:cNvSpPr txBox="1">
                  <a:spLocks noRot="1" noChangeAspect="1" noMove="1" noResize="1" noEditPoints="1" noAdjustHandles="1" noChangeArrowheads="1" noChangeShapeType="1" noTextEdit="1"/>
                </p:cNvSpPr>
                <p:nvPr/>
              </p:nvSpPr>
              <p:spPr>
                <a:xfrm>
                  <a:off x="9914898" y="3684842"/>
                  <a:ext cx="491539" cy="380553"/>
                </a:xfrm>
                <a:prstGeom prst="rect">
                  <a:avLst/>
                </a:prstGeom>
                <a:blipFill>
                  <a:blip r:embed="rId12"/>
                  <a:stretch>
                    <a:fillRect t="-4762" r="-23457"/>
                  </a:stretch>
                </a:blipFill>
              </p:spPr>
              <p:txBody>
                <a:bodyPr/>
                <a:lstStyle/>
                <a:p>
                  <a:r>
                    <a:rPr lang="en-US">
                      <a:noFill/>
                    </a:rPr>
                    <a:t> </a:t>
                  </a:r>
                </a:p>
              </p:txBody>
            </p:sp>
          </mc:Fallback>
        </mc:AlternateContent>
      </p:grpSp>
      <p:sp>
        <p:nvSpPr>
          <p:cNvPr id="34" name="TextBox 53">
            <a:extLst>
              <a:ext uri="{FF2B5EF4-FFF2-40B4-BE49-F238E27FC236}">
                <a16:creationId xmlns:a16="http://schemas.microsoft.com/office/drawing/2014/main" id="{08245C12-611D-E75B-5DB7-847B4571057C}"/>
              </a:ext>
            </a:extLst>
          </p:cNvPr>
          <p:cNvSpPr txBox="1"/>
          <p:nvPr/>
        </p:nvSpPr>
        <p:spPr>
          <a:xfrm>
            <a:off x="7785892" y="5574973"/>
            <a:ext cx="3935864" cy="707886"/>
          </a:xfrm>
          <a:prstGeom prst="rect">
            <a:avLst/>
          </a:prstGeom>
          <a:noFill/>
        </p:spPr>
        <p:txBody>
          <a:bodyPr wrap="square" rtlCol="0">
            <a:spAutoFit/>
          </a:bodyPr>
          <a:lstStyle/>
          <a:p>
            <a:pPr algn="ctr"/>
            <a:r>
              <a:rPr lang="en-US" sz="2000"/>
              <a:t>Hình 3.2. Sơ đồ cấu trúc mạch vòng dòng điện</a:t>
            </a:r>
          </a:p>
        </p:txBody>
      </p:sp>
      <mc:AlternateContent xmlns:mc="http://schemas.openxmlformats.org/markup-compatibility/2006" xmlns:a14="http://schemas.microsoft.com/office/drawing/2010/main">
        <mc:Choice Requires="a14">
          <p:sp>
            <p:nvSpPr>
              <p:cNvPr id="7" name="TextBox 21">
                <a:extLst>
                  <a:ext uri="{FF2B5EF4-FFF2-40B4-BE49-F238E27FC236}">
                    <a16:creationId xmlns:a16="http://schemas.microsoft.com/office/drawing/2014/main" id="{C8EE9E63-F403-7339-EABF-DF0438BDCD64}"/>
                  </a:ext>
                </a:extLst>
              </p:cNvPr>
              <p:cNvSpPr txBox="1"/>
              <p:nvPr/>
            </p:nvSpPr>
            <p:spPr>
              <a:xfrm>
                <a:off x="515686" y="2463489"/>
                <a:ext cx="10649139" cy="1144929"/>
              </a:xfrm>
              <a:prstGeom prst="rect">
                <a:avLst/>
              </a:prstGeom>
              <a:noFill/>
            </p:spPr>
            <p:txBody>
              <a:bodyPr wrap="square" rtlCol="0">
                <a:spAutoFit/>
              </a:bodyPr>
              <a:lstStyle/>
              <a:p>
                <a:r>
                  <a:rPr lang="en-US" sz="2000"/>
                  <a:t>Do đối tượng là một khâu tích phân nên có thể sử dụng bộ PI</a:t>
                </a:r>
              </a:p>
              <a:p>
                <a14:m>
                  <m:oMath xmlns:m="http://schemas.openxmlformats.org/officeDocument/2006/math">
                    <m:r>
                      <a:rPr lang="en-US" sz="2000" b="0" i="1" smtClean="0">
                        <a:latin typeface="Cambria Math" panose="02040503050406030204" pitchFamily="18" charset="0"/>
                      </a:rPr>
                      <m:t>𝑅</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r>
                      <a:rPr lang="en-US" sz="2000" b="0" i="1" smtClean="0">
                        <a:latin typeface="Cambria Math" panose="02040503050406030204" pitchFamily="18" charset="0"/>
                      </a:rPr>
                      <m:t>=</m:t>
                    </m:r>
                    <m:r>
                      <a:rPr lang="en-US" sz="2000" b="0" i="1" smtClean="0">
                        <a:latin typeface="Cambria Math" panose="02040503050406030204" pitchFamily="18" charset="0"/>
                      </a:rPr>
                      <m:t>𝐾𝑝</m:t>
                    </m:r>
                    <m:r>
                      <a:rPr lang="en-US" sz="2000" b="0" i="1" smtClean="0">
                        <a:latin typeface="Cambria Math" panose="02040503050406030204" pitchFamily="18" charset="0"/>
                      </a:rPr>
                      <m:t>(1+</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𝜔</m:t>
                        </m:r>
                        <m:r>
                          <a:rPr lang="en-US" sz="2000" b="0" i="1" smtClean="0">
                            <a:latin typeface="Cambria Math" panose="02040503050406030204" pitchFamily="18" charset="0"/>
                            <a:ea typeface="Cambria Math" panose="02040503050406030204" pitchFamily="18" charset="0"/>
                          </a:rPr>
                          <m:t>𝐿</m:t>
                        </m:r>
                      </m:num>
                      <m:den>
                        <m:r>
                          <a:rPr lang="en-US" sz="2000" b="0" i="1" smtClean="0">
                            <a:latin typeface="Cambria Math" panose="02040503050406030204" pitchFamily="18" charset="0"/>
                            <a:ea typeface="Cambria Math" panose="02040503050406030204" pitchFamily="18" charset="0"/>
                          </a:rPr>
                          <m:t>𝑠</m:t>
                        </m:r>
                      </m:den>
                    </m:f>
                    <m:r>
                      <a:rPr lang="en-US" sz="2000" b="0" i="1" smtClean="0">
                        <a:latin typeface="Cambria Math" panose="02040503050406030204" pitchFamily="18" charset="0"/>
                        <a:ea typeface="Cambria Math" panose="02040503050406030204" pitchFamily="18" charset="0"/>
                      </a:rPr>
                      <m:t>)</m:t>
                    </m:r>
                  </m:oMath>
                </a14:m>
                <a:r>
                  <a:rPr lang="en-US" sz="2000"/>
                  <a:t> </a:t>
                </a:r>
              </a:p>
              <a:p>
                <a:r>
                  <a:rPr lang="en-US" sz="2000"/>
                  <a:t>    </a:t>
                </a:r>
              </a:p>
            </p:txBody>
          </p:sp>
        </mc:Choice>
        <mc:Fallback xmlns="">
          <p:sp>
            <p:nvSpPr>
              <p:cNvPr id="7" name="TextBox 21">
                <a:extLst>
                  <a:ext uri="{FF2B5EF4-FFF2-40B4-BE49-F238E27FC236}">
                    <a16:creationId xmlns:a16="http://schemas.microsoft.com/office/drawing/2014/main" id="{C8EE9E63-F403-7339-EABF-DF0438BDCD64}"/>
                  </a:ext>
                </a:extLst>
              </p:cNvPr>
              <p:cNvSpPr txBox="1">
                <a:spLocks noRot="1" noChangeAspect="1" noMove="1" noResize="1" noEditPoints="1" noAdjustHandles="1" noChangeArrowheads="1" noChangeShapeType="1" noTextEdit="1"/>
              </p:cNvSpPr>
              <p:nvPr/>
            </p:nvSpPr>
            <p:spPr>
              <a:xfrm>
                <a:off x="515686" y="2463489"/>
                <a:ext cx="10649139" cy="1144929"/>
              </a:xfrm>
              <a:prstGeom prst="rect">
                <a:avLst/>
              </a:prstGeom>
              <a:blipFill>
                <a:blip r:embed="rId13"/>
                <a:stretch>
                  <a:fillRect l="-630" t="-2660"/>
                </a:stretch>
              </a:blipFill>
            </p:spPr>
            <p:txBody>
              <a:bodyPr/>
              <a:lstStyle/>
              <a:p>
                <a:r>
                  <a:rPr lang="en-US">
                    <a:noFill/>
                  </a:rPr>
                  <a:t> </a:t>
                </a:r>
              </a:p>
            </p:txBody>
          </p:sp>
        </mc:Fallback>
      </mc:AlternateContent>
    </p:spTree>
    <p:extLst>
      <p:ext uri="{BB962C8B-B14F-4D97-AF65-F5344CB8AC3E}">
        <p14:creationId xmlns:p14="http://schemas.microsoft.com/office/powerpoint/2010/main" val="3985770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9E9B7-AFA3-6452-865B-7E21EA22B2A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1A8FB28-FA1E-5A09-47AB-4DB5A41434B3}"/>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19</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B4FB2E08-B599-C819-6626-88C9B1FF13EB}"/>
              </a:ext>
            </a:extLst>
          </p:cNvPr>
          <p:cNvSpPr>
            <a:spLocks noGrp="1"/>
          </p:cNvSpPr>
          <p:nvPr>
            <p:ph type="title"/>
          </p:nvPr>
        </p:nvSpPr>
        <p:spPr/>
        <p:txBody>
          <a:bodyPr>
            <a:normAutofit fontScale="90000"/>
          </a:bodyPr>
          <a:lstStyle/>
          <a:p>
            <a:r>
              <a:rPr lang="en-US"/>
              <a:t>3. Mô hình hóa và tổng hợp bộ điều khiển PI</a:t>
            </a:r>
          </a:p>
        </p:txBody>
      </p:sp>
      <mc:AlternateContent xmlns:mc="http://schemas.openxmlformats.org/markup-compatibility/2006" xmlns:a14="http://schemas.microsoft.com/office/drawing/2010/main">
        <mc:Choice Requires="a14">
          <p:sp>
            <p:nvSpPr>
              <p:cNvPr id="2" name="TextBox 26">
                <a:extLst>
                  <a:ext uri="{FF2B5EF4-FFF2-40B4-BE49-F238E27FC236}">
                    <a16:creationId xmlns:a16="http://schemas.microsoft.com/office/drawing/2014/main" id="{3962ADDD-5572-ED4E-6299-B3D06F9C86A6}"/>
                  </a:ext>
                </a:extLst>
              </p:cNvPr>
              <p:cNvSpPr txBox="1"/>
              <p:nvPr/>
            </p:nvSpPr>
            <p:spPr>
              <a:xfrm>
                <a:off x="288470" y="758199"/>
                <a:ext cx="4190121" cy="1476302"/>
              </a:xfrm>
              <a:prstGeom prst="rect">
                <a:avLst/>
              </a:prstGeom>
              <a:noFill/>
            </p:spPr>
            <p:txBody>
              <a:bodyPr wrap="square" rtlCol="0">
                <a:spAutoFit/>
              </a:bodyPr>
              <a:lstStyle/>
              <a:p>
                <a:r>
                  <a:rPr lang="en-US" sz="2000"/>
                  <a:t>Thường ta lấy </a:t>
                </a:r>
                <a14:m>
                  <m:oMath xmlns:m="http://schemas.openxmlformats.org/officeDocument/2006/math">
                    <m:r>
                      <a:rPr lang="en-US" sz="2000" b="0" i="1" smtClean="0">
                        <a:latin typeface="Cambria Math" panose="02040503050406030204" pitchFamily="18" charset="0"/>
                      </a:rPr>
                      <m:t>𝑓𝑐</m:t>
                    </m:r>
                    <m:r>
                      <a:rPr lang="en-US" sz="2000" b="0" i="1" smtClean="0">
                        <a:latin typeface="Cambria Math" panose="02040503050406030204" pitchFamily="18" charset="0"/>
                      </a:rPr>
                      <m:t>&lt;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10</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5</m:t>
                            </m:r>
                          </m:den>
                        </m:f>
                      </m:e>
                    </m:d>
                    <m:r>
                      <a:rPr lang="en-US" sz="2000" b="0" i="1" smtClean="0">
                        <a:latin typeface="Cambria Math" panose="02040503050406030204" pitchFamily="18" charset="0"/>
                      </a:rPr>
                      <m:t>𝑓𝑠</m:t>
                    </m:r>
                  </m:oMath>
                </a14:m>
                <a:endParaRPr lang="en-US" sz="2000"/>
              </a:p>
              <a:p>
                <a:r>
                  <a:rPr lang="en-US" sz="2000"/>
                  <a:t>Ta chọn:</a:t>
                </a:r>
              </a:p>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=20000</m:t>
                      </m:r>
                      <m:r>
                        <a:rPr lang="en-US" sz="2000" b="0" i="1" smtClean="0">
                          <a:latin typeface="Cambria Math" panose="02040503050406030204" pitchFamily="18" charset="0"/>
                          <a:ea typeface="Cambria Math" panose="02040503050406030204" pitchFamily="18" charset="0"/>
                        </a:rPr>
                        <m:t>𝜋</m:t>
                      </m:r>
                      <m:r>
                        <a:rPr lang="en-US" sz="2000" b="0" i="1" smtClean="0">
                          <a:latin typeface="Cambria Math" panose="02040503050406030204" pitchFamily="18" charset="0"/>
                        </a:rPr>
                        <m:t> </m:t>
                      </m:r>
                      <m:r>
                        <a:rPr lang="en-US" sz="2000" b="0" i="1" smtClean="0">
                          <a:latin typeface="Cambria Math" panose="02040503050406030204" pitchFamily="18" charset="0"/>
                        </a:rPr>
                        <m:t>𝑟𝑎𝑑</m:t>
                      </m:r>
                      <m:r>
                        <a:rPr lang="en-US" sz="2000" b="0" i="1" smtClean="0">
                          <a:latin typeface="Cambria Math" panose="02040503050406030204" pitchFamily="18" charset="0"/>
                        </a:rPr>
                        <m:t>/</m:t>
                      </m:r>
                      <m:r>
                        <a:rPr lang="en-US" sz="2000" b="0" i="1" smtClean="0">
                          <a:latin typeface="Cambria Math" panose="02040503050406030204" pitchFamily="18" charset="0"/>
                        </a:rPr>
                        <m:t>𝑠</m:t>
                      </m:r>
                    </m:oMath>
                  </m:oMathPara>
                </a14:m>
                <a:endParaRPr lang="en-US" sz="2000"/>
              </a:p>
              <a:p>
                <a14:m>
                  <m:oMath xmlns:m="http://schemas.openxmlformats.org/officeDocument/2006/math">
                    <m:r>
                      <a:rPr lang="en-US" sz="2000" i="1" smtClean="0">
                        <a:latin typeface="Cambria Math" panose="02040503050406030204" pitchFamily="18" charset="0"/>
                        <a:ea typeface="Cambria Math" panose="02040503050406030204" pitchFamily="18" charset="0"/>
                      </a:rPr>
                      <m:t>𝜉</m:t>
                    </m:r>
                  </m:oMath>
                </a14:m>
                <a:r>
                  <a:rPr lang="en-US" sz="2000"/>
                  <a:t> là hệ số tắt dần (</a:t>
                </a:r>
                <a14:m>
                  <m:oMath xmlns:m="http://schemas.openxmlformats.org/officeDocument/2006/math">
                    <m:r>
                      <a:rPr lang="en-US" sz="2000" i="1">
                        <a:latin typeface="Cambria Math" panose="02040503050406030204" pitchFamily="18" charset="0"/>
                        <a:ea typeface="Cambria Math" panose="02040503050406030204" pitchFamily="18" charset="0"/>
                      </a:rPr>
                      <m:t>𝜉</m:t>
                    </m:r>
                  </m:oMath>
                </a14:m>
                <a:r>
                  <a:rPr lang="en-US" sz="2000"/>
                  <a:t> = 0.707)</a:t>
                </a:r>
              </a:p>
            </p:txBody>
          </p:sp>
        </mc:Choice>
        <mc:Fallback xmlns="">
          <p:sp>
            <p:nvSpPr>
              <p:cNvPr id="2" name="TextBox 26">
                <a:extLst>
                  <a:ext uri="{FF2B5EF4-FFF2-40B4-BE49-F238E27FC236}">
                    <a16:creationId xmlns:a16="http://schemas.microsoft.com/office/drawing/2014/main" id="{3962ADDD-5572-ED4E-6299-B3D06F9C86A6}"/>
                  </a:ext>
                </a:extLst>
              </p:cNvPr>
              <p:cNvSpPr txBox="1">
                <a:spLocks noRot="1" noChangeAspect="1" noMove="1" noResize="1" noEditPoints="1" noAdjustHandles="1" noChangeArrowheads="1" noChangeShapeType="1" noTextEdit="1"/>
              </p:cNvSpPr>
              <p:nvPr/>
            </p:nvSpPr>
            <p:spPr>
              <a:xfrm>
                <a:off x="288470" y="758199"/>
                <a:ext cx="4190121" cy="1476302"/>
              </a:xfrm>
              <a:prstGeom prst="rect">
                <a:avLst/>
              </a:prstGeom>
              <a:blipFill>
                <a:blip r:embed="rId2"/>
                <a:stretch>
                  <a:fillRect l="-1453" b="-61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3">
                <a:extLst>
                  <a:ext uri="{FF2B5EF4-FFF2-40B4-BE49-F238E27FC236}">
                    <a16:creationId xmlns:a16="http://schemas.microsoft.com/office/drawing/2014/main" id="{C2EE4179-43FB-24DB-23CB-3C0B7A6ED624}"/>
                  </a:ext>
                </a:extLst>
              </p:cNvPr>
              <p:cNvSpPr txBox="1"/>
              <p:nvPr/>
            </p:nvSpPr>
            <p:spPr>
              <a:xfrm>
                <a:off x="338736" y="2220810"/>
                <a:ext cx="4843592" cy="1086644"/>
              </a:xfrm>
              <a:prstGeom prst="rect">
                <a:avLst/>
              </a:prstGeom>
              <a:noFill/>
              <a:ln w="19050">
                <a:solidFill>
                  <a:srgbClr val="FF0000"/>
                </a:solidFill>
              </a:ln>
            </p:spPr>
            <p:txBody>
              <a:bodyPr wrap="square" rtlCol="0">
                <a:spAutoFit/>
              </a:bodyPr>
              <a:lstStyle/>
              <a:p>
                <a:r>
                  <a:rPr lang="en-US" sz="2000"/>
                  <a:t>Thay số ta có:</a:t>
                </a:r>
              </a:p>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b="0" i="1" smtClean="0">
                                      <a:latin typeface="Cambria Math" panose="02040503050406030204" pitchFamily="18" charset="0"/>
                                    </a:rPr>
                                    <m:t>𝑝</m:t>
                                  </m:r>
                                </m:sub>
                              </m:sSub>
                              <m:r>
                                <a:rPr lang="en-US" sz="2000" i="1">
                                  <a:latin typeface="Cambria Math" panose="02040503050406030204" pitchFamily="18" charset="0"/>
                                  <a:ea typeface="Cambria Math" panose="02040503050406030204" pitchFamily="18" charset="0"/>
                                </a:rPr>
                                <m:t>=0.2221</m:t>
                              </m:r>
                            </m:e>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𝐿</m:t>
                                  </m:r>
                                </m:sub>
                              </m:sSub>
                              <m:r>
                                <a:rPr lang="en-US" sz="2000" b="0" i="1" smtClean="0">
                                  <a:latin typeface="Cambria Math" panose="02040503050406030204" pitchFamily="18" charset="0"/>
                                </a:rPr>
                                <m:t>=44436</m:t>
                              </m:r>
                            </m:e>
                          </m:eqArr>
                        </m:e>
                      </m:d>
                    </m:oMath>
                  </m:oMathPara>
                </a14:m>
                <a:endParaRPr lang="en-US" sz="2000"/>
              </a:p>
            </p:txBody>
          </p:sp>
        </mc:Choice>
        <mc:Fallback xmlns="">
          <p:sp>
            <p:nvSpPr>
              <p:cNvPr id="4" name="TextBox 33">
                <a:extLst>
                  <a:ext uri="{FF2B5EF4-FFF2-40B4-BE49-F238E27FC236}">
                    <a16:creationId xmlns:a16="http://schemas.microsoft.com/office/drawing/2014/main" id="{C2EE4179-43FB-24DB-23CB-3C0B7A6ED624}"/>
                  </a:ext>
                </a:extLst>
              </p:cNvPr>
              <p:cNvSpPr txBox="1">
                <a:spLocks noRot="1" noChangeAspect="1" noMove="1" noResize="1" noEditPoints="1" noAdjustHandles="1" noChangeArrowheads="1" noChangeShapeType="1" noTextEdit="1"/>
              </p:cNvSpPr>
              <p:nvPr/>
            </p:nvSpPr>
            <p:spPr>
              <a:xfrm>
                <a:off x="338736" y="2220810"/>
                <a:ext cx="4843592" cy="1086644"/>
              </a:xfrm>
              <a:prstGeom prst="rect">
                <a:avLst/>
              </a:prstGeom>
              <a:blipFill>
                <a:blip r:embed="rId3"/>
                <a:stretch>
                  <a:fillRect l="-1255" t="-2198"/>
                </a:stretch>
              </a:blipFill>
              <a:ln w="19050">
                <a:solidFill>
                  <a:srgbClr val="FF0000"/>
                </a:solidFill>
              </a:ln>
            </p:spPr>
            <p:txBody>
              <a:bodyPr/>
              <a:lstStyle/>
              <a:p>
                <a:r>
                  <a:rPr lang="en-US">
                    <a:noFill/>
                  </a:rPr>
                  <a:t> </a:t>
                </a:r>
              </a:p>
            </p:txBody>
          </p:sp>
        </mc:Fallback>
      </mc:AlternateContent>
      <p:sp>
        <p:nvSpPr>
          <p:cNvPr id="6" name="Hộp Văn bản 5">
            <a:extLst>
              <a:ext uri="{FF2B5EF4-FFF2-40B4-BE49-F238E27FC236}">
                <a16:creationId xmlns:a16="http://schemas.microsoft.com/office/drawing/2014/main" id="{39D328D3-F696-00EF-61F9-B94C8D452615}"/>
              </a:ext>
            </a:extLst>
          </p:cNvPr>
          <p:cNvSpPr txBox="1"/>
          <p:nvPr/>
        </p:nvSpPr>
        <p:spPr>
          <a:xfrm>
            <a:off x="338736" y="3429000"/>
            <a:ext cx="7297477" cy="2585323"/>
          </a:xfrm>
          <a:prstGeom prst="rect">
            <a:avLst/>
          </a:prstGeom>
          <a:noFill/>
          <a:ln w="19050">
            <a:solidFill>
              <a:schemeClr val="accent1">
                <a:lumMod val="60000"/>
                <a:lumOff val="40000"/>
              </a:schemeClr>
            </a:solidFill>
          </a:ln>
        </p:spPr>
        <p:txBody>
          <a:bodyPr wrap="square" rtlCol="0">
            <a:spAutoFit/>
          </a:bodyPr>
          <a:lstStyle/>
          <a:p>
            <a:pPr>
              <a:buNone/>
            </a:pPr>
            <a:r>
              <a:rPr lang="en-US" sz="1800" b="0" i="0">
                <a:solidFill>
                  <a:srgbClr val="008013"/>
                </a:solidFill>
                <a:effectLst/>
                <a:latin typeface="Menlo"/>
              </a:rPr>
              <a:t>% Tham so bo dieu khien dong dien</a:t>
            </a:r>
            <a:endParaRPr lang="en-US" sz="1800" b="0" i="0">
              <a:effectLst/>
              <a:latin typeface="Menlo"/>
            </a:endParaRPr>
          </a:p>
          <a:p>
            <a:pPr>
              <a:buNone/>
            </a:pPr>
            <a:r>
              <a:rPr lang="en-US" sz="1800" b="0" i="0">
                <a:effectLst/>
                <a:latin typeface="Menlo"/>
              </a:rPr>
              <a:t>Zeta = 0.707; </a:t>
            </a:r>
            <a:r>
              <a:rPr lang="en-US" sz="1800" b="0" i="0">
                <a:solidFill>
                  <a:srgbClr val="008013"/>
                </a:solidFill>
                <a:effectLst/>
                <a:latin typeface="Menlo"/>
              </a:rPr>
              <a:t>% He so tat dan</a:t>
            </a:r>
            <a:endParaRPr lang="en-US" sz="1800" b="0" i="0">
              <a:effectLst/>
              <a:latin typeface="Menlo"/>
            </a:endParaRPr>
          </a:p>
          <a:p>
            <a:pPr>
              <a:buNone/>
            </a:pPr>
            <a:r>
              <a:rPr lang="en-US" sz="1800" b="0" i="0">
                <a:effectLst/>
                <a:latin typeface="Menlo"/>
              </a:rPr>
              <a:t>Omega_ni = 10000*2*pi;</a:t>
            </a:r>
            <a:r>
              <a:rPr lang="en-US" sz="1800" b="0" i="0">
                <a:solidFill>
                  <a:srgbClr val="008013"/>
                </a:solidFill>
                <a:effectLst/>
                <a:latin typeface="Menlo"/>
              </a:rPr>
              <a:t>% Tan so dao dong rieng ung voi bang thong 10kHz</a:t>
            </a:r>
            <a:endParaRPr lang="en-US" sz="1800" b="0" i="0">
              <a:effectLst/>
              <a:latin typeface="Menlo"/>
            </a:endParaRPr>
          </a:p>
          <a:p>
            <a:pPr>
              <a:buNone/>
            </a:pPr>
            <a:r>
              <a:rPr lang="en-US" sz="1800" b="0" i="0">
                <a:effectLst/>
                <a:latin typeface="Menlo"/>
              </a:rPr>
              <a:t>Kpc_i = 2*Zeta*Omega_ni*L/Vout; </a:t>
            </a:r>
            <a:r>
              <a:rPr lang="en-US" sz="1800" b="0" i="0">
                <a:solidFill>
                  <a:srgbClr val="008013"/>
                </a:solidFill>
                <a:effectLst/>
                <a:latin typeface="Menlo"/>
              </a:rPr>
              <a:t>% Kpc</a:t>
            </a:r>
            <a:endParaRPr lang="en-US" sz="1800" b="0" i="0">
              <a:effectLst/>
              <a:latin typeface="Menlo"/>
            </a:endParaRPr>
          </a:p>
          <a:p>
            <a:pPr>
              <a:buNone/>
            </a:pPr>
            <a:r>
              <a:rPr lang="en-US" sz="1800" b="0" i="0">
                <a:effectLst/>
                <a:latin typeface="Menlo"/>
              </a:rPr>
              <a:t>Omega_Lc = Omega_ni/(2*Zeta); </a:t>
            </a:r>
            <a:r>
              <a:rPr lang="en-US" sz="1800" b="0" i="0">
                <a:solidFill>
                  <a:srgbClr val="008013"/>
                </a:solidFill>
                <a:effectLst/>
                <a:latin typeface="Menlo"/>
              </a:rPr>
              <a:t>% Diem zero bo PI</a:t>
            </a:r>
            <a:endParaRPr lang="en-US" sz="1800" b="0" i="0">
              <a:effectLst/>
              <a:latin typeface="Menlo"/>
            </a:endParaRPr>
          </a:p>
          <a:p>
            <a:pPr>
              <a:buNone/>
            </a:pPr>
            <a:r>
              <a:rPr lang="en-US" sz="1800" b="0" i="0">
                <a:effectLst/>
                <a:latin typeface="Menlo"/>
              </a:rPr>
              <a:t>Kic_i = Kpc_i*Omega_Lc; </a:t>
            </a:r>
            <a:r>
              <a:rPr lang="en-US" sz="1800" b="0" i="0">
                <a:solidFill>
                  <a:srgbClr val="008013"/>
                </a:solidFill>
                <a:effectLst/>
                <a:latin typeface="Menlo"/>
              </a:rPr>
              <a:t>% Kic</a:t>
            </a:r>
            <a:endParaRPr lang="en-US" sz="1800" b="0" i="0">
              <a:effectLst/>
              <a:latin typeface="Menlo"/>
            </a:endParaRPr>
          </a:p>
          <a:p>
            <a:pPr>
              <a:buNone/>
            </a:pPr>
            <a:r>
              <a:rPr lang="en-US" sz="1800" b="0" i="0">
                <a:effectLst/>
                <a:latin typeface="Menlo"/>
              </a:rPr>
              <a:t>numci=[Kpc_i Kic_i];</a:t>
            </a:r>
          </a:p>
          <a:p>
            <a:pPr>
              <a:buNone/>
            </a:pPr>
            <a:r>
              <a:rPr lang="en-US" sz="1800" b="0" i="0">
                <a:effectLst/>
                <a:latin typeface="Menlo"/>
              </a:rPr>
              <a:t>denci=[1 0];</a:t>
            </a:r>
          </a:p>
          <a:p>
            <a:r>
              <a:rPr lang="en-US" sz="1800" b="0" i="0">
                <a:effectLst/>
                <a:latin typeface="Menlo"/>
              </a:rPr>
              <a:t>Gpi_i=tf(numci,denci);</a:t>
            </a:r>
          </a:p>
        </p:txBody>
      </p:sp>
      <p:grpSp>
        <p:nvGrpSpPr>
          <p:cNvPr id="7" name="Group 52">
            <a:extLst>
              <a:ext uri="{FF2B5EF4-FFF2-40B4-BE49-F238E27FC236}">
                <a16:creationId xmlns:a16="http://schemas.microsoft.com/office/drawing/2014/main" id="{54856C31-B7A1-49AA-6015-E855A89FD99C}"/>
              </a:ext>
            </a:extLst>
          </p:cNvPr>
          <p:cNvGrpSpPr/>
          <p:nvPr/>
        </p:nvGrpSpPr>
        <p:grpSpPr>
          <a:xfrm>
            <a:off x="7092236" y="1578174"/>
            <a:ext cx="4573082" cy="1493798"/>
            <a:chOff x="7195930" y="3667538"/>
            <a:chExt cx="4573082" cy="1493798"/>
          </a:xfrm>
        </p:grpSpPr>
        <p:cxnSp>
          <p:nvCxnSpPr>
            <p:cNvPr id="8" name="Straight Arrow Connector 31">
              <a:extLst>
                <a:ext uri="{FF2B5EF4-FFF2-40B4-BE49-F238E27FC236}">
                  <a16:creationId xmlns:a16="http://schemas.microsoft.com/office/drawing/2014/main" id="{D090DBE3-A8C7-6479-1553-533C5A54D7F6}"/>
                </a:ext>
              </a:extLst>
            </p:cNvPr>
            <p:cNvCxnSpPr/>
            <p:nvPr/>
          </p:nvCxnSpPr>
          <p:spPr>
            <a:xfrm>
              <a:off x="7353443" y="4113905"/>
              <a:ext cx="70638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Oval 32">
              <a:extLst>
                <a:ext uri="{FF2B5EF4-FFF2-40B4-BE49-F238E27FC236}">
                  <a16:creationId xmlns:a16="http://schemas.microsoft.com/office/drawing/2014/main" id="{B320A899-313E-6418-1D80-363AB6639973}"/>
                </a:ext>
              </a:extLst>
            </p:cNvPr>
            <p:cNvSpPr/>
            <p:nvPr/>
          </p:nvSpPr>
          <p:spPr>
            <a:xfrm>
              <a:off x="8069767" y="3935878"/>
              <a:ext cx="367748" cy="3478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34">
              <a:extLst>
                <a:ext uri="{FF2B5EF4-FFF2-40B4-BE49-F238E27FC236}">
                  <a16:creationId xmlns:a16="http://schemas.microsoft.com/office/drawing/2014/main" id="{6ED037B3-10ED-5CF8-832B-EA2EC568F584}"/>
                </a:ext>
              </a:extLst>
            </p:cNvPr>
            <p:cNvCxnSpPr>
              <a:stCxn id="9" idx="6"/>
            </p:cNvCxnSpPr>
            <p:nvPr/>
          </p:nvCxnSpPr>
          <p:spPr>
            <a:xfrm>
              <a:off x="8437515" y="4109813"/>
              <a:ext cx="7189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angle 35">
                  <a:extLst>
                    <a:ext uri="{FF2B5EF4-FFF2-40B4-BE49-F238E27FC236}">
                      <a16:creationId xmlns:a16="http://schemas.microsoft.com/office/drawing/2014/main" id="{510529B1-9A07-1C87-E7E2-828A21919D89}"/>
                    </a:ext>
                  </a:extLst>
                </p:cNvPr>
                <p:cNvSpPr/>
                <p:nvPr/>
              </p:nvSpPr>
              <p:spPr>
                <a:xfrm>
                  <a:off x="10339877" y="3809045"/>
                  <a:ext cx="824948" cy="601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solidFill>
                                  <a:schemeClr val="tx1"/>
                                </a:solidFill>
                                <a:latin typeface="Cambria Math" panose="02040503050406030204" pitchFamily="18" charset="0"/>
                              </a:rPr>
                            </m:ctrlPr>
                          </m:fPr>
                          <m:num>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0</m:t>
                                </m:r>
                              </m:sub>
                            </m:sSub>
                          </m:num>
                          <m:den>
                            <m:r>
                              <a:rPr lang="en-US" b="0" i="1" smtClean="0">
                                <a:solidFill>
                                  <a:schemeClr val="tx1"/>
                                </a:solidFill>
                                <a:latin typeface="Cambria Math" panose="02040503050406030204" pitchFamily="18" charset="0"/>
                              </a:rPr>
                              <m:t>𝐿𝑠</m:t>
                            </m:r>
                          </m:den>
                        </m:f>
                      </m:oMath>
                    </m:oMathPara>
                  </a14:m>
                  <a:endParaRPr lang="en-US">
                    <a:solidFill>
                      <a:schemeClr val="tx1"/>
                    </a:solidFill>
                  </a:endParaRPr>
                </a:p>
              </p:txBody>
            </p:sp>
          </mc:Choice>
          <mc:Fallback xmlns="">
            <p:sp>
              <p:nvSpPr>
                <p:cNvPr id="12" name="Rectangle 35">
                  <a:extLst>
                    <a:ext uri="{FF2B5EF4-FFF2-40B4-BE49-F238E27FC236}">
                      <a16:creationId xmlns:a16="http://schemas.microsoft.com/office/drawing/2014/main" id="{510529B1-9A07-1C87-E7E2-828A21919D89}"/>
                    </a:ext>
                  </a:extLst>
                </p:cNvPr>
                <p:cNvSpPr>
                  <a:spLocks noRot="1" noChangeAspect="1" noMove="1" noResize="1" noEditPoints="1" noAdjustHandles="1" noChangeArrowheads="1" noChangeShapeType="1" noTextEdit="1"/>
                </p:cNvSpPr>
                <p:nvPr/>
              </p:nvSpPr>
              <p:spPr>
                <a:xfrm>
                  <a:off x="10339877" y="3809045"/>
                  <a:ext cx="824948" cy="601535"/>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36">
                  <a:extLst>
                    <a:ext uri="{FF2B5EF4-FFF2-40B4-BE49-F238E27FC236}">
                      <a16:creationId xmlns:a16="http://schemas.microsoft.com/office/drawing/2014/main" id="{FB47FD72-6D99-2C9C-1AB6-96A66462ADBD}"/>
                    </a:ext>
                  </a:extLst>
                </p:cNvPr>
                <p:cNvSpPr/>
                <p:nvPr/>
              </p:nvSpPr>
              <p:spPr>
                <a:xfrm>
                  <a:off x="9156511" y="3811916"/>
                  <a:ext cx="824948" cy="601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𝑃</m:t>
                        </m:r>
                        <m:r>
                          <a:rPr lang="en-US" b="0" i="1" smtClean="0">
                            <a:solidFill>
                              <a:schemeClr val="tx1"/>
                            </a:solidFill>
                            <a:latin typeface="Cambria Math" panose="02040503050406030204" pitchFamily="18" charset="0"/>
                          </a:rPr>
                          <m:t>𝐼</m:t>
                        </m:r>
                      </m:oMath>
                    </m:oMathPara>
                  </a14:m>
                  <a:endParaRPr lang="en-US">
                    <a:solidFill>
                      <a:schemeClr val="tx1"/>
                    </a:solidFill>
                  </a:endParaRPr>
                </a:p>
              </p:txBody>
            </p:sp>
          </mc:Choice>
          <mc:Fallback xmlns="">
            <p:sp>
              <p:nvSpPr>
                <p:cNvPr id="13" name="Rectangle 36">
                  <a:extLst>
                    <a:ext uri="{FF2B5EF4-FFF2-40B4-BE49-F238E27FC236}">
                      <a16:creationId xmlns:a16="http://schemas.microsoft.com/office/drawing/2014/main" id="{FB47FD72-6D99-2C9C-1AB6-96A66462ADBD}"/>
                    </a:ext>
                  </a:extLst>
                </p:cNvPr>
                <p:cNvSpPr>
                  <a:spLocks noRot="1" noChangeAspect="1" noMove="1" noResize="1" noEditPoints="1" noAdjustHandles="1" noChangeArrowheads="1" noChangeShapeType="1" noTextEdit="1"/>
                </p:cNvSpPr>
                <p:nvPr/>
              </p:nvSpPr>
              <p:spPr>
                <a:xfrm>
                  <a:off x="9156511" y="3811916"/>
                  <a:ext cx="824948" cy="601535"/>
                </a:xfrm>
                <a:prstGeom prst="rect">
                  <a:avLst/>
                </a:prstGeom>
                <a:blipFill>
                  <a:blip r:embed="rId5"/>
                  <a:stretch>
                    <a:fillRect/>
                  </a:stretch>
                </a:blipFill>
                <a:ln>
                  <a:solidFill>
                    <a:schemeClr val="tx1"/>
                  </a:solidFill>
                </a:ln>
              </p:spPr>
              <p:txBody>
                <a:bodyPr/>
                <a:lstStyle/>
                <a:p>
                  <a:r>
                    <a:rPr lang="en-US">
                      <a:noFill/>
                    </a:rPr>
                    <a:t> </a:t>
                  </a:r>
                </a:p>
              </p:txBody>
            </p:sp>
          </mc:Fallback>
        </mc:AlternateContent>
        <p:cxnSp>
          <p:nvCxnSpPr>
            <p:cNvPr id="14" name="Straight Connector 38">
              <a:extLst>
                <a:ext uri="{FF2B5EF4-FFF2-40B4-BE49-F238E27FC236}">
                  <a16:creationId xmlns:a16="http://schemas.microsoft.com/office/drawing/2014/main" id="{21375A76-DFD2-B580-3B41-149B99869A83}"/>
                </a:ext>
              </a:extLst>
            </p:cNvPr>
            <p:cNvCxnSpPr>
              <a:stCxn id="13" idx="3"/>
              <a:endCxn id="12" idx="1"/>
            </p:cNvCxnSpPr>
            <p:nvPr/>
          </p:nvCxnSpPr>
          <p:spPr>
            <a:xfrm flipV="1">
              <a:off x="9981459" y="4109813"/>
              <a:ext cx="358418" cy="28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40">
              <a:extLst>
                <a:ext uri="{FF2B5EF4-FFF2-40B4-BE49-F238E27FC236}">
                  <a16:creationId xmlns:a16="http://schemas.microsoft.com/office/drawing/2014/main" id="{96712D6C-2C68-AC51-500A-AF92DA9DFCD8}"/>
                </a:ext>
              </a:extLst>
            </p:cNvPr>
            <p:cNvCxnSpPr>
              <a:stCxn id="12" idx="3"/>
            </p:cNvCxnSpPr>
            <p:nvPr/>
          </p:nvCxnSpPr>
          <p:spPr>
            <a:xfrm flipV="1">
              <a:off x="11164825" y="4109812"/>
              <a:ext cx="563349"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42">
              <a:extLst>
                <a:ext uri="{FF2B5EF4-FFF2-40B4-BE49-F238E27FC236}">
                  <a16:creationId xmlns:a16="http://schemas.microsoft.com/office/drawing/2014/main" id="{9C1FD79E-2B56-AABC-58DB-BDAF5A3B8AC8}"/>
                </a:ext>
              </a:extLst>
            </p:cNvPr>
            <p:cNvCxnSpPr>
              <a:cxnSpLocks/>
            </p:cNvCxnSpPr>
            <p:nvPr/>
          </p:nvCxnSpPr>
          <p:spPr>
            <a:xfrm flipV="1">
              <a:off x="8253641" y="4283748"/>
              <a:ext cx="0" cy="8775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44">
              <a:extLst>
                <a:ext uri="{FF2B5EF4-FFF2-40B4-BE49-F238E27FC236}">
                  <a16:creationId xmlns:a16="http://schemas.microsoft.com/office/drawing/2014/main" id="{36932CC3-2972-622F-BD25-662A878C41C1}"/>
                </a:ext>
              </a:extLst>
            </p:cNvPr>
            <p:cNvCxnSpPr/>
            <p:nvPr/>
          </p:nvCxnSpPr>
          <p:spPr>
            <a:xfrm>
              <a:off x="8253641" y="5161336"/>
              <a:ext cx="319285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46">
              <a:extLst>
                <a:ext uri="{FF2B5EF4-FFF2-40B4-BE49-F238E27FC236}">
                  <a16:creationId xmlns:a16="http://schemas.microsoft.com/office/drawing/2014/main" id="{6AA19F5E-E70A-9A6C-E017-7014885F9613}"/>
                </a:ext>
              </a:extLst>
            </p:cNvPr>
            <p:cNvCxnSpPr/>
            <p:nvPr/>
          </p:nvCxnSpPr>
          <p:spPr>
            <a:xfrm flipV="1">
              <a:off x="11446499" y="4109812"/>
              <a:ext cx="0" cy="1051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47">
              <a:extLst>
                <a:ext uri="{FF2B5EF4-FFF2-40B4-BE49-F238E27FC236}">
                  <a16:creationId xmlns:a16="http://schemas.microsoft.com/office/drawing/2014/main" id="{47DC2D2B-E92F-9D97-EC6E-C01C44BBA0F7}"/>
                </a:ext>
              </a:extLst>
            </p:cNvPr>
            <p:cNvSpPr txBox="1"/>
            <p:nvPr/>
          </p:nvSpPr>
          <p:spPr>
            <a:xfrm>
              <a:off x="7817104" y="3667538"/>
              <a:ext cx="433513" cy="369332"/>
            </a:xfrm>
            <a:prstGeom prst="rect">
              <a:avLst/>
            </a:prstGeom>
            <a:noFill/>
          </p:spPr>
          <p:txBody>
            <a:bodyPr wrap="square" rtlCol="0">
              <a:spAutoFit/>
            </a:bodyPr>
            <a:lstStyle/>
            <a:p>
              <a:r>
                <a:rPr lang="en-US"/>
                <a:t>+</a:t>
              </a:r>
            </a:p>
          </p:txBody>
        </p:sp>
        <p:sp>
          <p:nvSpPr>
            <p:cNvPr id="20" name="TextBox 48">
              <a:extLst>
                <a:ext uri="{FF2B5EF4-FFF2-40B4-BE49-F238E27FC236}">
                  <a16:creationId xmlns:a16="http://schemas.microsoft.com/office/drawing/2014/main" id="{EC857A13-3717-6FE5-A0D9-300A1595F4E4}"/>
                </a:ext>
              </a:extLst>
            </p:cNvPr>
            <p:cNvSpPr txBox="1"/>
            <p:nvPr/>
          </p:nvSpPr>
          <p:spPr>
            <a:xfrm>
              <a:off x="7928083" y="4286980"/>
              <a:ext cx="433513" cy="369332"/>
            </a:xfrm>
            <a:prstGeom prst="rect">
              <a:avLst/>
            </a:prstGeom>
            <a:noFill/>
          </p:spPr>
          <p:txBody>
            <a:bodyPr wrap="square" rtlCol="0">
              <a:spAutoFit/>
            </a:bodyPr>
            <a:lstStyle/>
            <a:p>
              <a:r>
                <a:rPr lang="en-US"/>
                <a:t>-</a:t>
              </a:r>
            </a:p>
          </p:txBody>
        </p:sp>
        <mc:AlternateContent xmlns:mc="http://schemas.openxmlformats.org/markup-compatibility/2006" xmlns:a14="http://schemas.microsoft.com/office/drawing/2010/main">
          <mc:Choice Requires="a14">
            <p:sp>
              <p:nvSpPr>
                <p:cNvPr id="21" name="TextBox 49">
                  <a:extLst>
                    <a:ext uri="{FF2B5EF4-FFF2-40B4-BE49-F238E27FC236}">
                      <a16:creationId xmlns:a16="http://schemas.microsoft.com/office/drawing/2014/main" id="{9A64347D-E2C0-4711-DE4D-DEC0D9B8BADD}"/>
                    </a:ext>
                  </a:extLst>
                </p:cNvPr>
                <p:cNvSpPr txBox="1"/>
                <p:nvPr/>
              </p:nvSpPr>
              <p:spPr>
                <a:xfrm>
                  <a:off x="7195930" y="3667538"/>
                  <a:ext cx="491539" cy="401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Sup>
                              <m:sSubSupPr>
                                <m:ctrlPr>
                                  <a:rPr lang="en-US" i="1">
                                    <a:latin typeface="Cambria Math" panose="02040503050406030204" pitchFamily="18" charset="0"/>
                                  </a:rPr>
                                </m:ctrlPr>
                              </m:sSubSupPr>
                              <m:e>
                                <m:r>
                                  <a:rPr lang="en-US" i="1">
                                    <a:latin typeface="Cambria Math" panose="02040503050406030204" pitchFamily="18" charset="0"/>
                                  </a:rPr>
                                  <m:t>𝑖</m:t>
                                </m:r>
                              </m:e>
                              <m:sub>
                                <m:r>
                                  <a:rPr lang="en-US" i="1">
                                    <a:latin typeface="Cambria Math" panose="02040503050406030204" pitchFamily="18" charset="0"/>
                                  </a:rPr>
                                  <m:t>𝐿</m:t>
                                </m:r>
                              </m:sub>
                              <m:sup>
                                <m:r>
                                  <a:rPr lang="en-US" i="1">
                                    <a:latin typeface="Cambria Math" panose="02040503050406030204" pitchFamily="18" charset="0"/>
                                  </a:rPr>
                                  <m:t>∗</m:t>
                                </m:r>
                              </m:sup>
                            </m:sSubSup>
                            <m:r>
                              <m:rPr>
                                <m:nor/>
                              </m:rPr>
                              <a:rPr lang="en-US" i="0"/>
                              <m:t> </m:t>
                            </m:r>
                          </m:e>
                        </m:acc>
                      </m:oMath>
                    </m:oMathPara>
                  </a14:m>
                  <a:endParaRPr lang="en-US"/>
                </a:p>
              </p:txBody>
            </p:sp>
          </mc:Choice>
          <mc:Fallback xmlns="">
            <p:sp>
              <p:nvSpPr>
                <p:cNvPr id="21" name="TextBox 49">
                  <a:extLst>
                    <a:ext uri="{FF2B5EF4-FFF2-40B4-BE49-F238E27FC236}">
                      <a16:creationId xmlns:a16="http://schemas.microsoft.com/office/drawing/2014/main" id="{9A64347D-E2C0-4711-DE4D-DEC0D9B8BADD}"/>
                    </a:ext>
                  </a:extLst>
                </p:cNvPr>
                <p:cNvSpPr txBox="1">
                  <a:spLocks noRot="1" noChangeAspect="1" noMove="1" noResize="1" noEditPoints="1" noAdjustHandles="1" noChangeArrowheads="1" noChangeShapeType="1" noTextEdit="1"/>
                </p:cNvSpPr>
                <p:nvPr/>
              </p:nvSpPr>
              <p:spPr>
                <a:xfrm>
                  <a:off x="7195930" y="3667538"/>
                  <a:ext cx="491539" cy="401905"/>
                </a:xfrm>
                <a:prstGeom prst="rect">
                  <a:avLst/>
                </a:prstGeom>
                <a:blipFill>
                  <a:blip r:embed="rId6"/>
                  <a:stretch>
                    <a:fillRect r="-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50">
                  <a:extLst>
                    <a:ext uri="{FF2B5EF4-FFF2-40B4-BE49-F238E27FC236}">
                      <a16:creationId xmlns:a16="http://schemas.microsoft.com/office/drawing/2014/main" id="{B215EAC7-B9FD-16BA-EC2C-EB5C698906C6}"/>
                    </a:ext>
                  </a:extLst>
                </p:cNvPr>
                <p:cNvSpPr txBox="1"/>
                <p:nvPr/>
              </p:nvSpPr>
              <p:spPr>
                <a:xfrm>
                  <a:off x="11277473" y="3669606"/>
                  <a:ext cx="491539" cy="3743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𝐿</m:t>
                                </m:r>
                              </m:sub>
                            </m:sSub>
                          </m:e>
                        </m:acc>
                      </m:oMath>
                    </m:oMathPara>
                  </a14:m>
                  <a:endParaRPr lang="en-US"/>
                </a:p>
              </p:txBody>
            </p:sp>
          </mc:Choice>
          <mc:Fallback xmlns="">
            <p:sp>
              <p:nvSpPr>
                <p:cNvPr id="22" name="TextBox 50">
                  <a:extLst>
                    <a:ext uri="{FF2B5EF4-FFF2-40B4-BE49-F238E27FC236}">
                      <a16:creationId xmlns:a16="http://schemas.microsoft.com/office/drawing/2014/main" id="{B215EAC7-B9FD-16BA-EC2C-EB5C698906C6}"/>
                    </a:ext>
                  </a:extLst>
                </p:cNvPr>
                <p:cNvSpPr txBox="1">
                  <a:spLocks noRot="1" noChangeAspect="1" noMove="1" noResize="1" noEditPoints="1" noAdjustHandles="1" noChangeArrowheads="1" noChangeShapeType="1" noTextEdit="1"/>
                </p:cNvSpPr>
                <p:nvPr/>
              </p:nvSpPr>
              <p:spPr>
                <a:xfrm>
                  <a:off x="11277473" y="3669606"/>
                  <a:ext cx="491539" cy="374333"/>
                </a:xfrm>
                <a:prstGeom prst="rect">
                  <a:avLst/>
                </a:prstGeom>
                <a:blipFill>
                  <a:blip r:embed="rId7"/>
                  <a:stretch>
                    <a:fillRect t="-9677" r="-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51">
                  <a:extLst>
                    <a:ext uri="{FF2B5EF4-FFF2-40B4-BE49-F238E27FC236}">
                      <a16:creationId xmlns:a16="http://schemas.microsoft.com/office/drawing/2014/main" id="{76A1E922-550B-8E79-2644-69F29AFE6EA0}"/>
                    </a:ext>
                  </a:extLst>
                </p:cNvPr>
                <p:cNvSpPr txBox="1"/>
                <p:nvPr/>
              </p:nvSpPr>
              <p:spPr>
                <a:xfrm>
                  <a:off x="9914898" y="3684842"/>
                  <a:ext cx="491539" cy="380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𝑑</m:t>
                            </m:r>
                          </m:e>
                        </m:acc>
                      </m:oMath>
                    </m:oMathPara>
                  </a14:m>
                  <a:endParaRPr lang="en-US"/>
                </a:p>
              </p:txBody>
            </p:sp>
          </mc:Choice>
          <mc:Fallback xmlns="">
            <p:sp>
              <p:nvSpPr>
                <p:cNvPr id="23" name="TextBox 51">
                  <a:extLst>
                    <a:ext uri="{FF2B5EF4-FFF2-40B4-BE49-F238E27FC236}">
                      <a16:creationId xmlns:a16="http://schemas.microsoft.com/office/drawing/2014/main" id="{76A1E922-550B-8E79-2644-69F29AFE6EA0}"/>
                    </a:ext>
                  </a:extLst>
                </p:cNvPr>
                <p:cNvSpPr txBox="1">
                  <a:spLocks noRot="1" noChangeAspect="1" noMove="1" noResize="1" noEditPoints="1" noAdjustHandles="1" noChangeArrowheads="1" noChangeShapeType="1" noTextEdit="1"/>
                </p:cNvSpPr>
                <p:nvPr/>
              </p:nvSpPr>
              <p:spPr>
                <a:xfrm>
                  <a:off x="9914898" y="3684842"/>
                  <a:ext cx="491539" cy="380553"/>
                </a:xfrm>
                <a:prstGeom prst="rect">
                  <a:avLst/>
                </a:prstGeom>
                <a:blipFill>
                  <a:blip r:embed="rId8"/>
                  <a:stretch>
                    <a:fillRect t="-4839" r="-23457"/>
                  </a:stretch>
                </a:blipFill>
              </p:spPr>
              <p:txBody>
                <a:bodyPr/>
                <a:lstStyle/>
                <a:p>
                  <a:r>
                    <a:rPr lang="en-US">
                      <a:noFill/>
                    </a:rPr>
                    <a:t> </a:t>
                  </a:r>
                </a:p>
              </p:txBody>
            </p:sp>
          </mc:Fallback>
        </mc:AlternateContent>
      </p:grpSp>
      <p:sp>
        <p:nvSpPr>
          <p:cNvPr id="24" name="TextBox 53">
            <a:extLst>
              <a:ext uri="{FF2B5EF4-FFF2-40B4-BE49-F238E27FC236}">
                <a16:creationId xmlns:a16="http://schemas.microsoft.com/office/drawing/2014/main" id="{636F858D-DE18-74AA-2CBC-A0BBE17BD4D3}"/>
              </a:ext>
            </a:extLst>
          </p:cNvPr>
          <p:cNvSpPr txBox="1"/>
          <p:nvPr/>
        </p:nvSpPr>
        <p:spPr>
          <a:xfrm>
            <a:off x="7688616" y="3261657"/>
            <a:ext cx="3935864" cy="707886"/>
          </a:xfrm>
          <a:prstGeom prst="rect">
            <a:avLst/>
          </a:prstGeom>
          <a:noFill/>
        </p:spPr>
        <p:txBody>
          <a:bodyPr wrap="square" rtlCol="0">
            <a:spAutoFit/>
          </a:bodyPr>
          <a:lstStyle/>
          <a:p>
            <a:pPr algn="ctr"/>
            <a:r>
              <a:rPr lang="en-US" sz="2000"/>
              <a:t>Hình 3.2. Sơ đồ cấu trúc mạch vòng dòng điện</a:t>
            </a:r>
          </a:p>
        </p:txBody>
      </p:sp>
    </p:spTree>
    <p:extLst>
      <p:ext uri="{BB962C8B-B14F-4D97-AF65-F5344CB8AC3E}">
        <p14:creationId xmlns:p14="http://schemas.microsoft.com/office/powerpoint/2010/main" val="4222301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354B5-8831-5D97-2FE9-69FCE1A1463E}"/>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7C3E72E4-9ACD-5A9E-9BA5-84A20FB204B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20</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6F95F9A7-D3D3-9108-2BD8-348DBA2ACE41}"/>
              </a:ext>
            </a:extLst>
          </p:cNvPr>
          <p:cNvSpPr>
            <a:spLocks noGrp="1"/>
          </p:cNvSpPr>
          <p:nvPr>
            <p:ph type="title"/>
          </p:nvPr>
        </p:nvSpPr>
        <p:spPr/>
        <p:txBody>
          <a:bodyPr>
            <a:normAutofit fontScale="90000"/>
          </a:bodyPr>
          <a:lstStyle/>
          <a:p>
            <a:r>
              <a:rPr lang="en-US"/>
              <a:t>3. Mô hình hóa và tổng hợp bộ điều khiển PI</a:t>
            </a:r>
          </a:p>
        </p:txBody>
      </p:sp>
      <p:pic>
        <p:nvPicPr>
          <p:cNvPr id="3" name="Hình ảnh 2">
            <a:extLst>
              <a:ext uri="{FF2B5EF4-FFF2-40B4-BE49-F238E27FC236}">
                <a16:creationId xmlns:a16="http://schemas.microsoft.com/office/drawing/2014/main" id="{2A66DF0E-F8A8-4612-2254-8744637B98CE}"/>
              </a:ext>
            </a:extLst>
          </p:cNvPr>
          <p:cNvPicPr>
            <a:picLocks noChangeAspect="1"/>
          </p:cNvPicPr>
          <p:nvPr/>
        </p:nvPicPr>
        <p:blipFill>
          <a:blip r:embed="rId2"/>
          <a:srcRect l="10053" t="4419" r="8405" b="4091"/>
          <a:stretch/>
        </p:blipFill>
        <p:spPr>
          <a:xfrm>
            <a:off x="119974" y="1063472"/>
            <a:ext cx="9199124" cy="5031616"/>
          </a:xfrm>
          <a:prstGeom prst="rect">
            <a:avLst/>
          </a:prstGeom>
        </p:spPr>
      </p:pic>
      <mc:AlternateContent xmlns:mc="http://schemas.openxmlformats.org/markup-compatibility/2006" xmlns:a14="http://schemas.microsoft.com/office/drawing/2010/main">
        <mc:Choice Requires="a14">
          <p:sp>
            <p:nvSpPr>
              <p:cNvPr id="4" name="Rectangle 12">
                <a:extLst>
                  <a:ext uri="{FF2B5EF4-FFF2-40B4-BE49-F238E27FC236}">
                    <a16:creationId xmlns:a16="http://schemas.microsoft.com/office/drawing/2014/main" id="{A5301556-2830-185D-8E28-DBD7300A9E97}"/>
                  </a:ext>
                </a:extLst>
              </p:cNvPr>
              <p:cNvSpPr/>
              <p:nvPr/>
            </p:nvSpPr>
            <p:spPr>
              <a:xfrm>
                <a:off x="9591472" y="1793572"/>
                <a:ext cx="2261792" cy="357141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err="1">
                    <a:solidFill>
                      <a:schemeClr val="tx1"/>
                    </a:solidFill>
                    <a:latin typeface="Times New Roman" panose="02020603050405020304" pitchFamily="18" charset="0"/>
                    <a:cs typeface="Times New Roman" panose="02020603050405020304" pitchFamily="18" charset="0"/>
                  </a:rPr>
                  <a:t>Nhận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xét</a:t>
                </a:r>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Khi </a:t>
                </a:r>
                <a:r>
                  <a:rPr lang="en-US" sz="2000" err="1">
                    <a:solidFill>
                      <a:schemeClr val="tx1"/>
                    </a:solidFill>
                    <a:latin typeface="Times New Roman" panose="02020603050405020304" pitchFamily="18" charset="0"/>
                    <a:cs typeface="Times New Roman" panose="02020603050405020304" pitchFamily="18" charset="0"/>
                  </a:rPr>
                  <a:t>có</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bộ</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điều</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khiển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dòng</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điện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độ</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dữ</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trữ</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pha</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đã</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giảm</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từ</a:t>
                </a:r>
                <a:r>
                  <a:rPr lang="en-US" sz="200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0" smtClean="0">
                            <a:solidFill>
                              <a:schemeClr val="tx1"/>
                            </a:solidFill>
                            <a:latin typeface="Cambria Math" panose="02040503050406030204" pitchFamily="18" charset="0"/>
                          </a:rPr>
                          <m:t>90</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xuống</a:t>
                </a:r>
                <a:r>
                  <a:rPr lang="en-US" sz="200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65.5</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Hệ</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kín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ổn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định</a:t>
                </a:r>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Tần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số</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cắt</a:t>
                </a:r>
                <a:r>
                  <a:rPr lang="en-US" sz="2000">
                    <a:solidFill>
                      <a:schemeClr val="tx1"/>
                    </a:solidFill>
                    <a:latin typeface="Times New Roman" panose="02020603050405020304" pitchFamily="18" charset="0"/>
                    <a:cs typeface="Times New Roman" panose="02020603050405020304" pitchFamily="18" charset="0"/>
                  </a:rPr>
                  <a:t> ở </a:t>
                </a:r>
                <a:r>
                  <a:rPr lang="en-US" sz="2000" err="1">
                    <a:solidFill>
                      <a:schemeClr val="tx1"/>
                    </a:solidFill>
                    <a:latin typeface="Times New Roman" panose="02020603050405020304" pitchFamily="18" charset="0"/>
                    <a:cs typeface="Times New Roman" panose="02020603050405020304" pitchFamily="18" charset="0"/>
                  </a:rPr>
                  <a:t>vùng</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tần</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số</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cao</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đảm</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bảo</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cho</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việc</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hạ</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bậc</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hàm</a:t>
                </a:r>
                <a:r>
                  <a:rPr lang="en-US" sz="2000">
                    <a:solidFill>
                      <a:schemeClr val="tx1"/>
                    </a:solidFill>
                    <a:latin typeface="Times New Roman" panose="02020603050405020304" pitchFamily="18" charset="0"/>
                    <a:cs typeface="Times New Roman" panose="02020603050405020304" pitchFamily="18" charset="0"/>
                  </a:rPr>
                  <a:t> </a:t>
                </a:r>
                <a:r>
                  <a:rPr lang="en-US" sz="2000" err="1">
                    <a:solidFill>
                      <a:schemeClr val="tx1"/>
                    </a:solidFill>
                    <a:latin typeface="Times New Roman" panose="02020603050405020304" pitchFamily="18" charset="0"/>
                    <a:cs typeface="Times New Roman" panose="02020603050405020304" pitchFamily="18" charset="0"/>
                  </a:rPr>
                  <a:t>truyền</a:t>
                </a:r>
                <a:r>
                  <a:rPr lang="en-US" sz="2000">
                    <a:solidFill>
                      <a:schemeClr val="tx1"/>
                    </a:solidFill>
                    <a:latin typeface="Times New Roman" panose="02020603050405020304" pitchFamily="18" charset="0"/>
                    <a:cs typeface="Times New Roman" panose="02020603050405020304" pitchFamily="18" charset="0"/>
                  </a:rPr>
                  <a:t>. </a:t>
                </a:r>
              </a:p>
            </p:txBody>
          </p:sp>
        </mc:Choice>
        <mc:Fallback xmlns="">
          <p:sp>
            <p:nvSpPr>
              <p:cNvPr id="4" name="Rectangle 12">
                <a:extLst>
                  <a:ext uri="{FF2B5EF4-FFF2-40B4-BE49-F238E27FC236}">
                    <a16:creationId xmlns:a16="http://schemas.microsoft.com/office/drawing/2014/main" id="{A5301556-2830-185D-8E28-DBD7300A9E97}"/>
                  </a:ext>
                </a:extLst>
              </p:cNvPr>
              <p:cNvSpPr>
                <a:spLocks noRot="1" noChangeAspect="1" noMove="1" noResize="1" noEditPoints="1" noAdjustHandles="1" noChangeArrowheads="1" noChangeShapeType="1" noTextEdit="1"/>
              </p:cNvSpPr>
              <p:nvPr/>
            </p:nvSpPr>
            <p:spPr>
              <a:xfrm>
                <a:off x="9591472" y="1793572"/>
                <a:ext cx="2261792" cy="3571415"/>
              </a:xfrm>
              <a:prstGeom prst="rect">
                <a:avLst/>
              </a:prstGeom>
              <a:blipFill>
                <a:blip r:embed="rId3"/>
                <a:stretch>
                  <a:fillRect l="-2406" r="-4545"/>
                </a:stretch>
              </a:blipFill>
              <a:ln>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142195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BCAB5-569A-D269-6090-20FC25A36106}"/>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79CC4B50-2E2A-EF8D-C0BD-B4707D91A49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21</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30E642C8-E7DE-1A31-F14D-A3BE17E22B92}"/>
              </a:ext>
            </a:extLst>
          </p:cNvPr>
          <p:cNvSpPr>
            <a:spLocks noGrp="1"/>
          </p:cNvSpPr>
          <p:nvPr>
            <p:ph type="title"/>
          </p:nvPr>
        </p:nvSpPr>
        <p:spPr/>
        <p:txBody>
          <a:bodyPr>
            <a:normAutofit fontScale="90000"/>
          </a:bodyPr>
          <a:lstStyle/>
          <a:p>
            <a:r>
              <a:rPr lang="en-US"/>
              <a:t>3. Mô hình hóa và tổng hợp bộ điều khiển PI</a:t>
            </a:r>
          </a:p>
        </p:txBody>
      </p:sp>
      <p:sp>
        <p:nvSpPr>
          <p:cNvPr id="2" name="TextBox 18">
            <a:extLst>
              <a:ext uri="{FF2B5EF4-FFF2-40B4-BE49-F238E27FC236}">
                <a16:creationId xmlns:a16="http://schemas.microsoft.com/office/drawing/2014/main" id="{A0BD8103-1DA3-50CB-C11C-790E2D4D384C}"/>
              </a:ext>
            </a:extLst>
          </p:cNvPr>
          <p:cNvSpPr txBox="1"/>
          <p:nvPr/>
        </p:nvSpPr>
        <p:spPr>
          <a:xfrm>
            <a:off x="103434" y="894126"/>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Thiết kế mạch vòng dòng điện: Bộ bù loại 2 như trong bài giảng</a:t>
            </a:r>
          </a:p>
        </p:txBody>
      </p:sp>
      <mc:AlternateContent xmlns:mc="http://schemas.openxmlformats.org/markup-compatibility/2006" xmlns:a14="http://schemas.microsoft.com/office/drawing/2010/main">
        <mc:Choice Requires="a14">
          <p:sp>
            <p:nvSpPr>
              <p:cNvPr id="6" name="TextBox 21">
                <a:extLst>
                  <a:ext uri="{FF2B5EF4-FFF2-40B4-BE49-F238E27FC236}">
                    <a16:creationId xmlns:a16="http://schemas.microsoft.com/office/drawing/2014/main" id="{8FA75A98-9863-E09D-B02B-DFBC6A4541F7}"/>
                  </a:ext>
                </a:extLst>
              </p:cNvPr>
              <p:cNvSpPr txBox="1"/>
              <p:nvPr/>
            </p:nvSpPr>
            <p:spPr>
              <a:xfrm>
                <a:off x="103434" y="1294236"/>
                <a:ext cx="11514528" cy="400110"/>
              </a:xfrm>
              <a:prstGeom prst="rect">
                <a:avLst/>
              </a:prstGeom>
              <a:noFill/>
            </p:spPr>
            <p:txBody>
              <a:bodyPr wrap="square" rtlCol="0">
                <a:spAutoFit/>
              </a:bodyPr>
              <a:lstStyle/>
              <a:p>
                <a:r>
                  <a:rPr lang="en-US" sz="2000"/>
                  <a:t>Lựa chọn bộ bù loại II cho mạch vòng điều chỉnh dòng điện, để hệ hở có PM =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60</m:t>
                        </m:r>
                      </m:e>
                      <m:sup>
                        <m:r>
                          <a:rPr lang="en-US" sz="2000" b="0" i="1" smtClean="0">
                            <a:solidFill>
                              <a:schemeClr val="tx1"/>
                            </a:solidFill>
                            <a:latin typeface="Cambria Math" panose="02040503050406030204" pitchFamily="18" charset="0"/>
                          </a:rPr>
                          <m:t>∘</m:t>
                        </m:r>
                      </m:sup>
                    </m:sSup>
                  </m:oMath>
                </a14:m>
                <a:r>
                  <a:rPr lang="en-US" sz="2000"/>
                  <a:t>, tần số cắt fci = 10kHz</a:t>
                </a:r>
              </a:p>
            </p:txBody>
          </p:sp>
        </mc:Choice>
        <mc:Fallback xmlns="">
          <p:sp>
            <p:nvSpPr>
              <p:cNvPr id="6" name="TextBox 21">
                <a:extLst>
                  <a:ext uri="{FF2B5EF4-FFF2-40B4-BE49-F238E27FC236}">
                    <a16:creationId xmlns:a16="http://schemas.microsoft.com/office/drawing/2014/main" id="{8FA75A98-9863-E09D-B02B-DFBC6A4541F7}"/>
                  </a:ext>
                </a:extLst>
              </p:cNvPr>
              <p:cNvSpPr txBox="1">
                <a:spLocks noRot="1" noChangeAspect="1" noMove="1" noResize="1" noEditPoints="1" noAdjustHandles="1" noChangeArrowheads="1" noChangeShapeType="1" noTextEdit="1"/>
              </p:cNvSpPr>
              <p:nvPr/>
            </p:nvSpPr>
            <p:spPr>
              <a:xfrm>
                <a:off x="103434" y="1294236"/>
                <a:ext cx="11514528" cy="400110"/>
              </a:xfrm>
              <a:prstGeom prst="rect">
                <a:avLst/>
              </a:prstGeom>
              <a:blipFill>
                <a:blip r:embed="rId2"/>
                <a:stretch>
                  <a:fillRect l="-582" t="-7576" b="-25758"/>
                </a:stretch>
              </a:blipFill>
            </p:spPr>
            <p:txBody>
              <a:bodyPr/>
              <a:lstStyle/>
              <a:p>
                <a:r>
                  <a:rPr lang="en-US">
                    <a:noFill/>
                  </a:rPr>
                  <a:t> </a:t>
                </a:r>
              </a:p>
            </p:txBody>
          </p:sp>
        </mc:Fallback>
      </mc:AlternateContent>
      <p:sp>
        <p:nvSpPr>
          <p:cNvPr id="37" name="Hộp Văn bản 36">
            <a:extLst>
              <a:ext uri="{FF2B5EF4-FFF2-40B4-BE49-F238E27FC236}">
                <a16:creationId xmlns:a16="http://schemas.microsoft.com/office/drawing/2014/main" id="{509A9E21-60CC-5149-A69A-44C96CB90430}"/>
              </a:ext>
            </a:extLst>
          </p:cNvPr>
          <p:cNvSpPr txBox="1"/>
          <p:nvPr/>
        </p:nvSpPr>
        <p:spPr>
          <a:xfrm>
            <a:off x="443902" y="1623704"/>
            <a:ext cx="6861570" cy="4939814"/>
          </a:xfrm>
          <a:prstGeom prst="rect">
            <a:avLst/>
          </a:prstGeom>
          <a:noFill/>
        </p:spPr>
        <p:txBody>
          <a:bodyPr wrap="square" rtlCol="0">
            <a:spAutoFit/>
          </a:bodyPr>
          <a:lstStyle/>
          <a:p>
            <a:pPr>
              <a:buNone/>
            </a:pPr>
            <a:r>
              <a:rPr lang="en-US" sz="1500" b="0" i="0">
                <a:solidFill>
                  <a:srgbClr val="008013"/>
                </a:solidFill>
                <a:effectLst/>
                <a:latin typeface="Menlo"/>
              </a:rPr>
              <a:t>%</a:t>
            </a:r>
            <a:r>
              <a:rPr lang="en-US" sz="1500" b="0" i="0" err="1">
                <a:solidFill>
                  <a:srgbClr val="008013"/>
                </a:solidFill>
                <a:effectLst/>
                <a:latin typeface="Menlo"/>
              </a:rPr>
              <a:t>Xac</a:t>
            </a:r>
            <a:r>
              <a:rPr lang="en-US" sz="1500" b="0" i="0">
                <a:solidFill>
                  <a:srgbClr val="008013"/>
                </a:solidFill>
                <a:effectLst/>
                <a:latin typeface="Menlo"/>
              </a:rPr>
              <a:t> </a:t>
            </a:r>
            <a:r>
              <a:rPr lang="en-US" sz="1500" b="0" i="0" err="1">
                <a:solidFill>
                  <a:srgbClr val="008013"/>
                </a:solidFill>
                <a:effectLst/>
                <a:latin typeface="Menlo"/>
              </a:rPr>
              <a:t>dinh</a:t>
            </a:r>
            <a:r>
              <a:rPr lang="en-US" sz="1500" b="0" i="0">
                <a:solidFill>
                  <a:srgbClr val="008013"/>
                </a:solidFill>
                <a:effectLst/>
                <a:latin typeface="Menlo"/>
              </a:rPr>
              <a:t> </a:t>
            </a:r>
            <a:r>
              <a:rPr lang="en-US" sz="1500" b="0" i="0" err="1">
                <a:solidFill>
                  <a:srgbClr val="008013"/>
                </a:solidFill>
                <a:effectLst/>
                <a:latin typeface="Menlo"/>
              </a:rPr>
              <a:t>bo</a:t>
            </a:r>
            <a:r>
              <a:rPr lang="en-US" sz="1500" b="0" i="0">
                <a:solidFill>
                  <a:srgbClr val="008013"/>
                </a:solidFill>
                <a:effectLst/>
                <a:latin typeface="Menlo"/>
              </a:rPr>
              <a:t> </a:t>
            </a:r>
            <a:r>
              <a:rPr lang="en-US" sz="1500" b="0" i="0" err="1">
                <a:solidFill>
                  <a:srgbClr val="008013"/>
                </a:solidFill>
                <a:effectLst/>
                <a:latin typeface="Menlo"/>
              </a:rPr>
              <a:t>bu</a:t>
            </a:r>
            <a:r>
              <a:rPr lang="en-US" sz="1500" b="0" i="0">
                <a:solidFill>
                  <a:srgbClr val="008013"/>
                </a:solidFill>
                <a:effectLst/>
                <a:latin typeface="Menlo"/>
              </a:rPr>
              <a:t> </a:t>
            </a:r>
            <a:r>
              <a:rPr lang="en-US" sz="1500" b="0" i="0" err="1">
                <a:solidFill>
                  <a:srgbClr val="008013"/>
                </a:solidFill>
                <a:effectLst/>
                <a:latin typeface="Menlo"/>
              </a:rPr>
              <a:t>loai</a:t>
            </a:r>
            <a:r>
              <a:rPr lang="en-US" sz="1500" b="0" i="0">
                <a:solidFill>
                  <a:srgbClr val="008013"/>
                </a:solidFill>
                <a:effectLst/>
                <a:latin typeface="Menlo"/>
              </a:rPr>
              <a:t> 2 </a:t>
            </a:r>
            <a:r>
              <a:rPr lang="en-US" sz="1500" b="0" i="0" err="1">
                <a:solidFill>
                  <a:srgbClr val="008013"/>
                </a:solidFill>
                <a:effectLst/>
                <a:latin typeface="Menlo"/>
              </a:rPr>
              <a:t>cho</a:t>
            </a:r>
            <a:r>
              <a:rPr lang="en-US" sz="1500" b="0" i="0">
                <a:solidFill>
                  <a:srgbClr val="008013"/>
                </a:solidFill>
                <a:effectLst/>
                <a:latin typeface="Menlo"/>
              </a:rPr>
              <a:t> </a:t>
            </a:r>
            <a:r>
              <a:rPr lang="en-US" sz="1500" b="0" i="0" err="1">
                <a:solidFill>
                  <a:srgbClr val="008013"/>
                </a:solidFill>
                <a:effectLst/>
                <a:latin typeface="Menlo"/>
              </a:rPr>
              <a:t>mach</a:t>
            </a:r>
            <a:r>
              <a:rPr lang="en-US" sz="1500" b="0" i="0">
                <a:solidFill>
                  <a:srgbClr val="008013"/>
                </a:solidFill>
                <a:effectLst/>
                <a:latin typeface="Menlo"/>
              </a:rPr>
              <a:t> </a:t>
            </a:r>
            <a:r>
              <a:rPr lang="en-US" sz="1500" b="0" i="0" err="1">
                <a:solidFill>
                  <a:srgbClr val="008013"/>
                </a:solidFill>
                <a:effectLst/>
                <a:latin typeface="Menlo"/>
              </a:rPr>
              <a:t>vong</a:t>
            </a:r>
            <a:r>
              <a:rPr lang="en-US" sz="1500" b="0" i="0">
                <a:solidFill>
                  <a:srgbClr val="008013"/>
                </a:solidFill>
                <a:effectLst/>
                <a:latin typeface="Menlo"/>
              </a:rPr>
              <a:t> dong </a:t>
            </a:r>
            <a:r>
              <a:rPr lang="en-US" sz="1500" b="0" i="0" err="1">
                <a:solidFill>
                  <a:srgbClr val="008013"/>
                </a:solidFill>
                <a:effectLst/>
                <a:latin typeface="Menlo"/>
              </a:rPr>
              <a:t>dien</a:t>
            </a:r>
            <a:endParaRPr lang="en-US" sz="1500" b="0" i="0">
              <a:effectLst/>
              <a:latin typeface="Menlo"/>
            </a:endParaRPr>
          </a:p>
          <a:p>
            <a:pPr>
              <a:buNone/>
            </a:pPr>
            <a:r>
              <a:rPr lang="en-US" sz="1500" b="0" i="0">
                <a:effectLst/>
                <a:latin typeface="Menlo"/>
              </a:rPr>
              <a:t>fc=10000; </a:t>
            </a:r>
            <a:r>
              <a:rPr lang="en-US" sz="1500" b="0" i="0">
                <a:solidFill>
                  <a:srgbClr val="008013"/>
                </a:solidFill>
                <a:effectLst/>
                <a:latin typeface="Menlo"/>
              </a:rPr>
              <a:t>%tan so cat 10kHz</a:t>
            </a:r>
            <a:endParaRPr lang="en-US" sz="1500" b="0" i="0">
              <a:effectLst/>
              <a:latin typeface="Menlo"/>
            </a:endParaRPr>
          </a:p>
          <a:p>
            <a:pPr>
              <a:buNone/>
            </a:pPr>
            <a:r>
              <a:rPr lang="en-US" sz="1500" b="0" i="0">
                <a:effectLst/>
                <a:latin typeface="Menlo"/>
              </a:rPr>
              <a:t>PM=60;</a:t>
            </a:r>
            <a:r>
              <a:rPr lang="en-US" sz="1500" b="0" i="0">
                <a:solidFill>
                  <a:srgbClr val="008013"/>
                </a:solidFill>
                <a:effectLst/>
                <a:latin typeface="Menlo"/>
              </a:rPr>
              <a:t>%du </a:t>
            </a:r>
            <a:r>
              <a:rPr lang="en-US" sz="1500" b="0" i="0" err="1">
                <a:solidFill>
                  <a:srgbClr val="008013"/>
                </a:solidFill>
                <a:effectLst/>
                <a:latin typeface="Menlo"/>
              </a:rPr>
              <a:t>tru</a:t>
            </a:r>
            <a:r>
              <a:rPr lang="en-US" sz="1500" b="0" i="0">
                <a:solidFill>
                  <a:srgbClr val="008013"/>
                </a:solidFill>
                <a:effectLst/>
                <a:latin typeface="Menlo"/>
              </a:rPr>
              <a:t> </a:t>
            </a:r>
            <a:r>
              <a:rPr lang="en-US" sz="1500" b="0" i="0" err="1">
                <a:solidFill>
                  <a:srgbClr val="008013"/>
                </a:solidFill>
                <a:effectLst/>
                <a:latin typeface="Menlo"/>
              </a:rPr>
              <a:t>pha</a:t>
            </a:r>
            <a:r>
              <a:rPr lang="en-US" sz="1500" b="0" i="0">
                <a:solidFill>
                  <a:srgbClr val="008013"/>
                </a:solidFill>
                <a:effectLst/>
                <a:latin typeface="Menlo"/>
              </a:rPr>
              <a:t> la 60 degree</a:t>
            </a:r>
            <a:endParaRPr lang="en-US" sz="1500" b="0" i="0">
              <a:effectLst/>
              <a:latin typeface="Menlo"/>
            </a:endParaRPr>
          </a:p>
          <a:p>
            <a:pPr>
              <a:buNone/>
            </a:pPr>
            <a:r>
              <a:rPr lang="en-US" sz="1500" b="0" i="0">
                <a:effectLst/>
                <a:latin typeface="Menlo"/>
              </a:rPr>
              <a:t>[mag1,phase1]=bode(Gid_n,2*pi*10e+3); </a:t>
            </a:r>
            <a:r>
              <a:rPr lang="en-US" sz="1500" b="0" i="0">
                <a:solidFill>
                  <a:srgbClr val="008013"/>
                </a:solidFill>
                <a:effectLst/>
                <a:latin typeface="Menlo"/>
              </a:rPr>
              <a:t>%bien do </a:t>
            </a:r>
            <a:r>
              <a:rPr lang="en-US" sz="1500" b="0" i="0" err="1">
                <a:solidFill>
                  <a:srgbClr val="008013"/>
                </a:solidFill>
                <a:effectLst/>
                <a:latin typeface="Menlo"/>
              </a:rPr>
              <a:t>va</a:t>
            </a:r>
            <a:r>
              <a:rPr lang="en-US" sz="1500" b="0" i="0">
                <a:solidFill>
                  <a:srgbClr val="008013"/>
                </a:solidFill>
                <a:effectLst/>
                <a:latin typeface="Menlo"/>
              </a:rPr>
              <a:t> </a:t>
            </a:r>
            <a:r>
              <a:rPr lang="en-US" sz="1500" b="0" i="0" err="1">
                <a:solidFill>
                  <a:srgbClr val="008013"/>
                </a:solidFill>
                <a:effectLst/>
                <a:latin typeface="Menlo"/>
              </a:rPr>
              <a:t>goc</a:t>
            </a:r>
            <a:r>
              <a:rPr lang="en-US" sz="1500" b="0" i="0">
                <a:solidFill>
                  <a:srgbClr val="008013"/>
                </a:solidFill>
                <a:effectLst/>
                <a:latin typeface="Menlo"/>
              </a:rPr>
              <a:t> </a:t>
            </a:r>
            <a:r>
              <a:rPr lang="en-US" sz="1500" b="0" i="0" err="1">
                <a:solidFill>
                  <a:srgbClr val="008013"/>
                </a:solidFill>
                <a:effectLst/>
                <a:latin typeface="Menlo"/>
              </a:rPr>
              <a:t>pha</a:t>
            </a:r>
            <a:r>
              <a:rPr lang="en-US" sz="1500" b="0" i="0">
                <a:solidFill>
                  <a:srgbClr val="008013"/>
                </a:solidFill>
                <a:effectLst/>
                <a:latin typeface="Menlo"/>
              </a:rPr>
              <a:t> </a:t>
            </a:r>
            <a:r>
              <a:rPr lang="en-US" sz="1500" b="0" i="0" err="1">
                <a:solidFill>
                  <a:srgbClr val="008013"/>
                </a:solidFill>
                <a:effectLst/>
                <a:latin typeface="Menlo"/>
              </a:rPr>
              <a:t>cua</a:t>
            </a:r>
            <a:r>
              <a:rPr lang="en-US" sz="1500" b="0" i="0">
                <a:solidFill>
                  <a:srgbClr val="008013"/>
                </a:solidFill>
                <a:effectLst/>
                <a:latin typeface="Menlo"/>
              </a:rPr>
              <a:t> ham </a:t>
            </a:r>
            <a:r>
              <a:rPr lang="en-US" sz="1500" b="0" i="0" err="1">
                <a:solidFill>
                  <a:srgbClr val="008013"/>
                </a:solidFill>
                <a:effectLst/>
                <a:latin typeface="Menlo"/>
              </a:rPr>
              <a:t>truyen</a:t>
            </a:r>
            <a:r>
              <a:rPr lang="en-US" sz="1500" b="0" i="0">
                <a:solidFill>
                  <a:srgbClr val="008013"/>
                </a:solidFill>
                <a:effectLst/>
                <a:latin typeface="Menlo"/>
              </a:rPr>
              <a:t> Gid tai 10kHz</a:t>
            </a:r>
            <a:endParaRPr lang="en-US" sz="1500" b="0" i="0">
              <a:effectLst/>
              <a:latin typeface="Menlo"/>
            </a:endParaRPr>
          </a:p>
          <a:p>
            <a:pPr>
              <a:buNone/>
            </a:pPr>
            <a:r>
              <a:rPr lang="en-US" sz="1500" b="0" i="0">
                <a:effectLst/>
                <a:latin typeface="Menlo"/>
              </a:rPr>
              <a:t>theta=-90+PM-(phase1);</a:t>
            </a:r>
            <a:r>
              <a:rPr lang="en-US" sz="1500" b="0" i="0">
                <a:solidFill>
                  <a:srgbClr val="008013"/>
                </a:solidFill>
                <a:effectLst/>
                <a:latin typeface="Menlo"/>
              </a:rPr>
              <a:t>%</a:t>
            </a:r>
            <a:r>
              <a:rPr lang="en-US" sz="1500" b="0" i="0" err="1">
                <a:solidFill>
                  <a:srgbClr val="008013"/>
                </a:solidFill>
                <a:effectLst/>
                <a:latin typeface="Menlo"/>
              </a:rPr>
              <a:t>tinh</a:t>
            </a:r>
            <a:r>
              <a:rPr lang="en-US" sz="1500" b="0" i="0">
                <a:solidFill>
                  <a:srgbClr val="008013"/>
                </a:solidFill>
                <a:effectLst/>
                <a:latin typeface="Menlo"/>
              </a:rPr>
              <a:t> </a:t>
            </a:r>
            <a:r>
              <a:rPr lang="en-US" sz="1500" b="0" i="0" err="1">
                <a:solidFill>
                  <a:srgbClr val="008013"/>
                </a:solidFill>
                <a:effectLst/>
                <a:latin typeface="Menlo"/>
              </a:rPr>
              <a:t>pha</a:t>
            </a:r>
            <a:r>
              <a:rPr lang="en-US" sz="1500" b="0" i="0">
                <a:solidFill>
                  <a:srgbClr val="008013"/>
                </a:solidFill>
                <a:effectLst/>
                <a:latin typeface="Menlo"/>
              </a:rPr>
              <a:t> </a:t>
            </a:r>
            <a:r>
              <a:rPr lang="en-US" sz="1500" b="0" i="0" err="1">
                <a:solidFill>
                  <a:srgbClr val="008013"/>
                </a:solidFill>
                <a:effectLst/>
                <a:latin typeface="Menlo"/>
              </a:rPr>
              <a:t>bo</a:t>
            </a:r>
            <a:r>
              <a:rPr lang="en-US" sz="1500" b="0" i="0">
                <a:solidFill>
                  <a:srgbClr val="008013"/>
                </a:solidFill>
                <a:effectLst/>
                <a:latin typeface="Menlo"/>
              </a:rPr>
              <a:t> </a:t>
            </a:r>
            <a:r>
              <a:rPr lang="en-US" sz="1500" b="0" i="0" err="1">
                <a:solidFill>
                  <a:srgbClr val="008013"/>
                </a:solidFill>
                <a:effectLst/>
                <a:latin typeface="Menlo"/>
              </a:rPr>
              <a:t>bu</a:t>
            </a:r>
            <a:r>
              <a:rPr lang="en-US" sz="1500" b="0" i="0">
                <a:solidFill>
                  <a:srgbClr val="008013"/>
                </a:solidFill>
                <a:effectLst/>
                <a:latin typeface="Menlo"/>
              </a:rPr>
              <a:t> </a:t>
            </a:r>
            <a:endParaRPr lang="en-US" sz="1500" b="0" i="0">
              <a:effectLst/>
              <a:latin typeface="Menlo"/>
            </a:endParaRPr>
          </a:p>
          <a:p>
            <a:pPr>
              <a:buNone/>
            </a:pPr>
            <a:r>
              <a:rPr lang="en-US" sz="1500" b="0" i="0">
                <a:effectLst/>
                <a:latin typeface="Menlo"/>
              </a:rPr>
              <a:t>fz=fc*sqrt((1-sin(theta*pi/180))/(1+sin(theta*pi/180)));</a:t>
            </a:r>
          </a:p>
          <a:p>
            <a:pPr>
              <a:buNone/>
            </a:pPr>
            <a:r>
              <a:rPr lang="en-US" sz="1500" b="0" i="0" err="1">
                <a:effectLst/>
                <a:latin typeface="Menlo"/>
              </a:rPr>
              <a:t>fp</a:t>
            </a:r>
            <a:r>
              <a:rPr lang="en-US" sz="1500" b="0" i="0">
                <a:effectLst/>
                <a:latin typeface="Menlo"/>
              </a:rPr>
              <a:t>=fc*sqrt((1+sin(theta*pi/180))/(1-sin(theta*pi/180)));</a:t>
            </a:r>
          </a:p>
          <a:p>
            <a:pPr>
              <a:buNone/>
            </a:pPr>
            <a:r>
              <a:rPr lang="en-US" sz="1500" b="0" i="0">
                <a:solidFill>
                  <a:srgbClr val="008013"/>
                </a:solidFill>
                <a:effectLst/>
                <a:latin typeface="Menlo"/>
              </a:rPr>
              <a:t>%</a:t>
            </a:r>
            <a:r>
              <a:rPr lang="en-US" sz="1500" b="0" i="0" err="1">
                <a:solidFill>
                  <a:srgbClr val="008013"/>
                </a:solidFill>
                <a:effectLst/>
                <a:latin typeface="Menlo"/>
              </a:rPr>
              <a:t>tinh</a:t>
            </a:r>
            <a:r>
              <a:rPr lang="en-US" sz="1500" b="0" i="0">
                <a:solidFill>
                  <a:srgbClr val="008013"/>
                </a:solidFill>
                <a:effectLst/>
                <a:latin typeface="Menlo"/>
              </a:rPr>
              <a:t> </a:t>
            </a:r>
            <a:r>
              <a:rPr lang="en-US" sz="1500" b="0" i="0" err="1">
                <a:solidFill>
                  <a:srgbClr val="008013"/>
                </a:solidFill>
                <a:effectLst/>
                <a:latin typeface="Menlo"/>
              </a:rPr>
              <a:t>toan</a:t>
            </a:r>
            <a:r>
              <a:rPr lang="en-US" sz="1500" b="0" i="0">
                <a:solidFill>
                  <a:srgbClr val="008013"/>
                </a:solidFill>
                <a:effectLst/>
                <a:latin typeface="Menlo"/>
              </a:rPr>
              <a:t> </a:t>
            </a:r>
            <a:r>
              <a:rPr lang="en-US" sz="1500" b="0" i="0" err="1">
                <a:solidFill>
                  <a:srgbClr val="008013"/>
                </a:solidFill>
                <a:effectLst/>
                <a:latin typeface="Menlo"/>
              </a:rPr>
              <a:t>bo</a:t>
            </a:r>
            <a:r>
              <a:rPr lang="en-US" sz="1500" b="0" i="0">
                <a:solidFill>
                  <a:srgbClr val="008013"/>
                </a:solidFill>
                <a:effectLst/>
                <a:latin typeface="Menlo"/>
              </a:rPr>
              <a:t> </a:t>
            </a:r>
            <a:r>
              <a:rPr lang="en-US" sz="1500" b="0" i="0" err="1">
                <a:solidFill>
                  <a:srgbClr val="008013"/>
                </a:solidFill>
                <a:effectLst/>
                <a:latin typeface="Menlo"/>
              </a:rPr>
              <a:t>bu</a:t>
            </a:r>
            <a:r>
              <a:rPr lang="en-US" sz="1500" b="0" i="0">
                <a:solidFill>
                  <a:srgbClr val="008013"/>
                </a:solidFill>
                <a:effectLst/>
                <a:latin typeface="Menlo"/>
              </a:rPr>
              <a:t> </a:t>
            </a:r>
            <a:r>
              <a:rPr lang="en-US" sz="1500" b="0" i="0" err="1">
                <a:solidFill>
                  <a:srgbClr val="008013"/>
                </a:solidFill>
                <a:effectLst/>
                <a:latin typeface="Menlo"/>
              </a:rPr>
              <a:t>loai</a:t>
            </a:r>
            <a:r>
              <a:rPr lang="en-US" sz="1500" b="0" i="0">
                <a:solidFill>
                  <a:srgbClr val="008013"/>
                </a:solidFill>
                <a:effectLst/>
                <a:latin typeface="Menlo"/>
              </a:rPr>
              <a:t> 2 </a:t>
            </a:r>
            <a:endParaRPr lang="en-US" sz="1500" b="0" i="0">
              <a:effectLst/>
              <a:latin typeface="Menlo"/>
            </a:endParaRPr>
          </a:p>
          <a:p>
            <a:pPr>
              <a:buNone/>
            </a:pPr>
            <a:r>
              <a:rPr lang="en-US" sz="1500" b="0" i="0">
                <a:effectLst/>
                <a:latin typeface="Menlo"/>
              </a:rPr>
              <a:t>numci_1=[1/(2*pi*fz) 1];</a:t>
            </a:r>
          </a:p>
          <a:p>
            <a:pPr>
              <a:buNone/>
            </a:pPr>
            <a:r>
              <a:rPr lang="en-US" sz="1500" b="0" i="0">
                <a:effectLst/>
                <a:latin typeface="Menlo"/>
              </a:rPr>
              <a:t>denci_1=[1/(2*pi*</a:t>
            </a:r>
            <a:r>
              <a:rPr lang="en-US" sz="1500" b="0" i="0" err="1">
                <a:effectLst/>
                <a:latin typeface="Menlo"/>
              </a:rPr>
              <a:t>fp</a:t>
            </a:r>
            <a:r>
              <a:rPr lang="en-US" sz="1500" b="0" i="0">
                <a:effectLst/>
                <a:latin typeface="Menlo"/>
              </a:rPr>
              <a:t>) 1];</a:t>
            </a:r>
          </a:p>
          <a:p>
            <a:pPr>
              <a:buNone/>
            </a:pPr>
            <a:r>
              <a:rPr lang="en-US" sz="1500" b="0" i="0" err="1">
                <a:effectLst/>
                <a:latin typeface="Menlo"/>
              </a:rPr>
              <a:t>tp</a:t>
            </a:r>
            <a:r>
              <a:rPr lang="en-US" sz="1500" b="0" i="0">
                <a:effectLst/>
                <a:latin typeface="Menlo"/>
              </a:rPr>
              <a:t>=</a:t>
            </a:r>
            <a:r>
              <a:rPr lang="en-US" sz="1500" b="0" i="0" err="1">
                <a:effectLst/>
                <a:latin typeface="Menlo"/>
              </a:rPr>
              <a:t>tf</a:t>
            </a:r>
            <a:r>
              <a:rPr lang="en-US" sz="1500" b="0" i="0">
                <a:effectLst/>
                <a:latin typeface="Menlo"/>
              </a:rPr>
              <a:t>([0 1],[1 0]);</a:t>
            </a:r>
            <a:r>
              <a:rPr lang="en-US" sz="1500" b="0" i="0">
                <a:solidFill>
                  <a:srgbClr val="008013"/>
                </a:solidFill>
                <a:effectLst/>
                <a:latin typeface="Menlo"/>
              </a:rPr>
              <a:t>%</a:t>
            </a:r>
            <a:r>
              <a:rPr lang="en-US" sz="1500" b="0" i="0" err="1">
                <a:solidFill>
                  <a:srgbClr val="008013"/>
                </a:solidFill>
                <a:effectLst/>
                <a:latin typeface="Menlo"/>
              </a:rPr>
              <a:t>khau</a:t>
            </a:r>
            <a:r>
              <a:rPr lang="en-US" sz="1500" b="0" i="0">
                <a:solidFill>
                  <a:srgbClr val="008013"/>
                </a:solidFill>
                <a:effectLst/>
                <a:latin typeface="Menlo"/>
              </a:rPr>
              <a:t> </a:t>
            </a:r>
            <a:r>
              <a:rPr lang="en-US" sz="1500" b="0" i="0" err="1">
                <a:solidFill>
                  <a:srgbClr val="008013"/>
                </a:solidFill>
                <a:effectLst/>
                <a:latin typeface="Menlo"/>
              </a:rPr>
              <a:t>tich</a:t>
            </a:r>
            <a:r>
              <a:rPr lang="en-US" sz="1500" b="0" i="0">
                <a:solidFill>
                  <a:srgbClr val="008013"/>
                </a:solidFill>
                <a:effectLst/>
                <a:latin typeface="Menlo"/>
              </a:rPr>
              <a:t> phan</a:t>
            </a:r>
            <a:endParaRPr lang="en-US" sz="1500" b="0" i="0">
              <a:effectLst/>
              <a:latin typeface="Menlo"/>
            </a:endParaRPr>
          </a:p>
          <a:p>
            <a:pPr>
              <a:buNone/>
            </a:pPr>
            <a:r>
              <a:rPr lang="en-US" sz="1500" b="0" i="0">
                <a:effectLst/>
                <a:latin typeface="Menlo"/>
              </a:rPr>
              <a:t>Gc1_i=</a:t>
            </a:r>
            <a:r>
              <a:rPr lang="en-US" sz="1500" b="0" i="0" err="1">
                <a:effectLst/>
                <a:latin typeface="Menlo"/>
              </a:rPr>
              <a:t>tf</a:t>
            </a:r>
            <a:r>
              <a:rPr lang="en-US" sz="1500" b="0" i="0">
                <a:effectLst/>
                <a:latin typeface="Menlo"/>
              </a:rPr>
              <a:t>(numci_1,denci_1)*</a:t>
            </a:r>
            <a:r>
              <a:rPr lang="en-US" sz="1500" b="0" i="0" err="1">
                <a:effectLst/>
                <a:latin typeface="Menlo"/>
              </a:rPr>
              <a:t>tp</a:t>
            </a:r>
            <a:r>
              <a:rPr lang="en-US" sz="1500" b="0" i="0">
                <a:effectLst/>
                <a:latin typeface="Menlo"/>
              </a:rPr>
              <a:t>;</a:t>
            </a:r>
          </a:p>
          <a:p>
            <a:pPr>
              <a:buNone/>
            </a:pPr>
            <a:r>
              <a:rPr lang="en-US" sz="1500" b="0" i="0">
                <a:effectLst/>
                <a:latin typeface="Menlo"/>
              </a:rPr>
              <a:t>numci_2=[0 1/(2*pi*fz) 1];</a:t>
            </a:r>
          </a:p>
          <a:p>
            <a:pPr>
              <a:buNone/>
            </a:pPr>
            <a:r>
              <a:rPr lang="en-US" sz="1500" b="0" i="0">
                <a:effectLst/>
                <a:latin typeface="Menlo"/>
              </a:rPr>
              <a:t>denci_2=[1/(2*pi*</a:t>
            </a:r>
            <a:r>
              <a:rPr lang="en-US" sz="1500" b="0" i="0" err="1">
                <a:effectLst/>
                <a:latin typeface="Menlo"/>
              </a:rPr>
              <a:t>fp</a:t>
            </a:r>
            <a:r>
              <a:rPr lang="en-US" sz="1500" b="0" i="0">
                <a:effectLst/>
                <a:latin typeface="Menlo"/>
              </a:rPr>
              <a:t>) 1 0];</a:t>
            </a:r>
          </a:p>
          <a:p>
            <a:pPr>
              <a:buNone/>
            </a:pPr>
            <a:r>
              <a:rPr lang="en-US" sz="1500" b="0" i="0">
                <a:effectLst/>
                <a:latin typeface="Menlo"/>
              </a:rPr>
              <a:t>[mag2,phase2]=bode(Gc1_i,2*pi*fc); </a:t>
            </a:r>
          </a:p>
          <a:p>
            <a:pPr>
              <a:buNone/>
            </a:pPr>
            <a:r>
              <a:rPr lang="en-US" sz="1500" b="0" i="0" err="1">
                <a:effectLst/>
                <a:latin typeface="Menlo"/>
              </a:rPr>
              <a:t>kc_i</a:t>
            </a:r>
            <a:r>
              <a:rPr lang="en-US" sz="1500" b="0" i="0">
                <a:effectLst/>
                <a:latin typeface="Menlo"/>
              </a:rPr>
              <a:t>=1/(mag1*mag2);</a:t>
            </a:r>
          </a:p>
          <a:p>
            <a:pPr>
              <a:buNone/>
            </a:pPr>
            <a:r>
              <a:rPr lang="en-US" sz="1500" b="0" i="0" err="1">
                <a:effectLst/>
                <a:latin typeface="Menlo"/>
              </a:rPr>
              <a:t>numci</a:t>
            </a:r>
            <a:r>
              <a:rPr lang="en-US" sz="1500" b="0" i="0">
                <a:effectLst/>
                <a:latin typeface="Menlo"/>
              </a:rPr>
              <a:t>=</a:t>
            </a:r>
            <a:r>
              <a:rPr lang="en-US" sz="1500" b="0" i="0" err="1">
                <a:effectLst/>
                <a:latin typeface="Menlo"/>
              </a:rPr>
              <a:t>kc_i</a:t>
            </a:r>
            <a:r>
              <a:rPr lang="en-US" sz="1500" b="0" i="0">
                <a:effectLst/>
                <a:latin typeface="Menlo"/>
              </a:rPr>
              <a:t>*numci_2;</a:t>
            </a:r>
          </a:p>
          <a:p>
            <a:pPr>
              <a:buNone/>
            </a:pPr>
            <a:r>
              <a:rPr lang="en-US" sz="1500" b="0" i="0" err="1">
                <a:effectLst/>
                <a:latin typeface="Menlo"/>
              </a:rPr>
              <a:t>denci</a:t>
            </a:r>
            <a:r>
              <a:rPr lang="en-US" sz="1500" b="0" i="0">
                <a:effectLst/>
                <a:latin typeface="Menlo"/>
              </a:rPr>
              <a:t>=denci_2;</a:t>
            </a:r>
          </a:p>
          <a:p>
            <a:r>
              <a:rPr lang="en-US" sz="1500" b="0" i="0" err="1">
                <a:effectLst/>
                <a:latin typeface="Menlo"/>
              </a:rPr>
              <a:t>Gpi_i</a:t>
            </a:r>
            <a:r>
              <a:rPr lang="en-US" sz="1500" b="0" i="0">
                <a:effectLst/>
                <a:latin typeface="Menlo"/>
              </a:rPr>
              <a:t>=</a:t>
            </a:r>
            <a:r>
              <a:rPr lang="en-US" sz="1500" b="0" i="0" err="1">
                <a:effectLst/>
                <a:latin typeface="Menlo"/>
              </a:rPr>
              <a:t>tf</a:t>
            </a:r>
            <a:r>
              <a:rPr lang="en-US" sz="1500" b="0" i="0">
                <a:effectLst/>
                <a:latin typeface="Menlo"/>
              </a:rPr>
              <a:t>(</a:t>
            </a:r>
            <a:r>
              <a:rPr lang="en-US" sz="1500" b="0" i="0" err="1">
                <a:effectLst/>
                <a:latin typeface="Menlo"/>
              </a:rPr>
              <a:t>numci,denci</a:t>
            </a:r>
            <a:r>
              <a:rPr lang="en-US" sz="1500" b="0" i="0">
                <a:effectLst/>
                <a:latin typeface="Menlo"/>
              </a:rPr>
              <a:t>);</a:t>
            </a:r>
          </a:p>
          <a:p>
            <a:endParaRPr lang="en-US" sz="1500"/>
          </a:p>
        </p:txBody>
      </p:sp>
      <p:pic>
        <p:nvPicPr>
          <p:cNvPr id="39" name="Hình ảnh 38" descr="Ảnh có chứa văn bản, ảnh chụp màn hình, phần mềm, Phông chữ&#10;&#10;Nội dung do AI tạo ra có thể không chính xác.">
            <a:extLst>
              <a:ext uri="{FF2B5EF4-FFF2-40B4-BE49-F238E27FC236}">
                <a16:creationId xmlns:a16="http://schemas.microsoft.com/office/drawing/2014/main" id="{70679B06-8B85-E769-BD7F-06B44CACFC46}"/>
              </a:ext>
            </a:extLst>
          </p:cNvPr>
          <p:cNvPicPr>
            <a:picLocks noChangeAspect="1"/>
          </p:cNvPicPr>
          <p:nvPr/>
        </p:nvPicPr>
        <p:blipFill>
          <a:blip r:embed="rId3">
            <a:extLst>
              <a:ext uri="{28A0092B-C50C-407E-A947-70E740481C1C}">
                <a14:useLocalDpi xmlns:a14="http://schemas.microsoft.com/office/drawing/2010/main" val="0"/>
              </a:ext>
            </a:extLst>
          </a:blip>
          <a:srcRect l="61597" t="19733" r="17180" b="55132"/>
          <a:stretch/>
        </p:blipFill>
        <p:spPr>
          <a:xfrm>
            <a:off x="8165014" y="1785024"/>
            <a:ext cx="2587559" cy="1643976"/>
          </a:xfrm>
          <a:prstGeom prst="rect">
            <a:avLst/>
          </a:prstGeom>
        </p:spPr>
      </p:pic>
      <p:pic>
        <p:nvPicPr>
          <p:cNvPr id="41" name="Hình ảnh 40" descr="Ảnh có chứa văn bản, ảnh chụp màn hình, phần mềm, Biểu tượng máy tính&#10;&#10;Nội dung do AI tạo ra có thể không chính xác.">
            <a:extLst>
              <a:ext uri="{FF2B5EF4-FFF2-40B4-BE49-F238E27FC236}">
                <a16:creationId xmlns:a16="http://schemas.microsoft.com/office/drawing/2014/main" id="{A456F7D0-855C-01CD-44EE-80657B4573F4}"/>
              </a:ext>
            </a:extLst>
          </p:cNvPr>
          <p:cNvPicPr>
            <a:picLocks noChangeAspect="1"/>
          </p:cNvPicPr>
          <p:nvPr/>
        </p:nvPicPr>
        <p:blipFill>
          <a:blip r:embed="rId4">
            <a:extLst>
              <a:ext uri="{28A0092B-C50C-407E-A947-70E740481C1C}">
                <a14:useLocalDpi xmlns:a14="http://schemas.microsoft.com/office/drawing/2010/main" val="0"/>
              </a:ext>
            </a:extLst>
          </a:blip>
          <a:srcRect l="23729" t="74865" r="65502" b="11243"/>
          <a:stretch/>
        </p:blipFill>
        <p:spPr>
          <a:xfrm>
            <a:off x="6762476" y="3683835"/>
            <a:ext cx="3105006" cy="2148772"/>
          </a:xfrm>
          <a:prstGeom prst="rect">
            <a:avLst/>
          </a:prstGeom>
        </p:spPr>
      </p:pic>
      <p:sp>
        <p:nvSpPr>
          <p:cNvPr id="42" name="Mũi tên: Phải 41">
            <a:extLst>
              <a:ext uri="{FF2B5EF4-FFF2-40B4-BE49-F238E27FC236}">
                <a16:creationId xmlns:a16="http://schemas.microsoft.com/office/drawing/2014/main" id="{6CA2E9C2-CE40-E2CF-677B-E8815576788D}"/>
              </a:ext>
            </a:extLst>
          </p:cNvPr>
          <p:cNvSpPr/>
          <p:nvPr/>
        </p:nvSpPr>
        <p:spPr>
          <a:xfrm>
            <a:off x="4621485" y="4455268"/>
            <a:ext cx="1613035" cy="40011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2030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AA90B-96A5-861F-3225-1BBFFC4EFF9E}"/>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9FD4345-2F6E-489E-17B7-9970D7904CA6}"/>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22</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1B39B4C1-3902-0D51-443C-AD4767BE002B}"/>
              </a:ext>
            </a:extLst>
          </p:cNvPr>
          <p:cNvSpPr>
            <a:spLocks noGrp="1"/>
          </p:cNvSpPr>
          <p:nvPr>
            <p:ph type="title"/>
          </p:nvPr>
        </p:nvSpPr>
        <p:spPr/>
        <p:txBody>
          <a:bodyPr>
            <a:normAutofit fontScale="90000"/>
          </a:bodyPr>
          <a:lstStyle/>
          <a:p>
            <a:r>
              <a:rPr lang="en-US"/>
              <a:t>3. Mô hình hóa và tổng hợp bộ điều khiển PI</a:t>
            </a:r>
          </a:p>
        </p:txBody>
      </p:sp>
      <mc:AlternateContent xmlns:mc="http://schemas.openxmlformats.org/markup-compatibility/2006" xmlns:a14="http://schemas.microsoft.com/office/drawing/2010/main">
        <mc:Choice Requires="a14">
          <p:sp>
            <p:nvSpPr>
              <p:cNvPr id="4" name="Rectangle 12">
                <a:extLst>
                  <a:ext uri="{FF2B5EF4-FFF2-40B4-BE49-F238E27FC236}">
                    <a16:creationId xmlns:a16="http://schemas.microsoft.com/office/drawing/2014/main" id="{175BCD07-3B9C-4191-E3CE-20FE4927FD87}"/>
                  </a:ext>
                </a:extLst>
              </p:cNvPr>
              <p:cNvSpPr/>
              <p:nvPr/>
            </p:nvSpPr>
            <p:spPr>
              <a:xfrm>
                <a:off x="9591472" y="1793572"/>
                <a:ext cx="2261792" cy="357141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solidFill>
                      <a:schemeClr val="tx1"/>
                    </a:solidFill>
                    <a:latin typeface="Times New Roman" panose="02020603050405020304" pitchFamily="18" charset="0"/>
                    <a:cs typeface="Times New Roman" panose="02020603050405020304" pitchFamily="18" charset="0"/>
                  </a:rPr>
                  <a:t>Nhận xét:</a:t>
                </a:r>
              </a:p>
              <a:p>
                <a:r>
                  <a:rPr lang="en-US" sz="2000">
                    <a:solidFill>
                      <a:schemeClr val="tx1"/>
                    </a:solidFill>
                    <a:latin typeface="Times New Roman" panose="02020603050405020304" pitchFamily="18" charset="0"/>
                    <a:cs typeface="Times New Roman" panose="02020603050405020304" pitchFamily="18" charset="0"/>
                  </a:rPr>
                  <a:t>- Khi có bộ điều khiển dòng điện, độ dữ trữ pha đã giảm từ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0" smtClean="0">
                            <a:solidFill>
                              <a:schemeClr val="tx1"/>
                            </a:solidFill>
                            <a:latin typeface="Cambria Math" panose="02040503050406030204" pitchFamily="18" charset="0"/>
                          </a:rPr>
                          <m:t>90</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 xuống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60</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Tần số cắt đúng với tính toán.</a:t>
                </a:r>
              </a:p>
            </p:txBody>
          </p:sp>
        </mc:Choice>
        <mc:Fallback xmlns="">
          <p:sp>
            <p:nvSpPr>
              <p:cNvPr id="4" name="Rectangle 12">
                <a:extLst>
                  <a:ext uri="{FF2B5EF4-FFF2-40B4-BE49-F238E27FC236}">
                    <a16:creationId xmlns:a16="http://schemas.microsoft.com/office/drawing/2014/main" id="{175BCD07-3B9C-4191-E3CE-20FE4927FD87}"/>
                  </a:ext>
                </a:extLst>
              </p:cNvPr>
              <p:cNvSpPr>
                <a:spLocks noRot="1" noChangeAspect="1" noMove="1" noResize="1" noEditPoints="1" noAdjustHandles="1" noChangeArrowheads="1" noChangeShapeType="1" noTextEdit="1"/>
              </p:cNvSpPr>
              <p:nvPr/>
            </p:nvSpPr>
            <p:spPr>
              <a:xfrm>
                <a:off x="9591472" y="1793572"/>
                <a:ext cx="2261792" cy="3571415"/>
              </a:xfrm>
              <a:prstGeom prst="rect">
                <a:avLst/>
              </a:prstGeom>
              <a:blipFill>
                <a:blip r:embed="rId2"/>
                <a:stretch>
                  <a:fillRect l="-2406" r="-2406"/>
                </a:stretch>
              </a:blipFill>
              <a:ln>
                <a:solidFill>
                  <a:srgbClr val="00B0F0"/>
                </a:solidFill>
              </a:ln>
            </p:spPr>
            <p:txBody>
              <a:bodyPr/>
              <a:lstStyle/>
              <a:p>
                <a:r>
                  <a:rPr lang="en-US">
                    <a:noFill/>
                  </a:rPr>
                  <a:t> </a:t>
                </a:r>
              </a:p>
            </p:txBody>
          </p:sp>
        </mc:Fallback>
      </mc:AlternateContent>
      <p:pic>
        <p:nvPicPr>
          <p:cNvPr id="8" name="Hình ảnh 7">
            <a:extLst>
              <a:ext uri="{FF2B5EF4-FFF2-40B4-BE49-F238E27FC236}">
                <a16:creationId xmlns:a16="http://schemas.microsoft.com/office/drawing/2014/main" id="{0E43338B-E52A-EF83-D602-7024A718C6A5}"/>
              </a:ext>
            </a:extLst>
          </p:cNvPr>
          <p:cNvPicPr>
            <a:picLocks noChangeAspect="1"/>
          </p:cNvPicPr>
          <p:nvPr/>
        </p:nvPicPr>
        <p:blipFill>
          <a:blip r:embed="rId3"/>
          <a:srcRect l="10231" t="3419" r="8769" b="4957"/>
          <a:stretch/>
        </p:blipFill>
        <p:spPr>
          <a:xfrm>
            <a:off x="137915" y="981412"/>
            <a:ext cx="9174999" cy="5059464"/>
          </a:xfrm>
          <a:prstGeom prst="rect">
            <a:avLst/>
          </a:prstGeom>
        </p:spPr>
      </p:pic>
    </p:spTree>
    <p:extLst>
      <p:ext uri="{BB962C8B-B14F-4D97-AF65-F5344CB8AC3E}">
        <p14:creationId xmlns:p14="http://schemas.microsoft.com/office/powerpoint/2010/main" val="4163969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8CA28-AA93-6A00-5D1A-0D1F2BF494B9}"/>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0B57B3B-E2A1-4375-18EA-F26F67D773F3}"/>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23</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4D42144C-830E-BC20-7596-16DF1B6ED64F}"/>
              </a:ext>
            </a:extLst>
          </p:cNvPr>
          <p:cNvSpPr>
            <a:spLocks noGrp="1"/>
          </p:cNvSpPr>
          <p:nvPr>
            <p:ph type="title"/>
          </p:nvPr>
        </p:nvSpPr>
        <p:spPr/>
        <p:txBody>
          <a:bodyPr>
            <a:normAutofit fontScale="90000"/>
          </a:bodyPr>
          <a:lstStyle/>
          <a:p>
            <a:r>
              <a:rPr lang="en-US"/>
              <a:t>3. Mô hình hóa và tổng hợp bộ điều khiển PI</a:t>
            </a:r>
          </a:p>
        </p:txBody>
      </p:sp>
      <p:sp>
        <p:nvSpPr>
          <p:cNvPr id="2" name="TextBox 17">
            <a:extLst>
              <a:ext uri="{FF2B5EF4-FFF2-40B4-BE49-F238E27FC236}">
                <a16:creationId xmlns:a16="http://schemas.microsoft.com/office/drawing/2014/main" id="{44E7309F-F9FD-61DC-F672-EEC242777211}"/>
              </a:ext>
            </a:extLst>
          </p:cNvPr>
          <p:cNvSpPr txBox="1"/>
          <p:nvPr/>
        </p:nvSpPr>
        <p:spPr>
          <a:xfrm>
            <a:off x="463360" y="1509287"/>
            <a:ext cx="4132703" cy="400110"/>
          </a:xfrm>
          <a:prstGeom prst="rect">
            <a:avLst/>
          </a:prstGeom>
          <a:noFill/>
        </p:spPr>
        <p:txBody>
          <a:bodyPr wrap="square" rtlCol="0">
            <a:spAutoFit/>
          </a:bodyPr>
          <a:lstStyle/>
          <a:p>
            <a:r>
              <a:rPr lang="en-US" sz="2000"/>
              <a:t>Từ phương trình (1), ta thu được</a:t>
            </a:r>
          </a:p>
        </p:txBody>
      </p:sp>
      <p:sp>
        <p:nvSpPr>
          <p:cNvPr id="3" name="TextBox 13">
            <a:extLst>
              <a:ext uri="{FF2B5EF4-FFF2-40B4-BE49-F238E27FC236}">
                <a16:creationId xmlns:a16="http://schemas.microsoft.com/office/drawing/2014/main" id="{7B5FBC83-3F08-1BF2-E27F-B18342F73390}"/>
              </a:ext>
            </a:extLst>
          </p:cNvPr>
          <p:cNvSpPr txBox="1"/>
          <p:nvPr/>
        </p:nvSpPr>
        <p:spPr>
          <a:xfrm>
            <a:off x="463356" y="2689170"/>
            <a:ext cx="10649139" cy="400110"/>
          </a:xfrm>
          <a:prstGeom prst="rect">
            <a:avLst/>
          </a:prstGeom>
          <a:noFill/>
        </p:spPr>
        <p:txBody>
          <a:bodyPr wrap="square" rtlCol="0">
            <a:spAutoFit/>
          </a:bodyPr>
          <a:lstStyle/>
          <a:p>
            <a:r>
              <a:rPr lang="en-US" sz="2000"/>
              <a:t>Thay vào phương trình (2) và biến đổi, ta được</a:t>
            </a:r>
          </a:p>
        </p:txBody>
      </p:sp>
      <p:sp>
        <p:nvSpPr>
          <p:cNvPr id="4" name="TextBox 16">
            <a:extLst>
              <a:ext uri="{FF2B5EF4-FFF2-40B4-BE49-F238E27FC236}">
                <a16:creationId xmlns:a16="http://schemas.microsoft.com/office/drawing/2014/main" id="{A7681C1A-FFBC-1F4E-3A33-82AFE05F062F}"/>
              </a:ext>
            </a:extLst>
          </p:cNvPr>
          <p:cNvSpPr txBox="1"/>
          <p:nvPr/>
        </p:nvSpPr>
        <p:spPr>
          <a:xfrm>
            <a:off x="463358" y="3785914"/>
            <a:ext cx="4481622" cy="400110"/>
          </a:xfrm>
          <a:prstGeom prst="rect">
            <a:avLst/>
          </a:prstGeom>
          <a:noFill/>
        </p:spPr>
        <p:txBody>
          <a:bodyPr wrap="square" rtlCol="0">
            <a:spAutoFit/>
          </a:bodyPr>
          <a:lstStyle/>
          <a:p>
            <a:r>
              <a:rPr lang="en-US" sz="2000"/>
              <a:t>Hàm truyền từ dòng điện đến điện áp</a:t>
            </a:r>
          </a:p>
        </p:txBody>
      </p:sp>
      <mc:AlternateContent xmlns:mc="http://schemas.openxmlformats.org/markup-compatibility/2006" xmlns:a14="http://schemas.microsoft.com/office/drawing/2010/main">
        <mc:Choice Requires="a14">
          <p:sp>
            <p:nvSpPr>
              <p:cNvPr id="6" name="TextBox 18">
                <a:extLst>
                  <a:ext uri="{FF2B5EF4-FFF2-40B4-BE49-F238E27FC236}">
                    <a16:creationId xmlns:a16="http://schemas.microsoft.com/office/drawing/2014/main" id="{42C74240-19C2-D3DE-965A-DB6BF009061B}"/>
                  </a:ext>
                </a:extLst>
              </p:cNvPr>
              <p:cNvSpPr txBox="1"/>
              <p:nvPr/>
            </p:nvSpPr>
            <p:spPr>
              <a:xfrm>
                <a:off x="463358" y="1078952"/>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Tính toán hàm truyền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𝑣𝑖</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oMath>
                </a14:m>
                <a:endParaRPr lang="en-US" sz="2000"/>
              </a:p>
            </p:txBody>
          </p:sp>
        </mc:Choice>
        <mc:Fallback xmlns="">
          <p:sp>
            <p:nvSpPr>
              <p:cNvPr id="6" name="TextBox 18">
                <a:extLst>
                  <a:ext uri="{FF2B5EF4-FFF2-40B4-BE49-F238E27FC236}">
                    <a16:creationId xmlns:a16="http://schemas.microsoft.com/office/drawing/2014/main" id="{42C74240-19C2-D3DE-965A-DB6BF009061B}"/>
                  </a:ext>
                </a:extLst>
              </p:cNvPr>
              <p:cNvSpPr txBox="1">
                <a:spLocks noRot="1" noChangeAspect="1" noMove="1" noResize="1" noEditPoints="1" noAdjustHandles="1" noChangeArrowheads="1" noChangeShapeType="1" noTextEdit="1"/>
              </p:cNvSpPr>
              <p:nvPr/>
            </p:nvSpPr>
            <p:spPr>
              <a:xfrm>
                <a:off x="463358" y="1078952"/>
                <a:ext cx="10649139" cy="400110"/>
              </a:xfrm>
              <a:prstGeom prst="rect">
                <a:avLst/>
              </a:prstGeom>
              <a:blipFill>
                <a:blip r:embed="rId3"/>
                <a:stretch>
                  <a:fillRect l="-515" t="-9091" b="-25758"/>
                </a:stretch>
              </a:blipFill>
            </p:spPr>
            <p:txBody>
              <a:bodyPr/>
              <a:lstStyle/>
              <a:p>
                <a:r>
                  <a:rPr lang="en-US">
                    <a:noFill/>
                  </a:rPr>
                  <a:t> </a:t>
                </a:r>
              </a:p>
            </p:txBody>
          </p:sp>
        </mc:Fallback>
      </mc:AlternateContent>
      <p:pic>
        <p:nvPicPr>
          <p:cNvPr id="8" name="Picture 5">
            <a:extLst>
              <a:ext uri="{FF2B5EF4-FFF2-40B4-BE49-F238E27FC236}">
                <a16:creationId xmlns:a16="http://schemas.microsoft.com/office/drawing/2014/main" id="{8B4E1803-4248-B111-D0ED-1EFF1C7E0668}"/>
              </a:ext>
            </a:extLst>
          </p:cNvPr>
          <p:cNvPicPr>
            <a:picLocks noChangeAspect="1"/>
          </p:cNvPicPr>
          <p:nvPr/>
        </p:nvPicPr>
        <p:blipFill>
          <a:blip r:embed="rId4"/>
          <a:stretch>
            <a:fillRect/>
          </a:stretch>
        </p:blipFill>
        <p:spPr>
          <a:xfrm>
            <a:off x="698499" y="1856839"/>
            <a:ext cx="3500523" cy="786462"/>
          </a:xfrm>
          <a:prstGeom prst="rect">
            <a:avLst/>
          </a:prstGeom>
        </p:spPr>
      </p:pic>
      <p:pic>
        <p:nvPicPr>
          <p:cNvPr id="9" name="Picture 8">
            <a:extLst>
              <a:ext uri="{FF2B5EF4-FFF2-40B4-BE49-F238E27FC236}">
                <a16:creationId xmlns:a16="http://schemas.microsoft.com/office/drawing/2014/main" id="{CA2DDEE5-5327-9B7D-6670-E4B9B7DE773A}"/>
              </a:ext>
            </a:extLst>
          </p:cNvPr>
          <p:cNvPicPr>
            <a:picLocks noChangeAspect="1"/>
          </p:cNvPicPr>
          <p:nvPr/>
        </p:nvPicPr>
        <p:blipFill>
          <a:blip r:embed="rId5"/>
          <a:stretch>
            <a:fillRect/>
          </a:stretch>
        </p:blipFill>
        <p:spPr>
          <a:xfrm>
            <a:off x="690209" y="3071942"/>
            <a:ext cx="4868380" cy="711657"/>
          </a:xfrm>
          <a:prstGeom prst="rect">
            <a:avLst/>
          </a:prstGeom>
        </p:spPr>
      </p:pic>
      <p:pic>
        <p:nvPicPr>
          <p:cNvPr id="11" name="Picture 12">
            <a:extLst>
              <a:ext uri="{FF2B5EF4-FFF2-40B4-BE49-F238E27FC236}">
                <a16:creationId xmlns:a16="http://schemas.microsoft.com/office/drawing/2014/main" id="{B16E5166-BC17-FBC8-3475-CAE3CD327A28}"/>
              </a:ext>
            </a:extLst>
          </p:cNvPr>
          <p:cNvPicPr>
            <a:picLocks noChangeAspect="1"/>
          </p:cNvPicPr>
          <p:nvPr/>
        </p:nvPicPr>
        <p:blipFill>
          <a:blip r:embed="rId6"/>
          <a:stretch>
            <a:fillRect/>
          </a:stretch>
        </p:blipFill>
        <p:spPr>
          <a:xfrm>
            <a:off x="690209" y="4186024"/>
            <a:ext cx="3742574" cy="1237817"/>
          </a:xfrm>
          <a:prstGeom prst="rect">
            <a:avLst/>
          </a:prstGeom>
        </p:spPr>
      </p:pic>
      <mc:AlternateContent xmlns:mc="http://schemas.openxmlformats.org/markup-compatibility/2006" xmlns:a14="http://schemas.microsoft.com/office/drawing/2010/main">
        <mc:Choice Requires="a14">
          <p:sp>
            <p:nvSpPr>
              <p:cNvPr id="12" name="TextBox 19">
                <a:extLst>
                  <a:ext uri="{FF2B5EF4-FFF2-40B4-BE49-F238E27FC236}">
                    <a16:creationId xmlns:a16="http://schemas.microsoft.com/office/drawing/2014/main" id="{8897EFEF-0D9D-2E56-54C4-08FA4F26DCEB}"/>
                  </a:ext>
                </a:extLst>
              </p:cNvPr>
              <p:cNvSpPr txBox="1"/>
              <p:nvPr/>
            </p:nvSpPr>
            <p:spPr>
              <a:xfrm>
                <a:off x="6775928" y="1243305"/>
                <a:ext cx="4132703" cy="1227067"/>
              </a:xfrm>
              <a:prstGeom prst="rect">
                <a:avLst/>
              </a:prstGeom>
              <a:noFill/>
            </p:spPr>
            <p:txBody>
              <a:bodyPr wrap="square" rtlCol="0">
                <a:spAutoFit/>
              </a:bodyPr>
              <a:lstStyle/>
              <a:p>
                <a:pPr>
                  <a:lnSpc>
                    <a:spcPct val="150000"/>
                  </a:lnSpc>
                </a:pPr>
                <a:r>
                  <a:rPr lang="en-US" sz="2000"/>
                  <a:t>Đặt: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𝑅𝐻𝑍</m:t>
                        </m:r>
                      </m:sub>
                    </m:sSub>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𝑅</m:t>
                        </m:r>
                      </m:num>
                      <m:den>
                        <m:r>
                          <a:rPr lang="en-US" sz="2000" b="0" i="1" smtClean="0">
                            <a:latin typeface="Cambria Math" panose="02040503050406030204" pitchFamily="18" charset="0"/>
                          </a:rPr>
                          <m:t>𝐿</m:t>
                        </m:r>
                      </m:den>
                    </m:f>
                    <m:r>
                      <a:rPr lang="en-US" sz="2000" b="0" i="1" smtClean="0">
                        <a:latin typeface="Cambria Math" panose="02040503050406030204" pitchFamily="18" charset="0"/>
                      </a:rPr>
                      <m:t> ;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𝑅𝐶</m:t>
                        </m:r>
                      </m:den>
                    </m:f>
                  </m:oMath>
                </a14:m>
                <a:r>
                  <a:rPr lang="en-US" sz="200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a:t> Hàm truyền được viết lại</a:t>
                </a:r>
              </a:p>
            </p:txBody>
          </p:sp>
        </mc:Choice>
        <mc:Fallback xmlns="">
          <p:sp>
            <p:nvSpPr>
              <p:cNvPr id="12" name="TextBox 19">
                <a:extLst>
                  <a:ext uri="{FF2B5EF4-FFF2-40B4-BE49-F238E27FC236}">
                    <a16:creationId xmlns:a16="http://schemas.microsoft.com/office/drawing/2014/main" id="{8897EFEF-0D9D-2E56-54C4-08FA4F26DCEB}"/>
                  </a:ext>
                </a:extLst>
              </p:cNvPr>
              <p:cNvSpPr txBox="1">
                <a:spLocks noRot="1" noChangeAspect="1" noMove="1" noResize="1" noEditPoints="1" noAdjustHandles="1" noChangeArrowheads="1" noChangeShapeType="1" noTextEdit="1"/>
              </p:cNvSpPr>
              <p:nvPr/>
            </p:nvSpPr>
            <p:spPr>
              <a:xfrm>
                <a:off x="6775928" y="1243305"/>
                <a:ext cx="4132703" cy="1227067"/>
              </a:xfrm>
              <a:prstGeom prst="rect">
                <a:avLst/>
              </a:prstGeom>
              <a:blipFill>
                <a:blip r:embed="rId7"/>
                <a:stretch>
                  <a:fillRect l="-1625" b="-7960"/>
                </a:stretch>
              </a:blipFill>
            </p:spPr>
            <p:txBody>
              <a:bodyPr/>
              <a:lstStyle/>
              <a:p>
                <a:r>
                  <a:rPr lang="en-US">
                    <a:noFill/>
                  </a:rPr>
                  <a:t> </a:t>
                </a:r>
              </a:p>
            </p:txBody>
          </p:sp>
        </mc:Fallback>
      </mc:AlternateContent>
      <p:pic>
        <p:nvPicPr>
          <p:cNvPr id="13" name="Picture 15">
            <a:extLst>
              <a:ext uri="{FF2B5EF4-FFF2-40B4-BE49-F238E27FC236}">
                <a16:creationId xmlns:a16="http://schemas.microsoft.com/office/drawing/2014/main" id="{52C0E54D-C0B4-08C8-3C5D-CD1009752C28}"/>
              </a:ext>
            </a:extLst>
          </p:cNvPr>
          <p:cNvPicPr>
            <a:picLocks noChangeAspect="1"/>
          </p:cNvPicPr>
          <p:nvPr/>
        </p:nvPicPr>
        <p:blipFill>
          <a:blip r:embed="rId8"/>
          <a:stretch>
            <a:fillRect/>
          </a:stretch>
        </p:blipFill>
        <p:spPr>
          <a:xfrm>
            <a:off x="7048263" y="2423533"/>
            <a:ext cx="3588031" cy="1331496"/>
          </a:xfrm>
          <a:prstGeom prst="rect">
            <a:avLst/>
          </a:prstGeom>
        </p:spPr>
      </p:pic>
      <p:sp>
        <p:nvSpPr>
          <p:cNvPr id="14" name="TextBox 24">
            <a:extLst>
              <a:ext uri="{FF2B5EF4-FFF2-40B4-BE49-F238E27FC236}">
                <a16:creationId xmlns:a16="http://schemas.microsoft.com/office/drawing/2014/main" id="{C0993468-2C39-8770-1C72-175521CF1E73}"/>
              </a:ext>
            </a:extLst>
          </p:cNvPr>
          <p:cNvSpPr txBox="1"/>
          <p:nvPr/>
        </p:nvSpPr>
        <p:spPr>
          <a:xfrm>
            <a:off x="6775928" y="3743180"/>
            <a:ext cx="4336567" cy="1015663"/>
          </a:xfrm>
          <a:prstGeom prst="rect">
            <a:avLst/>
          </a:prstGeom>
          <a:noFill/>
        </p:spPr>
        <p:txBody>
          <a:bodyPr wrap="square" rtlCol="0">
            <a:spAutoFit/>
          </a:bodyPr>
          <a:lstStyle/>
          <a:p>
            <a:r>
              <a:rPr lang="en-US" sz="2000"/>
              <a:t>Do mạch vòng điều chỉnh điện áp được tổng hợp ở dải tần số rất thấp nên cuộn cảm có thể coi như ngắn mạch</a:t>
            </a:r>
          </a:p>
        </p:txBody>
      </p:sp>
      <p:pic>
        <p:nvPicPr>
          <p:cNvPr id="15" name="Picture 25">
            <a:extLst>
              <a:ext uri="{FF2B5EF4-FFF2-40B4-BE49-F238E27FC236}">
                <a16:creationId xmlns:a16="http://schemas.microsoft.com/office/drawing/2014/main" id="{FE9B2A02-9EB0-DA80-B7F5-65E2D0E2F0B9}"/>
              </a:ext>
            </a:extLst>
          </p:cNvPr>
          <p:cNvPicPr>
            <a:picLocks noChangeAspect="1"/>
          </p:cNvPicPr>
          <p:nvPr/>
        </p:nvPicPr>
        <p:blipFill>
          <a:blip r:embed="rId9"/>
          <a:stretch>
            <a:fillRect/>
          </a:stretch>
        </p:blipFill>
        <p:spPr>
          <a:xfrm>
            <a:off x="7083980" y="5141126"/>
            <a:ext cx="3824651" cy="1056615"/>
          </a:xfrm>
          <a:prstGeom prst="rect">
            <a:avLst/>
          </a:prstGeom>
        </p:spPr>
      </p:pic>
      <mc:AlternateContent xmlns:mc="http://schemas.openxmlformats.org/markup-compatibility/2006" xmlns:a14="http://schemas.microsoft.com/office/drawing/2010/main">
        <mc:Choice Requires="a14">
          <p:sp>
            <p:nvSpPr>
              <p:cNvPr id="16" name="TextBox 26">
                <a:extLst>
                  <a:ext uri="{FF2B5EF4-FFF2-40B4-BE49-F238E27FC236}">
                    <a16:creationId xmlns:a16="http://schemas.microsoft.com/office/drawing/2014/main" id="{959C5461-D57A-FB31-7508-F134322FEE2E}"/>
                  </a:ext>
                </a:extLst>
              </p:cNvPr>
              <p:cNvSpPr txBox="1"/>
              <p:nvPr/>
            </p:nvSpPr>
            <p:spPr>
              <a:xfrm>
                <a:off x="463358" y="5427829"/>
                <a:ext cx="4481622" cy="577979"/>
              </a:xfrm>
              <a:prstGeom prst="rect">
                <a:avLst/>
              </a:prstGeom>
              <a:noFill/>
            </p:spPr>
            <p:txBody>
              <a:bodyPr wrap="square" rtlCol="0">
                <a:spAutoFit/>
              </a:bodyPr>
              <a:lstStyle/>
              <a:p>
                <a:r>
                  <a:rPr lang="en-US" sz="2000"/>
                  <a:t>Trong đó: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=1 −</m:t>
                    </m:r>
                    <m:r>
                      <a:rPr lang="en-US" sz="2000" b="0" i="1" smtClean="0">
                        <a:latin typeface="Cambria Math" panose="02040503050406030204" pitchFamily="18" charset="0"/>
                      </a:rPr>
                      <m:t>𝐷</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b="0" i="1" smtClean="0">
                                <a:latin typeface="Cambria Math" panose="02040503050406030204" pitchFamily="18" charset="0"/>
                              </a:rPr>
                              <m:t>𝑠</m:t>
                            </m:r>
                          </m:sub>
                        </m:sSub>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b="0" i="1" smtClean="0">
                                <a:latin typeface="Cambria Math" panose="02040503050406030204" pitchFamily="18" charset="0"/>
                              </a:rPr>
                              <m:t>0</m:t>
                            </m:r>
                          </m:sub>
                        </m:sSub>
                      </m:den>
                    </m:f>
                    <m:r>
                      <a:rPr lang="en-US" sz="2000" b="0" i="1" smtClean="0">
                        <a:latin typeface="Cambria Math" panose="02040503050406030204" pitchFamily="18" charset="0"/>
                      </a:rPr>
                      <m:t> </m:t>
                    </m:r>
                  </m:oMath>
                </a14:m>
                <a:endParaRPr lang="en-US" sz="2000"/>
              </a:p>
            </p:txBody>
          </p:sp>
        </mc:Choice>
        <mc:Fallback xmlns="">
          <p:sp>
            <p:nvSpPr>
              <p:cNvPr id="16" name="TextBox 26">
                <a:extLst>
                  <a:ext uri="{FF2B5EF4-FFF2-40B4-BE49-F238E27FC236}">
                    <a16:creationId xmlns:a16="http://schemas.microsoft.com/office/drawing/2014/main" id="{959C5461-D57A-FB31-7508-F134322FEE2E}"/>
                  </a:ext>
                </a:extLst>
              </p:cNvPr>
              <p:cNvSpPr txBox="1">
                <a:spLocks noRot="1" noChangeAspect="1" noMove="1" noResize="1" noEditPoints="1" noAdjustHandles="1" noChangeArrowheads="1" noChangeShapeType="1" noTextEdit="1"/>
              </p:cNvSpPr>
              <p:nvPr/>
            </p:nvSpPr>
            <p:spPr>
              <a:xfrm>
                <a:off x="463358" y="5427829"/>
                <a:ext cx="4481622" cy="577979"/>
              </a:xfrm>
              <a:prstGeom prst="rect">
                <a:avLst/>
              </a:prstGeom>
              <a:blipFill>
                <a:blip r:embed="rId10"/>
                <a:stretch>
                  <a:fillRect l="-1361"/>
                </a:stretch>
              </a:blipFill>
            </p:spPr>
            <p:txBody>
              <a:bodyPr/>
              <a:lstStyle/>
              <a:p>
                <a:r>
                  <a:rPr lang="en-US">
                    <a:noFill/>
                  </a:rPr>
                  <a:t> </a:t>
                </a:r>
              </a:p>
            </p:txBody>
          </p:sp>
        </mc:Fallback>
      </mc:AlternateContent>
    </p:spTree>
    <p:extLst>
      <p:ext uri="{BB962C8B-B14F-4D97-AF65-F5344CB8AC3E}">
        <p14:creationId xmlns:p14="http://schemas.microsoft.com/office/powerpoint/2010/main" val="1198320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EE49E-6DD3-2EA8-26A8-F426C75C0A6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4D6593F-CB7E-75CC-AE74-F1EB8CD468E5}"/>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24</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9784E002-F2FD-2220-5D39-7A71D80F3E56}"/>
              </a:ext>
            </a:extLst>
          </p:cNvPr>
          <p:cNvSpPr>
            <a:spLocks noGrp="1"/>
          </p:cNvSpPr>
          <p:nvPr>
            <p:ph type="title"/>
          </p:nvPr>
        </p:nvSpPr>
        <p:spPr/>
        <p:txBody>
          <a:bodyPr>
            <a:normAutofit fontScale="90000"/>
          </a:bodyPr>
          <a:lstStyle/>
          <a:p>
            <a:r>
              <a:rPr lang="en-US"/>
              <a:t>3. Mô hình hóa và tổng hợp bộ điều khiển PI</a:t>
            </a:r>
          </a:p>
        </p:txBody>
      </p:sp>
      <p:pic>
        <p:nvPicPr>
          <p:cNvPr id="3" name="Hình ảnh 2">
            <a:extLst>
              <a:ext uri="{FF2B5EF4-FFF2-40B4-BE49-F238E27FC236}">
                <a16:creationId xmlns:a16="http://schemas.microsoft.com/office/drawing/2014/main" id="{84CB9892-7B3A-C00F-F8A1-FA41CD06C7C8}"/>
              </a:ext>
            </a:extLst>
          </p:cNvPr>
          <p:cNvPicPr>
            <a:picLocks noChangeAspect="1"/>
          </p:cNvPicPr>
          <p:nvPr/>
        </p:nvPicPr>
        <p:blipFill>
          <a:blip r:embed="rId2"/>
          <a:srcRect l="8916" t="3419" r="9000" b="3077"/>
          <a:stretch/>
        </p:blipFill>
        <p:spPr>
          <a:xfrm>
            <a:off x="182880" y="1045190"/>
            <a:ext cx="8585200" cy="4767619"/>
          </a:xfrm>
          <a:prstGeom prst="rect">
            <a:avLst/>
          </a:prstGeom>
        </p:spPr>
      </p:pic>
      <p:sp>
        <p:nvSpPr>
          <p:cNvPr id="4" name="Hộp Văn bản 3">
            <a:extLst>
              <a:ext uri="{FF2B5EF4-FFF2-40B4-BE49-F238E27FC236}">
                <a16:creationId xmlns:a16="http://schemas.microsoft.com/office/drawing/2014/main" id="{DB03C905-7220-DBC0-8FBA-17081E794BFB}"/>
              </a:ext>
            </a:extLst>
          </p:cNvPr>
          <p:cNvSpPr txBox="1"/>
          <p:nvPr/>
        </p:nvSpPr>
        <p:spPr>
          <a:xfrm>
            <a:off x="8996116" y="2591166"/>
            <a:ext cx="2857148" cy="1477328"/>
          </a:xfrm>
          <a:prstGeom prst="rect">
            <a:avLst/>
          </a:prstGeom>
          <a:noFill/>
          <a:ln w="12700">
            <a:solidFill>
              <a:srgbClr val="00B0F0"/>
            </a:solidFill>
          </a:ln>
        </p:spPr>
        <p:txBody>
          <a:bodyPr wrap="square" rtlCol="0">
            <a:spAutoFit/>
          </a:bodyPr>
          <a:lstStyle/>
          <a:p>
            <a:r>
              <a:rPr lang="en-US"/>
              <a:t>Như trên đồ thị bode ta thấy được tại tần số thấp thì 2 đồ thị của hàm truyền trước và sau hạ bậc hoàn toàn trùng lên nhau</a:t>
            </a:r>
          </a:p>
        </p:txBody>
      </p:sp>
    </p:spTree>
    <p:extLst>
      <p:ext uri="{BB962C8B-B14F-4D97-AF65-F5344CB8AC3E}">
        <p14:creationId xmlns:p14="http://schemas.microsoft.com/office/powerpoint/2010/main" val="158329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DB0D-6B2D-E721-F5E7-E5D5FA0630B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760F0E8-8206-D152-FC31-B3BFDF5FF742}"/>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EB88E779-60F7-3456-69B3-5F75E2316D16}"/>
              </a:ext>
            </a:extLst>
          </p:cNvPr>
          <p:cNvSpPr>
            <a:spLocks noGrp="1"/>
          </p:cNvSpPr>
          <p:nvPr>
            <p:ph type="title"/>
          </p:nvPr>
        </p:nvSpPr>
        <p:spPr/>
        <p:txBody>
          <a:bodyPr>
            <a:normAutofit fontScale="90000"/>
          </a:bodyPr>
          <a:lstStyle/>
          <a:p>
            <a:r>
              <a:rPr lang="en-US"/>
              <a:t>3. Mô hình hóa và tổng hợp bộ điều khiển PI</a:t>
            </a:r>
          </a:p>
        </p:txBody>
      </p:sp>
      <p:sp>
        <p:nvSpPr>
          <p:cNvPr id="2" name="TextBox 33">
            <a:extLst>
              <a:ext uri="{FF2B5EF4-FFF2-40B4-BE49-F238E27FC236}">
                <a16:creationId xmlns:a16="http://schemas.microsoft.com/office/drawing/2014/main" id="{111D56E2-2F94-4156-DFCD-D0A5D932760E}"/>
              </a:ext>
            </a:extLst>
          </p:cNvPr>
          <p:cNvSpPr txBox="1"/>
          <p:nvPr/>
        </p:nvSpPr>
        <p:spPr>
          <a:xfrm>
            <a:off x="338736" y="1378214"/>
            <a:ext cx="5059138" cy="400110"/>
          </a:xfrm>
          <a:prstGeom prst="rect">
            <a:avLst/>
          </a:prstGeom>
          <a:noFill/>
        </p:spPr>
        <p:txBody>
          <a:bodyPr wrap="square" rtlCol="0">
            <a:spAutoFit/>
          </a:bodyPr>
          <a:lstStyle/>
          <a:p>
            <a:r>
              <a:rPr lang="en-US" sz="2000"/>
              <a:t>Hàm truyền từ dòng điện đến điện áp</a:t>
            </a:r>
          </a:p>
        </p:txBody>
      </p:sp>
      <p:pic>
        <p:nvPicPr>
          <p:cNvPr id="3" name="Picture 37">
            <a:extLst>
              <a:ext uri="{FF2B5EF4-FFF2-40B4-BE49-F238E27FC236}">
                <a16:creationId xmlns:a16="http://schemas.microsoft.com/office/drawing/2014/main" id="{0A19E664-8527-E133-04F6-9442D5B42911}"/>
              </a:ext>
            </a:extLst>
          </p:cNvPr>
          <p:cNvPicPr>
            <a:picLocks noChangeAspect="1"/>
          </p:cNvPicPr>
          <p:nvPr/>
        </p:nvPicPr>
        <p:blipFill>
          <a:blip r:embed="rId3"/>
          <a:stretch>
            <a:fillRect/>
          </a:stretch>
        </p:blipFill>
        <p:spPr>
          <a:xfrm>
            <a:off x="486367" y="1812047"/>
            <a:ext cx="3824651" cy="1056615"/>
          </a:xfrm>
          <a:prstGeom prst="rect">
            <a:avLst/>
          </a:prstGeom>
        </p:spPr>
      </p:pic>
      <p:sp>
        <p:nvSpPr>
          <p:cNvPr id="4" name="TextBox 39">
            <a:extLst>
              <a:ext uri="{FF2B5EF4-FFF2-40B4-BE49-F238E27FC236}">
                <a16:creationId xmlns:a16="http://schemas.microsoft.com/office/drawing/2014/main" id="{8C3DC0A1-EF45-4C4D-4DD0-916B38906413}"/>
              </a:ext>
            </a:extLst>
          </p:cNvPr>
          <p:cNvSpPr txBox="1"/>
          <p:nvPr/>
        </p:nvSpPr>
        <p:spPr>
          <a:xfrm>
            <a:off x="338735" y="2819241"/>
            <a:ext cx="5059138" cy="707886"/>
          </a:xfrm>
          <a:prstGeom prst="rect">
            <a:avLst/>
          </a:prstGeom>
          <a:noFill/>
        </p:spPr>
        <p:txBody>
          <a:bodyPr wrap="square" rtlCol="0">
            <a:spAutoFit/>
          </a:bodyPr>
          <a:lstStyle/>
          <a:p>
            <a:r>
              <a:rPr lang="en-US" sz="2000"/>
              <a:t>Do đối tượng là khâu quán tính bậc nhất nên có thể sử dụng bộ PI có cấu trúc</a:t>
            </a:r>
          </a:p>
        </p:txBody>
      </p:sp>
      <p:sp>
        <p:nvSpPr>
          <p:cNvPr id="7" name="TextBox 18">
            <a:extLst>
              <a:ext uri="{FF2B5EF4-FFF2-40B4-BE49-F238E27FC236}">
                <a16:creationId xmlns:a16="http://schemas.microsoft.com/office/drawing/2014/main" id="{EB294993-8B70-7A18-434D-B2E09D963B13}"/>
              </a:ext>
            </a:extLst>
          </p:cNvPr>
          <p:cNvSpPr txBox="1"/>
          <p:nvPr/>
        </p:nvSpPr>
        <p:spPr>
          <a:xfrm>
            <a:off x="210438" y="937329"/>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Thiết kế BĐK điện áp</a:t>
            </a:r>
          </a:p>
        </p:txBody>
      </p:sp>
      <p:sp>
        <p:nvSpPr>
          <p:cNvPr id="9" name="TextBox 39">
            <a:extLst>
              <a:ext uri="{FF2B5EF4-FFF2-40B4-BE49-F238E27FC236}">
                <a16:creationId xmlns:a16="http://schemas.microsoft.com/office/drawing/2014/main" id="{F2476961-7A26-11E0-0E4A-2DBADC9633AC}"/>
              </a:ext>
            </a:extLst>
          </p:cNvPr>
          <p:cNvSpPr txBox="1"/>
          <p:nvPr/>
        </p:nvSpPr>
        <p:spPr>
          <a:xfrm>
            <a:off x="338735" y="4038200"/>
            <a:ext cx="5059138" cy="400110"/>
          </a:xfrm>
          <a:prstGeom prst="rect">
            <a:avLst/>
          </a:prstGeom>
          <a:noFill/>
        </p:spPr>
        <p:txBody>
          <a:bodyPr wrap="square" rtlCol="0">
            <a:spAutoFit/>
          </a:bodyPr>
          <a:lstStyle/>
          <a:p>
            <a:r>
              <a:rPr lang="en-US" sz="2000"/>
              <a:t>Hàm truyền hệ kín:</a:t>
            </a:r>
          </a:p>
        </p:txBody>
      </p:sp>
      <p:sp>
        <p:nvSpPr>
          <p:cNvPr id="12" name="TextBox 53">
            <a:extLst>
              <a:ext uri="{FF2B5EF4-FFF2-40B4-BE49-F238E27FC236}">
                <a16:creationId xmlns:a16="http://schemas.microsoft.com/office/drawing/2014/main" id="{67BFDCA7-E55C-C7E4-068A-102DF210CD29}"/>
              </a:ext>
            </a:extLst>
          </p:cNvPr>
          <p:cNvSpPr txBox="1"/>
          <p:nvPr/>
        </p:nvSpPr>
        <p:spPr>
          <a:xfrm>
            <a:off x="7082076" y="3304778"/>
            <a:ext cx="3935864" cy="707886"/>
          </a:xfrm>
          <a:prstGeom prst="rect">
            <a:avLst/>
          </a:prstGeom>
          <a:noFill/>
        </p:spPr>
        <p:txBody>
          <a:bodyPr wrap="square" rtlCol="0">
            <a:spAutoFit/>
          </a:bodyPr>
          <a:lstStyle/>
          <a:p>
            <a:pPr algn="ctr"/>
            <a:r>
              <a:rPr lang="en-US" sz="2000"/>
              <a:t>Hình 3.3. Sơ đồ cấu trúc mạch vòng điện áp</a:t>
            </a:r>
          </a:p>
        </p:txBody>
      </p:sp>
      <p:grpSp>
        <p:nvGrpSpPr>
          <p:cNvPr id="13" name="Group 45">
            <a:extLst>
              <a:ext uri="{FF2B5EF4-FFF2-40B4-BE49-F238E27FC236}">
                <a16:creationId xmlns:a16="http://schemas.microsoft.com/office/drawing/2014/main" id="{37964838-BBB6-1AE7-8DE3-697922CFA90E}"/>
              </a:ext>
            </a:extLst>
          </p:cNvPr>
          <p:cNvGrpSpPr/>
          <p:nvPr/>
        </p:nvGrpSpPr>
        <p:grpSpPr>
          <a:xfrm>
            <a:off x="5840491" y="1433398"/>
            <a:ext cx="5865142" cy="1561618"/>
            <a:chOff x="5897453" y="3795275"/>
            <a:chExt cx="5865142" cy="1561618"/>
          </a:xfrm>
        </p:grpSpPr>
        <mc:AlternateContent xmlns:mc="http://schemas.openxmlformats.org/markup-compatibility/2006" xmlns:a14="http://schemas.microsoft.com/office/drawing/2010/main">
          <mc:Choice Requires="a14">
            <p:sp>
              <p:nvSpPr>
                <p:cNvPr id="14" name="TextBox 49">
                  <a:extLst>
                    <a:ext uri="{FF2B5EF4-FFF2-40B4-BE49-F238E27FC236}">
                      <a16:creationId xmlns:a16="http://schemas.microsoft.com/office/drawing/2014/main" id="{EB44A909-7756-624D-E27D-01B6288823C5}"/>
                    </a:ext>
                  </a:extLst>
                </p:cNvPr>
                <p:cNvSpPr txBox="1"/>
                <p:nvPr/>
              </p:nvSpPr>
              <p:spPr>
                <a:xfrm>
                  <a:off x="5897453" y="3854360"/>
                  <a:ext cx="491539" cy="3988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0</m:t>
                                </m:r>
                              </m:sub>
                              <m:sup>
                                <m:r>
                                  <a:rPr lang="en-US" b="0" i="1" smtClean="0">
                                    <a:latin typeface="Cambria Math" panose="02040503050406030204" pitchFamily="18" charset="0"/>
                                  </a:rPr>
                                  <m:t>∗</m:t>
                                </m:r>
                              </m:sup>
                            </m:sSubSup>
                          </m:e>
                        </m:acc>
                      </m:oMath>
                    </m:oMathPara>
                  </a14:m>
                  <a:endParaRPr lang="en-US"/>
                </a:p>
              </p:txBody>
            </p:sp>
          </mc:Choice>
          <mc:Fallback xmlns="">
            <p:sp>
              <p:nvSpPr>
                <p:cNvPr id="14" name="TextBox 49">
                  <a:extLst>
                    <a:ext uri="{FF2B5EF4-FFF2-40B4-BE49-F238E27FC236}">
                      <a16:creationId xmlns:a16="http://schemas.microsoft.com/office/drawing/2014/main" id="{EB44A909-7756-624D-E27D-01B6288823C5}"/>
                    </a:ext>
                  </a:extLst>
                </p:cNvPr>
                <p:cNvSpPr txBox="1">
                  <a:spLocks noRot="1" noChangeAspect="1" noMove="1" noResize="1" noEditPoints="1" noAdjustHandles="1" noChangeArrowheads="1" noChangeShapeType="1" noTextEdit="1"/>
                </p:cNvSpPr>
                <p:nvPr/>
              </p:nvSpPr>
              <p:spPr>
                <a:xfrm>
                  <a:off x="5897453" y="3854360"/>
                  <a:ext cx="491539" cy="398892"/>
                </a:xfrm>
                <a:prstGeom prst="rect">
                  <a:avLst/>
                </a:prstGeom>
                <a:blipFill>
                  <a:blip r:embed="rId4"/>
                  <a:stretch>
                    <a:fillRect r="-4938" b="-1538"/>
                  </a:stretch>
                </a:blipFill>
              </p:spPr>
              <p:txBody>
                <a:bodyPr/>
                <a:lstStyle/>
                <a:p>
                  <a:r>
                    <a:rPr lang="en-US">
                      <a:noFill/>
                    </a:rPr>
                    <a:t> </a:t>
                  </a:r>
                </a:p>
              </p:txBody>
            </p:sp>
          </mc:Fallback>
        </mc:AlternateContent>
        <p:grpSp>
          <p:nvGrpSpPr>
            <p:cNvPr id="15" name="Group 43">
              <a:extLst>
                <a:ext uri="{FF2B5EF4-FFF2-40B4-BE49-F238E27FC236}">
                  <a16:creationId xmlns:a16="http://schemas.microsoft.com/office/drawing/2014/main" id="{F02A1B77-C386-D029-BFAD-B7729D074826}"/>
                </a:ext>
              </a:extLst>
            </p:cNvPr>
            <p:cNvGrpSpPr/>
            <p:nvPr/>
          </p:nvGrpSpPr>
          <p:grpSpPr>
            <a:xfrm>
              <a:off x="6054966" y="3795275"/>
              <a:ext cx="5707629" cy="1561618"/>
              <a:chOff x="6054966" y="3795275"/>
              <a:chExt cx="5707629" cy="1561618"/>
            </a:xfrm>
          </p:grpSpPr>
          <p:cxnSp>
            <p:nvCxnSpPr>
              <p:cNvPr id="16" name="Straight Arrow Connector 31">
                <a:extLst>
                  <a:ext uri="{FF2B5EF4-FFF2-40B4-BE49-F238E27FC236}">
                    <a16:creationId xmlns:a16="http://schemas.microsoft.com/office/drawing/2014/main" id="{CBC4BB5C-3543-8080-F597-0128780E3FAB}"/>
                  </a:ext>
                </a:extLst>
              </p:cNvPr>
              <p:cNvCxnSpPr/>
              <p:nvPr/>
            </p:nvCxnSpPr>
            <p:spPr>
              <a:xfrm>
                <a:off x="6054966" y="4300727"/>
                <a:ext cx="70638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Oval 32">
                <a:extLst>
                  <a:ext uri="{FF2B5EF4-FFF2-40B4-BE49-F238E27FC236}">
                    <a16:creationId xmlns:a16="http://schemas.microsoft.com/office/drawing/2014/main" id="{3F47FF31-BBCA-4709-CD25-D5633FD75BB4}"/>
                  </a:ext>
                </a:extLst>
              </p:cNvPr>
              <p:cNvSpPr/>
              <p:nvPr/>
            </p:nvSpPr>
            <p:spPr>
              <a:xfrm>
                <a:off x="6771290" y="4122700"/>
                <a:ext cx="367748" cy="34787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34">
                <a:extLst>
                  <a:ext uri="{FF2B5EF4-FFF2-40B4-BE49-F238E27FC236}">
                    <a16:creationId xmlns:a16="http://schemas.microsoft.com/office/drawing/2014/main" id="{E7C080D5-2C2E-6515-E232-AB79B4B9C2F0}"/>
                  </a:ext>
                </a:extLst>
              </p:cNvPr>
              <p:cNvCxnSpPr>
                <a:cxnSpLocks/>
                <a:stCxn id="17" idx="6"/>
                <a:endCxn id="20" idx="1"/>
              </p:cNvCxnSpPr>
              <p:nvPr/>
            </p:nvCxnSpPr>
            <p:spPr>
              <a:xfrm>
                <a:off x="7139038" y="4296635"/>
                <a:ext cx="4124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35">
                    <a:extLst>
                      <a:ext uri="{FF2B5EF4-FFF2-40B4-BE49-F238E27FC236}">
                        <a16:creationId xmlns:a16="http://schemas.microsoft.com/office/drawing/2014/main" id="{84928EA8-6CEA-9E75-9884-B375FFA72F56}"/>
                      </a:ext>
                    </a:extLst>
                  </p:cNvPr>
                  <p:cNvSpPr/>
                  <p:nvPr/>
                </p:nvSpPr>
                <p:spPr>
                  <a:xfrm>
                    <a:off x="8879763" y="3795275"/>
                    <a:ext cx="1890418" cy="1031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1 −</m:t>
                                  </m:r>
                                  <m:r>
                                    <a:rPr lang="en-US" b="0" i="1" smtClean="0">
                                      <a:solidFill>
                                        <a:schemeClr val="tx1"/>
                                      </a:solidFill>
                                      <a:latin typeface="Cambria Math" panose="02040503050406030204" pitchFamily="18" charset="0"/>
                                    </a:rPr>
                                    <m:t>𝐷</m:t>
                                  </m:r>
                                </m:e>
                              </m:d>
                              <m:r>
                                <a:rPr lang="en-US" b="0" i="1" smtClean="0">
                                  <a:solidFill>
                                    <a:schemeClr val="tx1"/>
                                  </a:solidFill>
                                  <a:latin typeface="Cambria Math" panose="02040503050406030204" pitchFamily="18" charset="0"/>
                                </a:rPr>
                                <m:t>𝑅</m:t>
                              </m:r>
                            </m:num>
                            <m:den>
                              <m:r>
                                <a:rPr lang="en-US" b="0" i="1" smtClean="0">
                                  <a:solidFill>
                                    <a:schemeClr val="tx1"/>
                                  </a:solidFill>
                                  <a:latin typeface="Cambria Math" panose="02040503050406030204" pitchFamily="18" charset="0"/>
                                </a:rPr>
                                <m:t>2</m:t>
                              </m:r>
                            </m:den>
                          </m:f>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1+</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𝑠</m:t>
                                  </m:r>
                                </m:num>
                                <m:den>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𝜔</m:t>
                                      </m:r>
                                    </m:e>
                                    <m:sub>
                                      <m:r>
                                        <a:rPr lang="en-US" b="0" i="1" smtClean="0">
                                          <a:solidFill>
                                            <a:schemeClr val="tx1"/>
                                          </a:solidFill>
                                          <a:latin typeface="Cambria Math" panose="02040503050406030204" pitchFamily="18" charset="0"/>
                                        </a:rPr>
                                        <m:t>𝑝</m:t>
                                      </m:r>
                                    </m:sub>
                                  </m:sSub>
                                </m:den>
                              </m:f>
                            </m:den>
                          </m:f>
                        </m:oMath>
                      </m:oMathPara>
                    </a14:m>
                    <a:endParaRPr lang="en-US">
                      <a:solidFill>
                        <a:schemeClr val="tx1"/>
                      </a:solidFill>
                    </a:endParaRPr>
                  </a:p>
                </p:txBody>
              </p:sp>
            </mc:Choice>
            <mc:Fallback xmlns="">
              <p:sp>
                <p:nvSpPr>
                  <p:cNvPr id="19" name="Rectangle 35">
                    <a:extLst>
                      <a:ext uri="{FF2B5EF4-FFF2-40B4-BE49-F238E27FC236}">
                        <a16:creationId xmlns:a16="http://schemas.microsoft.com/office/drawing/2014/main" id="{84928EA8-6CEA-9E75-9884-B375FFA72F56}"/>
                      </a:ext>
                    </a:extLst>
                  </p:cNvPr>
                  <p:cNvSpPr>
                    <a:spLocks noRot="1" noChangeAspect="1" noMove="1" noResize="1" noEditPoints="1" noAdjustHandles="1" noChangeArrowheads="1" noChangeShapeType="1" noTextEdit="1"/>
                  </p:cNvSpPr>
                  <p:nvPr/>
                </p:nvSpPr>
                <p:spPr>
                  <a:xfrm>
                    <a:off x="8879763" y="3795275"/>
                    <a:ext cx="1890418" cy="1031490"/>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36">
                    <a:extLst>
                      <a:ext uri="{FF2B5EF4-FFF2-40B4-BE49-F238E27FC236}">
                        <a16:creationId xmlns:a16="http://schemas.microsoft.com/office/drawing/2014/main" id="{56577E08-6393-BA2C-683A-519C79ED40A6}"/>
                      </a:ext>
                    </a:extLst>
                  </p:cNvPr>
                  <p:cNvSpPr/>
                  <p:nvPr/>
                </p:nvSpPr>
                <p:spPr>
                  <a:xfrm>
                    <a:off x="7551512" y="4004863"/>
                    <a:ext cx="824948" cy="60153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𝑃</m:t>
                          </m:r>
                          <m:r>
                            <a:rPr lang="en-US" b="0" i="1" smtClean="0">
                              <a:solidFill>
                                <a:schemeClr val="tx1"/>
                              </a:solidFill>
                              <a:latin typeface="Cambria Math" panose="02040503050406030204" pitchFamily="18" charset="0"/>
                            </a:rPr>
                            <m:t>𝐼</m:t>
                          </m:r>
                        </m:oMath>
                      </m:oMathPara>
                    </a14:m>
                    <a:endParaRPr lang="en-US">
                      <a:solidFill>
                        <a:schemeClr val="tx1"/>
                      </a:solidFill>
                    </a:endParaRPr>
                  </a:p>
                </p:txBody>
              </p:sp>
            </mc:Choice>
            <mc:Fallback xmlns="">
              <p:sp>
                <p:nvSpPr>
                  <p:cNvPr id="20" name="Rectangle 36">
                    <a:extLst>
                      <a:ext uri="{FF2B5EF4-FFF2-40B4-BE49-F238E27FC236}">
                        <a16:creationId xmlns:a16="http://schemas.microsoft.com/office/drawing/2014/main" id="{56577E08-6393-BA2C-683A-519C79ED40A6}"/>
                      </a:ext>
                    </a:extLst>
                  </p:cNvPr>
                  <p:cNvSpPr>
                    <a:spLocks noRot="1" noChangeAspect="1" noMove="1" noResize="1" noEditPoints="1" noAdjustHandles="1" noChangeArrowheads="1" noChangeShapeType="1" noTextEdit="1"/>
                  </p:cNvSpPr>
                  <p:nvPr/>
                </p:nvSpPr>
                <p:spPr>
                  <a:xfrm>
                    <a:off x="7551512" y="4004863"/>
                    <a:ext cx="824948" cy="601535"/>
                  </a:xfrm>
                  <a:prstGeom prst="rect">
                    <a:avLst/>
                  </a:prstGeom>
                  <a:blipFill>
                    <a:blip r:embed="rId6"/>
                    <a:stretch>
                      <a:fillRect/>
                    </a:stretch>
                  </a:blipFill>
                  <a:ln>
                    <a:solidFill>
                      <a:schemeClr val="tx1"/>
                    </a:solidFill>
                  </a:ln>
                </p:spPr>
                <p:txBody>
                  <a:bodyPr/>
                  <a:lstStyle/>
                  <a:p>
                    <a:r>
                      <a:rPr lang="en-US">
                        <a:noFill/>
                      </a:rPr>
                      <a:t> </a:t>
                    </a:r>
                  </a:p>
                </p:txBody>
              </p:sp>
            </mc:Fallback>
          </mc:AlternateContent>
          <p:cxnSp>
            <p:nvCxnSpPr>
              <p:cNvPr id="21" name="Straight Arrow Connector 40">
                <a:extLst>
                  <a:ext uri="{FF2B5EF4-FFF2-40B4-BE49-F238E27FC236}">
                    <a16:creationId xmlns:a16="http://schemas.microsoft.com/office/drawing/2014/main" id="{B0E175AE-18AD-8597-97FA-EB6AB0D2990C}"/>
                  </a:ext>
                </a:extLst>
              </p:cNvPr>
              <p:cNvCxnSpPr>
                <a:cxnSpLocks/>
              </p:cNvCxnSpPr>
              <p:nvPr/>
            </p:nvCxnSpPr>
            <p:spPr>
              <a:xfrm>
                <a:off x="10770181" y="4284561"/>
                <a:ext cx="992414" cy="1207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42">
                <a:extLst>
                  <a:ext uri="{FF2B5EF4-FFF2-40B4-BE49-F238E27FC236}">
                    <a16:creationId xmlns:a16="http://schemas.microsoft.com/office/drawing/2014/main" id="{1CB0976D-2300-B690-F2D6-D0C60D1FB212}"/>
                  </a:ext>
                </a:extLst>
              </p:cNvPr>
              <p:cNvCxnSpPr>
                <a:cxnSpLocks/>
              </p:cNvCxnSpPr>
              <p:nvPr/>
            </p:nvCxnSpPr>
            <p:spPr>
              <a:xfrm flipV="1">
                <a:off x="6952140" y="4479305"/>
                <a:ext cx="0" cy="8775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44">
                <a:extLst>
                  <a:ext uri="{FF2B5EF4-FFF2-40B4-BE49-F238E27FC236}">
                    <a16:creationId xmlns:a16="http://schemas.microsoft.com/office/drawing/2014/main" id="{58C928CA-72B2-24D8-85DA-3705149187D8}"/>
                  </a:ext>
                </a:extLst>
              </p:cNvPr>
              <p:cNvCxnSpPr>
                <a:cxnSpLocks/>
              </p:cNvCxnSpPr>
              <p:nvPr/>
            </p:nvCxnSpPr>
            <p:spPr>
              <a:xfrm>
                <a:off x="6952140" y="5356893"/>
                <a:ext cx="44879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46">
                <a:extLst>
                  <a:ext uri="{FF2B5EF4-FFF2-40B4-BE49-F238E27FC236}">
                    <a16:creationId xmlns:a16="http://schemas.microsoft.com/office/drawing/2014/main" id="{534421FF-7EDB-FDC5-FBE8-43627073EA82}"/>
                  </a:ext>
                </a:extLst>
              </p:cNvPr>
              <p:cNvCxnSpPr/>
              <p:nvPr/>
            </p:nvCxnSpPr>
            <p:spPr>
              <a:xfrm flipV="1">
                <a:off x="11440081" y="4296635"/>
                <a:ext cx="0" cy="10515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47">
                <a:extLst>
                  <a:ext uri="{FF2B5EF4-FFF2-40B4-BE49-F238E27FC236}">
                    <a16:creationId xmlns:a16="http://schemas.microsoft.com/office/drawing/2014/main" id="{77BA9978-002D-A1B2-5DCC-38B965AA9A53}"/>
                  </a:ext>
                </a:extLst>
              </p:cNvPr>
              <p:cNvSpPr txBox="1"/>
              <p:nvPr/>
            </p:nvSpPr>
            <p:spPr>
              <a:xfrm>
                <a:off x="6518627" y="3854360"/>
                <a:ext cx="433513" cy="369332"/>
              </a:xfrm>
              <a:prstGeom prst="rect">
                <a:avLst/>
              </a:prstGeom>
              <a:noFill/>
            </p:spPr>
            <p:txBody>
              <a:bodyPr wrap="square" rtlCol="0">
                <a:spAutoFit/>
              </a:bodyPr>
              <a:lstStyle/>
              <a:p>
                <a:r>
                  <a:rPr lang="en-US"/>
                  <a:t>+</a:t>
                </a:r>
              </a:p>
            </p:txBody>
          </p:sp>
          <p:sp>
            <p:nvSpPr>
              <p:cNvPr id="26" name="TextBox 48">
                <a:extLst>
                  <a:ext uri="{FF2B5EF4-FFF2-40B4-BE49-F238E27FC236}">
                    <a16:creationId xmlns:a16="http://schemas.microsoft.com/office/drawing/2014/main" id="{05CB6576-0A62-8A54-7152-6106BB1ED971}"/>
                  </a:ext>
                </a:extLst>
              </p:cNvPr>
              <p:cNvSpPr txBox="1"/>
              <p:nvPr/>
            </p:nvSpPr>
            <p:spPr>
              <a:xfrm>
                <a:off x="6544594" y="4333764"/>
                <a:ext cx="433513" cy="369332"/>
              </a:xfrm>
              <a:prstGeom prst="rect">
                <a:avLst/>
              </a:prstGeom>
              <a:noFill/>
            </p:spPr>
            <p:txBody>
              <a:bodyPr wrap="square" rtlCol="0">
                <a:spAutoFit/>
              </a:bodyPr>
              <a:lstStyle/>
              <a:p>
                <a:r>
                  <a:rPr lang="en-US"/>
                  <a:t>-</a:t>
                </a:r>
              </a:p>
            </p:txBody>
          </p:sp>
          <mc:AlternateContent xmlns:mc="http://schemas.openxmlformats.org/markup-compatibility/2006" xmlns:a14="http://schemas.microsoft.com/office/drawing/2010/main">
            <mc:Choice Requires="a14">
              <p:sp>
                <p:nvSpPr>
                  <p:cNvPr id="27" name="TextBox 51">
                    <a:extLst>
                      <a:ext uri="{FF2B5EF4-FFF2-40B4-BE49-F238E27FC236}">
                        <a16:creationId xmlns:a16="http://schemas.microsoft.com/office/drawing/2014/main" id="{5061341B-8510-7642-80E9-95ED9B88D840}"/>
                      </a:ext>
                    </a:extLst>
                  </p:cNvPr>
                  <p:cNvSpPr txBox="1"/>
                  <p:nvPr/>
                </p:nvSpPr>
                <p:spPr>
                  <a:xfrm>
                    <a:off x="8362257" y="3857000"/>
                    <a:ext cx="491539" cy="37580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𝐿</m:t>
                                  </m:r>
                                </m:sub>
                              </m:sSub>
                            </m:e>
                          </m:acc>
                        </m:oMath>
                      </m:oMathPara>
                    </a14:m>
                    <a:endParaRPr lang="en-US"/>
                  </a:p>
                </p:txBody>
              </p:sp>
            </mc:Choice>
            <mc:Fallback xmlns="">
              <p:sp>
                <p:nvSpPr>
                  <p:cNvPr id="27" name="TextBox 51">
                    <a:extLst>
                      <a:ext uri="{FF2B5EF4-FFF2-40B4-BE49-F238E27FC236}">
                        <a16:creationId xmlns:a16="http://schemas.microsoft.com/office/drawing/2014/main" id="{5061341B-8510-7642-80E9-95ED9B88D840}"/>
                      </a:ext>
                    </a:extLst>
                  </p:cNvPr>
                  <p:cNvSpPr txBox="1">
                    <a:spLocks noRot="1" noChangeAspect="1" noMove="1" noResize="1" noEditPoints="1" noAdjustHandles="1" noChangeArrowheads="1" noChangeShapeType="1" noTextEdit="1"/>
                  </p:cNvSpPr>
                  <p:nvPr/>
                </p:nvSpPr>
                <p:spPr>
                  <a:xfrm>
                    <a:off x="8362257" y="3857000"/>
                    <a:ext cx="491539" cy="375809"/>
                  </a:xfrm>
                  <a:prstGeom prst="rect">
                    <a:avLst/>
                  </a:prstGeom>
                  <a:blipFill>
                    <a:blip r:embed="rId7"/>
                    <a:stretch>
                      <a:fillRect t="-9677" r="-16049"/>
                    </a:stretch>
                  </a:blipFill>
                </p:spPr>
                <p:txBody>
                  <a:bodyPr/>
                  <a:lstStyle/>
                  <a:p>
                    <a:r>
                      <a:rPr lang="en-US">
                        <a:noFill/>
                      </a:rPr>
                      <a:t> </a:t>
                    </a:r>
                  </a:p>
                </p:txBody>
              </p:sp>
            </mc:Fallback>
          </mc:AlternateContent>
          <p:cxnSp>
            <p:nvCxnSpPr>
              <p:cNvPr id="28" name="Straight Connector 17">
                <a:extLst>
                  <a:ext uri="{FF2B5EF4-FFF2-40B4-BE49-F238E27FC236}">
                    <a16:creationId xmlns:a16="http://schemas.microsoft.com/office/drawing/2014/main" id="{029AD3C4-CFEE-8796-7BD6-239AFE78B51B}"/>
                  </a:ext>
                </a:extLst>
              </p:cNvPr>
              <p:cNvCxnSpPr>
                <a:cxnSpLocks/>
                <a:stCxn id="20" idx="3"/>
                <a:endCxn id="19" idx="1"/>
              </p:cNvCxnSpPr>
              <p:nvPr/>
            </p:nvCxnSpPr>
            <p:spPr>
              <a:xfrm>
                <a:off x="8376460" y="4305631"/>
                <a:ext cx="50330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54">
                    <a:extLst>
                      <a:ext uri="{FF2B5EF4-FFF2-40B4-BE49-F238E27FC236}">
                        <a16:creationId xmlns:a16="http://schemas.microsoft.com/office/drawing/2014/main" id="{83BB5CBC-A167-CEF6-57E0-4E38FCBB36D2}"/>
                      </a:ext>
                    </a:extLst>
                  </p:cNvPr>
                  <p:cNvSpPr txBox="1"/>
                  <p:nvPr/>
                </p:nvSpPr>
                <p:spPr>
                  <a:xfrm>
                    <a:off x="11194311" y="3847105"/>
                    <a:ext cx="491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0</m:t>
                                  </m:r>
                                </m:sub>
                              </m:sSub>
                            </m:e>
                          </m:acc>
                        </m:oMath>
                      </m:oMathPara>
                    </a14:m>
                    <a:endParaRPr lang="en-US"/>
                  </a:p>
                </p:txBody>
              </p:sp>
            </mc:Choice>
            <mc:Fallback xmlns="">
              <p:sp>
                <p:nvSpPr>
                  <p:cNvPr id="29" name="TextBox 54">
                    <a:extLst>
                      <a:ext uri="{FF2B5EF4-FFF2-40B4-BE49-F238E27FC236}">
                        <a16:creationId xmlns:a16="http://schemas.microsoft.com/office/drawing/2014/main" id="{83BB5CBC-A167-CEF6-57E0-4E38FCBB36D2}"/>
                      </a:ext>
                    </a:extLst>
                  </p:cNvPr>
                  <p:cNvSpPr txBox="1">
                    <a:spLocks noRot="1" noChangeAspect="1" noMove="1" noResize="1" noEditPoints="1" noAdjustHandles="1" noChangeArrowheads="1" noChangeShapeType="1" noTextEdit="1"/>
                  </p:cNvSpPr>
                  <p:nvPr/>
                </p:nvSpPr>
                <p:spPr>
                  <a:xfrm>
                    <a:off x="11194311" y="3847105"/>
                    <a:ext cx="491539" cy="369332"/>
                  </a:xfrm>
                  <a:prstGeom prst="rect">
                    <a:avLst/>
                  </a:prstGeom>
                  <a:blipFill>
                    <a:blip r:embed="rId8"/>
                    <a:stretch>
                      <a:fillRect r="-3704"/>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32" name="Hộp Văn bản 31">
                <a:extLst>
                  <a:ext uri="{FF2B5EF4-FFF2-40B4-BE49-F238E27FC236}">
                    <a16:creationId xmlns:a16="http://schemas.microsoft.com/office/drawing/2014/main" id="{C78BAA6E-C1F0-B8DA-EAC7-851F96710293}"/>
                  </a:ext>
                </a:extLst>
              </p:cNvPr>
              <p:cNvSpPr txBox="1"/>
              <p:nvPr/>
            </p:nvSpPr>
            <p:spPr>
              <a:xfrm>
                <a:off x="221507" y="4438310"/>
                <a:ext cx="10554749" cy="15166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𝑣</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𝑣</m:t>
                              </m:r>
                              <m:r>
                                <a:rPr lang="en-US" b="0" i="1" smtClean="0">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num>
                        <m:den>
                          <m:r>
                            <a:rPr lang="en-US" b="0" i="1" smtClean="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𝑣𝑖</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𝐷</m:t>
                                  </m:r>
                                </m:e>
                              </m:d>
                              <m:r>
                                <a:rPr lang="en-US" b="0" i="1" smtClean="0">
                                  <a:latin typeface="Cambria Math" panose="02040503050406030204" pitchFamily="18" charset="0"/>
                                </a:rPr>
                                <m:t>𝑅</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𝑝</m:t>
                                      </m:r>
                                    </m:sub>
                                  </m:sSub>
                                </m:den>
                              </m:f>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𝑖</m:t>
                                  </m:r>
                                </m:sub>
                              </m:sSub>
                            </m:num>
                            <m:den>
                              <m:r>
                                <a:rPr lang="en-US" b="0" i="1" smtClean="0">
                                  <a:latin typeface="Cambria Math" panose="02040503050406030204" pitchFamily="18" charset="0"/>
                                </a:rPr>
                                <m:t>𝑠</m:t>
                              </m:r>
                            </m:den>
                          </m:f>
                          <m:r>
                            <a:rPr lang="en-US" b="0" i="1" smtClean="0">
                              <a:latin typeface="Cambria Math" panose="02040503050406030204" pitchFamily="18" charset="0"/>
                            </a:rPr>
                            <m:t>)</m:t>
                          </m:r>
                        </m:num>
                        <m:den>
                          <m:r>
                            <a:rPr lang="en-US" b="0" i="1" smtClean="0">
                              <a:latin typeface="Cambria Math" panose="02040503050406030204" pitchFamily="18" charset="0"/>
                            </a:rPr>
                            <m:t>1+</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i="1">
                                  <a:latin typeface="Cambria Math" panose="02040503050406030204" pitchFamily="18" charset="0"/>
                                </a:rPr>
                                <m:t>𝑅</m:t>
                              </m:r>
                            </m:num>
                            <m:den>
                              <m:r>
                                <a:rPr lang="en-US" i="1">
                                  <a:latin typeface="Cambria Math" panose="02040503050406030204" pitchFamily="18" charset="0"/>
                                </a:rPr>
                                <m:t>2</m:t>
                              </m:r>
                            </m:den>
                          </m:f>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𝑠</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den>
                              </m:f>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𝐾</m:t>
                              </m:r>
                            </m:e>
                            <m:sub>
                              <m:r>
                                <a:rPr lang="en-US" i="1">
                                  <a:latin typeface="Cambria Math" panose="02040503050406030204" pitchFamily="18" charset="0"/>
                                </a:rPr>
                                <m:t>𝑝</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𝑖</m:t>
                                  </m:r>
                                </m:sub>
                              </m:sSub>
                            </m:num>
                            <m:den>
                              <m:r>
                                <a:rPr lang="en-US" i="1">
                                  <a:latin typeface="Cambria Math" panose="02040503050406030204" pitchFamily="18" charset="0"/>
                                </a:rPr>
                                <m:t>𝑠</m:t>
                              </m:r>
                            </m:den>
                          </m:f>
                          <m:r>
                            <a:rPr lang="en-US" i="1">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𝐷</m:t>
                                  </m:r>
                                </m:e>
                              </m:d>
                              <m:r>
                                <a:rPr lang="en-US" b="0" i="1" smtClean="0">
                                  <a:latin typeface="Cambria Math" panose="02040503050406030204" pitchFamily="18" charset="0"/>
                                </a:rPr>
                                <m:t>𝑅</m:t>
                              </m:r>
                              <m:r>
                                <a:rPr lang="en-US" i="1" smtClean="0">
                                  <a:latin typeface="Cambria Math" panose="02040503050406030204" pitchFamily="18" charset="0"/>
                                </a:rPr>
                                <m:t> </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ea typeface="Cambria Math" panose="02040503050406030204" pitchFamily="18" charset="0"/>
                                </a:rPr>
                                <m:t>𝑝</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b="0" i="1" smtClean="0">
                                      <a:latin typeface="Cambria Math" panose="02040503050406030204" pitchFamily="18" charset="0"/>
                                    </a:rPr>
                                    <m:t>𝑅</m:t>
                                  </m:r>
                                  <m:r>
                                    <a:rPr lang="en-US" i="1">
                                      <a:latin typeface="Cambria Math" panose="02040503050406030204" pitchFamily="18" charset="0"/>
                                    </a:rPr>
                                    <m:t> </m:t>
                                  </m:r>
                                </m:num>
                                <m:den>
                                  <m:r>
                                    <a:rPr lang="en-US" b="0" i="1" smtClean="0">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𝑝</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ea typeface="Cambria Math" panose="02040503050406030204" pitchFamily="18" charset="0"/>
                                </a:rPr>
                                <m:t>𝑖</m:t>
                              </m:r>
                            </m:sub>
                          </m:sSub>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i="1">
                                      <a:latin typeface="Cambria Math" panose="02040503050406030204" pitchFamily="18" charset="0"/>
                                    </a:rPr>
                                    <m:t>𝑅</m:t>
                                  </m:r>
                                  <m:r>
                                    <a:rPr lang="en-US" i="1">
                                      <a:latin typeface="Cambria Math" panose="02040503050406030204" pitchFamily="18" charset="0"/>
                                    </a:rPr>
                                    <m:t> </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ea typeface="Cambria Math" panose="02040503050406030204" pitchFamily="18" charset="0"/>
                                    </a:rPr>
                                    <m:t>𝑝</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i="1">
                                      <a:latin typeface="Cambria Math" panose="02040503050406030204" pitchFamily="18" charset="0"/>
                                    </a:rPr>
                                    <m:t>𝑅</m:t>
                                  </m:r>
                                  <m:r>
                                    <a:rPr lang="en-US" i="1">
                                      <a:latin typeface="Cambria Math" panose="02040503050406030204" pitchFamily="18" charset="0"/>
                                    </a:rPr>
                                    <m:t> </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ea typeface="Cambria Math" panose="02040503050406030204" pitchFamily="18" charset="0"/>
                                </a:rPr>
                                <m:t>𝑖</m:t>
                              </m:r>
                            </m:sub>
                          </m:sSub>
                        </m:den>
                      </m:f>
                    </m:oMath>
                  </m:oMathPara>
                </a14:m>
                <a:endParaRPr lang="en-US"/>
              </a:p>
            </p:txBody>
          </p:sp>
        </mc:Choice>
        <mc:Fallback xmlns="">
          <p:sp>
            <p:nvSpPr>
              <p:cNvPr id="32" name="Hộp Văn bản 31">
                <a:extLst>
                  <a:ext uri="{FF2B5EF4-FFF2-40B4-BE49-F238E27FC236}">
                    <a16:creationId xmlns:a16="http://schemas.microsoft.com/office/drawing/2014/main" id="{C78BAA6E-C1F0-B8DA-EAC7-851F96710293}"/>
                  </a:ext>
                </a:extLst>
              </p:cNvPr>
              <p:cNvSpPr txBox="1">
                <a:spLocks noRot="1" noChangeAspect="1" noMove="1" noResize="1" noEditPoints="1" noAdjustHandles="1" noChangeArrowheads="1" noChangeShapeType="1" noTextEdit="1"/>
              </p:cNvSpPr>
              <p:nvPr/>
            </p:nvSpPr>
            <p:spPr>
              <a:xfrm>
                <a:off x="221507" y="4438310"/>
                <a:ext cx="10554749" cy="151663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Hộp Văn bản 33">
                <a:extLst>
                  <a:ext uri="{FF2B5EF4-FFF2-40B4-BE49-F238E27FC236}">
                    <a16:creationId xmlns:a16="http://schemas.microsoft.com/office/drawing/2014/main" id="{ED0B8601-B7EE-B310-168C-0C2FBA1E98E8}"/>
                  </a:ext>
                </a:extLst>
              </p:cNvPr>
              <p:cNvSpPr txBox="1"/>
              <p:nvPr/>
            </p:nvSpPr>
            <p:spPr>
              <a:xfrm>
                <a:off x="737569" y="3521982"/>
                <a:ext cx="1583703" cy="4744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𝑖</m:t>
                              </m:r>
                            </m:sub>
                          </m:sSub>
                        </m:num>
                        <m:den>
                          <m:r>
                            <a:rPr lang="en-US" i="1">
                              <a:latin typeface="Cambria Math" panose="02040503050406030204" pitchFamily="18" charset="0"/>
                            </a:rPr>
                            <m:t>𝑠</m:t>
                          </m:r>
                        </m:den>
                      </m:f>
                    </m:oMath>
                  </m:oMathPara>
                </a14:m>
                <a:endParaRPr lang="en-US"/>
              </a:p>
            </p:txBody>
          </p:sp>
        </mc:Choice>
        <mc:Fallback xmlns="">
          <p:sp>
            <p:nvSpPr>
              <p:cNvPr id="34" name="Hộp Văn bản 33">
                <a:extLst>
                  <a:ext uri="{FF2B5EF4-FFF2-40B4-BE49-F238E27FC236}">
                    <a16:creationId xmlns:a16="http://schemas.microsoft.com/office/drawing/2014/main" id="{ED0B8601-B7EE-B310-168C-0C2FBA1E98E8}"/>
                  </a:ext>
                </a:extLst>
              </p:cNvPr>
              <p:cNvSpPr txBox="1">
                <a:spLocks noRot="1" noChangeAspect="1" noMove="1" noResize="1" noEditPoints="1" noAdjustHandles="1" noChangeArrowheads="1" noChangeShapeType="1" noTextEdit="1"/>
              </p:cNvSpPr>
              <p:nvPr/>
            </p:nvSpPr>
            <p:spPr>
              <a:xfrm>
                <a:off x="737569" y="3521982"/>
                <a:ext cx="1583703" cy="474425"/>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52681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BCAC-1580-36AE-1D55-C15CA96E23E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E6A1B7A-FA9D-62D3-50AB-056DE3BDB01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26</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3C20E2AD-FC95-829E-D582-06C105B1C012}"/>
              </a:ext>
            </a:extLst>
          </p:cNvPr>
          <p:cNvSpPr>
            <a:spLocks noGrp="1"/>
          </p:cNvSpPr>
          <p:nvPr>
            <p:ph type="title"/>
          </p:nvPr>
        </p:nvSpPr>
        <p:spPr/>
        <p:txBody>
          <a:bodyPr>
            <a:normAutofit fontScale="90000"/>
          </a:bodyPr>
          <a:lstStyle/>
          <a:p>
            <a:r>
              <a:rPr lang="en-US"/>
              <a:t>3. Mô hình hóa và tổng hợp bộ điều khiển PI</a:t>
            </a:r>
          </a:p>
        </p:txBody>
      </p:sp>
      <p:sp>
        <p:nvSpPr>
          <p:cNvPr id="4" name="TextBox 33">
            <a:extLst>
              <a:ext uri="{FF2B5EF4-FFF2-40B4-BE49-F238E27FC236}">
                <a16:creationId xmlns:a16="http://schemas.microsoft.com/office/drawing/2014/main" id="{C6B7BB93-9CF8-B739-10CA-F33FD64DC790}"/>
              </a:ext>
            </a:extLst>
          </p:cNvPr>
          <p:cNvSpPr txBox="1"/>
          <p:nvPr/>
        </p:nvSpPr>
        <p:spPr>
          <a:xfrm>
            <a:off x="144181" y="998835"/>
            <a:ext cx="7025103" cy="400110"/>
          </a:xfrm>
          <a:prstGeom prst="rect">
            <a:avLst/>
          </a:prstGeom>
          <a:noFill/>
        </p:spPr>
        <p:txBody>
          <a:bodyPr wrap="square" rtlCol="0">
            <a:spAutoFit/>
          </a:bodyPr>
          <a:lstStyle/>
          <a:p>
            <a:r>
              <a:rPr lang="en-US" sz="2000"/>
              <a:t>Xét phương trình đặc trưng của khâu dao động bậc 2:</a:t>
            </a:r>
          </a:p>
        </p:txBody>
      </p:sp>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AE665FFE-B3CD-BF70-BE6B-4ABFD6EE8FE8}"/>
                  </a:ext>
                </a:extLst>
              </p:cNvPr>
              <p:cNvSpPr txBox="1"/>
              <p:nvPr/>
            </p:nvSpPr>
            <p:spPr>
              <a:xfrm>
                <a:off x="-668778" y="1398945"/>
                <a:ext cx="6094378"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𝑠</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𝜁</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𝑛</m:t>
                          </m:r>
                        </m:sub>
                      </m:sSub>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ea typeface="Cambria Math" panose="02040503050406030204" pitchFamily="18" charset="0"/>
                            </a:rPr>
                            <m:t>𝑛</m:t>
                          </m:r>
                        </m:sub>
                        <m:sup>
                          <m:r>
                            <a:rPr lang="en-US" sz="2000" b="0" i="1" smtClean="0">
                              <a:latin typeface="Cambria Math" panose="02040503050406030204" pitchFamily="18" charset="0"/>
                              <a:ea typeface="Cambria Math" panose="02040503050406030204" pitchFamily="18" charset="0"/>
                            </a:rPr>
                            <m:t>2</m:t>
                          </m:r>
                        </m:sup>
                      </m:sSubSup>
                    </m:oMath>
                  </m:oMathPara>
                </a14:m>
                <a:endParaRPr lang="en-US" sz="2000"/>
              </a:p>
            </p:txBody>
          </p:sp>
        </mc:Choice>
        <mc:Fallback xmlns="">
          <p:sp>
            <p:nvSpPr>
              <p:cNvPr id="7" name="Hộp Văn bản 6">
                <a:extLst>
                  <a:ext uri="{FF2B5EF4-FFF2-40B4-BE49-F238E27FC236}">
                    <a16:creationId xmlns:a16="http://schemas.microsoft.com/office/drawing/2014/main" id="{AE665FFE-B3CD-BF70-BE6B-4ABFD6EE8FE8}"/>
                  </a:ext>
                </a:extLst>
              </p:cNvPr>
              <p:cNvSpPr txBox="1">
                <a:spLocks noRot="1" noChangeAspect="1" noMove="1" noResize="1" noEditPoints="1" noAdjustHandles="1" noChangeArrowheads="1" noChangeShapeType="1" noTextEdit="1"/>
              </p:cNvSpPr>
              <p:nvPr/>
            </p:nvSpPr>
            <p:spPr>
              <a:xfrm>
                <a:off x="-668778" y="1398945"/>
                <a:ext cx="6094378"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26">
                <a:extLst>
                  <a:ext uri="{FF2B5EF4-FFF2-40B4-BE49-F238E27FC236}">
                    <a16:creationId xmlns:a16="http://schemas.microsoft.com/office/drawing/2014/main" id="{C8AB8BEA-0455-64B3-121D-E8AF3E50300D}"/>
                  </a:ext>
                </a:extLst>
              </p:cNvPr>
              <p:cNvSpPr txBox="1"/>
              <p:nvPr/>
            </p:nvSpPr>
            <p:spPr>
              <a:xfrm>
                <a:off x="218034" y="1783203"/>
                <a:ext cx="5059138" cy="1015663"/>
              </a:xfrm>
              <a:prstGeom prst="rect">
                <a:avLst/>
              </a:prstGeom>
              <a:noFill/>
            </p:spPr>
            <p:txBody>
              <a:bodyPr wrap="square" rtlCol="0">
                <a:spAutoFit/>
              </a:bodyPr>
              <a:lstStyle/>
              <a:p>
                <a:r>
                  <a:rPr lang="en-US" sz="2000"/>
                  <a:t>Trong đó:</a:t>
                </a:r>
              </a:p>
              <a:p>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𝑛</m:t>
                        </m:r>
                      </m:sub>
                    </m:sSub>
                  </m:oMath>
                </a14:m>
                <a:r>
                  <a:rPr lang="en-US" sz="2000"/>
                  <a:t> là tần số dao động riêng </a:t>
                </a:r>
              </a:p>
              <a:p>
                <a14:m>
                  <m:oMath xmlns:m="http://schemas.openxmlformats.org/officeDocument/2006/math">
                    <m:r>
                      <a:rPr lang="en-US" sz="2000" i="1" smtClean="0">
                        <a:latin typeface="Cambria Math" panose="02040503050406030204" pitchFamily="18" charset="0"/>
                        <a:ea typeface="Cambria Math" panose="02040503050406030204" pitchFamily="18" charset="0"/>
                      </a:rPr>
                      <m:t>𝜉</m:t>
                    </m:r>
                  </m:oMath>
                </a14:m>
                <a:r>
                  <a:rPr lang="en-US" sz="2000"/>
                  <a:t> là hệ số tắt dần (</a:t>
                </a:r>
                <a14:m>
                  <m:oMath xmlns:m="http://schemas.openxmlformats.org/officeDocument/2006/math">
                    <m:r>
                      <a:rPr lang="en-US" sz="2000" i="1">
                        <a:latin typeface="Cambria Math" panose="02040503050406030204" pitchFamily="18" charset="0"/>
                        <a:ea typeface="Cambria Math" panose="02040503050406030204" pitchFamily="18" charset="0"/>
                      </a:rPr>
                      <m:t>𝜉</m:t>
                    </m:r>
                  </m:oMath>
                </a14:m>
                <a:r>
                  <a:rPr lang="en-US" sz="2000"/>
                  <a:t> = 0.707)</a:t>
                </a:r>
              </a:p>
            </p:txBody>
          </p:sp>
        </mc:Choice>
        <mc:Fallback xmlns="">
          <p:sp>
            <p:nvSpPr>
              <p:cNvPr id="8" name="TextBox 26">
                <a:extLst>
                  <a:ext uri="{FF2B5EF4-FFF2-40B4-BE49-F238E27FC236}">
                    <a16:creationId xmlns:a16="http://schemas.microsoft.com/office/drawing/2014/main" id="{C8AB8BEA-0455-64B3-121D-E8AF3E50300D}"/>
                  </a:ext>
                </a:extLst>
              </p:cNvPr>
              <p:cNvSpPr txBox="1">
                <a:spLocks noRot="1" noChangeAspect="1" noMove="1" noResize="1" noEditPoints="1" noAdjustHandles="1" noChangeArrowheads="1" noChangeShapeType="1" noTextEdit="1"/>
              </p:cNvSpPr>
              <p:nvPr/>
            </p:nvSpPr>
            <p:spPr>
              <a:xfrm>
                <a:off x="218034" y="1783203"/>
                <a:ext cx="5059138" cy="1015663"/>
              </a:xfrm>
              <a:prstGeom prst="rect">
                <a:avLst/>
              </a:prstGeom>
              <a:blipFill>
                <a:blip r:embed="rId3"/>
                <a:stretch>
                  <a:fillRect l="-1325" t="-3614" b="-10241"/>
                </a:stretch>
              </a:blipFill>
            </p:spPr>
            <p:txBody>
              <a:bodyPr/>
              <a:lstStyle/>
              <a:p>
                <a:r>
                  <a:rPr lang="en-US">
                    <a:noFill/>
                  </a:rPr>
                  <a:t> </a:t>
                </a:r>
              </a:p>
            </p:txBody>
          </p:sp>
        </mc:Fallback>
      </mc:AlternateContent>
      <p:sp>
        <p:nvSpPr>
          <p:cNvPr id="11" name="Hộp Văn bản 10">
            <a:extLst>
              <a:ext uri="{FF2B5EF4-FFF2-40B4-BE49-F238E27FC236}">
                <a16:creationId xmlns:a16="http://schemas.microsoft.com/office/drawing/2014/main" id="{56708995-FEA6-6D17-398E-A0F407F8AE21}"/>
              </a:ext>
            </a:extLst>
          </p:cNvPr>
          <p:cNvSpPr txBox="1"/>
          <p:nvPr/>
        </p:nvSpPr>
        <p:spPr>
          <a:xfrm>
            <a:off x="218034" y="4265651"/>
            <a:ext cx="6429982" cy="400110"/>
          </a:xfrm>
          <a:prstGeom prst="rect">
            <a:avLst/>
          </a:prstGeom>
          <a:noFill/>
        </p:spPr>
        <p:txBody>
          <a:bodyPr wrap="square">
            <a:spAutoFit/>
          </a:bodyPr>
          <a:lstStyle/>
          <a:p>
            <a:r>
              <a:rPr lang="en-US" sz="2000"/>
              <a:t>Đồng nhất hệ số 2 vế, ta thu được:</a:t>
            </a:r>
          </a:p>
        </p:txBody>
      </p:sp>
      <p:sp>
        <p:nvSpPr>
          <p:cNvPr id="12" name="TextBox 33">
            <a:extLst>
              <a:ext uri="{FF2B5EF4-FFF2-40B4-BE49-F238E27FC236}">
                <a16:creationId xmlns:a16="http://schemas.microsoft.com/office/drawing/2014/main" id="{2073EFBA-3F75-818E-78E8-63386FBA9EA2}"/>
              </a:ext>
            </a:extLst>
          </p:cNvPr>
          <p:cNvSpPr txBox="1"/>
          <p:nvPr/>
        </p:nvSpPr>
        <p:spPr>
          <a:xfrm>
            <a:off x="144181" y="2865730"/>
            <a:ext cx="7025103" cy="400110"/>
          </a:xfrm>
          <a:prstGeom prst="rect">
            <a:avLst/>
          </a:prstGeom>
          <a:noFill/>
        </p:spPr>
        <p:txBody>
          <a:bodyPr wrap="square" rtlCol="0">
            <a:spAutoFit/>
          </a:bodyPr>
          <a:lstStyle/>
          <a:p>
            <a:r>
              <a:rPr lang="en-US" sz="2000"/>
              <a:t>Phương trình đặc trưng của hàm truyền hệ kín:</a:t>
            </a:r>
          </a:p>
        </p:txBody>
      </p:sp>
      <mc:AlternateContent xmlns:mc="http://schemas.openxmlformats.org/markup-compatibility/2006" xmlns:a14="http://schemas.microsoft.com/office/drawing/2010/main">
        <mc:Choice Requires="a14">
          <p:sp>
            <p:nvSpPr>
              <p:cNvPr id="14" name="Hộp Văn bản 13">
                <a:extLst>
                  <a:ext uri="{FF2B5EF4-FFF2-40B4-BE49-F238E27FC236}">
                    <a16:creationId xmlns:a16="http://schemas.microsoft.com/office/drawing/2014/main" id="{1311D430-91EC-DAC9-D1B0-55245CC042E0}"/>
                  </a:ext>
                </a:extLst>
              </p:cNvPr>
              <p:cNvSpPr txBox="1"/>
              <p:nvPr/>
            </p:nvSpPr>
            <p:spPr>
              <a:xfrm>
                <a:off x="-549613" y="3429000"/>
                <a:ext cx="6429982"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i="1">
                                  <a:latin typeface="Cambria Math" panose="02040503050406030204" pitchFamily="18" charset="0"/>
                                </a:rPr>
                                <m:t>𝑅</m:t>
                              </m:r>
                              <m:r>
                                <a:rPr lang="en-US" i="1">
                                  <a:latin typeface="Cambria Math" panose="02040503050406030204" pitchFamily="18" charset="0"/>
                                </a:rPr>
                                <m:t> </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ea typeface="Cambria Math" panose="02040503050406030204" pitchFamily="18" charset="0"/>
                                </a:rPr>
                                <m:t>𝑝</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𝐷</m:t>
                                  </m:r>
                                </m:e>
                              </m:d>
                              <m:r>
                                <a:rPr lang="en-US" i="1">
                                  <a:latin typeface="Cambria Math" panose="02040503050406030204" pitchFamily="18" charset="0"/>
                                </a:rPr>
                                <m:t>𝑅</m:t>
                              </m:r>
                              <m:r>
                                <a:rPr lang="en-US" i="1">
                                  <a:latin typeface="Cambria Math" panose="02040503050406030204" pitchFamily="18" charset="0"/>
                                </a:rPr>
                                <m:t> </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𝑝</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ea typeface="Cambria Math" panose="02040503050406030204" pitchFamily="18" charset="0"/>
                            </a:rPr>
                            <m:t>𝑖</m:t>
                          </m:r>
                        </m:sub>
                      </m:sSub>
                    </m:oMath>
                  </m:oMathPara>
                </a14:m>
                <a:endParaRPr lang="en-US"/>
              </a:p>
            </p:txBody>
          </p:sp>
        </mc:Choice>
        <mc:Fallback xmlns="">
          <p:sp>
            <p:nvSpPr>
              <p:cNvPr id="14" name="Hộp Văn bản 13">
                <a:extLst>
                  <a:ext uri="{FF2B5EF4-FFF2-40B4-BE49-F238E27FC236}">
                    <a16:creationId xmlns:a16="http://schemas.microsoft.com/office/drawing/2014/main" id="{1311D430-91EC-DAC9-D1B0-55245CC042E0}"/>
                  </a:ext>
                </a:extLst>
              </p:cNvPr>
              <p:cNvSpPr txBox="1">
                <a:spLocks noRot="1" noChangeAspect="1" noMove="1" noResize="1" noEditPoints="1" noAdjustHandles="1" noChangeArrowheads="1" noChangeShapeType="1" noTextEdit="1"/>
              </p:cNvSpPr>
              <p:nvPr/>
            </p:nvSpPr>
            <p:spPr>
              <a:xfrm>
                <a:off x="-549613" y="3429000"/>
                <a:ext cx="6429982" cy="71468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7C6119CE-3292-36BF-4CE0-C5F724D54CAB}"/>
                  </a:ext>
                </a:extLst>
              </p:cNvPr>
              <p:cNvSpPr txBox="1"/>
              <p:nvPr/>
            </p:nvSpPr>
            <p:spPr>
              <a:xfrm>
                <a:off x="956579" y="4682613"/>
                <a:ext cx="2843664" cy="1327992"/>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𝑛</m:t>
                                      </m:r>
                                    </m:sub>
                                    <m:sup>
                                      <m:r>
                                        <a:rPr lang="en-US" b="0" i="1" smtClean="0">
                                          <a:latin typeface="Cambria Math" panose="02040503050406030204" pitchFamily="18" charset="0"/>
                                        </a:rPr>
                                        <m:t>2</m:t>
                                      </m:r>
                                    </m:sup>
                                  </m:sSubSup>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𝐷</m:t>
                                      </m:r>
                                    </m:e>
                                  </m:d>
                                  <m:r>
                                    <a:rPr lang="en-US" b="0" i="1" smtClean="0">
                                      <a:latin typeface="Cambria Math" panose="02040503050406030204" pitchFamily="18" charset="0"/>
                                    </a:rPr>
                                    <m:t>𝑅</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den>
                              </m:f>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i="1">
                                      <a:latin typeface="Cambria Math" panose="02040503050406030204" pitchFamily="18" charset="0"/>
                                    </a:rPr>
                                    <m:t>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𝐷</m:t>
                                      </m:r>
                                    </m:e>
                                  </m:d>
                                </m:den>
                              </m:f>
                              <m:r>
                                <a:rPr lang="en-US" b="0" i="1" smtClean="0">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𝜁</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𝑛</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𝑝</m:t>
                                      </m:r>
                                    </m:sub>
                                  </m:sSub>
                                </m:den>
                              </m:f>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rPr>
                                <m:t>)</m:t>
                              </m:r>
                            </m:e>
                          </m:eqArr>
                        </m:e>
                      </m:d>
                    </m:oMath>
                  </m:oMathPara>
                </a14:m>
                <a:endParaRPr lang="en-US"/>
              </a:p>
            </p:txBody>
          </p:sp>
        </mc:Choice>
        <mc:Fallback xmlns="">
          <p:sp>
            <p:nvSpPr>
              <p:cNvPr id="15" name="Hộp Văn bản 14">
                <a:extLst>
                  <a:ext uri="{FF2B5EF4-FFF2-40B4-BE49-F238E27FC236}">
                    <a16:creationId xmlns:a16="http://schemas.microsoft.com/office/drawing/2014/main" id="{7C6119CE-3292-36BF-4CE0-C5F724D54CAB}"/>
                  </a:ext>
                </a:extLst>
              </p:cNvPr>
              <p:cNvSpPr txBox="1">
                <a:spLocks noRot="1" noChangeAspect="1" noMove="1" noResize="1" noEditPoints="1" noAdjustHandles="1" noChangeArrowheads="1" noChangeShapeType="1" noTextEdit="1"/>
              </p:cNvSpPr>
              <p:nvPr/>
            </p:nvSpPr>
            <p:spPr>
              <a:xfrm>
                <a:off x="956579" y="4682613"/>
                <a:ext cx="2843664" cy="1327992"/>
              </a:xfrm>
              <a:prstGeom prst="rect">
                <a:avLst/>
              </a:prstGeom>
              <a:blipFill>
                <a:blip r:embed="rId5"/>
                <a:stretch>
                  <a:fillRect b="-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26">
                <a:extLst>
                  <a:ext uri="{FF2B5EF4-FFF2-40B4-BE49-F238E27FC236}">
                    <a16:creationId xmlns:a16="http://schemas.microsoft.com/office/drawing/2014/main" id="{6884E17C-4076-467E-C371-DD7B1561229C}"/>
                  </a:ext>
                </a:extLst>
              </p:cNvPr>
              <p:cNvSpPr txBox="1"/>
              <p:nvPr/>
            </p:nvSpPr>
            <p:spPr>
              <a:xfrm>
                <a:off x="6481025" y="937280"/>
                <a:ext cx="6271935" cy="1323439"/>
              </a:xfrm>
              <a:prstGeom prst="rect">
                <a:avLst/>
              </a:prstGeom>
              <a:noFill/>
            </p:spPr>
            <p:txBody>
              <a:bodyPr wrap="square" rtlCol="0">
                <a:spAutoFit/>
              </a:bodyPr>
              <a:lstStyle/>
              <a:p>
                <a:r>
                  <a:rPr lang="en-US" sz="2000"/>
                  <a:t>Thông thường tần số cắt được chọn</a:t>
                </a:r>
                <a14:m>
                  <m:oMath xmlns:m="http://schemas.openxmlformats.org/officeDocument/2006/math">
                    <m:r>
                      <a:rPr lang="en-US" sz="2000" b="0" i="1" smtClean="0">
                        <a:latin typeface="Cambria Math" panose="02040503050406030204" pitchFamily="18" charset="0"/>
                      </a:rPr>
                      <m:t>𝑓𝑐</m:t>
                    </m:r>
                    <m:r>
                      <a:rPr lang="en-US" sz="2000" b="0" i="1" smtClean="0">
                        <a:latin typeface="Cambria Math" panose="02040503050406030204" pitchFamily="18" charset="0"/>
                      </a:rPr>
                      <m:t>=10−20</m:t>
                    </m:r>
                    <m:r>
                      <a:rPr lang="en-US" sz="2000" b="0" i="1" smtClean="0">
                        <a:latin typeface="Cambria Math" panose="02040503050406030204" pitchFamily="18" charset="0"/>
                      </a:rPr>
                      <m:t>𝐻𝑧</m:t>
                    </m:r>
                  </m:oMath>
                </a14:m>
                <a:endParaRPr lang="en-US" sz="2000"/>
              </a:p>
              <a:p>
                <a:r>
                  <a:rPr lang="en-US" sz="2000"/>
                  <a:t>Ta chọn:</a:t>
                </a:r>
              </a:p>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𝜔</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=100 </m:t>
                      </m:r>
                      <m:r>
                        <a:rPr lang="en-US" sz="2000" b="0" i="1" smtClean="0">
                          <a:latin typeface="Cambria Math" panose="02040503050406030204" pitchFamily="18" charset="0"/>
                        </a:rPr>
                        <m:t>𝑟𝑎𝑑</m:t>
                      </m:r>
                      <m:r>
                        <a:rPr lang="en-US" sz="2000" b="0" i="1" smtClean="0">
                          <a:latin typeface="Cambria Math" panose="02040503050406030204" pitchFamily="18" charset="0"/>
                        </a:rPr>
                        <m:t>/</m:t>
                      </m:r>
                      <m:r>
                        <a:rPr lang="en-US" sz="2000" b="0" i="1" smtClean="0">
                          <a:latin typeface="Cambria Math" panose="02040503050406030204" pitchFamily="18" charset="0"/>
                        </a:rPr>
                        <m:t>𝑠</m:t>
                      </m:r>
                    </m:oMath>
                  </m:oMathPara>
                </a14:m>
                <a:endParaRPr lang="en-US" sz="2000"/>
              </a:p>
              <a:p>
                <a14:m>
                  <m:oMath xmlns:m="http://schemas.openxmlformats.org/officeDocument/2006/math">
                    <m:r>
                      <a:rPr lang="en-US" sz="2000" i="1" smtClean="0">
                        <a:latin typeface="Cambria Math" panose="02040503050406030204" pitchFamily="18" charset="0"/>
                        <a:ea typeface="Cambria Math" panose="02040503050406030204" pitchFamily="18" charset="0"/>
                      </a:rPr>
                      <m:t>𝜉</m:t>
                    </m:r>
                  </m:oMath>
                </a14:m>
                <a:r>
                  <a:rPr lang="en-US" sz="2000"/>
                  <a:t> là hệ số tắt dần (</a:t>
                </a:r>
                <a14:m>
                  <m:oMath xmlns:m="http://schemas.openxmlformats.org/officeDocument/2006/math">
                    <m:r>
                      <a:rPr lang="en-US" sz="2000" i="1">
                        <a:latin typeface="Cambria Math" panose="02040503050406030204" pitchFamily="18" charset="0"/>
                        <a:ea typeface="Cambria Math" panose="02040503050406030204" pitchFamily="18" charset="0"/>
                      </a:rPr>
                      <m:t>𝜉</m:t>
                    </m:r>
                  </m:oMath>
                </a14:m>
                <a:r>
                  <a:rPr lang="en-US" sz="2000"/>
                  <a:t> = 0.707)</a:t>
                </a:r>
              </a:p>
            </p:txBody>
          </p:sp>
        </mc:Choice>
        <mc:Fallback xmlns="">
          <p:sp>
            <p:nvSpPr>
              <p:cNvPr id="18" name="TextBox 26">
                <a:extLst>
                  <a:ext uri="{FF2B5EF4-FFF2-40B4-BE49-F238E27FC236}">
                    <a16:creationId xmlns:a16="http://schemas.microsoft.com/office/drawing/2014/main" id="{6884E17C-4076-467E-C371-DD7B1561229C}"/>
                  </a:ext>
                </a:extLst>
              </p:cNvPr>
              <p:cNvSpPr txBox="1">
                <a:spLocks noRot="1" noChangeAspect="1" noMove="1" noResize="1" noEditPoints="1" noAdjustHandles="1" noChangeArrowheads="1" noChangeShapeType="1" noTextEdit="1"/>
              </p:cNvSpPr>
              <p:nvPr/>
            </p:nvSpPr>
            <p:spPr>
              <a:xfrm>
                <a:off x="6481025" y="937280"/>
                <a:ext cx="6271935" cy="1323439"/>
              </a:xfrm>
              <a:prstGeom prst="rect">
                <a:avLst/>
              </a:prstGeom>
              <a:blipFill>
                <a:blip r:embed="rId6"/>
                <a:stretch>
                  <a:fillRect l="-972" t="-2765" b="-7373"/>
                </a:stretch>
              </a:blipFill>
            </p:spPr>
            <p:txBody>
              <a:bodyPr/>
              <a:lstStyle/>
              <a:p>
                <a:r>
                  <a:rPr lang="en-US">
                    <a:noFill/>
                  </a:rPr>
                  <a:t> </a:t>
                </a:r>
              </a:p>
            </p:txBody>
          </p:sp>
        </mc:Fallback>
      </mc:AlternateContent>
      <p:sp>
        <p:nvSpPr>
          <p:cNvPr id="19" name="Hộp Văn bản 18">
            <a:extLst>
              <a:ext uri="{FF2B5EF4-FFF2-40B4-BE49-F238E27FC236}">
                <a16:creationId xmlns:a16="http://schemas.microsoft.com/office/drawing/2014/main" id="{CAFD616B-A322-C8B3-D0A8-AA9842A2D69A}"/>
              </a:ext>
            </a:extLst>
          </p:cNvPr>
          <p:cNvSpPr txBox="1"/>
          <p:nvPr/>
        </p:nvSpPr>
        <p:spPr>
          <a:xfrm>
            <a:off x="6626942" y="3786341"/>
            <a:ext cx="5059138" cy="2308324"/>
          </a:xfrm>
          <a:prstGeom prst="rect">
            <a:avLst/>
          </a:prstGeom>
          <a:noFill/>
          <a:ln w="19050">
            <a:solidFill>
              <a:schemeClr val="accent1">
                <a:lumMod val="60000"/>
                <a:lumOff val="40000"/>
              </a:schemeClr>
            </a:solidFill>
          </a:ln>
        </p:spPr>
        <p:txBody>
          <a:bodyPr wrap="square" rtlCol="0">
            <a:spAutoFit/>
          </a:bodyPr>
          <a:lstStyle/>
          <a:p>
            <a:pPr>
              <a:buNone/>
            </a:pPr>
            <a:r>
              <a:rPr lang="en-US" sz="1800" b="0" i="0">
                <a:effectLst/>
                <a:latin typeface="Menlo"/>
              </a:rPr>
              <a:t>Zeta = 0.707; </a:t>
            </a:r>
            <a:r>
              <a:rPr lang="en-US" sz="1800" b="0" i="0">
                <a:solidFill>
                  <a:srgbClr val="008013"/>
                </a:solidFill>
                <a:effectLst/>
                <a:latin typeface="Menlo"/>
              </a:rPr>
              <a:t>% He so tat dan</a:t>
            </a:r>
            <a:endParaRPr lang="en-US" sz="1800" b="0" i="0">
              <a:effectLst/>
              <a:latin typeface="Menlo"/>
            </a:endParaRPr>
          </a:p>
          <a:p>
            <a:pPr>
              <a:buNone/>
            </a:pPr>
            <a:r>
              <a:rPr lang="en-US" sz="1800" b="0" i="0">
                <a:effectLst/>
                <a:latin typeface="Menlo"/>
              </a:rPr>
              <a:t>omega = 100;</a:t>
            </a:r>
            <a:r>
              <a:rPr lang="en-US" sz="1800" b="0" i="0">
                <a:solidFill>
                  <a:srgbClr val="008013"/>
                </a:solidFill>
                <a:effectLst/>
                <a:latin typeface="Menlo"/>
              </a:rPr>
              <a:t>%rad/s ung voi tan so 15.9Hz </a:t>
            </a:r>
            <a:endParaRPr lang="en-US" sz="1800" b="0" i="0">
              <a:effectLst/>
              <a:latin typeface="Menlo"/>
            </a:endParaRPr>
          </a:p>
          <a:p>
            <a:pPr>
              <a:buNone/>
            </a:pPr>
            <a:r>
              <a:rPr lang="en-US" sz="1800" b="0" i="0">
                <a:effectLst/>
                <a:latin typeface="Menlo"/>
              </a:rPr>
              <a:t>Kp_v=2*Vout*(Zeta*omega*R*C-1)/(Vin*R);</a:t>
            </a:r>
          </a:p>
          <a:p>
            <a:pPr>
              <a:buNone/>
            </a:pPr>
            <a:r>
              <a:rPr lang="en-US" sz="1800" b="0" i="0">
                <a:effectLst/>
                <a:latin typeface="Menlo"/>
              </a:rPr>
              <a:t>Ki_v=omega*omega*Vout*C/Vin;</a:t>
            </a:r>
          </a:p>
          <a:p>
            <a:pPr>
              <a:buNone/>
            </a:pPr>
            <a:r>
              <a:rPr lang="en-US" sz="1800" b="0" i="0">
                <a:effectLst/>
                <a:latin typeface="Menlo"/>
              </a:rPr>
              <a:t>numcv=[Kp_v Ki_v];</a:t>
            </a:r>
          </a:p>
          <a:p>
            <a:pPr>
              <a:buNone/>
            </a:pPr>
            <a:r>
              <a:rPr lang="en-US" sz="1800" b="0" i="0">
                <a:effectLst/>
                <a:latin typeface="Menlo"/>
              </a:rPr>
              <a:t>dencv=[1 0]; </a:t>
            </a:r>
          </a:p>
          <a:p>
            <a:r>
              <a:rPr lang="en-US" sz="1800" b="0" i="0">
                <a:effectLst/>
                <a:latin typeface="Menlo"/>
              </a:rPr>
              <a:t>Gpi_v=tf(numcv,dencv);</a:t>
            </a:r>
          </a:p>
          <a:p>
            <a:endParaRPr lang="en-US"/>
          </a:p>
        </p:txBody>
      </p:sp>
      <mc:AlternateContent xmlns:mc="http://schemas.openxmlformats.org/markup-compatibility/2006" xmlns:a14="http://schemas.microsoft.com/office/drawing/2010/main">
        <mc:Choice Requires="a14">
          <p:sp>
            <p:nvSpPr>
              <p:cNvPr id="20" name="TextBox 33">
                <a:extLst>
                  <a:ext uri="{FF2B5EF4-FFF2-40B4-BE49-F238E27FC236}">
                    <a16:creationId xmlns:a16="http://schemas.microsoft.com/office/drawing/2014/main" id="{2FE7D4D4-6F4C-17E1-13BD-432A792E8FDD}"/>
                  </a:ext>
                </a:extLst>
              </p:cNvPr>
              <p:cNvSpPr txBox="1"/>
              <p:nvPr/>
            </p:nvSpPr>
            <p:spPr>
              <a:xfrm>
                <a:off x="6626942" y="2372999"/>
                <a:ext cx="4843592" cy="1086644"/>
              </a:xfrm>
              <a:prstGeom prst="rect">
                <a:avLst/>
              </a:prstGeom>
              <a:noFill/>
              <a:ln w="19050">
                <a:solidFill>
                  <a:srgbClr val="FF0000"/>
                </a:solidFill>
              </a:ln>
            </p:spPr>
            <p:txBody>
              <a:bodyPr wrap="square" rtlCol="0">
                <a:spAutoFit/>
              </a:bodyPr>
              <a:lstStyle/>
              <a:p>
                <a:r>
                  <a:rPr lang="en-US" sz="2000"/>
                  <a:t>Thay số ta có:</a:t>
                </a:r>
              </a:p>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b="0" i="1" smtClean="0">
                                      <a:latin typeface="Cambria Math" panose="02040503050406030204" pitchFamily="18" charset="0"/>
                                    </a:rPr>
                                    <m:t>𝑝</m:t>
                                  </m:r>
                                </m:sub>
                              </m:sSub>
                              <m:r>
                                <a:rPr lang="en-US" sz="2000" i="1">
                                  <a:latin typeface="Cambria Math" panose="02040503050406030204" pitchFamily="18" charset="0"/>
                                  <a:ea typeface="Cambria Math" panose="02040503050406030204" pitchFamily="18" charset="0"/>
                                </a:rPr>
                                <m:t>=0.1335</m:t>
                              </m:r>
                            </m:e>
                            <m:e>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i="1">
                                      <a:latin typeface="Cambria Math" panose="02040503050406030204" pitchFamily="18" charset="0"/>
                                      <a:ea typeface="Cambria Math" panose="02040503050406030204" pitchFamily="18" charset="0"/>
                                    </a:rPr>
                                    <m:t>𝑖</m:t>
                                  </m:r>
                                </m:sub>
                              </m:sSub>
                              <m:r>
                                <a:rPr lang="en-US" sz="2000" b="0" i="1" smtClean="0">
                                  <a:latin typeface="Cambria Math" panose="02040503050406030204" pitchFamily="18" charset="0"/>
                                </a:rPr>
                                <m:t>=</m:t>
                              </m:r>
                              <m:r>
                                <a:rPr lang="en-US" sz="2000" i="1">
                                  <a:latin typeface="Cambria Math" panose="02040503050406030204" pitchFamily="18" charset="0"/>
                                </a:rPr>
                                <m:t>10.5806</m:t>
                              </m:r>
                            </m:e>
                          </m:eqArr>
                        </m:e>
                      </m:d>
                    </m:oMath>
                  </m:oMathPara>
                </a14:m>
                <a:endParaRPr lang="en-US" sz="2000"/>
              </a:p>
            </p:txBody>
          </p:sp>
        </mc:Choice>
        <mc:Fallback xmlns="">
          <p:sp>
            <p:nvSpPr>
              <p:cNvPr id="20" name="TextBox 33">
                <a:extLst>
                  <a:ext uri="{FF2B5EF4-FFF2-40B4-BE49-F238E27FC236}">
                    <a16:creationId xmlns:a16="http://schemas.microsoft.com/office/drawing/2014/main" id="{2FE7D4D4-6F4C-17E1-13BD-432A792E8FDD}"/>
                  </a:ext>
                </a:extLst>
              </p:cNvPr>
              <p:cNvSpPr txBox="1">
                <a:spLocks noRot="1" noChangeAspect="1" noMove="1" noResize="1" noEditPoints="1" noAdjustHandles="1" noChangeArrowheads="1" noChangeShapeType="1" noTextEdit="1"/>
              </p:cNvSpPr>
              <p:nvPr/>
            </p:nvSpPr>
            <p:spPr>
              <a:xfrm>
                <a:off x="6626942" y="2372999"/>
                <a:ext cx="4843592" cy="1086644"/>
              </a:xfrm>
              <a:prstGeom prst="rect">
                <a:avLst/>
              </a:prstGeom>
              <a:blipFill>
                <a:blip r:embed="rId7"/>
                <a:stretch>
                  <a:fillRect l="-1128" t="-2198"/>
                </a:stretch>
              </a:blipFill>
              <a:ln w="1905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3459880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1CC3-67ED-EF94-C658-480800F22D9E}"/>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FB0A3229-1CE3-231F-4860-1E0EEF7215F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27</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6E5A6FC8-9FE9-513A-F04C-CE2EDCE93AC0}"/>
              </a:ext>
            </a:extLst>
          </p:cNvPr>
          <p:cNvSpPr>
            <a:spLocks noGrp="1"/>
          </p:cNvSpPr>
          <p:nvPr>
            <p:ph type="title"/>
          </p:nvPr>
        </p:nvSpPr>
        <p:spPr/>
        <p:txBody>
          <a:bodyPr>
            <a:normAutofit fontScale="90000"/>
          </a:bodyPr>
          <a:lstStyle/>
          <a:p>
            <a:r>
              <a:rPr lang="en-US"/>
              <a:t>3. Mô hình hóa và tổng hợp bộ điều khiển PI</a:t>
            </a:r>
          </a:p>
        </p:txBody>
      </p:sp>
      <p:pic>
        <p:nvPicPr>
          <p:cNvPr id="3" name="Hình ảnh 2">
            <a:extLst>
              <a:ext uri="{FF2B5EF4-FFF2-40B4-BE49-F238E27FC236}">
                <a16:creationId xmlns:a16="http://schemas.microsoft.com/office/drawing/2014/main" id="{E065F350-E8A7-D595-FD84-943488E615E5}"/>
              </a:ext>
            </a:extLst>
          </p:cNvPr>
          <p:cNvPicPr>
            <a:picLocks noChangeAspect="1"/>
          </p:cNvPicPr>
          <p:nvPr/>
        </p:nvPicPr>
        <p:blipFill>
          <a:blip r:embed="rId2"/>
          <a:srcRect l="9833" t="3247" r="8917" b="4273"/>
          <a:stretch/>
        </p:blipFill>
        <p:spPr>
          <a:xfrm>
            <a:off x="-1" y="877485"/>
            <a:ext cx="9358009" cy="5202301"/>
          </a:xfrm>
          <a:prstGeom prst="rect">
            <a:avLst/>
          </a:prstGeom>
        </p:spPr>
      </p:pic>
      <mc:AlternateContent xmlns:mc="http://schemas.openxmlformats.org/markup-compatibility/2006" xmlns:a14="http://schemas.microsoft.com/office/drawing/2010/main">
        <mc:Choice Requires="a14">
          <p:sp>
            <p:nvSpPr>
              <p:cNvPr id="4" name="Rectangle 12">
                <a:extLst>
                  <a:ext uri="{FF2B5EF4-FFF2-40B4-BE49-F238E27FC236}">
                    <a16:creationId xmlns:a16="http://schemas.microsoft.com/office/drawing/2014/main" id="{47417781-5500-501B-7C6C-A566A9704F6E}"/>
                  </a:ext>
                </a:extLst>
              </p:cNvPr>
              <p:cNvSpPr/>
              <p:nvPr/>
            </p:nvSpPr>
            <p:spPr>
              <a:xfrm>
                <a:off x="9591472" y="1793572"/>
                <a:ext cx="2261792" cy="357141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solidFill>
                      <a:schemeClr val="tx1"/>
                    </a:solidFill>
                    <a:latin typeface="Times New Roman" panose="02020603050405020304" pitchFamily="18" charset="0"/>
                    <a:cs typeface="Times New Roman" panose="02020603050405020304" pitchFamily="18" charset="0"/>
                  </a:rPr>
                  <a:t>Nhận xét:</a:t>
                </a:r>
              </a:p>
              <a:p>
                <a:r>
                  <a:rPr lang="en-US" sz="2000">
                    <a:solidFill>
                      <a:schemeClr val="tx1"/>
                    </a:solidFill>
                    <a:latin typeface="Times New Roman" panose="02020603050405020304" pitchFamily="18" charset="0"/>
                    <a:cs typeface="Times New Roman" panose="02020603050405020304" pitchFamily="18" charset="0"/>
                  </a:rPr>
                  <a:t>- Khi có bộ điều khiển điện áp, độ dữ trữ pha đã giảm từ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0" smtClean="0">
                            <a:solidFill>
                              <a:schemeClr val="tx1"/>
                            </a:solidFill>
                            <a:latin typeface="Cambria Math" panose="02040503050406030204" pitchFamily="18" charset="0"/>
                          </a:rPr>
                          <m:t>90</m:t>
                        </m:r>
                        <m:r>
                          <a:rPr lang="en-US" sz="2000" b="0" i="1" smtClean="0">
                            <a:solidFill>
                              <a:schemeClr val="tx1"/>
                            </a:solidFill>
                            <a:latin typeface="Cambria Math" panose="02040503050406030204" pitchFamily="18" charset="0"/>
                          </a:rPr>
                          <m:t>.9</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 xuống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67.1</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Hệ kín ổn định.</a:t>
                </a:r>
              </a:p>
              <a:p>
                <a:r>
                  <a:rPr lang="en-US" sz="2000">
                    <a:solidFill>
                      <a:schemeClr val="tx1"/>
                    </a:solidFill>
                    <a:latin typeface="Times New Roman" panose="02020603050405020304" pitchFamily="18" charset="0"/>
                    <a:cs typeface="Times New Roman" panose="02020603050405020304" pitchFamily="18" charset="0"/>
                  </a:rPr>
                  <a:t>- Tần số cắt ở vùng tần số thấp đảm bảo cho việc hạ bậc hàm truyền. </a:t>
                </a:r>
              </a:p>
            </p:txBody>
          </p:sp>
        </mc:Choice>
        <mc:Fallback xmlns="">
          <p:sp>
            <p:nvSpPr>
              <p:cNvPr id="4" name="Rectangle 12">
                <a:extLst>
                  <a:ext uri="{FF2B5EF4-FFF2-40B4-BE49-F238E27FC236}">
                    <a16:creationId xmlns:a16="http://schemas.microsoft.com/office/drawing/2014/main" id="{47417781-5500-501B-7C6C-A566A9704F6E}"/>
                  </a:ext>
                </a:extLst>
              </p:cNvPr>
              <p:cNvSpPr>
                <a:spLocks noRot="1" noChangeAspect="1" noMove="1" noResize="1" noEditPoints="1" noAdjustHandles="1" noChangeArrowheads="1" noChangeShapeType="1" noTextEdit="1"/>
              </p:cNvSpPr>
              <p:nvPr/>
            </p:nvSpPr>
            <p:spPr>
              <a:xfrm>
                <a:off x="9591472" y="1793572"/>
                <a:ext cx="2261792" cy="3571415"/>
              </a:xfrm>
              <a:prstGeom prst="rect">
                <a:avLst/>
              </a:prstGeom>
              <a:blipFill>
                <a:blip r:embed="rId3"/>
                <a:stretch>
                  <a:fillRect l="-2406" r="-5080"/>
                </a:stretch>
              </a:blipFill>
              <a:ln>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209245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A8B2-0B30-ECB0-3906-2F3D6D281E02}"/>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A17B372E-96BD-5800-0D92-ABC6CC600A29}"/>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28</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BF74CA48-7854-0ED4-E421-6A3E17C2F618}"/>
              </a:ext>
            </a:extLst>
          </p:cNvPr>
          <p:cNvSpPr>
            <a:spLocks noGrp="1"/>
          </p:cNvSpPr>
          <p:nvPr>
            <p:ph type="title"/>
          </p:nvPr>
        </p:nvSpPr>
        <p:spPr/>
        <p:txBody>
          <a:bodyPr>
            <a:normAutofit fontScale="90000"/>
          </a:bodyPr>
          <a:lstStyle/>
          <a:p>
            <a:r>
              <a:rPr lang="en-US"/>
              <a:t>3. Mô hình hóa và tổng hợp bộ điều khiển PI</a:t>
            </a:r>
          </a:p>
        </p:txBody>
      </p:sp>
      <p:sp>
        <p:nvSpPr>
          <p:cNvPr id="2" name="TextBox 18">
            <a:extLst>
              <a:ext uri="{FF2B5EF4-FFF2-40B4-BE49-F238E27FC236}">
                <a16:creationId xmlns:a16="http://schemas.microsoft.com/office/drawing/2014/main" id="{6657CBFF-4C91-4CB8-2F38-A7C2E928CFBE}"/>
              </a:ext>
            </a:extLst>
          </p:cNvPr>
          <p:cNvSpPr txBox="1"/>
          <p:nvPr/>
        </p:nvSpPr>
        <p:spPr>
          <a:xfrm>
            <a:off x="103434" y="894126"/>
            <a:ext cx="10649139"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a:t>Thiết kế mạch vòng điện áp: Bộ bù loại 2 như trong bài giảng</a:t>
            </a:r>
          </a:p>
        </p:txBody>
      </p:sp>
      <mc:AlternateContent xmlns:mc="http://schemas.openxmlformats.org/markup-compatibility/2006" xmlns:a14="http://schemas.microsoft.com/office/drawing/2010/main">
        <mc:Choice Requires="a14">
          <p:sp>
            <p:nvSpPr>
              <p:cNvPr id="6" name="TextBox 21">
                <a:extLst>
                  <a:ext uri="{FF2B5EF4-FFF2-40B4-BE49-F238E27FC236}">
                    <a16:creationId xmlns:a16="http://schemas.microsoft.com/office/drawing/2014/main" id="{5F43F049-2D51-0249-9F1B-A6CA1FC106A8}"/>
                  </a:ext>
                </a:extLst>
              </p:cNvPr>
              <p:cNvSpPr txBox="1"/>
              <p:nvPr/>
            </p:nvSpPr>
            <p:spPr>
              <a:xfrm>
                <a:off x="103434" y="1294236"/>
                <a:ext cx="11514528" cy="400110"/>
              </a:xfrm>
              <a:prstGeom prst="rect">
                <a:avLst/>
              </a:prstGeom>
              <a:noFill/>
            </p:spPr>
            <p:txBody>
              <a:bodyPr wrap="square" rtlCol="0">
                <a:spAutoFit/>
              </a:bodyPr>
              <a:lstStyle/>
              <a:p>
                <a:r>
                  <a:rPr lang="en-US" sz="2000"/>
                  <a:t>Lựa chọn bộ bù loại II cho mạch vòng điều chỉnh điện áp, để hệ hở có PM =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45</m:t>
                        </m:r>
                      </m:e>
                      <m:sup>
                        <m:r>
                          <a:rPr lang="en-US" sz="2000" b="0" i="1" smtClean="0">
                            <a:solidFill>
                              <a:schemeClr val="tx1"/>
                            </a:solidFill>
                            <a:latin typeface="Cambria Math" panose="02040503050406030204" pitchFamily="18" charset="0"/>
                          </a:rPr>
                          <m:t>∘</m:t>
                        </m:r>
                      </m:sup>
                    </m:sSup>
                  </m:oMath>
                </a14:m>
                <a:r>
                  <a:rPr lang="en-US" sz="2000"/>
                  <a:t>, tần số cắt fcv = 15Hz</a:t>
                </a:r>
              </a:p>
            </p:txBody>
          </p:sp>
        </mc:Choice>
        <mc:Fallback xmlns="">
          <p:sp>
            <p:nvSpPr>
              <p:cNvPr id="6" name="TextBox 21">
                <a:extLst>
                  <a:ext uri="{FF2B5EF4-FFF2-40B4-BE49-F238E27FC236}">
                    <a16:creationId xmlns:a16="http://schemas.microsoft.com/office/drawing/2014/main" id="{5F43F049-2D51-0249-9F1B-A6CA1FC106A8}"/>
                  </a:ext>
                </a:extLst>
              </p:cNvPr>
              <p:cNvSpPr txBox="1">
                <a:spLocks noRot="1" noChangeAspect="1" noMove="1" noResize="1" noEditPoints="1" noAdjustHandles="1" noChangeArrowheads="1" noChangeShapeType="1" noTextEdit="1"/>
              </p:cNvSpPr>
              <p:nvPr/>
            </p:nvSpPr>
            <p:spPr>
              <a:xfrm>
                <a:off x="103434" y="1294236"/>
                <a:ext cx="11514528" cy="400110"/>
              </a:xfrm>
              <a:prstGeom prst="rect">
                <a:avLst/>
              </a:prstGeom>
              <a:blipFill>
                <a:blip r:embed="rId2"/>
                <a:stretch>
                  <a:fillRect l="-582" t="-7576" b="-25758"/>
                </a:stretch>
              </a:blipFill>
            </p:spPr>
            <p:txBody>
              <a:bodyPr/>
              <a:lstStyle/>
              <a:p>
                <a:r>
                  <a:rPr lang="en-US">
                    <a:noFill/>
                  </a:rPr>
                  <a:t> </a:t>
                </a:r>
              </a:p>
            </p:txBody>
          </p:sp>
        </mc:Fallback>
      </mc:AlternateContent>
      <p:sp>
        <p:nvSpPr>
          <p:cNvPr id="37" name="Hộp Văn bản 36">
            <a:extLst>
              <a:ext uri="{FF2B5EF4-FFF2-40B4-BE49-F238E27FC236}">
                <a16:creationId xmlns:a16="http://schemas.microsoft.com/office/drawing/2014/main" id="{9044AC82-F06B-DA83-70A8-37A05B6F9495}"/>
              </a:ext>
            </a:extLst>
          </p:cNvPr>
          <p:cNvSpPr txBox="1"/>
          <p:nvPr/>
        </p:nvSpPr>
        <p:spPr>
          <a:xfrm>
            <a:off x="443902" y="1623704"/>
            <a:ext cx="6861570" cy="4939814"/>
          </a:xfrm>
          <a:prstGeom prst="rect">
            <a:avLst/>
          </a:prstGeom>
          <a:noFill/>
        </p:spPr>
        <p:txBody>
          <a:bodyPr wrap="square" rtlCol="0">
            <a:spAutoFit/>
          </a:bodyPr>
          <a:lstStyle/>
          <a:p>
            <a:pPr>
              <a:buNone/>
            </a:pPr>
            <a:r>
              <a:rPr lang="en-US" sz="1500" b="0" i="0">
                <a:solidFill>
                  <a:srgbClr val="008013"/>
                </a:solidFill>
                <a:effectLst/>
                <a:latin typeface="Menlo"/>
              </a:rPr>
              <a:t>%Xac dinh bo bu loai 2 cho mach vong dien ap</a:t>
            </a:r>
            <a:endParaRPr lang="en-US" sz="1500" b="0" i="0">
              <a:effectLst/>
              <a:latin typeface="Menlo"/>
            </a:endParaRPr>
          </a:p>
          <a:p>
            <a:pPr>
              <a:buNone/>
            </a:pPr>
            <a:r>
              <a:rPr lang="en-US" sz="1500" b="0" i="0">
                <a:effectLst/>
                <a:latin typeface="Menlo"/>
              </a:rPr>
              <a:t>fc_v=15; </a:t>
            </a:r>
            <a:r>
              <a:rPr lang="en-US" sz="1500" b="0" i="0">
                <a:solidFill>
                  <a:srgbClr val="008013"/>
                </a:solidFill>
                <a:effectLst/>
                <a:latin typeface="Menlo"/>
              </a:rPr>
              <a:t>%tan so cat 15Hz</a:t>
            </a:r>
            <a:endParaRPr lang="en-US" sz="1500" b="0" i="0">
              <a:effectLst/>
              <a:latin typeface="Menlo"/>
            </a:endParaRPr>
          </a:p>
          <a:p>
            <a:pPr>
              <a:buNone/>
            </a:pPr>
            <a:r>
              <a:rPr lang="en-US" sz="1500" b="0" i="0">
                <a:effectLst/>
                <a:latin typeface="Menlo"/>
              </a:rPr>
              <a:t>PM_v=45;</a:t>
            </a:r>
            <a:r>
              <a:rPr lang="en-US" sz="1500" b="0" i="0">
                <a:solidFill>
                  <a:srgbClr val="008013"/>
                </a:solidFill>
                <a:effectLst/>
                <a:latin typeface="Menlo"/>
              </a:rPr>
              <a:t>%du tru pha la 45 degree</a:t>
            </a:r>
            <a:endParaRPr lang="en-US" sz="1500" b="0" i="0">
              <a:effectLst/>
              <a:latin typeface="Menlo"/>
            </a:endParaRPr>
          </a:p>
          <a:p>
            <a:pPr>
              <a:buNone/>
            </a:pPr>
            <a:r>
              <a:rPr lang="en-US" sz="1500" b="0" i="0">
                <a:effectLst/>
                <a:latin typeface="Menlo"/>
              </a:rPr>
              <a:t>[mag1_v,phase1_v]=bode(Gvin,2*pi*15); </a:t>
            </a:r>
            <a:r>
              <a:rPr lang="en-US" sz="1500" b="0" i="0">
                <a:solidFill>
                  <a:srgbClr val="008013"/>
                </a:solidFill>
                <a:effectLst/>
                <a:latin typeface="Menlo"/>
              </a:rPr>
              <a:t>%bien do va goc pha cua ham truyen Gvin tai 15Hz</a:t>
            </a:r>
            <a:endParaRPr lang="en-US" sz="1500" b="0" i="0">
              <a:effectLst/>
              <a:latin typeface="Menlo"/>
            </a:endParaRPr>
          </a:p>
          <a:p>
            <a:pPr>
              <a:buNone/>
            </a:pPr>
            <a:r>
              <a:rPr lang="en-US" sz="1500" b="0" i="0">
                <a:effectLst/>
                <a:latin typeface="Menlo"/>
              </a:rPr>
              <a:t>theta_v=-90+PM_v-(phase1_v);</a:t>
            </a:r>
            <a:r>
              <a:rPr lang="en-US" sz="1500" b="0" i="0">
                <a:solidFill>
                  <a:srgbClr val="008013"/>
                </a:solidFill>
                <a:effectLst/>
                <a:latin typeface="Menlo"/>
              </a:rPr>
              <a:t>%tinh pha bo bu </a:t>
            </a:r>
            <a:endParaRPr lang="en-US" sz="1500" b="0" i="0">
              <a:effectLst/>
              <a:latin typeface="Menlo"/>
            </a:endParaRPr>
          </a:p>
          <a:p>
            <a:pPr>
              <a:buNone/>
            </a:pPr>
            <a:r>
              <a:rPr lang="en-US" sz="1500" b="0" i="0">
                <a:effectLst/>
                <a:latin typeface="Menlo"/>
              </a:rPr>
              <a:t>fz_v=fc_v*sqrt((1-sin(theta_v*pi/180))/(1+sin(theta_v*pi/180)));</a:t>
            </a:r>
          </a:p>
          <a:p>
            <a:pPr>
              <a:buNone/>
            </a:pPr>
            <a:r>
              <a:rPr lang="en-US" sz="1500" b="0" i="0">
                <a:effectLst/>
                <a:latin typeface="Menlo"/>
              </a:rPr>
              <a:t>fp_v=fc_v*sqrt((1+sin(theta_v*pi/180))/(1-sin(theta_v*pi/180)));</a:t>
            </a:r>
          </a:p>
          <a:p>
            <a:pPr>
              <a:buNone/>
            </a:pPr>
            <a:r>
              <a:rPr lang="en-US" sz="1500" b="0" i="0">
                <a:solidFill>
                  <a:srgbClr val="008013"/>
                </a:solidFill>
                <a:effectLst/>
                <a:latin typeface="Menlo"/>
              </a:rPr>
              <a:t>%tinh toan bo bu loai 2</a:t>
            </a:r>
            <a:endParaRPr lang="en-US" sz="1500" b="0" i="0">
              <a:effectLst/>
              <a:latin typeface="Menlo"/>
            </a:endParaRPr>
          </a:p>
          <a:p>
            <a:pPr>
              <a:buNone/>
            </a:pPr>
            <a:r>
              <a:rPr lang="en-US" sz="1500" b="0" i="0">
                <a:effectLst/>
                <a:latin typeface="Menlo"/>
              </a:rPr>
              <a:t>numcv_1=[1/(2*pi*fz_v) 1];</a:t>
            </a:r>
          </a:p>
          <a:p>
            <a:pPr>
              <a:buNone/>
            </a:pPr>
            <a:r>
              <a:rPr lang="en-US" sz="1500" b="0" i="0">
                <a:effectLst/>
                <a:latin typeface="Menlo"/>
              </a:rPr>
              <a:t>dencv_1=[1/(2*pi*fp_v) 1];</a:t>
            </a:r>
          </a:p>
          <a:p>
            <a:pPr>
              <a:buNone/>
            </a:pPr>
            <a:r>
              <a:rPr lang="en-US" sz="1500" b="0" i="0">
                <a:effectLst/>
                <a:latin typeface="Menlo"/>
              </a:rPr>
              <a:t>tp=tf([0 1],[1 0]);</a:t>
            </a:r>
            <a:r>
              <a:rPr lang="en-US" sz="1500" b="0" i="0">
                <a:solidFill>
                  <a:srgbClr val="008013"/>
                </a:solidFill>
                <a:effectLst/>
                <a:latin typeface="Menlo"/>
              </a:rPr>
              <a:t>%khau tich phan</a:t>
            </a:r>
            <a:endParaRPr lang="en-US" sz="1500" b="0" i="0">
              <a:effectLst/>
              <a:latin typeface="Menlo"/>
            </a:endParaRPr>
          </a:p>
          <a:p>
            <a:pPr>
              <a:buNone/>
            </a:pPr>
            <a:r>
              <a:rPr lang="en-US" sz="1500" b="0" i="0">
                <a:effectLst/>
                <a:latin typeface="Menlo"/>
              </a:rPr>
              <a:t>Gc1_v=tf(numcv_1,dencv_1)*tp;</a:t>
            </a:r>
          </a:p>
          <a:p>
            <a:pPr>
              <a:buNone/>
            </a:pPr>
            <a:r>
              <a:rPr lang="en-US" sz="1500" b="0" i="0">
                <a:effectLst/>
                <a:latin typeface="Menlo"/>
              </a:rPr>
              <a:t>numcv_2=[0 1/(2*pi*fz_v) 1];</a:t>
            </a:r>
          </a:p>
          <a:p>
            <a:pPr>
              <a:buNone/>
            </a:pPr>
            <a:r>
              <a:rPr lang="en-US" sz="1500" b="0" i="0">
                <a:effectLst/>
                <a:latin typeface="Menlo"/>
              </a:rPr>
              <a:t>dencv_2=[1/(2*pi*fp_v) 1 0];</a:t>
            </a:r>
          </a:p>
          <a:p>
            <a:pPr>
              <a:buNone/>
            </a:pPr>
            <a:r>
              <a:rPr lang="en-US" sz="1500" b="0" i="0">
                <a:effectLst/>
                <a:latin typeface="Menlo"/>
              </a:rPr>
              <a:t>[mag2_v,phase2_v]=bode(Gc1_v,2*pi*fc_v); </a:t>
            </a:r>
          </a:p>
          <a:p>
            <a:pPr>
              <a:buNone/>
            </a:pPr>
            <a:r>
              <a:rPr lang="en-US" sz="1500" b="0" i="0">
                <a:effectLst/>
                <a:latin typeface="Menlo"/>
              </a:rPr>
              <a:t>kc_v=1/(mag1_v*mag2_v);</a:t>
            </a:r>
          </a:p>
          <a:p>
            <a:pPr>
              <a:buNone/>
            </a:pPr>
            <a:r>
              <a:rPr lang="en-US" sz="1500" b="0" i="0">
                <a:effectLst/>
                <a:latin typeface="Menlo"/>
              </a:rPr>
              <a:t>numcv=kc_v*numcv_2;</a:t>
            </a:r>
          </a:p>
          <a:p>
            <a:pPr>
              <a:buNone/>
            </a:pPr>
            <a:r>
              <a:rPr lang="en-US" sz="1500" b="0" i="0">
                <a:effectLst/>
                <a:latin typeface="Menlo"/>
              </a:rPr>
              <a:t>dencv=dencv_2;</a:t>
            </a:r>
          </a:p>
          <a:p>
            <a:r>
              <a:rPr lang="en-US" sz="1500" b="0" i="0">
                <a:effectLst/>
                <a:latin typeface="Menlo"/>
              </a:rPr>
              <a:t>Gpi_v=tf(numcv,dencv);</a:t>
            </a:r>
          </a:p>
          <a:p>
            <a:endParaRPr lang="en-US" sz="1500"/>
          </a:p>
        </p:txBody>
      </p:sp>
      <p:pic>
        <p:nvPicPr>
          <p:cNvPr id="39" name="Hình ảnh 38" descr="Ảnh có chứa văn bản, ảnh chụp màn hình, phần mềm, Phông chữ&#10;&#10;Nội dung do AI tạo ra có thể không chính xác.">
            <a:extLst>
              <a:ext uri="{FF2B5EF4-FFF2-40B4-BE49-F238E27FC236}">
                <a16:creationId xmlns:a16="http://schemas.microsoft.com/office/drawing/2014/main" id="{856C6F93-BB78-5FB2-FCF3-F521CCAF3957}"/>
              </a:ext>
            </a:extLst>
          </p:cNvPr>
          <p:cNvPicPr>
            <a:picLocks noChangeAspect="1"/>
          </p:cNvPicPr>
          <p:nvPr/>
        </p:nvPicPr>
        <p:blipFill>
          <a:blip r:embed="rId3">
            <a:extLst>
              <a:ext uri="{28A0092B-C50C-407E-A947-70E740481C1C}">
                <a14:useLocalDpi xmlns:a14="http://schemas.microsoft.com/office/drawing/2010/main" val="0"/>
              </a:ext>
            </a:extLst>
          </a:blip>
          <a:srcRect l="61597" t="19733" r="17180" b="55132"/>
          <a:stretch/>
        </p:blipFill>
        <p:spPr>
          <a:xfrm>
            <a:off x="8165014" y="1785024"/>
            <a:ext cx="2587559" cy="1643976"/>
          </a:xfrm>
          <a:prstGeom prst="rect">
            <a:avLst/>
          </a:prstGeom>
        </p:spPr>
      </p:pic>
      <p:sp>
        <p:nvSpPr>
          <p:cNvPr id="42" name="Mũi tên: Phải 41">
            <a:extLst>
              <a:ext uri="{FF2B5EF4-FFF2-40B4-BE49-F238E27FC236}">
                <a16:creationId xmlns:a16="http://schemas.microsoft.com/office/drawing/2014/main" id="{0E598CC8-59CA-2401-8B29-95CB626ED8BD}"/>
              </a:ext>
            </a:extLst>
          </p:cNvPr>
          <p:cNvSpPr/>
          <p:nvPr/>
        </p:nvSpPr>
        <p:spPr>
          <a:xfrm>
            <a:off x="4621485" y="4455268"/>
            <a:ext cx="1613035" cy="400110"/>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Hình ảnh 3" descr="Ảnh có chứa văn bản, ảnh chụp màn hình, phần mềm, Biểu tượng máy tính&#10;&#10;Nội dung do AI tạo ra có thể không chính xác.">
            <a:extLst>
              <a:ext uri="{FF2B5EF4-FFF2-40B4-BE49-F238E27FC236}">
                <a16:creationId xmlns:a16="http://schemas.microsoft.com/office/drawing/2014/main" id="{23713CBF-75B8-D516-F80B-CAF134C4448A}"/>
              </a:ext>
            </a:extLst>
          </p:cNvPr>
          <p:cNvPicPr>
            <a:picLocks noChangeAspect="1"/>
          </p:cNvPicPr>
          <p:nvPr/>
        </p:nvPicPr>
        <p:blipFill>
          <a:blip r:embed="rId4">
            <a:extLst>
              <a:ext uri="{28A0092B-C50C-407E-A947-70E740481C1C}">
                <a14:useLocalDpi xmlns:a14="http://schemas.microsoft.com/office/drawing/2010/main" val="0"/>
              </a:ext>
            </a:extLst>
          </a:blip>
          <a:srcRect l="23457" t="75458" r="66170" b="11494"/>
          <a:stretch/>
        </p:blipFill>
        <p:spPr>
          <a:xfrm>
            <a:off x="7062282" y="3900246"/>
            <a:ext cx="2830749" cy="1910264"/>
          </a:xfrm>
          <a:prstGeom prst="rect">
            <a:avLst/>
          </a:prstGeom>
        </p:spPr>
      </p:pic>
    </p:spTree>
    <p:extLst>
      <p:ext uri="{BB962C8B-B14F-4D97-AF65-F5344CB8AC3E}">
        <p14:creationId xmlns:p14="http://schemas.microsoft.com/office/powerpoint/2010/main" val="1384936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827D4-523C-276F-D6A2-39951B42821C}"/>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4F52A787-092E-A60F-3840-EB04FE4AC701}"/>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29</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44902CC5-E7BC-93D8-28B2-8AD72E022ADB}"/>
              </a:ext>
            </a:extLst>
          </p:cNvPr>
          <p:cNvSpPr>
            <a:spLocks noGrp="1"/>
          </p:cNvSpPr>
          <p:nvPr>
            <p:ph type="title"/>
          </p:nvPr>
        </p:nvSpPr>
        <p:spPr/>
        <p:txBody>
          <a:bodyPr>
            <a:normAutofit fontScale="90000"/>
          </a:bodyPr>
          <a:lstStyle/>
          <a:p>
            <a:r>
              <a:rPr lang="en-US"/>
              <a:t>3. Mô hình hóa và tổng hợp bộ điều khiển PI</a:t>
            </a:r>
          </a:p>
        </p:txBody>
      </p:sp>
      <mc:AlternateContent xmlns:mc="http://schemas.openxmlformats.org/markup-compatibility/2006" xmlns:a14="http://schemas.microsoft.com/office/drawing/2010/main">
        <mc:Choice Requires="a14">
          <p:sp>
            <p:nvSpPr>
              <p:cNvPr id="4" name="Rectangle 12">
                <a:extLst>
                  <a:ext uri="{FF2B5EF4-FFF2-40B4-BE49-F238E27FC236}">
                    <a16:creationId xmlns:a16="http://schemas.microsoft.com/office/drawing/2014/main" id="{4516D8FA-8200-FF33-F641-EEF1F8E13300}"/>
                  </a:ext>
                </a:extLst>
              </p:cNvPr>
              <p:cNvSpPr/>
              <p:nvPr/>
            </p:nvSpPr>
            <p:spPr>
              <a:xfrm>
                <a:off x="9591472" y="1793572"/>
                <a:ext cx="2261792" cy="3571415"/>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solidFill>
                      <a:schemeClr val="tx1"/>
                    </a:solidFill>
                    <a:latin typeface="Times New Roman" panose="02020603050405020304" pitchFamily="18" charset="0"/>
                    <a:cs typeface="Times New Roman" panose="02020603050405020304" pitchFamily="18" charset="0"/>
                  </a:rPr>
                  <a:t>Nhận xét:</a:t>
                </a:r>
              </a:p>
              <a:p>
                <a:r>
                  <a:rPr lang="en-US" sz="2000">
                    <a:solidFill>
                      <a:schemeClr val="tx1"/>
                    </a:solidFill>
                    <a:latin typeface="Times New Roman" panose="02020603050405020304" pitchFamily="18" charset="0"/>
                    <a:cs typeface="Times New Roman" panose="02020603050405020304" pitchFamily="18" charset="0"/>
                  </a:rPr>
                  <a:t>- Khi có bộ điều khiển dòng điện, độ dữ trữ pha đã giảm từ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0" smtClean="0">
                            <a:solidFill>
                              <a:schemeClr val="tx1"/>
                            </a:solidFill>
                            <a:latin typeface="Cambria Math" panose="02040503050406030204" pitchFamily="18" charset="0"/>
                          </a:rPr>
                          <m:t>90.9</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 xuống </a:t>
                </a:r>
                <a14:m>
                  <m:oMath xmlns:m="http://schemas.openxmlformats.org/officeDocument/2006/math">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45</m:t>
                        </m:r>
                      </m:e>
                      <m:sup>
                        <m:r>
                          <a:rPr lang="en-US" sz="2000" b="0" i="1" smtClean="0">
                            <a:solidFill>
                              <a:schemeClr val="tx1"/>
                            </a:solidFill>
                            <a:latin typeface="Cambria Math" panose="02040503050406030204" pitchFamily="18" charset="0"/>
                          </a:rPr>
                          <m:t>∘</m:t>
                        </m:r>
                      </m:sup>
                    </m:sSup>
                  </m:oMath>
                </a14:m>
                <a:r>
                  <a:rPr lang="en-US" sz="2000">
                    <a:solidFill>
                      <a:schemeClr val="tx1"/>
                    </a:solidFill>
                    <a:latin typeface="Times New Roman" panose="02020603050405020304" pitchFamily="18" charset="0"/>
                    <a:cs typeface="Times New Roman" panose="02020603050405020304" pitchFamily="18" charset="0"/>
                  </a:rPr>
                  <a:t>.</a:t>
                </a:r>
              </a:p>
              <a:p>
                <a:r>
                  <a:rPr lang="en-US" sz="2000">
                    <a:solidFill>
                      <a:schemeClr val="tx1"/>
                    </a:solidFill>
                    <a:latin typeface="Times New Roman" panose="02020603050405020304" pitchFamily="18" charset="0"/>
                    <a:cs typeface="Times New Roman" panose="02020603050405020304" pitchFamily="18" charset="0"/>
                  </a:rPr>
                  <a:t>- Tần số cắt đúng với tính toán.</a:t>
                </a:r>
              </a:p>
            </p:txBody>
          </p:sp>
        </mc:Choice>
        <mc:Fallback xmlns="">
          <p:sp>
            <p:nvSpPr>
              <p:cNvPr id="4" name="Rectangle 12">
                <a:extLst>
                  <a:ext uri="{FF2B5EF4-FFF2-40B4-BE49-F238E27FC236}">
                    <a16:creationId xmlns:a16="http://schemas.microsoft.com/office/drawing/2014/main" id="{4516D8FA-8200-FF33-F641-EEF1F8E13300}"/>
                  </a:ext>
                </a:extLst>
              </p:cNvPr>
              <p:cNvSpPr>
                <a:spLocks noRot="1" noChangeAspect="1" noMove="1" noResize="1" noEditPoints="1" noAdjustHandles="1" noChangeArrowheads="1" noChangeShapeType="1" noTextEdit="1"/>
              </p:cNvSpPr>
              <p:nvPr/>
            </p:nvSpPr>
            <p:spPr>
              <a:xfrm>
                <a:off x="9591472" y="1793572"/>
                <a:ext cx="2261792" cy="3571415"/>
              </a:xfrm>
              <a:prstGeom prst="rect">
                <a:avLst/>
              </a:prstGeom>
              <a:blipFill>
                <a:blip r:embed="rId2"/>
                <a:stretch>
                  <a:fillRect l="-2406" r="-2406"/>
                </a:stretch>
              </a:blipFill>
              <a:ln>
                <a:solidFill>
                  <a:srgbClr val="00B0F0"/>
                </a:solidFill>
              </a:ln>
            </p:spPr>
            <p:txBody>
              <a:bodyPr/>
              <a:lstStyle/>
              <a:p>
                <a:r>
                  <a:rPr lang="en-US">
                    <a:noFill/>
                  </a:rPr>
                  <a:t> </a:t>
                </a:r>
              </a:p>
            </p:txBody>
          </p:sp>
        </mc:Fallback>
      </mc:AlternateContent>
      <p:pic>
        <p:nvPicPr>
          <p:cNvPr id="3" name="Hình ảnh 2">
            <a:extLst>
              <a:ext uri="{FF2B5EF4-FFF2-40B4-BE49-F238E27FC236}">
                <a16:creationId xmlns:a16="http://schemas.microsoft.com/office/drawing/2014/main" id="{4996249F-E68E-99B1-7286-EF4565BDD229}"/>
              </a:ext>
            </a:extLst>
          </p:cNvPr>
          <p:cNvPicPr>
            <a:picLocks noChangeAspect="1"/>
          </p:cNvPicPr>
          <p:nvPr/>
        </p:nvPicPr>
        <p:blipFill>
          <a:blip r:embed="rId3"/>
          <a:srcRect l="10053" t="3273" r="8325" b="4419"/>
          <a:stretch/>
        </p:blipFill>
        <p:spPr>
          <a:xfrm>
            <a:off x="0" y="850842"/>
            <a:ext cx="9352677" cy="5156315"/>
          </a:xfrm>
          <a:prstGeom prst="rect">
            <a:avLst/>
          </a:prstGeom>
        </p:spPr>
      </p:pic>
    </p:spTree>
    <p:extLst>
      <p:ext uri="{BB962C8B-B14F-4D97-AF65-F5344CB8AC3E}">
        <p14:creationId xmlns:p14="http://schemas.microsoft.com/office/powerpoint/2010/main" val="2663082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79D89-3653-DB7F-489D-2FC016064864}"/>
            </a:ext>
          </a:extLst>
        </p:cNvPr>
        <p:cNvGrpSpPr/>
        <p:nvPr/>
      </p:nvGrpSpPr>
      <p:grpSpPr>
        <a:xfrm>
          <a:off x="0" y="0"/>
          <a:ext cx="0" cy="0"/>
          <a:chOff x="0" y="0"/>
          <a:chExt cx="0" cy="0"/>
        </a:xfrm>
      </p:grpSpPr>
      <p:pic>
        <p:nvPicPr>
          <p:cNvPr id="52" name="Hình ảnh 51" descr="Ảnh có chứa văn bản, phần mềm, biểu đồ, Biểu tượng máy tính&#10;&#10;Nội dung do AI tạo ra có thể không chính xác.">
            <a:extLst>
              <a:ext uri="{FF2B5EF4-FFF2-40B4-BE49-F238E27FC236}">
                <a16:creationId xmlns:a16="http://schemas.microsoft.com/office/drawing/2014/main" id="{2CEE076D-7989-8EC0-259C-906B8D477E8A}"/>
              </a:ext>
            </a:extLst>
          </p:cNvPr>
          <p:cNvPicPr>
            <a:picLocks noChangeAspect="1"/>
          </p:cNvPicPr>
          <p:nvPr/>
        </p:nvPicPr>
        <p:blipFill>
          <a:blip r:embed="rId2">
            <a:extLst>
              <a:ext uri="{28A0092B-C50C-407E-A947-70E740481C1C}">
                <a14:useLocalDpi xmlns:a14="http://schemas.microsoft.com/office/drawing/2010/main" val="0"/>
              </a:ext>
            </a:extLst>
          </a:blip>
          <a:srcRect l="5557" t="36923" r="12154" b="17901"/>
          <a:stretch/>
        </p:blipFill>
        <p:spPr>
          <a:xfrm>
            <a:off x="845416" y="2228259"/>
            <a:ext cx="10761401" cy="3169375"/>
          </a:xfrm>
          <a:prstGeom prst="rect">
            <a:avLst/>
          </a:prstGeom>
        </p:spPr>
      </p:pic>
      <p:sp>
        <p:nvSpPr>
          <p:cNvPr id="5" name="Slide Number Placeholder 3">
            <a:extLst>
              <a:ext uri="{FF2B5EF4-FFF2-40B4-BE49-F238E27FC236}">
                <a16:creationId xmlns:a16="http://schemas.microsoft.com/office/drawing/2014/main" id="{A3CBF355-0452-1A9C-7933-7F243B7A8012}"/>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30</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6212FFBF-163D-F19F-EC48-6DCD35D3A0CC}"/>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6" name="Hộp Văn bản 5">
            <a:extLst>
              <a:ext uri="{FF2B5EF4-FFF2-40B4-BE49-F238E27FC236}">
                <a16:creationId xmlns:a16="http://schemas.microsoft.com/office/drawing/2014/main" id="{B93F1E36-DF65-088F-8BA0-9031A49BF78F}"/>
              </a:ext>
            </a:extLst>
          </p:cNvPr>
          <p:cNvSpPr txBox="1"/>
          <p:nvPr/>
        </p:nvSpPr>
        <p:spPr>
          <a:xfrm>
            <a:off x="145915" y="933855"/>
            <a:ext cx="2801566" cy="400110"/>
          </a:xfrm>
          <a:prstGeom prst="rect">
            <a:avLst/>
          </a:prstGeom>
          <a:noFill/>
        </p:spPr>
        <p:txBody>
          <a:bodyPr wrap="square" rtlCol="0">
            <a:spAutoFit/>
          </a:bodyPr>
          <a:lstStyle/>
          <a:p>
            <a:r>
              <a:rPr lang="en-US" sz="2000"/>
              <a:t>a) Sơ đồ mô phỏng</a:t>
            </a:r>
          </a:p>
        </p:txBody>
      </p:sp>
      <p:sp>
        <p:nvSpPr>
          <p:cNvPr id="37" name="TextBox 6">
            <a:extLst>
              <a:ext uri="{FF2B5EF4-FFF2-40B4-BE49-F238E27FC236}">
                <a16:creationId xmlns:a16="http://schemas.microsoft.com/office/drawing/2014/main" id="{FC383620-7390-2474-9804-6506BA3B1020}"/>
              </a:ext>
            </a:extLst>
          </p:cNvPr>
          <p:cNvSpPr txBox="1"/>
          <p:nvPr/>
        </p:nvSpPr>
        <p:spPr>
          <a:xfrm>
            <a:off x="3867221" y="5871826"/>
            <a:ext cx="4457558" cy="400110"/>
          </a:xfrm>
          <a:prstGeom prst="rect">
            <a:avLst/>
          </a:prstGeom>
          <a:noFill/>
        </p:spPr>
        <p:txBody>
          <a:bodyPr wrap="square" rtlCol="0">
            <a:spAutoFit/>
          </a:bodyPr>
          <a:lstStyle/>
          <a:p>
            <a:pPr algn="ctr"/>
            <a:r>
              <a:rPr lang="en-US" sz="2000"/>
              <a:t>Khối điều khiển</a:t>
            </a:r>
          </a:p>
        </p:txBody>
      </p:sp>
      <p:sp>
        <p:nvSpPr>
          <p:cNvPr id="38" name="TextBox 10">
            <a:extLst>
              <a:ext uri="{FF2B5EF4-FFF2-40B4-BE49-F238E27FC236}">
                <a16:creationId xmlns:a16="http://schemas.microsoft.com/office/drawing/2014/main" id="{C5C0C580-CDBE-883F-D829-9D4EC647F710}"/>
              </a:ext>
            </a:extLst>
          </p:cNvPr>
          <p:cNvSpPr txBox="1"/>
          <p:nvPr/>
        </p:nvSpPr>
        <p:spPr>
          <a:xfrm>
            <a:off x="1293393" y="2273599"/>
            <a:ext cx="1992890" cy="400110"/>
          </a:xfrm>
          <a:prstGeom prst="rect">
            <a:avLst/>
          </a:prstGeom>
          <a:noFill/>
        </p:spPr>
        <p:txBody>
          <a:bodyPr wrap="square" rtlCol="0">
            <a:spAutoFit/>
          </a:bodyPr>
          <a:lstStyle/>
          <a:p>
            <a:pPr algn="ctr"/>
            <a:r>
              <a:rPr lang="en-US" sz="2000" b="1">
                <a:solidFill>
                  <a:srgbClr val="FF0000"/>
                </a:solidFill>
              </a:rPr>
              <a:t>Bộ điều khiển</a:t>
            </a:r>
          </a:p>
        </p:txBody>
      </p:sp>
      <p:sp>
        <p:nvSpPr>
          <p:cNvPr id="39" name="TextBox 11">
            <a:extLst>
              <a:ext uri="{FF2B5EF4-FFF2-40B4-BE49-F238E27FC236}">
                <a16:creationId xmlns:a16="http://schemas.microsoft.com/office/drawing/2014/main" id="{3D7489DC-7605-3A7E-05F2-4921C3620768}"/>
              </a:ext>
            </a:extLst>
          </p:cNvPr>
          <p:cNvSpPr txBox="1"/>
          <p:nvPr/>
        </p:nvSpPr>
        <p:spPr>
          <a:xfrm>
            <a:off x="3867221" y="1133018"/>
            <a:ext cx="2321753" cy="1015663"/>
          </a:xfrm>
          <a:prstGeom prst="rect">
            <a:avLst/>
          </a:prstGeom>
          <a:noFill/>
        </p:spPr>
        <p:txBody>
          <a:bodyPr wrap="square" rtlCol="0">
            <a:spAutoFit/>
          </a:bodyPr>
          <a:lstStyle/>
          <a:p>
            <a:pPr algn="ctr"/>
            <a:r>
              <a:rPr lang="en-US" sz="2000" b="1">
                <a:solidFill>
                  <a:srgbClr val="FF0000"/>
                </a:solidFill>
              </a:rPr>
              <a:t>Giới hạn hệ số điều chế trong khoảng 1% - 95%</a:t>
            </a:r>
          </a:p>
        </p:txBody>
      </p:sp>
      <p:sp>
        <p:nvSpPr>
          <p:cNvPr id="40" name="TextBox 12">
            <a:extLst>
              <a:ext uri="{FF2B5EF4-FFF2-40B4-BE49-F238E27FC236}">
                <a16:creationId xmlns:a16="http://schemas.microsoft.com/office/drawing/2014/main" id="{F88B1BF9-133C-B666-7939-6A6E0BFB1039}"/>
              </a:ext>
            </a:extLst>
          </p:cNvPr>
          <p:cNvSpPr txBox="1"/>
          <p:nvPr/>
        </p:nvSpPr>
        <p:spPr>
          <a:xfrm>
            <a:off x="8412250" y="1973493"/>
            <a:ext cx="1992890" cy="400110"/>
          </a:xfrm>
          <a:prstGeom prst="rect">
            <a:avLst/>
          </a:prstGeom>
          <a:noFill/>
        </p:spPr>
        <p:txBody>
          <a:bodyPr wrap="square" rtlCol="0">
            <a:spAutoFit/>
          </a:bodyPr>
          <a:lstStyle/>
          <a:p>
            <a:pPr algn="ctr"/>
            <a:r>
              <a:rPr lang="en-US" sz="2000" b="1">
                <a:solidFill>
                  <a:srgbClr val="FF0000"/>
                </a:solidFill>
              </a:rPr>
              <a:t>Mạch lực</a:t>
            </a:r>
          </a:p>
        </p:txBody>
      </p:sp>
      <p:cxnSp>
        <p:nvCxnSpPr>
          <p:cNvPr id="41" name="Straight Arrow Connector 15">
            <a:extLst>
              <a:ext uri="{FF2B5EF4-FFF2-40B4-BE49-F238E27FC236}">
                <a16:creationId xmlns:a16="http://schemas.microsoft.com/office/drawing/2014/main" id="{EA074E22-DA95-2CBC-36BA-AFFEC9BC3F68}"/>
              </a:ext>
            </a:extLst>
          </p:cNvPr>
          <p:cNvCxnSpPr>
            <a:cxnSpLocks/>
          </p:cNvCxnSpPr>
          <p:nvPr/>
        </p:nvCxnSpPr>
        <p:spPr>
          <a:xfrm flipH="1">
            <a:off x="8990405" y="2404428"/>
            <a:ext cx="418290" cy="102457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17">
            <a:extLst>
              <a:ext uri="{FF2B5EF4-FFF2-40B4-BE49-F238E27FC236}">
                <a16:creationId xmlns:a16="http://schemas.microsoft.com/office/drawing/2014/main" id="{FA351017-77C6-A126-88F0-42A6C9E3CD05}"/>
              </a:ext>
            </a:extLst>
          </p:cNvPr>
          <p:cNvCxnSpPr>
            <a:cxnSpLocks/>
          </p:cNvCxnSpPr>
          <p:nvPr/>
        </p:nvCxnSpPr>
        <p:spPr>
          <a:xfrm>
            <a:off x="2262909" y="2622003"/>
            <a:ext cx="684572" cy="97723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19">
            <a:extLst>
              <a:ext uri="{FF2B5EF4-FFF2-40B4-BE49-F238E27FC236}">
                <a16:creationId xmlns:a16="http://schemas.microsoft.com/office/drawing/2014/main" id="{76BA2B31-32CC-FAA8-C2ED-D2087E1107AA}"/>
              </a:ext>
            </a:extLst>
          </p:cNvPr>
          <p:cNvCxnSpPr>
            <a:cxnSpLocks/>
          </p:cNvCxnSpPr>
          <p:nvPr/>
        </p:nvCxnSpPr>
        <p:spPr>
          <a:xfrm>
            <a:off x="2886111" y="2573705"/>
            <a:ext cx="2211183" cy="108980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22">
            <a:extLst>
              <a:ext uri="{FF2B5EF4-FFF2-40B4-BE49-F238E27FC236}">
                <a16:creationId xmlns:a16="http://schemas.microsoft.com/office/drawing/2014/main" id="{6EF55FB2-11B3-27CE-355A-7A2EFEE14980}"/>
              </a:ext>
            </a:extLst>
          </p:cNvPr>
          <p:cNvCxnSpPr>
            <a:cxnSpLocks/>
          </p:cNvCxnSpPr>
          <p:nvPr/>
        </p:nvCxnSpPr>
        <p:spPr>
          <a:xfrm>
            <a:off x="5203642" y="2109770"/>
            <a:ext cx="599713" cy="17031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24">
            <a:extLst>
              <a:ext uri="{FF2B5EF4-FFF2-40B4-BE49-F238E27FC236}">
                <a16:creationId xmlns:a16="http://schemas.microsoft.com/office/drawing/2014/main" id="{5CD1055B-2F5C-0CE8-6DEE-ED52F8C17FA1}"/>
              </a:ext>
            </a:extLst>
          </p:cNvPr>
          <p:cNvCxnSpPr>
            <a:cxnSpLocks/>
            <a:stCxn id="46" idx="2"/>
          </p:cNvCxnSpPr>
          <p:nvPr/>
        </p:nvCxnSpPr>
        <p:spPr>
          <a:xfrm flipH="1">
            <a:off x="7196481" y="2037063"/>
            <a:ext cx="400798" cy="57509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25">
            <a:extLst>
              <a:ext uri="{FF2B5EF4-FFF2-40B4-BE49-F238E27FC236}">
                <a16:creationId xmlns:a16="http://schemas.microsoft.com/office/drawing/2014/main" id="{03547C06-9410-A094-AE9F-8692BB24B93B}"/>
              </a:ext>
            </a:extLst>
          </p:cNvPr>
          <p:cNvSpPr txBox="1"/>
          <p:nvPr/>
        </p:nvSpPr>
        <p:spPr>
          <a:xfrm>
            <a:off x="6436402" y="1329177"/>
            <a:ext cx="2321753" cy="707886"/>
          </a:xfrm>
          <a:prstGeom prst="rect">
            <a:avLst/>
          </a:prstGeom>
          <a:noFill/>
        </p:spPr>
        <p:txBody>
          <a:bodyPr wrap="square" rtlCol="0">
            <a:spAutoFit/>
          </a:bodyPr>
          <a:lstStyle/>
          <a:p>
            <a:pPr algn="ctr"/>
            <a:r>
              <a:rPr lang="en-US" sz="2000" b="1">
                <a:solidFill>
                  <a:srgbClr val="FF0000"/>
                </a:solidFill>
              </a:rPr>
              <a:t>Đặt thời gian để nạp tụ bằng 0.04s</a:t>
            </a:r>
          </a:p>
        </p:txBody>
      </p:sp>
      <p:sp>
        <p:nvSpPr>
          <p:cNvPr id="47" name="TextBox 27">
            <a:extLst>
              <a:ext uri="{FF2B5EF4-FFF2-40B4-BE49-F238E27FC236}">
                <a16:creationId xmlns:a16="http://schemas.microsoft.com/office/drawing/2014/main" id="{5C4A3037-8B38-639A-8B42-058D574A74FB}"/>
              </a:ext>
            </a:extLst>
          </p:cNvPr>
          <p:cNvSpPr txBox="1"/>
          <p:nvPr/>
        </p:nvSpPr>
        <p:spPr>
          <a:xfrm>
            <a:off x="5297488" y="5324872"/>
            <a:ext cx="3065510" cy="400110"/>
          </a:xfrm>
          <a:prstGeom prst="rect">
            <a:avLst/>
          </a:prstGeom>
          <a:noFill/>
        </p:spPr>
        <p:txBody>
          <a:bodyPr wrap="square" rtlCol="0">
            <a:spAutoFit/>
          </a:bodyPr>
          <a:lstStyle/>
          <a:p>
            <a:pPr algn="ctr"/>
            <a:r>
              <a:rPr lang="en-US" sz="2000" b="1">
                <a:solidFill>
                  <a:srgbClr val="FF0000"/>
                </a:solidFill>
              </a:rPr>
              <a:t>Khối tạo xung PWM </a:t>
            </a:r>
          </a:p>
        </p:txBody>
      </p:sp>
      <p:cxnSp>
        <p:nvCxnSpPr>
          <p:cNvPr id="48" name="Straight Arrow Connector 28">
            <a:extLst>
              <a:ext uri="{FF2B5EF4-FFF2-40B4-BE49-F238E27FC236}">
                <a16:creationId xmlns:a16="http://schemas.microsoft.com/office/drawing/2014/main" id="{E0B2D9C8-C844-EB82-5073-E91EB8652B82}"/>
              </a:ext>
            </a:extLst>
          </p:cNvPr>
          <p:cNvCxnSpPr>
            <a:cxnSpLocks/>
          </p:cNvCxnSpPr>
          <p:nvPr/>
        </p:nvCxnSpPr>
        <p:spPr>
          <a:xfrm flipH="1" flipV="1">
            <a:off x="6830243" y="4221166"/>
            <a:ext cx="70080" cy="11906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30">
            <a:extLst>
              <a:ext uri="{FF2B5EF4-FFF2-40B4-BE49-F238E27FC236}">
                <a16:creationId xmlns:a16="http://schemas.microsoft.com/office/drawing/2014/main" id="{CECE30C5-D7F4-343F-0AE9-879D31E15CC7}"/>
              </a:ext>
            </a:extLst>
          </p:cNvPr>
          <p:cNvSpPr txBox="1"/>
          <p:nvPr/>
        </p:nvSpPr>
        <p:spPr>
          <a:xfrm>
            <a:off x="-49334" y="4816513"/>
            <a:ext cx="1992890" cy="707886"/>
          </a:xfrm>
          <a:prstGeom prst="rect">
            <a:avLst/>
          </a:prstGeom>
          <a:noFill/>
        </p:spPr>
        <p:txBody>
          <a:bodyPr wrap="square" rtlCol="0">
            <a:spAutoFit/>
          </a:bodyPr>
          <a:lstStyle/>
          <a:p>
            <a:pPr algn="ctr"/>
            <a:r>
              <a:rPr lang="en-US" sz="2000" b="1">
                <a:solidFill>
                  <a:srgbClr val="FF0000"/>
                </a:solidFill>
              </a:rPr>
              <a:t>Giá trị đặt 400VDC</a:t>
            </a:r>
          </a:p>
        </p:txBody>
      </p:sp>
      <p:cxnSp>
        <p:nvCxnSpPr>
          <p:cNvPr id="50" name="Straight Arrow Connector 31">
            <a:extLst>
              <a:ext uri="{FF2B5EF4-FFF2-40B4-BE49-F238E27FC236}">
                <a16:creationId xmlns:a16="http://schemas.microsoft.com/office/drawing/2014/main" id="{9935F94C-FCE1-9B2D-D180-1726903A4347}"/>
              </a:ext>
            </a:extLst>
          </p:cNvPr>
          <p:cNvCxnSpPr>
            <a:cxnSpLocks/>
          </p:cNvCxnSpPr>
          <p:nvPr/>
        </p:nvCxnSpPr>
        <p:spPr>
          <a:xfrm flipV="1">
            <a:off x="651443" y="4061952"/>
            <a:ext cx="295668" cy="74401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092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9D025-6D35-72C4-E520-5D847DC87E21}"/>
            </a:ext>
          </a:extLst>
        </p:cNvPr>
        <p:cNvGrpSpPr/>
        <p:nvPr/>
      </p:nvGrpSpPr>
      <p:grpSpPr>
        <a:xfrm>
          <a:off x="0" y="0"/>
          <a:ext cx="0" cy="0"/>
          <a:chOff x="0" y="0"/>
          <a:chExt cx="0" cy="0"/>
        </a:xfrm>
      </p:grpSpPr>
      <p:pic>
        <p:nvPicPr>
          <p:cNvPr id="14" name="Hình ảnh 13" descr="Ảnh có chứa văn bản, ảnh chụp màn hình, màn hình, biểu đồ&#10;&#10;Nội dung do AI tạo ra có thể không chính xác.">
            <a:extLst>
              <a:ext uri="{FF2B5EF4-FFF2-40B4-BE49-F238E27FC236}">
                <a16:creationId xmlns:a16="http://schemas.microsoft.com/office/drawing/2014/main" id="{90681AD3-71C3-B61B-92D5-C6AE58680C96}"/>
              </a:ext>
            </a:extLst>
          </p:cNvPr>
          <p:cNvPicPr>
            <a:picLocks noChangeAspect="1"/>
          </p:cNvPicPr>
          <p:nvPr/>
        </p:nvPicPr>
        <p:blipFill>
          <a:blip r:embed="rId2">
            <a:extLst>
              <a:ext uri="{28A0092B-C50C-407E-A947-70E740481C1C}">
                <a14:useLocalDpi xmlns:a14="http://schemas.microsoft.com/office/drawing/2010/main" val="0"/>
              </a:ext>
            </a:extLst>
          </a:blip>
          <a:srcRect l="8095" t="30842" r="10479" b="20688"/>
          <a:stretch/>
        </p:blipFill>
        <p:spPr>
          <a:xfrm>
            <a:off x="1118043" y="2175953"/>
            <a:ext cx="9927503" cy="3170198"/>
          </a:xfrm>
          <a:prstGeom prst="rect">
            <a:avLst/>
          </a:prstGeom>
        </p:spPr>
      </p:pic>
      <p:sp>
        <p:nvSpPr>
          <p:cNvPr id="5" name="Slide Number Placeholder 3">
            <a:extLst>
              <a:ext uri="{FF2B5EF4-FFF2-40B4-BE49-F238E27FC236}">
                <a16:creationId xmlns:a16="http://schemas.microsoft.com/office/drawing/2014/main" id="{9F78DFE8-0D4A-F9ED-0118-606983C5D88D}"/>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31</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3687BA87-1FA9-4F4C-AEEE-80A267A7958C}"/>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3" name="Oval 5">
            <a:extLst>
              <a:ext uri="{FF2B5EF4-FFF2-40B4-BE49-F238E27FC236}">
                <a16:creationId xmlns:a16="http://schemas.microsoft.com/office/drawing/2014/main" id="{6309BFB2-6353-7779-8C12-F90F04BE2757}"/>
              </a:ext>
            </a:extLst>
          </p:cNvPr>
          <p:cNvSpPr/>
          <p:nvPr/>
        </p:nvSpPr>
        <p:spPr>
          <a:xfrm>
            <a:off x="3625856" y="2480689"/>
            <a:ext cx="1992891" cy="28921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6">
            <a:extLst>
              <a:ext uri="{FF2B5EF4-FFF2-40B4-BE49-F238E27FC236}">
                <a16:creationId xmlns:a16="http://schemas.microsoft.com/office/drawing/2014/main" id="{94C5696B-A20F-3CD0-BA95-06949D11969D}"/>
              </a:ext>
            </a:extLst>
          </p:cNvPr>
          <p:cNvSpPr txBox="1"/>
          <p:nvPr/>
        </p:nvSpPr>
        <p:spPr>
          <a:xfrm>
            <a:off x="3867221" y="5871826"/>
            <a:ext cx="4457558" cy="400110"/>
          </a:xfrm>
          <a:prstGeom prst="rect">
            <a:avLst/>
          </a:prstGeom>
          <a:noFill/>
        </p:spPr>
        <p:txBody>
          <a:bodyPr wrap="square" rtlCol="0">
            <a:spAutoFit/>
          </a:bodyPr>
          <a:lstStyle/>
          <a:p>
            <a:pPr algn="ctr"/>
            <a:r>
              <a:rPr lang="en-US" sz="2000"/>
              <a:t>Khối mạch lực</a:t>
            </a:r>
          </a:p>
        </p:txBody>
      </p:sp>
      <p:sp>
        <p:nvSpPr>
          <p:cNvPr id="6" name="Oval 8">
            <a:extLst>
              <a:ext uri="{FF2B5EF4-FFF2-40B4-BE49-F238E27FC236}">
                <a16:creationId xmlns:a16="http://schemas.microsoft.com/office/drawing/2014/main" id="{9F0E912A-0E41-EEEE-8ABE-D9C987EE6460}"/>
              </a:ext>
            </a:extLst>
          </p:cNvPr>
          <p:cNvSpPr/>
          <p:nvPr/>
        </p:nvSpPr>
        <p:spPr>
          <a:xfrm>
            <a:off x="954590" y="3416793"/>
            <a:ext cx="2469545" cy="188895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9">
            <a:extLst>
              <a:ext uri="{FF2B5EF4-FFF2-40B4-BE49-F238E27FC236}">
                <a16:creationId xmlns:a16="http://schemas.microsoft.com/office/drawing/2014/main" id="{98472912-25BB-1FEE-209E-7985AAEE2028}"/>
              </a:ext>
            </a:extLst>
          </p:cNvPr>
          <p:cNvSpPr/>
          <p:nvPr/>
        </p:nvSpPr>
        <p:spPr>
          <a:xfrm>
            <a:off x="5473902" y="1902757"/>
            <a:ext cx="5616068" cy="3510356"/>
          </a:xfrm>
          <a:custGeom>
            <a:avLst/>
            <a:gdLst>
              <a:gd name="connsiteX0" fmla="*/ 0 w 6179798"/>
              <a:gd name="connsiteY0" fmla="*/ 1852427 h 3704854"/>
              <a:gd name="connsiteX1" fmla="*/ 3089899 w 6179798"/>
              <a:gd name="connsiteY1" fmla="*/ 0 h 3704854"/>
              <a:gd name="connsiteX2" fmla="*/ 6179798 w 6179798"/>
              <a:gd name="connsiteY2" fmla="*/ 1852427 h 3704854"/>
              <a:gd name="connsiteX3" fmla="*/ 3089899 w 6179798"/>
              <a:gd name="connsiteY3" fmla="*/ 3704854 h 3704854"/>
              <a:gd name="connsiteX4" fmla="*/ 0 w 6179798"/>
              <a:gd name="connsiteY4" fmla="*/ 1852427 h 3704854"/>
              <a:gd name="connsiteX0" fmla="*/ 0 w 5372402"/>
              <a:gd name="connsiteY0" fmla="*/ 1881631 h 3704896"/>
              <a:gd name="connsiteX1" fmla="*/ 2282503 w 5372402"/>
              <a:gd name="connsiteY1" fmla="*/ 21 h 3704896"/>
              <a:gd name="connsiteX2" fmla="*/ 5372402 w 5372402"/>
              <a:gd name="connsiteY2" fmla="*/ 1852448 h 3704896"/>
              <a:gd name="connsiteX3" fmla="*/ 2282503 w 5372402"/>
              <a:gd name="connsiteY3" fmla="*/ 3704875 h 3704896"/>
              <a:gd name="connsiteX4" fmla="*/ 0 w 5372402"/>
              <a:gd name="connsiteY4" fmla="*/ 1881631 h 3704896"/>
              <a:gd name="connsiteX0" fmla="*/ 208776 w 5581178"/>
              <a:gd name="connsiteY0" fmla="*/ 1933980 h 3757237"/>
              <a:gd name="connsiteX1" fmla="*/ 362500 w 5581178"/>
              <a:gd name="connsiteY1" fmla="*/ 633278 h 3757237"/>
              <a:gd name="connsiteX2" fmla="*/ 2491279 w 5581178"/>
              <a:gd name="connsiteY2" fmla="*/ 52370 h 3757237"/>
              <a:gd name="connsiteX3" fmla="*/ 5581178 w 5581178"/>
              <a:gd name="connsiteY3" fmla="*/ 1904797 h 3757237"/>
              <a:gd name="connsiteX4" fmla="*/ 2491279 w 5581178"/>
              <a:gd name="connsiteY4" fmla="*/ 3757224 h 3757237"/>
              <a:gd name="connsiteX5" fmla="*/ 208776 w 5581178"/>
              <a:gd name="connsiteY5" fmla="*/ 1933980 h 3757237"/>
              <a:gd name="connsiteX0" fmla="*/ 68685 w 5441087"/>
              <a:gd name="connsiteY0" fmla="*/ 1933980 h 3816712"/>
              <a:gd name="connsiteX1" fmla="*/ 222409 w 5441087"/>
              <a:gd name="connsiteY1" fmla="*/ 633278 h 3816712"/>
              <a:gd name="connsiteX2" fmla="*/ 2351188 w 5441087"/>
              <a:gd name="connsiteY2" fmla="*/ 52370 h 3816712"/>
              <a:gd name="connsiteX3" fmla="*/ 5441087 w 5441087"/>
              <a:gd name="connsiteY3" fmla="*/ 1904797 h 3816712"/>
              <a:gd name="connsiteX4" fmla="*/ 2351188 w 5441087"/>
              <a:gd name="connsiteY4" fmla="*/ 3757224 h 3816712"/>
              <a:gd name="connsiteX5" fmla="*/ 251592 w 5441087"/>
              <a:gd name="connsiteY5" fmla="*/ 3230564 h 3816712"/>
              <a:gd name="connsiteX6" fmla="*/ 68685 w 5441087"/>
              <a:gd name="connsiteY6" fmla="*/ 1933980 h 3816712"/>
              <a:gd name="connsiteX0" fmla="*/ 199242 w 5571644"/>
              <a:gd name="connsiteY0" fmla="*/ 1923750 h 3806482"/>
              <a:gd name="connsiteX1" fmla="*/ 2770 w 5571644"/>
              <a:gd name="connsiteY1" fmla="*/ 905150 h 3806482"/>
              <a:gd name="connsiteX2" fmla="*/ 352966 w 5571644"/>
              <a:gd name="connsiteY2" fmla="*/ 623048 h 3806482"/>
              <a:gd name="connsiteX3" fmla="*/ 2481745 w 5571644"/>
              <a:gd name="connsiteY3" fmla="*/ 42140 h 3806482"/>
              <a:gd name="connsiteX4" fmla="*/ 5571644 w 5571644"/>
              <a:gd name="connsiteY4" fmla="*/ 1894567 h 3806482"/>
              <a:gd name="connsiteX5" fmla="*/ 2481745 w 5571644"/>
              <a:gd name="connsiteY5" fmla="*/ 3746994 h 3806482"/>
              <a:gd name="connsiteX6" fmla="*/ 382149 w 5571644"/>
              <a:gd name="connsiteY6" fmla="*/ 3220334 h 3806482"/>
              <a:gd name="connsiteX7" fmla="*/ 199242 w 5571644"/>
              <a:gd name="connsiteY7" fmla="*/ 1923750 h 3806482"/>
              <a:gd name="connsiteX0" fmla="*/ 199242 w 5571644"/>
              <a:gd name="connsiteY0" fmla="*/ 1966955 h 3849687"/>
              <a:gd name="connsiteX1" fmla="*/ 2770 w 5571644"/>
              <a:gd name="connsiteY1" fmla="*/ 948355 h 3849687"/>
              <a:gd name="connsiteX2" fmla="*/ 547519 w 5571644"/>
              <a:gd name="connsiteY2" fmla="*/ 374423 h 3849687"/>
              <a:gd name="connsiteX3" fmla="*/ 2481745 w 5571644"/>
              <a:gd name="connsiteY3" fmla="*/ 85345 h 3849687"/>
              <a:gd name="connsiteX4" fmla="*/ 5571644 w 5571644"/>
              <a:gd name="connsiteY4" fmla="*/ 1937772 h 3849687"/>
              <a:gd name="connsiteX5" fmla="*/ 2481745 w 5571644"/>
              <a:gd name="connsiteY5" fmla="*/ 3790199 h 3849687"/>
              <a:gd name="connsiteX6" fmla="*/ 382149 w 5571644"/>
              <a:gd name="connsiteY6" fmla="*/ 3263539 h 3849687"/>
              <a:gd name="connsiteX7" fmla="*/ 199242 w 5571644"/>
              <a:gd name="connsiteY7" fmla="*/ 1966955 h 3849687"/>
              <a:gd name="connsiteX0" fmla="*/ 199242 w 5571644"/>
              <a:gd name="connsiteY0" fmla="*/ 1965751 h 3848483"/>
              <a:gd name="connsiteX1" fmla="*/ 2770 w 5571644"/>
              <a:gd name="connsiteY1" fmla="*/ 947151 h 3848483"/>
              <a:gd name="connsiteX2" fmla="*/ 547519 w 5571644"/>
              <a:gd name="connsiteY2" fmla="*/ 373219 h 3848483"/>
              <a:gd name="connsiteX3" fmla="*/ 2481745 w 5571644"/>
              <a:gd name="connsiteY3" fmla="*/ 84141 h 3848483"/>
              <a:gd name="connsiteX4" fmla="*/ 5571644 w 5571644"/>
              <a:gd name="connsiteY4" fmla="*/ 1936568 h 3848483"/>
              <a:gd name="connsiteX5" fmla="*/ 2481745 w 5571644"/>
              <a:gd name="connsiteY5" fmla="*/ 3788995 h 3848483"/>
              <a:gd name="connsiteX6" fmla="*/ 382149 w 5571644"/>
              <a:gd name="connsiteY6" fmla="*/ 3262335 h 3848483"/>
              <a:gd name="connsiteX7" fmla="*/ 199242 w 5571644"/>
              <a:gd name="connsiteY7" fmla="*/ 1965751 h 3848483"/>
              <a:gd name="connsiteX0" fmla="*/ 199242 w 5571644"/>
              <a:gd name="connsiteY0" fmla="*/ 1978513 h 3861245"/>
              <a:gd name="connsiteX1" fmla="*/ 2770 w 5571644"/>
              <a:gd name="connsiteY1" fmla="*/ 959913 h 3861245"/>
              <a:gd name="connsiteX2" fmla="*/ 547519 w 5571644"/>
              <a:gd name="connsiteY2" fmla="*/ 327615 h 3861245"/>
              <a:gd name="connsiteX3" fmla="*/ 2481745 w 5571644"/>
              <a:gd name="connsiteY3" fmla="*/ 96903 h 3861245"/>
              <a:gd name="connsiteX4" fmla="*/ 5571644 w 5571644"/>
              <a:gd name="connsiteY4" fmla="*/ 1949330 h 3861245"/>
              <a:gd name="connsiteX5" fmla="*/ 2481745 w 5571644"/>
              <a:gd name="connsiteY5" fmla="*/ 3801757 h 3861245"/>
              <a:gd name="connsiteX6" fmla="*/ 382149 w 5571644"/>
              <a:gd name="connsiteY6" fmla="*/ 3275097 h 3861245"/>
              <a:gd name="connsiteX7" fmla="*/ 199242 w 5571644"/>
              <a:gd name="connsiteY7" fmla="*/ 1978513 h 3861245"/>
              <a:gd name="connsiteX0" fmla="*/ 199242 w 5616068"/>
              <a:gd name="connsiteY0" fmla="*/ 1978513 h 3804819"/>
              <a:gd name="connsiteX1" fmla="*/ 2770 w 5616068"/>
              <a:gd name="connsiteY1" fmla="*/ 959913 h 3804819"/>
              <a:gd name="connsiteX2" fmla="*/ 547519 w 5616068"/>
              <a:gd name="connsiteY2" fmla="*/ 327615 h 3804819"/>
              <a:gd name="connsiteX3" fmla="*/ 2481745 w 5616068"/>
              <a:gd name="connsiteY3" fmla="*/ 96903 h 3804819"/>
              <a:gd name="connsiteX4" fmla="*/ 5571644 w 5616068"/>
              <a:gd name="connsiteY4" fmla="*/ 1949330 h 3804819"/>
              <a:gd name="connsiteX5" fmla="*/ 4487221 w 5616068"/>
              <a:gd name="connsiteY5" fmla="*/ 3412594 h 3804819"/>
              <a:gd name="connsiteX6" fmla="*/ 2481745 w 5616068"/>
              <a:gd name="connsiteY6" fmla="*/ 3801757 h 3804819"/>
              <a:gd name="connsiteX7" fmla="*/ 382149 w 5616068"/>
              <a:gd name="connsiteY7" fmla="*/ 3275097 h 3804819"/>
              <a:gd name="connsiteX8" fmla="*/ 199242 w 5616068"/>
              <a:gd name="connsiteY8" fmla="*/ 1978513 h 3804819"/>
              <a:gd name="connsiteX0" fmla="*/ 199242 w 5616068"/>
              <a:gd name="connsiteY0" fmla="*/ 2006911 h 3833217"/>
              <a:gd name="connsiteX1" fmla="*/ 2770 w 5616068"/>
              <a:gd name="connsiteY1" fmla="*/ 988311 h 3833217"/>
              <a:gd name="connsiteX2" fmla="*/ 547519 w 5616068"/>
              <a:gd name="connsiteY2" fmla="*/ 356013 h 3833217"/>
              <a:gd name="connsiteX3" fmla="*/ 1753749 w 5616068"/>
              <a:gd name="connsiteY3" fmla="*/ 188269 h 3833217"/>
              <a:gd name="connsiteX4" fmla="*/ 2481745 w 5616068"/>
              <a:gd name="connsiteY4" fmla="*/ 125301 h 3833217"/>
              <a:gd name="connsiteX5" fmla="*/ 5571644 w 5616068"/>
              <a:gd name="connsiteY5" fmla="*/ 1977728 h 3833217"/>
              <a:gd name="connsiteX6" fmla="*/ 4487221 w 5616068"/>
              <a:gd name="connsiteY6" fmla="*/ 3440992 h 3833217"/>
              <a:gd name="connsiteX7" fmla="*/ 2481745 w 5616068"/>
              <a:gd name="connsiteY7" fmla="*/ 3830155 h 3833217"/>
              <a:gd name="connsiteX8" fmla="*/ 382149 w 5616068"/>
              <a:gd name="connsiteY8" fmla="*/ 3303495 h 3833217"/>
              <a:gd name="connsiteX9" fmla="*/ 199242 w 5616068"/>
              <a:gd name="connsiteY9" fmla="*/ 2006911 h 3833217"/>
              <a:gd name="connsiteX0" fmla="*/ 199242 w 5616068"/>
              <a:gd name="connsiteY0" fmla="*/ 1831493 h 3657799"/>
              <a:gd name="connsiteX1" fmla="*/ 2770 w 5616068"/>
              <a:gd name="connsiteY1" fmla="*/ 812893 h 3657799"/>
              <a:gd name="connsiteX2" fmla="*/ 547519 w 5616068"/>
              <a:gd name="connsiteY2" fmla="*/ 180595 h 3657799"/>
              <a:gd name="connsiteX3" fmla="*/ 1753749 w 5616068"/>
              <a:gd name="connsiteY3" fmla="*/ 12851 h 3657799"/>
              <a:gd name="connsiteX4" fmla="*/ 3065404 w 5616068"/>
              <a:gd name="connsiteY4" fmla="*/ 306764 h 3657799"/>
              <a:gd name="connsiteX5" fmla="*/ 5571644 w 5616068"/>
              <a:gd name="connsiteY5" fmla="*/ 1802310 h 3657799"/>
              <a:gd name="connsiteX6" fmla="*/ 4487221 w 5616068"/>
              <a:gd name="connsiteY6" fmla="*/ 3265574 h 3657799"/>
              <a:gd name="connsiteX7" fmla="*/ 2481745 w 5616068"/>
              <a:gd name="connsiteY7" fmla="*/ 3654737 h 3657799"/>
              <a:gd name="connsiteX8" fmla="*/ 382149 w 5616068"/>
              <a:gd name="connsiteY8" fmla="*/ 3128077 h 3657799"/>
              <a:gd name="connsiteX9" fmla="*/ 199242 w 5616068"/>
              <a:gd name="connsiteY9" fmla="*/ 1831493 h 3657799"/>
              <a:gd name="connsiteX0" fmla="*/ 199242 w 5616068"/>
              <a:gd name="connsiteY0" fmla="*/ 1822658 h 3648964"/>
              <a:gd name="connsiteX1" fmla="*/ 2770 w 5616068"/>
              <a:gd name="connsiteY1" fmla="*/ 804058 h 3648964"/>
              <a:gd name="connsiteX2" fmla="*/ 547519 w 5616068"/>
              <a:gd name="connsiteY2" fmla="*/ 171760 h 3648964"/>
              <a:gd name="connsiteX3" fmla="*/ 1753749 w 5616068"/>
              <a:gd name="connsiteY3" fmla="*/ 4016 h 3648964"/>
              <a:gd name="connsiteX4" fmla="*/ 3065404 w 5616068"/>
              <a:gd name="connsiteY4" fmla="*/ 297929 h 3648964"/>
              <a:gd name="connsiteX5" fmla="*/ 5571644 w 5616068"/>
              <a:gd name="connsiteY5" fmla="*/ 1793475 h 3648964"/>
              <a:gd name="connsiteX6" fmla="*/ 4487221 w 5616068"/>
              <a:gd name="connsiteY6" fmla="*/ 3256739 h 3648964"/>
              <a:gd name="connsiteX7" fmla="*/ 2481745 w 5616068"/>
              <a:gd name="connsiteY7" fmla="*/ 3645902 h 3648964"/>
              <a:gd name="connsiteX8" fmla="*/ 382149 w 5616068"/>
              <a:gd name="connsiteY8" fmla="*/ 3119242 h 3648964"/>
              <a:gd name="connsiteX9" fmla="*/ 199242 w 5616068"/>
              <a:gd name="connsiteY9" fmla="*/ 1822658 h 3648964"/>
              <a:gd name="connsiteX0" fmla="*/ 199242 w 5616068"/>
              <a:gd name="connsiteY0" fmla="*/ 1826793 h 3653099"/>
              <a:gd name="connsiteX1" fmla="*/ 2770 w 5616068"/>
              <a:gd name="connsiteY1" fmla="*/ 808193 h 3653099"/>
              <a:gd name="connsiteX2" fmla="*/ 547519 w 5616068"/>
              <a:gd name="connsiteY2" fmla="*/ 175895 h 3653099"/>
              <a:gd name="connsiteX3" fmla="*/ 1753749 w 5616068"/>
              <a:gd name="connsiteY3" fmla="*/ 8151 h 3653099"/>
              <a:gd name="connsiteX4" fmla="*/ 3104315 w 5616068"/>
              <a:gd name="connsiteY4" fmla="*/ 159311 h 3653099"/>
              <a:gd name="connsiteX5" fmla="*/ 5571644 w 5616068"/>
              <a:gd name="connsiteY5" fmla="*/ 1797610 h 3653099"/>
              <a:gd name="connsiteX6" fmla="*/ 4487221 w 5616068"/>
              <a:gd name="connsiteY6" fmla="*/ 3260874 h 3653099"/>
              <a:gd name="connsiteX7" fmla="*/ 2481745 w 5616068"/>
              <a:gd name="connsiteY7" fmla="*/ 3650037 h 3653099"/>
              <a:gd name="connsiteX8" fmla="*/ 382149 w 5616068"/>
              <a:gd name="connsiteY8" fmla="*/ 3123377 h 3653099"/>
              <a:gd name="connsiteX9" fmla="*/ 199242 w 5616068"/>
              <a:gd name="connsiteY9" fmla="*/ 1826793 h 3653099"/>
              <a:gd name="connsiteX0" fmla="*/ 199242 w 5616068"/>
              <a:gd name="connsiteY0" fmla="*/ 1838121 h 3664427"/>
              <a:gd name="connsiteX1" fmla="*/ 2770 w 5616068"/>
              <a:gd name="connsiteY1" fmla="*/ 819521 h 3664427"/>
              <a:gd name="connsiteX2" fmla="*/ 547519 w 5616068"/>
              <a:gd name="connsiteY2" fmla="*/ 187223 h 3664427"/>
              <a:gd name="connsiteX3" fmla="*/ 1753749 w 5616068"/>
              <a:gd name="connsiteY3" fmla="*/ 19479 h 3664427"/>
              <a:gd name="connsiteX4" fmla="*/ 3104315 w 5616068"/>
              <a:gd name="connsiteY4" fmla="*/ 170639 h 3664427"/>
              <a:gd name="connsiteX5" fmla="*/ 5571644 w 5616068"/>
              <a:gd name="connsiteY5" fmla="*/ 1808938 h 3664427"/>
              <a:gd name="connsiteX6" fmla="*/ 4487221 w 5616068"/>
              <a:gd name="connsiteY6" fmla="*/ 3272202 h 3664427"/>
              <a:gd name="connsiteX7" fmla="*/ 2481745 w 5616068"/>
              <a:gd name="connsiteY7" fmla="*/ 3661365 h 3664427"/>
              <a:gd name="connsiteX8" fmla="*/ 382149 w 5616068"/>
              <a:gd name="connsiteY8" fmla="*/ 3134705 h 3664427"/>
              <a:gd name="connsiteX9" fmla="*/ 199242 w 5616068"/>
              <a:gd name="connsiteY9" fmla="*/ 1838121 h 3664427"/>
              <a:gd name="connsiteX0" fmla="*/ 199242 w 5616068"/>
              <a:gd name="connsiteY0" fmla="*/ 1853281 h 3679587"/>
              <a:gd name="connsiteX1" fmla="*/ 2770 w 5616068"/>
              <a:gd name="connsiteY1" fmla="*/ 834681 h 3679587"/>
              <a:gd name="connsiteX2" fmla="*/ 547519 w 5616068"/>
              <a:gd name="connsiteY2" fmla="*/ 202383 h 3679587"/>
              <a:gd name="connsiteX3" fmla="*/ 1753749 w 5616068"/>
              <a:gd name="connsiteY3" fmla="*/ 34639 h 3679587"/>
              <a:gd name="connsiteX4" fmla="*/ 3104315 w 5616068"/>
              <a:gd name="connsiteY4" fmla="*/ 185799 h 3679587"/>
              <a:gd name="connsiteX5" fmla="*/ 5571644 w 5616068"/>
              <a:gd name="connsiteY5" fmla="*/ 1824098 h 3679587"/>
              <a:gd name="connsiteX6" fmla="*/ 4487221 w 5616068"/>
              <a:gd name="connsiteY6" fmla="*/ 3287362 h 3679587"/>
              <a:gd name="connsiteX7" fmla="*/ 2481745 w 5616068"/>
              <a:gd name="connsiteY7" fmla="*/ 3676525 h 3679587"/>
              <a:gd name="connsiteX8" fmla="*/ 382149 w 5616068"/>
              <a:gd name="connsiteY8" fmla="*/ 3149865 h 3679587"/>
              <a:gd name="connsiteX9" fmla="*/ 199242 w 5616068"/>
              <a:gd name="connsiteY9" fmla="*/ 1853281 h 3679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16068" h="3679587">
                <a:moveTo>
                  <a:pt x="199242" y="1853281"/>
                </a:moveTo>
                <a:cubicBezTo>
                  <a:pt x="136012" y="1467417"/>
                  <a:pt x="-22851" y="1051465"/>
                  <a:pt x="2770" y="834681"/>
                </a:cubicBezTo>
                <a:cubicBezTo>
                  <a:pt x="28391" y="617897"/>
                  <a:pt x="265417" y="364614"/>
                  <a:pt x="547519" y="202383"/>
                </a:cubicBezTo>
                <a:cubicBezTo>
                  <a:pt x="829621" y="40152"/>
                  <a:pt x="1431378" y="73091"/>
                  <a:pt x="1753749" y="34639"/>
                </a:cubicBezTo>
                <a:cubicBezTo>
                  <a:pt x="2076120" y="-3813"/>
                  <a:pt x="1864884" y="-61461"/>
                  <a:pt x="3104315" y="185799"/>
                </a:cubicBezTo>
                <a:cubicBezTo>
                  <a:pt x="4343746" y="433059"/>
                  <a:pt x="5328190" y="1283379"/>
                  <a:pt x="5571644" y="1824098"/>
                </a:cubicBezTo>
                <a:cubicBezTo>
                  <a:pt x="5815098" y="2364817"/>
                  <a:pt x="5002204" y="2978624"/>
                  <a:pt x="4487221" y="3287362"/>
                </a:cubicBezTo>
                <a:cubicBezTo>
                  <a:pt x="3972238" y="3596100"/>
                  <a:pt x="3165924" y="3699441"/>
                  <a:pt x="2481745" y="3676525"/>
                </a:cubicBezTo>
                <a:cubicBezTo>
                  <a:pt x="1797566" y="3653609"/>
                  <a:pt x="762566" y="3453739"/>
                  <a:pt x="382149" y="3149865"/>
                </a:cubicBezTo>
                <a:cubicBezTo>
                  <a:pt x="1732" y="2845991"/>
                  <a:pt x="262472" y="2239145"/>
                  <a:pt x="199242" y="1853281"/>
                </a:cubicBez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10">
                <a:extLst>
                  <a:ext uri="{FF2B5EF4-FFF2-40B4-BE49-F238E27FC236}">
                    <a16:creationId xmlns:a16="http://schemas.microsoft.com/office/drawing/2014/main" id="{3B6A485C-53E0-14AA-124F-6AD8DBE01286}"/>
                  </a:ext>
                </a:extLst>
              </p:cNvPr>
              <p:cNvSpPr txBox="1"/>
              <p:nvPr/>
            </p:nvSpPr>
            <p:spPr>
              <a:xfrm>
                <a:off x="222350" y="5329242"/>
                <a:ext cx="1992890" cy="338554"/>
              </a:xfrm>
              <a:prstGeom prst="rect">
                <a:avLst/>
              </a:prstGeom>
              <a:noFill/>
            </p:spPr>
            <p:txBody>
              <a:bodyPr wrap="square" rtlCol="0">
                <a:spAutoFit/>
              </a:bodyPr>
              <a:lstStyle/>
              <a:p>
                <a:pPr algn="ctr"/>
                <a:r>
                  <a:rPr lang="en-US" sz="1600" b="1">
                    <a:solidFill>
                      <a:srgbClr val="FF0000"/>
                    </a:solidFill>
                  </a:rPr>
                  <a:t>Tính toán </a:t>
                </a:r>
                <a14:m>
                  <m:oMath xmlns:m="http://schemas.openxmlformats.org/officeDocument/2006/math">
                    <m:d>
                      <m:dPr>
                        <m:begChr m:val="|"/>
                        <m:endChr m:val="|"/>
                        <m:ctrlPr>
                          <a:rPr lang="en-US" sz="1600" b="1" i="1" smtClean="0">
                            <a:solidFill>
                              <a:srgbClr val="FF0000"/>
                            </a:solidFill>
                            <a:latin typeface="Cambria Math" panose="02040503050406030204" pitchFamily="18" charset="0"/>
                          </a:rPr>
                        </m:ctrlPr>
                      </m:dPr>
                      <m:e>
                        <m:func>
                          <m:funcPr>
                            <m:ctrlPr>
                              <a:rPr lang="en-US" sz="1600" b="1" i="1" smtClean="0">
                                <a:solidFill>
                                  <a:srgbClr val="FF0000"/>
                                </a:solidFill>
                                <a:latin typeface="Cambria Math" panose="02040503050406030204" pitchFamily="18" charset="0"/>
                              </a:rPr>
                            </m:ctrlPr>
                          </m:funcPr>
                          <m:fName>
                            <m:r>
                              <a:rPr lang="en-US" sz="1600" b="1" i="0" smtClean="0">
                                <a:solidFill>
                                  <a:srgbClr val="FF0000"/>
                                </a:solidFill>
                                <a:latin typeface="Cambria Math" panose="02040503050406030204" pitchFamily="18" charset="0"/>
                              </a:rPr>
                              <m:t>𝐬𝐢𝐧</m:t>
                            </m:r>
                          </m:fName>
                          <m:e>
                            <m:r>
                              <a:rPr lang="en-US" sz="1600" b="1" i="1" smtClean="0">
                                <a:solidFill>
                                  <a:srgbClr val="FF0000"/>
                                </a:solidFill>
                                <a:latin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𝝎</m:t>
                            </m:r>
                            <m:r>
                              <a:rPr lang="en-US" sz="1600" b="1" i="1" smtClean="0">
                                <a:solidFill>
                                  <a:srgbClr val="FF0000"/>
                                </a:solidFill>
                                <a:latin typeface="Cambria Math" panose="02040503050406030204" pitchFamily="18" charset="0"/>
                                <a:ea typeface="Cambria Math" panose="02040503050406030204" pitchFamily="18" charset="0"/>
                              </a:rPr>
                              <m:t>𝒕</m:t>
                            </m:r>
                            <m:r>
                              <a:rPr lang="en-US" sz="1600" b="1" i="1" smtClean="0">
                                <a:solidFill>
                                  <a:srgbClr val="FF0000"/>
                                </a:solidFill>
                                <a:latin typeface="Cambria Math" panose="02040503050406030204" pitchFamily="18" charset="0"/>
                                <a:ea typeface="Cambria Math" panose="02040503050406030204" pitchFamily="18" charset="0"/>
                              </a:rPr>
                              <m:t>)</m:t>
                            </m:r>
                          </m:e>
                        </m:func>
                      </m:e>
                    </m:d>
                  </m:oMath>
                </a14:m>
                <a:endParaRPr lang="en-US" sz="1600" b="1">
                  <a:solidFill>
                    <a:srgbClr val="FF0000"/>
                  </a:solidFill>
                </a:endParaRPr>
              </a:p>
            </p:txBody>
          </p:sp>
        </mc:Choice>
        <mc:Fallback xmlns="">
          <p:sp>
            <p:nvSpPr>
              <p:cNvPr id="8" name="TextBox 10">
                <a:extLst>
                  <a:ext uri="{FF2B5EF4-FFF2-40B4-BE49-F238E27FC236}">
                    <a16:creationId xmlns:a16="http://schemas.microsoft.com/office/drawing/2014/main" id="{3B6A485C-53E0-14AA-124F-6AD8DBE01286}"/>
                  </a:ext>
                </a:extLst>
              </p:cNvPr>
              <p:cNvSpPr txBox="1">
                <a:spLocks noRot="1" noChangeAspect="1" noMove="1" noResize="1" noEditPoints="1" noAdjustHandles="1" noChangeArrowheads="1" noChangeShapeType="1" noTextEdit="1"/>
              </p:cNvSpPr>
              <p:nvPr/>
            </p:nvSpPr>
            <p:spPr>
              <a:xfrm>
                <a:off x="222350" y="5329242"/>
                <a:ext cx="1992890" cy="338554"/>
              </a:xfrm>
              <a:prstGeom prst="rect">
                <a:avLst/>
              </a:prstGeom>
              <a:blipFill>
                <a:blip r:embed="rId3"/>
                <a:stretch>
                  <a:fillRect t="-5357" b="-21429"/>
                </a:stretch>
              </a:blipFill>
            </p:spPr>
            <p:txBody>
              <a:bodyPr/>
              <a:lstStyle/>
              <a:p>
                <a:r>
                  <a:rPr lang="en-US">
                    <a:noFill/>
                  </a:rPr>
                  <a:t> </a:t>
                </a:r>
              </a:p>
            </p:txBody>
          </p:sp>
        </mc:Fallback>
      </mc:AlternateContent>
      <p:sp>
        <p:nvSpPr>
          <p:cNvPr id="9" name="TextBox 11">
            <a:extLst>
              <a:ext uri="{FF2B5EF4-FFF2-40B4-BE49-F238E27FC236}">
                <a16:creationId xmlns:a16="http://schemas.microsoft.com/office/drawing/2014/main" id="{98BAEA7A-4854-326F-7437-005F1DB38CCE}"/>
              </a:ext>
            </a:extLst>
          </p:cNvPr>
          <p:cNvSpPr txBox="1"/>
          <p:nvPr/>
        </p:nvSpPr>
        <p:spPr>
          <a:xfrm>
            <a:off x="3307404" y="1971375"/>
            <a:ext cx="2166498" cy="338554"/>
          </a:xfrm>
          <a:prstGeom prst="rect">
            <a:avLst/>
          </a:prstGeom>
          <a:noFill/>
        </p:spPr>
        <p:txBody>
          <a:bodyPr wrap="square" rtlCol="0">
            <a:spAutoFit/>
          </a:bodyPr>
          <a:lstStyle/>
          <a:p>
            <a:pPr algn="ctr"/>
            <a:r>
              <a:rPr lang="en-US" sz="1600" b="1">
                <a:solidFill>
                  <a:srgbClr val="FF0000"/>
                </a:solidFill>
              </a:rPr>
              <a:t>Chỉnh lưu cầu diode</a:t>
            </a:r>
          </a:p>
        </p:txBody>
      </p:sp>
      <p:sp>
        <p:nvSpPr>
          <p:cNvPr id="11" name="TextBox 12">
            <a:extLst>
              <a:ext uri="{FF2B5EF4-FFF2-40B4-BE49-F238E27FC236}">
                <a16:creationId xmlns:a16="http://schemas.microsoft.com/office/drawing/2014/main" id="{3E1F8B80-DC3E-03A6-D2DF-A6947C7E0422}"/>
              </a:ext>
            </a:extLst>
          </p:cNvPr>
          <p:cNvSpPr txBox="1"/>
          <p:nvPr/>
        </p:nvSpPr>
        <p:spPr>
          <a:xfrm>
            <a:off x="7737392" y="1500104"/>
            <a:ext cx="1992890" cy="338554"/>
          </a:xfrm>
          <a:prstGeom prst="rect">
            <a:avLst/>
          </a:prstGeom>
          <a:noFill/>
        </p:spPr>
        <p:txBody>
          <a:bodyPr wrap="square" rtlCol="0">
            <a:spAutoFit/>
          </a:bodyPr>
          <a:lstStyle/>
          <a:p>
            <a:pPr algn="ctr"/>
            <a:r>
              <a:rPr lang="en-US" sz="1600" b="1">
                <a:solidFill>
                  <a:srgbClr val="FF0000"/>
                </a:solidFill>
              </a:rPr>
              <a:t>Mạch lực bộ Boost</a:t>
            </a:r>
          </a:p>
        </p:txBody>
      </p:sp>
      <p:sp>
        <p:nvSpPr>
          <p:cNvPr id="12" name="Hộp Văn bản 11">
            <a:extLst>
              <a:ext uri="{FF2B5EF4-FFF2-40B4-BE49-F238E27FC236}">
                <a16:creationId xmlns:a16="http://schemas.microsoft.com/office/drawing/2014/main" id="{4936EC58-7A4B-6C5C-F136-1DDB2A2FAFAD}"/>
              </a:ext>
            </a:extLst>
          </p:cNvPr>
          <p:cNvSpPr txBox="1"/>
          <p:nvPr/>
        </p:nvSpPr>
        <p:spPr>
          <a:xfrm>
            <a:off x="145915" y="933855"/>
            <a:ext cx="2801566" cy="400110"/>
          </a:xfrm>
          <a:prstGeom prst="rect">
            <a:avLst/>
          </a:prstGeom>
          <a:noFill/>
        </p:spPr>
        <p:txBody>
          <a:bodyPr wrap="square" rtlCol="0">
            <a:spAutoFit/>
          </a:bodyPr>
          <a:lstStyle/>
          <a:p>
            <a:r>
              <a:rPr lang="en-US" sz="2000"/>
              <a:t>a) Sơ đồ mô phỏng</a:t>
            </a:r>
          </a:p>
        </p:txBody>
      </p:sp>
    </p:spTree>
    <p:extLst>
      <p:ext uri="{BB962C8B-B14F-4D97-AF65-F5344CB8AC3E}">
        <p14:creationId xmlns:p14="http://schemas.microsoft.com/office/powerpoint/2010/main" val="110823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C0BA-9202-5133-C789-50F2712146E3}"/>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6557717-15CD-7014-0761-9BB4212E778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32</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CD7E93DE-AF3D-15DC-B8EE-FA1065A7EB97}"/>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2" name="Hộp Văn bản 1">
            <a:extLst>
              <a:ext uri="{FF2B5EF4-FFF2-40B4-BE49-F238E27FC236}">
                <a16:creationId xmlns:a16="http://schemas.microsoft.com/office/drawing/2014/main" id="{EE09B04B-FF1C-2AC2-94F0-5E35667044FD}"/>
              </a:ext>
            </a:extLst>
          </p:cNvPr>
          <p:cNvSpPr txBox="1"/>
          <p:nvPr/>
        </p:nvSpPr>
        <p:spPr>
          <a:xfrm>
            <a:off x="87549" y="781238"/>
            <a:ext cx="9610928" cy="707886"/>
          </a:xfrm>
          <a:prstGeom prst="rect">
            <a:avLst/>
          </a:prstGeom>
          <a:noFill/>
        </p:spPr>
        <p:txBody>
          <a:bodyPr wrap="square" rtlCol="0">
            <a:spAutoFit/>
          </a:bodyPr>
          <a:lstStyle/>
          <a:p>
            <a:r>
              <a:rPr lang="en-US" sz="2000"/>
              <a:t>b) So sánh nhanh kết quả mô phỏng 2 cấu trúc điều khiển</a:t>
            </a:r>
          </a:p>
          <a:p>
            <a:r>
              <a:rPr lang="en-US" sz="2000"/>
              <a:t> </a:t>
            </a:r>
          </a:p>
        </p:txBody>
      </p:sp>
      <p:pic>
        <p:nvPicPr>
          <p:cNvPr id="11" name="Hình ảnh 10">
            <a:extLst>
              <a:ext uri="{FF2B5EF4-FFF2-40B4-BE49-F238E27FC236}">
                <a16:creationId xmlns:a16="http://schemas.microsoft.com/office/drawing/2014/main" id="{E5E78CEB-1AC3-F219-A7EE-47741515524C}"/>
              </a:ext>
            </a:extLst>
          </p:cNvPr>
          <p:cNvPicPr>
            <a:picLocks noChangeAspect="1"/>
          </p:cNvPicPr>
          <p:nvPr/>
        </p:nvPicPr>
        <p:blipFill>
          <a:blip r:embed="rId2"/>
          <a:srcRect l="-717" t="630" r="718" b="2051"/>
          <a:stretch/>
        </p:blipFill>
        <p:spPr>
          <a:xfrm>
            <a:off x="940989" y="1135181"/>
            <a:ext cx="10590834" cy="4857057"/>
          </a:xfrm>
          <a:prstGeom prst="rect">
            <a:avLst/>
          </a:prstGeom>
        </p:spPr>
      </p:pic>
      <p:cxnSp>
        <p:nvCxnSpPr>
          <p:cNvPr id="14" name="Straight Arrow Connector 11">
            <a:extLst>
              <a:ext uri="{FF2B5EF4-FFF2-40B4-BE49-F238E27FC236}">
                <a16:creationId xmlns:a16="http://schemas.microsoft.com/office/drawing/2014/main" id="{236E17FC-6278-BD25-1B77-BA9E7D83AA7C}"/>
              </a:ext>
            </a:extLst>
          </p:cNvPr>
          <p:cNvCxnSpPr>
            <a:cxnSpLocks/>
          </p:cNvCxnSpPr>
          <p:nvPr/>
        </p:nvCxnSpPr>
        <p:spPr>
          <a:xfrm>
            <a:off x="2940185" y="1935278"/>
            <a:ext cx="342170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2">
            <a:extLst>
              <a:ext uri="{FF2B5EF4-FFF2-40B4-BE49-F238E27FC236}">
                <a16:creationId xmlns:a16="http://schemas.microsoft.com/office/drawing/2014/main" id="{40B8F59A-DE46-044F-6261-075D9ADDAADC}"/>
              </a:ext>
            </a:extLst>
          </p:cNvPr>
          <p:cNvSpPr txBox="1"/>
          <p:nvPr/>
        </p:nvSpPr>
        <p:spPr>
          <a:xfrm>
            <a:off x="3825402" y="1935278"/>
            <a:ext cx="1792083" cy="338554"/>
          </a:xfrm>
          <a:prstGeom prst="rect">
            <a:avLst/>
          </a:prstGeom>
          <a:noFill/>
        </p:spPr>
        <p:txBody>
          <a:bodyPr wrap="square" rtlCol="0">
            <a:spAutoFit/>
          </a:bodyPr>
          <a:lstStyle/>
          <a:p>
            <a:pPr algn="ctr"/>
            <a:r>
              <a:rPr lang="en-US" sz="1600" b="1">
                <a:solidFill>
                  <a:srgbClr val="FF0000"/>
                </a:solidFill>
              </a:rPr>
              <a:t>0.1s</a:t>
            </a:r>
          </a:p>
        </p:txBody>
      </p:sp>
      <p:sp>
        <p:nvSpPr>
          <p:cNvPr id="18" name="Hộp Văn bản 17">
            <a:extLst>
              <a:ext uri="{FF2B5EF4-FFF2-40B4-BE49-F238E27FC236}">
                <a16:creationId xmlns:a16="http://schemas.microsoft.com/office/drawing/2014/main" id="{9FA65520-6851-EF3A-9CFE-183E59D2E5CA}"/>
              </a:ext>
            </a:extLst>
          </p:cNvPr>
          <p:cNvSpPr txBox="1"/>
          <p:nvPr/>
        </p:nvSpPr>
        <p:spPr>
          <a:xfrm>
            <a:off x="5617485" y="5996304"/>
            <a:ext cx="3112851" cy="369332"/>
          </a:xfrm>
          <a:prstGeom prst="rect">
            <a:avLst/>
          </a:prstGeom>
          <a:noFill/>
        </p:spPr>
        <p:txBody>
          <a:bodyPr wrap="square" rtlCol="0">
            <a:spAutoFit/>
          </a:bodyPr>
          <a:lstStyle/>
          <a:p>
            <a:r>
              <a:rPr lang="en-US"/>
              <a:t>Bộ bù loại 2</a:t>
            </a:r>
          </a:p>
        </p:txBody>
      </p:sp>
    </p:spTree>
    <p:extLst>
      <p:ext uri="{BB962C8B-B14F-4D97-AF65-F5344CB8AC3E}">
        <p14:creationId xmlns:p14="http://schemas.microsoft.com/office/powerpoint/2010/main" val="2642920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95BEA-31AD-BA3E-E2B7-1DDD5F4E3E9A}"/>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D22ACF5-D668-D775-8CA7-76CF6C264E9B}"/>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33</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FC4DCA3E-FEC8-5AB1-3A2F-33970E43AA71}"/>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2" name="Hộp Văn bản 1">
            <a:extLst>
              <a:ext uri="{FF2B5EF4-FFF2-40B4-BE49-F238E27FC236}">
                <a16:creationId xmlns:a16="http://schemas.microsoft.com/office/drawing/2014/main" id="{E5D82E81-CAE8-94DA-AC60-5D2B4E3A9A9D}"/>
              </a:ext>
            </a:extLst>
          </p:cNvPr>
          <p:cNvSpPr txBox="1"/>
          <p:nvPr/>
        </p:nvSpPr>
        <p:spPr>
          <a:xfrm>
            <a:off x="87549" y="781238"/>
            <a:ext cx="9610928" cy="707886"/>
          </a:xfrm>
          <a:prstGeom prst="rect">
            <a:avLst/>
          </a:prstGeom>
          <a:noFill/>
        </p:spPr>
        <p:txBody>
          <a:bodyPr wrap="square" rtlCol="0">
            <a:spAutoFit/>
          </a:bodyPr>
          <a:lstStyle/>
          <a:p>
            <a:r>
              <a:rPr lang="en-US" sz="2000"/>
              <a:t>b) So sánh nhanh kết quả mô phỏng 2 cấu trúc điều khiển</a:t>
            </a:r>
          </a:p>
          <a:p>
            <a:r>
              <a:rPr lang="en-US" sz="2000"/>
              <a:t> </a:t>
            </a:r>
          </a:p>
        </p:txBody>
      </p:sp>
      <p:pic>
        <p:nvPicPr>
          <p:cNvPr id="13" name="Hình ảnh 12">
            <a:extLst>
              <a:ext uri="{FF2B5EF4-FFF2-40B4-BE49-F238E27FC236}">
                <a16:creationId xmlns:a16="http://schemas.microsoft.com/office/drawing/2014/main" id="{907CA1E6-8CE7-BA2A-ECAC-577AFC85CE52}"/>
              </a:ext>
            </a:extLst>
          </p:cNvPr>
          <p:cNvPicPr>
            <a:picLocks noChangeAspect="1"/>
          </p:cNvPicPr>
          <p:nvPr/>
        </p:nvPicPr>
        <p:blipFill>
          <a:blip r:embed="rId2"/>
          <a:srcRect b="2614"/>
          <a:stretch/>
        </p:blipFill>
        <p:spPr>
          <a:xfrm>
            <a:off x="786208" y="1101044"/>
            <a:ext cx="10842020" cy="4975718"/>
          </a:xfrm>
          <a:prstGeom prst="rect">
            <a:avLst/>
          </a:prstGeom>
        </p:spPr>
      </p:pic>
      <p:cxnSp>
        <p:nvCxnSpPr>
          <p:cNvPr id="3" name="Straight Arrow Connector 11">
            <a:extLst>
              <a:ext uri="{FF2B5EF4-FFF2-40B4-BE49-F238E27FC236}">
                <a16:creationId xmlns:a16="http://schemas.microsoft.com/office/drawing/2014/main" id="{0D307059-B663-5D7E-4F76-870AF2B0DCD6}"/>
              </a:ext>
            </a:extLst>
          </p:cNvPr>
          <p:cNvCxnSpPr>
            <a:cxnSpLocks/>
          </p:cNvCxnSpPr>
          <p:nvPr/>
        </p:nvCxnSpPr>
        <p:spPr>
          <a:xfrm>
            <a:off x="2502440" y="1647340"/>
            <a:ext cx="1982011"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12">
            <a:extLst>
              <a:ext uri="{FF2B5EF4-FFF2-40B4-BE49-F238E27FC236}">
                <a16:creationId xmlns:a16="http://schemas.microsoft.com/office/drawing/2014/main" id="{361F7702-4801-E877-A354-9D2F107F5185}"/>
              </a:ext>
            </a:extLst>
          </p:cNvPr>
          <p:cNvSpPr txBox="1"/>
          <p:nvPr/>
        </p:nvSpPr>
        <p:spPr>
          <a:xfrm>
            <a:off x="2692368" y="1687425"/>
            <a:ext cx="1792083" cy="338554"/>
          </a:xfrm>
          <a:prstGeom prst="rect">
            <a:avLst/>
          </a:prstGeom>
          <a:noFill/>
        </p:spPr>
        <p:txBody>
          <a:bodyPr wrap="square" rtlCol="0">
            <a:spAutoFit/>
          </a:bodyPr>
          <a:lstStyle/>
          <a:p>
            <a:pPr algn="ctr"/>
            <a:r>
              <a:rPr lang="en-US" sz="1600" b="1">
                <a:solidFill>
                  <a:srgbClr val="FF0000"/>
                </a:solidFill>
              </a:rPr>
              <a:t>0.05s</a:t>
            </a:r>
          </a:p>
        </p:txBody>
      </p:sp>
      <p:sp>
        <p:nvSpPr>
          <p:cNvPr id="7" name="Hộp Văn bản 6">
            <a:extLst>
              <a:ext uri="{FF2B5EF4-FFF2-40B4-BE49-F238E27FC236}">
                <a16:creationId xmlns:a16="http://schemas.microsoft.com/office/drawing/2014/main" id="{8FE8CD53-DE92-1E3B-49D3-9BBB431D46CA}"/>
              </a:ext>
            </a:extLst>
          </p:cNvPr>
          <p:cNvSpPr txBox="1"/>
          <p:nvPr/>
        </p:nvSpPr>
        <p:spPr>
          <a:xfrm>
            <a:off x="5617485" y="5996304"/>
            <a:ext cx="3112851" cy="369332"/>
          </a:xfrm>
          <a:prstGeom prst="rect">
            <a:avLst/>
          </a:prstGeom>
          <a:noFill/>
        </p:spPr>
        <p:txBody>
          <a:bodyPr wrap="square" rtlCol="0">
            <a:spAutoFit/>
          </a:bodyPr>
          <a:lstStyle/>
          <a:p>
            <a:r>
              <a:rPr lang="en-US"/>
              <a:t>Bộ điều khiển PI</a:t>
            </a:r>
          </a:p>
        </p:txBody>
      </p:sp>
      <p:sp>
        <p:nvSpPr>
          <p:cNvPr id="8" name="Hộp Văn bản 7">
            <a:extLst>
              <a:ext uri="{FF2B5EF4-FFF2-40B4-BE49-F238E27FC236}">
                <a16:creationId xmlns:a16="http://schemas.microsoft.com/office/drawing/2014/main" id="{910EF8C4-7F13-9956-662E-D9406AB36EE7}"/>
              </a:ext>
            </a:extLst>
          </p:cNvPr>
          <p:cNvSpPr txBox="1"/>
          <p:nvPr/>
        </p:nvSpPr>
        <p:spPr>
          <a:xfrm>
            <a:off x="3579653" y="2463558"/>
            <a:ext cx="5875507" cy="923330"/>
          </a:xfrm>
          <a:prstGeom prst="rect">
            <a:avLst/>
          </a:prstGeom>
          <a:noFill/>
          <a:ln w="19050">
            <a:solidFill>
              <a:srgbClr val="FF0000"/>
            </a:solidFill>
          </a:ln>
        </p:spPr>
        <p:txBody>
          <a:bodyPr wrap="square" rtlCol="0">
            <a:spAutoFit/>
          </a:bodyPr>
          <a:lstStyle/>
          <a:p>
            <a:r>
              <a:rPr lang="en-US"/>
              <a:t>Ta thấy rằng cấu trúc dung bộ bù loại 2 có thời gian đáp ứng lâu hơn so với cấu trúc dung bộ điều khiển PI. Do đó ta chọn bộ điều khiển PI là đúng đắn</a:t>
            </a:r>
          </a:p>
        </p:txBody>
      </p:sp>
    </p:spTree>
    <p:extLst>
      <p:ext uri="{BB962C8B-B14F-4D97-AF65-F5344CB8AC3E}">
        <p14:creationId xmlns:p14="http://schemas.microsoft.com/office/powerpoint/2010/main" val="379332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F5B4-D6D6-AFD6-A313-AD9347D0CCC2}"/>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5B4E7C2-22C1-88DC-0539-2FEB4823CB0F}"/>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34</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1E0466AE-5582-CF5F-EC20-02B9EDC480B3}"/>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2" name="Hộp Văn bản 1">
            <a:extLst>
              <a:ext uri="{FF2B5EF4-FFF2-40B4-BE49-F238E27FC236}">
                <a16:creationId xmlns:a16="http://schemas.microsoft.com/office/drawing/2014/main" id="{AF88C613-6B0E-038D-0577-8079D6498E59}"/>
              </a:ext>
            </a:extLst>
          </p:cNvPr>
          <p:cNvSpPr txBox="1"/>
          <p:nvPr/>
        </p:nvSpPr>
        <p:spPr>
          <a:xfrm>
            <a:off x="87549" y="781238"/>
            <a:ext cx="9610928" cy="707886"/>
          </a:xfrm>
          <a:prstGeom prst="rect">
            <a:avLst/>
          </a:prstGeom>
          <a:noFill/>
        </p:spPr>
        <p:txBody>
          <a:bodyPr wrap="square" rtlCol="0">
            <a:spAutoFit/>
          </a:bodyPr>
          <a:lstStyle/>
          <a:p>
            <a:r>
              <a:rPr lang="en-US" sz="2000"/>
              <a:t>b) Kịch bản mô phỏng: </a:t>
            </a:r>
          </a:p>
          <a:p>
            <a:r>
              <a:rPr lang="en-US" sz="2000"/>
              <a:t> Mô phỏng trong trường hợp chạy nạp tụ từ 0 -&gt; 0.05s, từ 0.05 -&gt; 0.35s phát xung PWM</a:t>
            </a:r>
          </a:p>
        </p:txBody>
      </p:sp>
      <mc:AlternateContent xmlns:mc="http://schemas.openxmlformats.org/markup-compatibility/2006" xmlns:a14="http://schemas.microsoft.com/office/drawing/2010/main">
        <mc:Choice Requires="a14">
          <p:graphicFrame>
            <p:nvGraphicFramePr>
              <p:cNvPr id="3" name="Sơ đồ 2">
                <a:extLst>
                  <a:ext uri="{FF2B5EF4-FFF2-40B4-BE49-F238E27FC236}">
                    <a16:creationId xmlns:a16="http://schemas.microsoft.com/office/drawing/2014/main" id="{6DB98D1F-05AA-20D0-6CC6-49A79B36A85F}"/>
                  </a:ext>
                </a:extLst>
              </p:cNvPr>
              <p:cNvGraphicFramePr/>
              <p:nvPr/>
            </p:nvGraphicFramePr>
            <p:xfrm>
              <a:off x="535021" y="1857984"/>
              <a:ext cx="9679022" cy="37840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3" name="Sơ đồ 2">
                <a:extLst>
                  <a:ext uri="{FF2B5EF4-FFF2-40B4-BE49-F238E27FC236}">
                    <a16:creationId xmlns:a16="http://schemas.microsoft.com/office/drawing/2014/main" id="{6DB98D1F-05AA-20D0-6CC6-49A79B36A85F}"/>
                  </a:ext>
                </a:extLst>
              </p:cNvPr>
              <p:cNvGraphicFramePr/>
              <p:nvPr/>
            </p:nvGraphicFramePr>
            <p:xfrm>
              <a:off x="535021" y="1857984"/>
              <a:ext cx="9679022" cy="37840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2677765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03C6-21EC-5AFE-136A-3A4EF6CAD3FF}"/>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14A55FF-1179-C130-A7F5-CC473DA81D5C}"/>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7E7A7577-B272-B863-47EE-842A7F51E43C}"/>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64D6B5C7-B48C-0C4C-9D0D-78D2EA6414D8}"/>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KB1</a:t>
            </a:r>
          </a:p>
        </p:txBody>
      </p:sp>
      <p:grpSp>
        <p:nvGrpSpPr>
          <p:cNvPr id="24" name="Nhóm 23">
            <a:extLst>
              <a:ext uri="{FF2B5EF4-FFF2-40B4-BE49-F238E27FC236}">
                <a16:creationId xmlns:a16="http://schemas.microsoft.com/office/drawing/2014/main" id="{9D4413AC-2F2F-2DEC-3FE6-7430AA70CD8A}"/>
              </a:ext>
            </a:extLst>
          </p:cNvPr>
          <p:cNvGrpSpPr/>
          <p:nvPr/>
        </p:nvGrpSpPr>
        <p:grpSpPr>
          <a:xfrm>
            <a:off x="0" y="1312034"/>
            <a:ext cx="10311571" cy="4845575"/>
            <a:chOff x="309553" y="1302306"/>
            <a:chExt cx="10311571" cy="4845575"/>
          </a:xfrm>
        </p:grpSpPr>
        <p:pic>
          <p:nvPicPr>
            <p:cNvPr id="3" name="Hình ảnh 2">
              <a:extLst>
                <a:ext uri="{FF2B5EF4-FFF2-40B4-BE49-F238E27FC236}">
                  <a16:creationId xmlns:a16="http://schemas.microsoft.com/office/drawing/2014/main" id="{B96FE285-8D08-7DD4-D7F1-61E33B621071}"/>
                </a:ext>
              </a:extLst>
            </p:cNvPr>
            <p:cNvPicPr>
              <a:picLocks noChangeAspect="1"/>
            </p:cNvPicPr>
            <p:nvPr/>
          </p:nvPicPr>
          <p:blipFill>
            <a:blip r:embed="rId2"/>
            <a:stretch>
              <a:fillRect/>
            </a:stretch>
          </p:blipFill>
          <p:spPr>
            <a:xfrm>
              <a:off x="338736" y="1302306"/>
              <a:ext cx="10282388" cy="4845575"/>
            </a:xfrm>
            <a:prstGeom prst="rect">
              <a:avLst/>
            </a:prstGeom>
          </p:spPr>
        </p:pic>
        <p:cxnSp>
          <p:nvCxnSpPr>
            <p:cNvPr id="6" name="Straight Arrow Connector 7">
              <a:extLst>
                <a:ext uri="{FF2B5EF4-FFF2-40B4-BE49-F238E27FC236}">
                  <a16:creationId xmlns:a16="http://schemas.microsoft.com/office/drawing/2014/main" id="{B6613BD7-B128-D9BE-583B-E8573178BE08}"/>
                </a:ext>
              </a:extLst>
            </p:cNvPr>
            <p:cNvCxnSpPr>
              <a:cxnSpLocks/>
            </p:cNvCxnSpPr>
            <p:nvPr/>
          </p:nvCxnSpPr>
          <p:spPr>
            <a:xfrm>
              <a:off x="451756" y="3102866"/>
              <a:ext cx="153633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9">
              <a:extLst>
                <a:ext uri="{FF2B5EF4-FFF2-40B4-BE49-F238E27FC236}">
                  <a16:creationId xmlns:a16="http://schemas.microsoft.com/office/drawing/2014/main" id="{A071F074-B6F6-6B39-6B1D-D3A8DDA3C9CA}"/>
                </a:ext>
              </a:extLst>
            </p:cNvPr>
            <p:cNvSpPr txBox="1"/>
            <p:nvPr/>
          </p:nvSpPr>
          <p:spPr>
            <a:xfrm>
              <a:off x="309553" y="3188222"/>
              <a:ext cx="1792083" cy="584775"/>
            </a:xfrm>
            <a:prstGeom prst="rect">
              <a:avLst/>
            </a:prstGeom>
            <a:noFill/>
          </p:spPr>
          <p:txBody>
            <a:bodyPr wrap="square" rtlCol="0">
              <a:spAutoFit/>
            </a:bodyPr>
            <a:lstStyle/>
            <a:p>
              <a:pPr algn="ctr"/>
              <a:r>
                <a:rPr lang="en-US" sz="1600" b="1">
                  <a:solidFill>
                    <a:srgbClr val="FF0000"/>
                  </a:solidFill>
                </a:rPr>
                <a:t>Chạy CL diode nạp tụ</a:t>
              </a:r>
            </a:p>
          </p:txBody>
        </p:sp>
        <p:cxnSp>
          <p:nvCxnSpPr>
            <p:cNvPr id="8" name="Straight Arrow Connector 10">
              <a:extLst>
                <a:ext uri="{FF2B5EF4-FFF2-40B4-BE49-F238E27FC236}">
                  <a16:creationId xmlns:a16="http://schemas.microsoft.com/office/drawing/2014/main" id="{4F2736FE-FF22-7949-2F30-FC3C169DB513}"/>
                </a:ext>
              </a:extLst>
            </p:cNvPr>
            <p:cNvCxnSpPr>
              <a:cxnSpLocks/>
            </p:cNvCxnSpPr>
            <p:nvPr/>
          </p:nvCxnSpPr>
          <p:spPr>
            <a:xfrm>
              <a:off x="2160240" y="3102866"/>
              <a:ext cx="7991348"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13">
              <a:extLst>
                <a:ext uri="{FF2B5EF4-FFF2-40B4-BE49-F238E27FC236}">
                  <a16:creationId xmlns:a16="http://schemas.microsoft.com/office/drawing/2014/main" id="{47BAB1FA-8EA9-0049-4D5F-063C1901F3EF}"/>
                </a:ext>
              </a:extLst>
            </p:cNvPr>
            <p:cNvSpPr txBox="1"/>
            <p:nvPr/>
          </p:nvSpPr>
          <p:spPr>
            <a:xfrm>
              <a:off x="5577208" y="3197451"/>
              <a:ext cx="1792083" cy="338554"/>
            </a:xfrm>
            <a:prstGeom prst="rect">
              <a:avLst/>
            </a:prstGeom>
            <a:noFill/>
          </p:spPr>
          <p:txBody>
            <a:bodyPr wrap="square" rtlCol="0">
              <a:spAutoFit/>
            </a:bodyPr>
            <a:lstStyle/>
            <a:p>
              <a:pPr algn="ctr"/>
              <a:r>
                <a:rPr lang="en-US" sz="1600" b="1">
                  <a:solidFill>
                    <a:srgbClr val="FF0000"/>
                  </a:solidFill>
                </a:rPr>
                <a:t>Phát xung PWM</a:t>
              </a:r>
            </a:p>
          </p:txBody>
        </p:sp>
        <p:cxnSp>
          <p:nvCxnSpPr>
            <p:cNvPr id="11" name="Straight Arrow Connector 11">
              <a:extLst>
                <a:ext uri="{FF2B5EF4-FFF2-40B4-BE49-F238E27FC236}">
                  <a16:creationId xmlns:a16="http://schemas.microsoft.com/office/drawing/2014/main" id="{CF0E5B37-9183-6A5D-8581-0C5094C20FF0}"/>
                </a:ext>
              </a:extLst>
            </p:cNvPr>
            <p:cNvCxnSpPr>
              <a:cxnSpLocks/>
            </p:cNvCxnSpPr>
            <p:nvPr/>
          </p:nvCxnSpPr>
          <p:spPr>
            <a:xfrm>
              <a:off x="2354793" y="1823949"/>
              <a:ext cx="1833120"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2">
              <a:extLst>
                <a:ext uri="{FF2B5EF4-FFF2-40B4-BE49-F238E27FC236}">
                  <a16:creationId xmlns:a16="http://schemas.microsoft.com/office/drawing/2014/main" id="{68E26AF2-0C0C-CED4-6790-7798C2892B2A}"/>
                </a:ext>
              </a:extLst>
            </p:cNvPr>
            <p:cNvSpPr txBox="1"/>
            <p:nvPr/>
          </p:nvSpPr>
          <p:spPr>
            <a:xfrm>
              <a:off x="2354793" y="1864034"/>
              <a:ext cx="1792083" cy="338554"/>
            </a:xfrm>
            <a:prstGeom prst="rect">
              <a:avLst/>
            </a:prstGeom>
            <a:noFill/>
          </p:spPr>
          <p:txBody>
            <a:bodyPr wrap="square" rtlCol="0">
              <a:spAutoFit/>
            </a:bodyPr>
            <a:lstStyle/>
            <a:p>
              <a:pPr algn="ctr"/>
              <a:r>
                <a:rPr lang="en-US" sz="1600" b="1">
                  <a:solidFill>
                    <a:srgbClr val="FF0000"/>
                  </a:solidFill>
                </a:rPr>
                <a:t>0.05s</a:t>
              </a:r>
            </a:p>
          </p:txBody>
        </p:sp>
      </p:grpSp>
      <p:sp>
        <p:nvSpPr>
          <p:cNvPr id="19" name="TextBox 6">
            <a:extLst>
              <a:ext uri="{FF2B5EF4-FFF2-40B4-BE49-F238E27FC236}">
                <a16:creationId xmlns:a16="http://schemas.microsoft.com/office/drawing/2014/main" id="{08D9491A-40CB-F7CE-7222-29287C762012}"/>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spTree>
    <p:extLst>
      <p:ext uri="{BB962C8B-B14F-4D97-AF65-F5344CB8AC3E}">
        <p14:creationId xmlns:p14="http://schemas.microsoft.com/office/powerpoint/2010/main" val="1302333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054D-46DC-0C4D-BDAE-8C2953DC670C}"/>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4AE1E775-C4CB-8F7E-9059-F25A254EF20B}"/>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36</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215C9212-EE31-794F-41F5-4DD3863379AE}"/>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C6B7EF49-0CE4-4989-847E-893F3AFB8CF6}"/>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KB1</a:t>
            </a:r>
          </a:p>
        </p:txBody>
      </p:sp>
      <p:sp>
        <p:nvSpPr>
          <p:cNvPr id="19" name="TextBox 6">
            <a:extLst>
              <a:ext uri="{FF2B5EF4-FFF2-40B4-BE49-F238E27FC236}">
                <a16:creationId xmlns:a16="http://schemas.microsoft.com/office/drawing/2014/main" id="{18A4CD91-83A2-147A-6E19-88F9C02592DD}"/>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grpSp>
        <p:nvGrpSpPr>
          <p:cNvPr id="18" name="Nhóm 17">
            <a:extLst>
              <a:ext uri="{FF2B5EF4-FFF2-40B4-BE49-F238E27FC236}">
                <a16:creationId xmlns:a16="http://schemas.microsoft.com/office/drawing/2014/main" id="{A777F665-6B83-3B8A-0054-448CE61B333A}"/>
              </a:ext>
            </a:extLst>
          </p:cNvPr>
          <p:cNvGrpSpPr/>
          <p:nvPr/>
        </p:nvGrpSpPr>
        <p:grpSpPr>
          <a:xfrm>
            <a:off x="251187" y="1374594"/>
            <a:ext cx="8500821" cy="4006012"/>
            <a:chOff x="338736" y="1425994"/>
            <a:chExt cx="8500821" cy="4006012"/>
          </a:xfrm>
        </p:grpSpPr>
        <p:pic>
          <p:nvPicPr>
            <p:cNvPr id="13" name="Hình ảnh 12">
              <a:extLst>
                <a:ext uri="{FF2B5EF4-FFF2-40B4-BE49-F238E27FC236}">
                  <a16:creationId xmlns:a16="http://schemas.microsoft.com/office/drawing/2014/main" id="{6F8728D3-0DD3-FA37-D5AE-7918F772EB8F}"/>
                </a:ext>
              </a:extLst>
            </p:cNvPr>
            <p:cNvPicPr>
              <a:picLocks noChangeAspect="1"/>
            </p:cNvPicPr>
            <p:nvPr/>
          </p:nvPicPr>
          <p:blipFill>
            <a:blip r:embed="rId2"/>
            <a:stretch>
              <a:fillRect/>
            </a:stretch>
          </p:blipFill>
          <p:spPr>
            <a:xfrm>
              <a:off x="338736" y="1425994"/>
              <a:ext cx="8500821" cy="4006012"/>
            </a:xfrm>
            <a:prstGeom prst="rect">
              <a:avLst/>
            </a:prstGeom>
          </p:spPr>
        </p:pic>
        <p:cxnSp>
          <p:nvCxnSpPr>
            <p:cNvPr id="14" name="Straight Arrow Connector 7">
              <a:extLst>
                <a:ext uri="{FF2B5EF4-FFF2-40B4-BE49-F238E27FC236}">
                  <a16:creationId xmlns:a16="http://schemas.microsoft.com/office/drawing/2014/main" id="{ABBE4C10-32E0-EA6E-0B5D-ADBDAA3FC1AE}"/>
                </a:ext>
              </a:extLst>
            </p:cNvPr>
            <p:cNvCxnSpPr>
              <a:cxnSpLocks/>
            </p:cNvCxnSpPr>
            <p:nvPr/>
          </p:nvCxnSpPr>
          <p:spPr>
            <a:xfrm>
              <a:off x="457200" y="2650652"/>
              <a:ext cx="34338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9">
              <a:extLst>
                <a:ext uri="{FF2B5EF4-FFF2-40B4-BE49-F238E27FC236}">
                  <a16:creationId xmlns:a16="http://schemas.microsoft.com/office/drawing/2014/main" id="{DB09302C-005E-BF6C-4415-D7FB4018814D}"/>
                </a:ext>
              </a:extLst>
            </p:cNvPr>
            <p:cNvSpPr txBox="1"/>
            <p:nvPr/>
          </p:nvSpPr>
          <p:spPr>
            <a:xfrm>
              <a:off x="457200" y="2895299"/>
              <a:ext cx="3190671" cy="338554"/>
            </a:xfrm>
            <a:prstGeom prst="rect">
              <a:avLst/>
            </a:prstGeom>
            <a:noFill/>
          </p:spPr>
          <p:txBody>
            <a:bodyPr wrap="square" rtlCol="0">
              <a:spAutoFit/>
            </a:bodyPr>
            <a:lstStyle/>
            <a:p>
              <a:pPr algn="ctr"/>
              <a:r>
                <a:rPr lang="en-US" sz="1600" b="1">
                  <a:solidFill>
                    <a:srgbClr val="FF0000"/>
                  </a:solidFill>
                </a:rPr>
                <a:t>Chạy CL diode nạp tụ</a:t>
              </a:r>
            </a:p>
          </p:txBody>
        </p:sp>
      </p:grpSp>
      <p:sp>
        <p:nvSpPr>
          <p:cNvPr id="20" name="Hình Bầu dục 19">
            <a:extLst>
              <a:ext uri="{FF2B5EF4-FFF2-40B4-BE49-F238E27FC236}">
                <a16:creationId xmlns:a16="http://schemas.microsoft.com/office/drawing/2014/main" id="{520350B8-067A-B1E9-3D84-E5FB91EFB5E4}"/>
              </a:ext>
            </a:extLst>
          </p:cNvPr>
          <p:cNvSpPr/>
          <p:nvPr/>
        </p:nvSpPr>
        <p:spPr>
          <a:xfrm>
            <a:off x="3560322" y="5038927"/>
            <a:ext cx="535023" cy="3385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31">
            <a:extLst>
              <a:ext uri="{FF2B5EF4-FFF2-40B4-BE49-F238E27FC236}">
                <a16:creationId xmlns:a16="http://schemas.microsoft.com/office/drawing/2014/main" id="{E57B9507-462E-9818-EF93-D77620376DF9}"/>
              </a:ext>
            </a:extLst>
          </p:cNvPr>
          <p:cNvCxnSpPr>
            <a:cxnSpLocks/>
          </p:cNvCxnSpPr>
          <p:nvPr/>
        </p:nvCxnSpPr>
        <p:spPr>
          <a:xfrm>
            <a:off x="4002553" y="5347656"/>
            <a:ext cx="852454" cy="1357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Hộp Văn bản 26">
            <a:extLst>
              <a:ext uri="{FF2B5EF4-FFF2-40B4-BE49-F238E27FC236}">
                <a16:creationId xmlns:a16="http://schemas.microsoft.com/office/drawing/2014/main" id="{DC6600AB-489B-C632-D61C-500E0DD04A42}"/>
              </a:ext>
            </a:extLst>
          </p:cNvPr>
          <p:cNvSpPr txBox="1"/>
          <p:nvPr/>
        </p:nvSpPr>
        <p:spPr>
          <a:xfrm>
            <a:off x="4855007" y="5364974"/>
            <a:ext cx="2682228" cy="923330"/>
          </a:xfrm>
          <a:prstGeom prst="rect">
            <a:avLst/>
          </a:prstGeom>
          <a:noFill/>
          <a:ln w="19050">
            <a:solidFill>
              <a:srgbClr val="FF0000"/>
            </a:solidFill>
          </a:ln>
        </p:spPr>
        <p:txBody>
          <a:bodyPr wrap="square" rtlCol="0">
            <a:spAutoFit/>
          </a:bodyPr>
          <a:lstStyle/>
          <a:p>
            <a:r>
              <a:rPr lang="en-US"/>
              <a:t>Tại thời điểm t=0.04s xung PWM được phát cho Mosfet</a:t>
            </a:r>
          </a:p>
        </p:txBody>
      </p:sp>
      <p:pic>
        <p:nvPicPr>
          <p:cNvPr id="29" name="Hình ảnh 28" descr="Ảnh có chứa văn bản, ảnh chụp màn hình, số, phần mềm&#10;&#10;Nội dung do AI tạo ra có thể không chính xác.">
            <a:extLst>
              <a:ext uri="{FF2B5EF4-FFF2-40B4-BE49-F238E27FC236}">
                <a16:creationId xmlns:a16="http://schemas.microsoft.com/office/drawing/2014/main" id="{E37D9C26-FC64-5269-09FD-436657EE3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2775" y="1897367"/>
            <a:ext cx="3190671" cy="3063266"/>
          </a:xfrm>
          <a:prstGeom prst="rect">
            <a:avLst/>
          </a:prstGeom>
        </p:spPr>
      </p:pic>
      <p:sp>
        <p:nvSpPr>
          <p:cNvPr id="30" name="Hình Bầu dục 29">
            <a:extLst>
              <a:ext uri="{FF2B5EF4-FFF2-40B4-BE49-F238E27FC236}">
                <a16:creationId xmlns:a16="http://schemas.microsoft.com/office/drawing/2014/main" id="{D146E365-692C-398D-333A-46923F172D8C}"/>
              </a:ext>
            </a:extLst>
          </p:cNvPr>
          <p:cNvSpPr/>
          <p:nvPr/>
        </p:nvSpPr>
        <p:spPr>
          <a:xfrm>
            <a:off x="8870472" y="2749685"/>
            <a:ext cx="535023" cy="3385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1">
            <a:extLst>
              <a:ext uri="{FF2B5EF4-FFF2-40B4-BE49-F238E27FC236}">
                <a16:creationId xmlns:a16="http://schemas.microsoft.com/office/drawing/2014/main" id="{2CC222A8-B6BD-ECB3-2309-659A6306180F}"/>
              </a:ext>
            </a:extLst>
          </p:cNvPr>
          <p:cNvCxnSpPr>
            <a:cxnSpLocks/>
          </p:cNvCxnSpPr>
          <p:nvPr/>
        </p:nvCxnSpPr>
        <p:spPr>
          <a:xfrm flipH="1">
            <a:off x="7537235" y="3114578"/>
            <a:ext cx="1526443" cy="223307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445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B7F11-640A-77CA-2431-EC33820DAE62}"/>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13013520-0511-B7FC-57F3-4E1DA006B823}"/>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37</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69B7BF3E-A092-6580-5C44-34511ADD36B4}"/>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49B41BEF-0AEA-00AA-79C8-0A7315DFE911}"/>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KB1</a:t>
            </a:r>
          </a:p>
        </p:txBody>
      </p:sp>
      <p:sp>
        <p:nvSpPr>
          <p:cNvPr id="19" name="TextBox 6">
            <a:extLst>
              <a:ext uri="{FF2B5EF4-FFF2-40B4-BE49-F238E27FC236}">
                <a16:creationId xmlns:a16="http://schemas.microsoft.com/office/drawing/2014/main" id="{D3F77BDA-8B66-0AD2-BA16-D3B03CA2BAA8}"/>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pic>
        <p:nvPicPr>
          <p:cNvPr id="13" name="Hình ảnh 12">
            <a:extLst>
              <a:ext uri="{FF2B5EF4-FFF2-40B4-BE49-F238E27FC236}">
                <a16:creationId xmlns:a16="http://schemas.microsoft.com/office/drawing/2014/main" id="{F0D721E1-1A2B-AEFB-2609-51CA7D7E5F7F}"/>
              </a:ext>
            </a:extLst>
          </p:cNvPr>
          <p:cNvPicPr>
            <a:picLocks noChangeAspect="1"/>
          </p:cNvPicPr>
          <p:nvPr/>
        </p:nvPicPr>
        <p:blipFill>
          <a:blip r:embed="rId2"/>
          <a:stretch>
            <a:fillRect/>
          </a:stretch>
        </p:blipFill>
        <p:spPr>
          <a:xfrm>
            <a:off x="87548" y="1174539"/>
            <a:ext cx="10001766" cy="5004428"/>
          </a:xfrm>
          <a:prstGeom prst="rect">
            <a:avLst/>
          </a:prstGeom>
        </p:spPr>
      </p:pic>
      <p:cxnSp>
        <p:nvCxnSpPr>
          <p:cNvPr id="14" name="Straight Arrow Connector 7">
            <a:extLst>
              <a:ext uri="{FF2B5EF4-FFF2-40B4-BE49-F238E27FC236}">
                <a16:creationId xmlns:a16="http://schemas.microsoft.com/office/drawing/2014/main" id="{EE3DD0DB-1215-D35E-E709-DD818988C110}"/>
              </a:ext>
            </a:extLst>
          </p:cNvPr>
          <p:cNvCxnSpPr>
            <a:cxnSpLocks/>
          </p:cNvCxnSpPr>
          <p:nvPr/>
        </p:nvCxnSpPr>
        <p:spPr>
          <a:xfrm>
            <a:off x="229751" y="4318823"/>
            <a:ext cx="153633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9">
            <a:extLst>
              <a:ext uri="{FF2B5EF4-FFF2-40B4-BE49-F238E27FC236}">
                <a16:creationId xmlns:a16="http://schemas.microsoft.com/office/drawing/2014/main" id="{A35FF14B-5314-D601-2E3F-851B405F1D80}"/>
              </a:ext>
            </a:extLst>
          </p:cNvPr>
          <p:cNvSpPr txBox="1"/>
          <p:nvPr/>
        </p:nvSpPr>
        <p:spPr>
          <a:xfrm>
            <a:off x="87548" y="4404179"/>
            <a:ext cx="1792083" cy="584775"/>
          </a:xfrm>
          <a:prstGeom prst="rect">
            <a:avLst/>
          </a:prstGeom>
          <a:noFill/>
        </p:spPr>
        <p:txBody>
          <a:bodyPr wrap="square" rtlCol="0">
            <a:spAutoFit/>
          </a:bodyPr>
          <a:lstStyle/>
          <a:p>
            <a:pPr algn="ctr"/>
            <a:r>
              <a:rPr lang="en-US" sz="1600" b="1">
                <a:solidFill>
                  <a:srgbClr val="FF0000"/>
                </a:solidFill>
              </a:rPr>
              <a:t>Chạy CL diode nạp tụ</a:t>
            </a:r>
          </a:p>
        </p:txBody>
      </p:sp>
      <p:sp>
        <p:nvSpPr>
          <p:cNvPr id="17" name="Hình Bầu dục 16">
            <a:extLst>
              <a:ext uri="{FF2B5EF4-FFF2-40B4-BE49-F238E27FC236}">
                <a16:creationId xmlns:a16="http://schemas.microsoft.com/office/drawing/2014/main" id="{FFD210CE-F119-6A43-B415-EFBA0A81754E}"/>
              </a:ext>
            </a:extLst>
          </p:cNvPr>
          <p:cNvSpPr/>
          <p:nvPr/>
        </p:nvSpPr>
        <p:spPr>
          <a:xfrm>
            <a:off x="2334639" y="1422366"/>
            <a:ext cx="914400" cy="4001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ình Bầu dục 17">
            <a:extLst>
              <a:ext uri="{FF2B5EF4-FFF2-40B4-BE49-F238E27FC236}">
                <a16:creationId xmlns:a16="http://schemas.microsoft.com/office/drawing/2014/main" id="{6037E79F-DC3E-3B9E-F6D2-72253322B18A}"/>
              </a:ext>
            </a:extLst>
          </p:cNvPr>
          <p:cNvSpPr/>
          <p:nvPr/>
        </p:nvSpPr>
        <p:spPr>
          <a:xfrm>
            <a:off x="8028563" y="1574649"/>
            <a:ext cx="914400" cy="4001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31">
            <a:extLst>
              <a:ext uri="{FF2B5EF4-FFF2-40B4-BE49-F238E27FC236}">
                <a16:creationId xmlns:a16="http://schemas.microsoft.com/office/drawing/2014/main" id="{F4126E3E-D495-3B53-8BAB-CABCB177FB75}"/>
              </a:ext>
            </a:extLst>
          </p:cNvPr>
          <p:cNvCxnSpPr>
            <a:cxnSpLocks/>
          </p:cNvCxnSpPr>
          <p:nvPr/>
        </p:nvCxnSpPr>
        <p:spPr>
          <a:xfrm flipH="1">
            <a:off x="2603435" y="1853715"/>
            <a:ext cx="188404" cy="32744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23" name="Hình ảnh 22">
            <a:extLst>
              <a:ext uri="{FF2B5EF4-FFF2-40B4-BE49-F238E27FC236}">
                <a16:creationId xmlns:a16="http://schemas.microsoft.com/office/drawing/2014/main" id="{FA3DC862-311A-B921-8C51-B9DBD1955AE2}"/>
              </a:ext>
            </a:extLst>
          </p:cNvPr>
          <p:cNvPicPr>
            <a:picLocks noChangeAspect="1"/>
          </p:cNvPicPr>
          <p:nvPr/>
        </p:nvPicPr>
        <p:blipFill>
          <a:blip r:embed="rId3"/>
          <a:srcRect l="16291" t="965" r="57872" b="52950"/>
          <a:stretch/>
        </p:blipFill>
        <p:spPr>
          <a:xfrm>
            <a:off x="1879631" y="2186688"/>
            <a:ext cx="1255649" cy="1055449"/>
          </a:xfrm>
          <a:prstGeom prst="rect">
            <a:avLst/>
          </a:prstGeom>
          <a:ln w="19050">
            <a:solidFill>
              <a:srgbClr val="00B0F0"/>
            </a:solidFill>
          </a:ln>
        </p:spPr>
      </p:pic>
      <p:cxnSp>
        <p:nvCxnSpPr>
          <p:cNvPr id="25" name="Straight Arrow Connector 7">
            <a:extLst>
              <a:ext uri="{FF2B5EF4-FFF2-40B4-BE49-F238E27FC236}">
                <a16:creationId xmlns:a16="http://schemas.microsoft.com/office/drawing/2014/main" id="{5F5E8444-0D9D-6D4E-5B51-2C35CB079B3A}"/>
              </a:ext>
            </a:extLst>
          </p:cNvPr>
          <p:cNvCxnSpPr>
            <a:cxnSpLocks/>
          </p:cNvCxnSpPr>
          <p:nvPr/>
        </p:nvCxnSpPr>
        <p:spPr>
          <a:xfrm>
            <a:off x="2603435" y="2256817"/>
            <a:ext cx="0" cy="876191"/>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9">
            <a:extLst>
              <a:ext uri="{FF2B5EF4-FFF2-40B4-BE49-F238E27FC236}">
                <a16:creationId xmlns:a16="http://schemas.microsoft.com/office/drawing/2014/main" id="{5EB36F0B-99C9-8A17-08FD-8CB4236FE5DF}"/>
              </a:ext>
            </a:extLst>
          </p:cNvPr>
          <p:cNvSpPr txBox="1"/>
          <p:nvPr/>
        </p:nvSpPr>
        <p:spPr>
          <a:xfrm>
            <a:off x="2545719" y="2560588"/>
            <a:ext cx="550886" cy="338554"/>
          </a:xfrm>
          <a:prstGeom prst="rect">
            <a:avLst/>
          </a:prstGeom>
          <a:noFill/>
        </p:spPr>
        <p:txBody>
          <a:bodyPr wrap="square" rtlCol="0">
            <a:spAutoFit/>
          </a:bodyPr>
          <a:lstStyle/>
          <a:p>
            <a:pPr algn="ctr"/>
            <a:r>
              <a:rPr lang="en-US" sz="1600" b="1">
                <a:solidFill>
                  <a:srgbClr val="002060"/>
                </a:solidFill>
              </a:rPr>
              <a:t>88V</a:t>
            </a:r>
          </a:p>
        </p:txBody>
      </p:sp>
      <p:pic>
        <p:nvPicPr>
          <p:cNvPr id="34" name="Hình ảnh 33">
            <a:extLst>
              <a:ext uri="{FF2B5EF4-FFF2-40B4-BE49-F238E27FC236}">
                <a16:creationId xmlns:a16="http://schemas.microsoft.com/office/drawing/2014/main" id="{DEA8C8C0-DE67-57CC-DA75-0AECFEFF03AF}"/>
              </a:ext>
            </a:extLst>
          </p:cNvPr>
          <p:cNvPicPr>
            <a:picLocks noChangeAspect="1"/>
          </p:cNvPicPr>
          <p:nvPr/>
        </p:nvPicPr>
        <p:blipFill>
          <a:blip r:embed="rId4"/>
          <a:srcRect t="9901" r="58112" b="51489"/>
          <a:stretch/>
        </p:blipFill>
        <p:spPr>
          <a:xfrm>
            <a:off x="6897809" y="2203911"/>
            <a:ext cx="1782507" cy="924173"/>
          </a:xfrm>
          <a:prstGeom prst="rect">
            <a:avLst/>
          </a:prstGeom>
          <a:ln w="19050">
            <a:solidFill>
              <a:srgbClr val="00B0F0"/>
            </a:solidFill>
          </a:ln>
        </p:spPr>
      </p:pic>
      <p:cxnSp>
        <p:nvCxnSpPr>
          <p:cNvPr id="37" name="Straight Arrow Connector 31">
            <a:extLst>
              <a:ext uri="{FF2B5EF4-FFF2-40B4-BE49-F238E27FC236}">
                <a16:creationId xmlns:a16="http://schemas.microsoft.com/office/drawing/2014/main" id="{12BBF817-10AF-4D54-0F71-725F8C59E275}"/>
              </a:ext>
            </a:extLst>
          </p:cNvPr>
          <p:cNvCxnSpPr>
            <a:cxnSpLocks/>
          </p:cNvCxnSpPr>
          <p:nvPr/>
        </p:nvCxnSpPr>
        <p:spPr>
          <a:xfrm flipH="1">
            <a:off x="8183600" y="1929373"/>
            <a:ext cx="188404" cy="327444"/>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7">
            <a:extLst>
              <a:ext uri="{FF2B5EF4-FFF2-40B4-BE49-F238E27FC236}">
                <a16:creationId xmlns:a16="http://schemas.microsoft.com/office/drawing/2014/main" id="{D7B3E412-83F9-1477-4B72-32DF49C06360}"/>
              </a:ext>
            </a:extLst>
          </p:cNvPr>
          <p:cNvCxnSpPr>
            <a:cxnSpLocks/>
          </p:cNvCxnSpPr>
          <p:nvPr/>
        </p:nvCxnSpPr>
        <p:spPr>
          <a:xfrm>
            <a:off x="8527312" y="2313554"/>
            <a:ext cx="0" cy="762716"/>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9">
            <a:extLst>
              <a:ext uri="{FF2B5EF4-FFF2-40B4-BE49-F238E27FC236}">
                <a16:creationId xmlns:a16="http://schemas.microsoft.com/office/drawing/2014/main" id="{21C01284-2962-5278-75A6-29CD71D2FB34}"/>
              </a:ext>
            </a:extLst>
          </p:cNvPr>
          <p:cNvSpPr txBox="1"/>
          <p:nvPr/>
        </p:nvSpPr>
        <p:spPr>
          <a:xfrm>
            <a:off x="8429772" y="2543309"/>
            <a:ext cx="836279" cy="338554"/>
          </a:xfrm>
          <a:prstGeom prst="rect">
            <a:avLst/>
          </a:prstGeom>
          <a:noFill/>
        </p:spPr>
        <p:txBody>
          <a:bodyPr wrap="square" rtlCol="0">
            <a:spAutoFit/>
          </a:bodyPr>
          <a:lstStyle/>
          <a:p>
            <a:pPr algn="ctr"/>
            <a:r>
              <a:rPr lang="en-US" sz="1600" b="1">
                <a:solidFill>
                  <a:srgbClr val="002060"/>
                </a:solidFill>
              </a:rPr>
              <a:t>10.53V</a:t>
            </a:r>
          </a:p>
        </p:txBody>
      </p:sp>
      <p:cxnSp>
        <p:nvCxnSpPr>
          <p:cNvPr id="41" name="Straight Arrow Connector 7">
            <a:extLst>
              <a:ext uri="{FF2B5EF4-FFF2-40B4-BE49-F238E27FC236}">
                <a16:creationId xmlns:a16="http://schemas.microsoft.com/office/drawing/2014/main" id="{D502C445-2CC2-C994-85E4-5532F895A8C4}"/>
              </a:ext>
            </a:extLst>
          </p:cNvPr>
          <p:cNvCxnSpPr>
            <a:cxnSpLocks/>
          </p:cNvCxnSpPr>
          <p:nvPr/>
        </p:nvCxnSpPr>
        <p:spPr>
          <a:xfrm>
            <a:off x="7065405" y="2729865"/>
            <a:ext cx="1420358"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9">
            <a:extLst>
              <a:ext uri="{FF2B5EF4-FFF2-40B4-BE49-F238E27FC236}">
                <a16:creationId xmlns:a16="http://schemas.microsoft.com/office/drawing/2014/main" id="{1BAA4814-A1A5-B2F4-3991-9DCA792B88F7}"/>
              </a:ext>
            </a:extLst>
          </p:cNvPr>
          <p:cNvSpPr txBox="1"/>
          <p:nvPr/>
        </p:nvSpPr>
        <p:spPr>
          <a:xfrm>
            <a:off x="6492873" y="3200410"/>
            <a:ext cx="1992890" cy="584775"/>
          </a:xfrm>
          <a:prstGeom prst="rect">
            <a:avLst/>
          </a:prstGeom>
          <a:noFill/>
        </p:spPr>
        <p:txBody>
          <a:bodyPr wrap="square" rtlCol="0">
            <a:spAutoFit/>
          </a:bodyPr>
          <a:lstStyle/>
          <a:p>
            <a:pPr algn="ctr"/>
            <a:r>
              <a:rPr lang="en-US" sz="1600" b="1" err="1">
                <a:solidFill>
                  <a:srgbClr val="FF0000"/>
                </a:solidFill>
              </a:rPr>
              <a:t>Điện</a:t>
            </a:r>
            <a:r>
              <a:rPr lang="en-US" sz="1600" b="1">
                <a:solidFill>
                  <a:srgbClr val="FF0000"/>
                </a:solidFill>
              </a:rPr>
              <a:t> </a:t>
            </a:r>
            <a:r>
              <a:rPr lang="en-US" sz="1600" b="1" err="1">
                <a:solidFill>
                  <a:srgbClr val="FF0000"/>
                </a:solidFill>
              </a:rPr>
              <a:t>áp</a:t>
            </a:r>
            <a:r>
              <a:rPr lang="en-US" sz="1600" b="1">
                <a:solidFill>
                  <a:srgbClr val="FF0000"/>
                </a:solidFill>
              </a:rPr>
              <a:t> </a:t>
            </a:r>
            <a:r>
              <a:rPr lang="en-US" sz="1600" b="1" err="1">
                <a:solidFill>
                  <a:srgbClr val="FF0000"/>
                </a:solidFill>
              </a:rPr>
              <a:t>đập</a:t>
            </a:r>
            <a:r>
              <a:rPr lang="en-US" sz="1600" b="1">
                <a:solidFill>
                  <a:srgbClr val="FF0000"/>
                </a:solidFill>
              </a:rPr>
              <a:t> </a:t>
            </a:r>
            <a:r>
              <a:rPr lang="en-US" sz="1600" b="1" err="1">
                <a:solidFill>
                  <a:srgbClr val="FF0000"/>
                </a:solidFill>
              </a:rPr>
              <a:t>mạch</a:t>
            </a:r>
            <a:r>
              <a:rPr lang="en-US" sz="1600" b="1">
                <a:solidFill>
                  <a:srgbClr val="FF0000"/>
                </a:solidFill>
              </a:rPr>
              <a:t> </a:t>
            </a:r>
            <a:r>
              <a:rPr lang="en-US" sz="1600" b="1" err="1">
                <a:solidFill>
                  <a:srgbClr val="FF0000"/>
                </a:solidFill>
              </a:rPr>
              <a:t>tần</a:t>
            </a:r>
            <a:r>
              <a:rPr lang="en-US" sz="1600" b="1">
                <a:solidFill>
                  <a:srgbClr val="FF0000"/>
                </a:solidFill>
              </a:rPr>
              <a:t> </a:t>
            </a:r>
            <a:r>
              <a:rPr lang="en-US" sz="1600" b="1" err="1">
                <a:solidFill>
                  <a:srgbClr val="FF0000"/>
                </a:solidFill>
              </a:rPr>
              <a:t>số</a:t>
            </a:r>
            <a:r>
              <a:rPr lang="en-US" sz="1600" b="1">
                <a:solidFill>
                  <a:srgbClr val="FF0000"/>
                </a:solidFill>
              </a:rPr>
              <a:t> 100Hz</a:t>
            </a:r>
          </a:p>
        </p:txBody>
      </p:sp>
      <p:cxnSp>
        <p:nvCxnSpPr>
          <p:cNvPr id="45" name="Straight Arrow Connector 31">
            <a:extLst>
              <a:ext uri="{FF2B5EF4-FFF2-40B4-BE49-F238E27FC236}">
                <a16:creationId xmlns:a16="http://schemas.microsoft.com/office/drawing/2014/main" id="{CB2C0388-4769-EEC5-68FE-A274EE177457}"/>
              </a:ext>
            </a:extLst>
          </p:cNvPr>
          <p:cNvCxnSpPr>
            <a:cxnSpLocks/>
          </p:cNvCxnSpPr>
          <p:nvPr/>
        </p:nvCxnSpPr>
        <p:spPr>
          <a:xfrm flipH="1">
            <a:off x="7489318" y="2792235"/>
            <a:ext cx="171707" cy="44990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48" name="Hình ảnh 47">
            <a:extLst>
              <a:ext uri="{FF2B5EF4-FFF2-40B4-BE49-F238E27FC236}">
                <a16:creationId xmlns:a16="http://schemas.microsoft.com/office/drawing/2014/main" id="{97D37242-762E-0523-4BDF-ABF1EB89080B}"/>
              </a:ext>
            </a:extLst>
          </p:cNvPr>
          <p:cNvPicPr>
            <a:picLocks noChangeAspect="1"/>
          </p:cNvPicPr>
          <p:nvPr/>
        </p:nvPicPr>
        <p:blipFill>
          <a:blip r:embed="rId5"/>
          <a:srcRect t="53302" r="85884" b="21471"/>
          <a:stretch/>
        </p:blipFill>
        <p:spPr>
          <a:xfrm>
            <a:off x="6492873" y="4124726"/>
            <a:ext cx="1213178" cy="1021747"/>
          </a:xfrm>
          <a:prstGeom prst="rect">
            <a:avLst/>
          </a:prstGeom>
          <a:ln w="19050">
            <a:solidFill>
              <a:srgbClr val="00B0F0"/>
            </a:solidFill>
          </a:ln>
        </p:spPr>
      </p:pic>
      <p:cxnSp>
        <p:nvCxnSpPr>
          <p:cNvPr id="49" name="Straight Arrow Connector 7">
            <a:extLst>
              <a:ext uri="{FF2B5EF4-FFF2-40B4-BE49-F238E27FC236}">
                <a16:creationId xmlns:a16="http://schemas.microsoft.com/office/drawing/2014/main" id="{2510A77B-FDD3-6F2C-1DF7-263AFF3EE928}"/>
              </a:ext>
            </a:extLst>
          </p:cNvPr>
          <p:cNvCxnSpPr>
            <a:cxnSpLocks/>
          </p:cNvCxnSpPr>
          <p:nvPr/>
        </p:nvCxnSpPr>
        <p:spPr>
          <a:xfrm flipV="1">
            <a:off x="7883398" y="4260866"/>
            <a:ext cx="0" cy="548209"/>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Đường nối Thẳng 52">
            <a:extLst>
              <a:ext uri="{FF2B5EF4-FFF2-40B4-BE49-F238E27FC236}">
                <a16:creationId xmlns:a16="http://schemas.microsoft.com/office/drawing/2014/main" id="{2395CCD1-37D9-8F47-4277-43B76202E34F}"/>
              </a:ext>
            </a:extLst>
          </p:cNvPr>
          <p:cNvCxnSpPr/>
          <p:nvPr/>
        </p:nvCxnSpPr>
        <p:spPr>
          <a:xfrm>
            <a:off x="6859277" y="4239177"/>
            <a:ext cx="1055998"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Đường nối Thẳng 53">
            <a:extLst>
              <a:ext uri="{FF2B5EF4-FFF2-40B4-BE49-F238E27FC236}">
                <a16:creationId xmlns:a16="http://schemas.microsoft.com/office/drawing/2014/main" id="{FB3E673D-71B6-47EB-C699-E4D148089DAE}"/>
              </a:ext>
            </a:extLst>
          </p:cNvPr>
          <p:cNvCxnSpPr>
            <a:cxnSpLocks/>
          </p:cNvCxnSpPr>
          <p:nvPr/>
        </p:nvCxnSpPr>
        <p:spPr>
          <a:xfrm>
            <a:off x="6813557" y="4810677"/>
            <a:ext cx="1101718"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9" name="TextBox 19">
                <a:extLst>
                  <a:ext uri="{FF2B5EF4-FFF2-40B4-BE49-F238E27FC236}">
                    <a16:creationId xmlns:a16="http://schemas.microsoft.com/office/drawing/2014/main" id="{9762C54E-785A-218D-5C5E-8D6D3378CFBE}"/>
                  </a:ext>
                </a:extLst>
              </p:cNvPr>
              <p:cNvSpPr txBox="1"/>
              <p:nvPr/>
            </p:nvSpPr>
            <p:spPr>
              <a:xfrm>
                <a:off x="7742187" y="4237846"/>
                <a:ext cx="1992890" cy="584775"/>
              </a:xfrm>
              <a:prstGeom prst="rect">
                <a:avLst/>
              </a:prstGeom>
              <a:noFill/>
            </p:spPr>
            <p:txBody>
              <a:bodyPr wrap="square" rtlCol="0">
                <a:spAutoFit/>
              </a:bodyPr>
              <a:lstStyle/>
              <a:p>
                <a:pPr algn="ctr"/>
                <a:r>
                  <a:rPr lang="en-US" sz="1600" b="1">
                    <a:solidFill>
                      <a:srgbClr val="FF0000"/>
                    </a:solidFill>
                  </a:rPr>
                  <a:t>Dòng đập mạch 0.73A = 10.5%</a:t>
                </a:r>
                <a14:m>
                  <m:oMath xmlns:m="http://schemas.openxmlformats.org/officeDocument/2006/math">
                    <m:sSub>
                      <m:sSubPr>
                        <m:ctrlPr>
                          <a:rPr lang="en-US" sz="1600" b="1" i="1" smtClean="0">
                            <a:solidFill>
                              <a:srgbClr val="FF0000"/>
                            </a:solidFill>
                            <a:latin typeface="Cambria Math" panose="02040503050406030204" pitchFamily="18" charset="0"/>
                          </a:rPr>
                        </m:ctrlPr>
                      </m:sSubPr>
                      <m:e>
                        <m:r>
                          <a:rPr lang="en-US" sz="1600" b="1" i="1" smtClean="0">
                            <a:solidFill>
                              <a:srgbClr val="FF0000"/>
                            </a:solidFill>
                            <a:latin typeface="Cambria Math" panose="02040503050406030204" pitchFamily="18" charset="0"/>
                          </a:rPr>
                          <m:t>𝑰</m:t>
                        </m:r>
                      </m:e>
                      <m:sub>
                        <m:r>
                          <a:rPr lang="en-US" sz="1600" b="1" i="1" smtClean="0">
                            <a:solidFill>
                              <a:srgbClr val="FF0000"/>
                            </a:solidFill>
                            <a:latin typeface="Cambria Math" panose="02040503050406030204" pitchFamily="18" charset="0"/>
                          </a:rPr>
                          <m:t>𝑳</m:t>
                        </m:r>
                      </m:sub>
                    </m:sSub>
                  </m:oMath>
                </a14:m>
                <a:endParaRPr lang="en-US" sz="1600" b="1">
                  <a:solidFill>
                    <a:srgbClr val="FF0000"/>
                  </a:solidFill>
                </a:endParaRPr>
              </a:p>
            </p:txBody>
          </p:sp>
        </mc:Choice>
        <mc:Fallback xmlns="">
          <p:sp>
            <p:nvSpPr>
              <p:cNvPr id="59" name="TextBox 19">
                <a:extLst>
                  <a:ext uri="{FF2B5EF4-FFF2-40B4-BE49-F238E27FC236}">
                    <a16:creationId xmlns:a16="http://schemas.microsoft.com/office/drawing/2014/main" id="{9762C54E-785A-218D-5C5E-8D6D3378CFBE}"/>
                  </a:ext>
                </a:extLst>
              </p:cNvPr>
              <p:cNvSpPr txBox="1">
                <a:spLocks noRot="1" noChangeAspect="1" noMove="1" noResize="1" noEditPoints="1" noAdjustHandles="1" noChangeArrowheads="1" noChangeShapeType="1" noTextEdit="1"/>
              </p:cNvSpPr>
              <p:nvPr/>
            </p:nvSpPr>
            <p:spPr>
              <a:xfrm>
                <a:off x="7742187" y="4237846"/>
                <a:ext cx="1992890" cy="584775"/>
              </a:xfrm>
              <a:prstGeom prst="rect">
                <a:avLst/>
              </a:prstGeom>
              <a:blipFill>
                <a:blip r:embed="rId6"/>
                <a:stretch>
                  <a:fillRect t="-3125" b="-12500"/>
                </a:stretch>
              </a:blipFill>
            </p:spPr>
            <p:txBody>
              <a:bodyPr/>
              <a:lstStyle/>
              <a:p>
                <a:r>
                  <a:rPr lang="en-US">
                    <a:noFill/>
                  </a:rPr>
                  <a:t> </a:t>
                </a:r>
              </a:p>
            </p:txBody>
          </p:sp>
        </mc:Fallback>
      </mc:AlternateContent>
      <p:pic>
        <p:nvPicPr>
          <p:cNvPr id="64" name="Hình ảnh 63">
            <a:extLst>
              <a:ext uri="{FF2B5EF4-FFF2-40B4-BE49-F238E27FC236}">
                <a16:creationId xmlns:a16="http://schemas.microsoft.com/office/drawing/2014/main" id="{71330CDE-5B8C-F9CC-8E37-7D37DBC63D8B}"/>
              </a:ext>
            </a:extLst>
          </p:cNvPr>
          <p:cNvPicPr>
            <a:picLocks noChangeAspect="1"/>
          </p:cNvPicPr>
          <p:nvPr/>
        </p:nvPicPr>
        <p:blipFill>
          <a:blip r:embed="rId7"/>
          <a:srcRect t="53087" r="73351" b="8356"/>
          <a:stretch/>
        </p:blipFill>
        <p:spPr>
          <a:xfrm>
            <a:off x="4547727" y="4019360"/>
            <a:ext cx="1498508" cy="1021746"/>
          </a:xfrm>
          <a:prstGeom prst="rect">
            <a:avLst/>
          </a:prstGeom>
          <a:ln w="19050">
            <a:solidFill>
              <a:srgbClr val="00B0F0"/>
            </a:solidFill>
          </a:ln>
        </p:spPr>
      </p:pic>
      <p:cxnSp>
        <p:nvCxnSpPr>
          <p:cNvPr id="65" name="Straight Arrow Connector 31">
            <a:extLst>
              <a:ext uri="{FF2B5EF4-FFF2-40B4-BE49-F238E27FC236}">
                <a16:creationId xmlns:a16="http://schemas.microsoft.com/office/drawing/2014/main" id="{815921D7-B850-6182-A779-7EC464AF4779}"/>
              </a:ext>
            </a:extLst>
          </p:cNvPr>
          <p:cNvCxnSpPr>
            <a:cxnSpLocks/>
          </p:cNvCxnSpPr>
          <p:nvPr/>
        </p:nvCxnSpPr>
        <p:spPr>
          <a:xfrm flipH="1">
            <a:off x="6056645" y="4588310"/>
            <a:ext cx="400092" cy="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7" name="Hình Bầu dục 66">
            <a:extLst>
              <a:ext uri="{FF2B5EF4-FFF2-40B4-BE49-F238E27FC236}">
                <a16:creationId xmlns:a16="http://schemas.microsoft.com/office/drawing/2014/main" id="{F0C180B7-6A5A-0874-3576-9DD286A0F46F}"/>
              </a:ext>
            </a:extLst>
          </p:cNvPr>
          <p:cNvSpPr/>
          <p:nvPr/>
        </p:nvSpPr>
        <p:spPr>
          <a:xfrm>
            <a:off x="7972572" y="5449539"/>
            <a:ext cx="513191" cy="4001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31">
            <a:extLst>
              <a:ext uri="{FF2B5EF4-FFF2-40B4-BE49-F238E27FC236}">
                <a16:creationId xmlns:a16="http://schemas.microsoft.com/office/drawing/2014/main" id="{A26E257F-E842-EDFC-5931-E8F19F318D50}"/>
              </a:ext>
            </a:extLst>
          </p:cNvPr>
          <p:cNvCxnSpPr>
            <a:cxnSpLocks/>
          </p:cNvCxnSpPr>
          <p:nvPr/>
        </p:nvCxnSpPr>
        <p:spPr>
          <a:xfrm flipH="1" flipV="1">
            <a:off x="7742187" y="5215922"/>
            <a:ext cx="286376" cy="23361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 name="Hộp Văn bản 1">
            <a:extLst>
              <a:ext uri="{FF2B5EF4-FFF2-40B4-BE49-F238E27FC236}">
                <a16:creationId xmlns:a16="http://schemas.microsoft.com/office/drawing/2014/main" id="{56EB8D70-2305-4FA6-AFDB-D6FEBA5B0823}"/>
              </a:ext>
            </a:extLst>
          </p:cNvPr>
          <p:cNvSpPr txBox="1"/>
          <p:nvPr/>
        </p:nvSpPr>
        <p:spPr>
          <a:xfrm>
            <a:off x="10256910" y="2403631"/>
            <a:ext cx="1690916" cy="2585323"/>
          </a:xfrm>
          <a:prstGeom prst="rect">
            <a:avLst/>
          </a:prstGeom>
          <a:noFill/>
          <a:ln w="19050">
            <a:solidFill>
              <a:srgbClr val="FF0000"/>
            </a:solidFill>
          </a:ln>
        </p:spPr>
        <p:txBody>
          <a:bodyPr wrap="square" rtlCol="0">
            <a:spAutoFit/>
          </a:bodyPr>
          <a:lstStyle/>
          <a:p>
            <a:r>
              <a:rPr lang="en-US"/>
              <a:t>Kết quả mô phỏng tại điều kiện nguồn và tải định mực đã bám sát tính toán. Tuy tồn tại sai lệch nhưng rất nhỏ có thể bỏ qua.</a:t>
            </a:r>
          </a:p>
        </p:txBody>
      </p:sp>
    </p:spTree>
    <p:extLst>
      <p:ext uri="{BB962C8B-B14F-4D97-AF65-F5344CB8AC3E}">
        <p14:creationId xmlns:p14="http://schemas.microsoft.com/office/powerpoint/2010/main" val="272634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F552F-FD8A-4A94-62D3-A789782A186C}"/>
            </a:ext>
          </a:extLst>
        </p:cNvPr>
        <p:cNvGrpSpPr/>
        <p:nvPr/>
      </p:nvGrpSpPr>
      <p:grpSpPr>
        <a:xfrm>
          <a:off x="0" y="0"/>
          <a:ext cx="0" cy="0"/>
          <a:chOff x="0" y="0"/>
          <a:chExt cx="0" cy="0"/>
        </a:xfrm>
      </p:grpSpPr>
      <p:pic>
        <p:nvPicPr>
          <p:cNvPr id="8" name="Hình ảnh 7">
            <a:extLst>
              <a:ext uri="{FF2B5EF4-FFF2-40B4-BE49-F238E27FC236}">
                <a16:creationId xmlns:a16="http://schemas.microsoft.com/office/drawing/2014/main" id="{8B2BC556-C4F4-9B42-1054-67DDB8242578}"/>
              </a:ext>
            </a:extLst>
          </p:cNvPr>
          <p:cNvPicPr>
            <a:picLocks noChangeAspect="1"/>
          </p:cNvPicPr>
          <p:nvPr/>
        </p:nvPicPr>
        <p:blipFill>
          <a:blip r:embed="rId2"/>
          <a:stretch>
            <a:fillRect/>
          </a:stretch>
        </p:blipFill>
        <p:spPr>
          <a:xfrm>
            <a:off x="1739092" y="1355432"/>
            <a:ext cx="9682480" cy="4562869"/>
          </a:xfrm>
          <a:prstGeom prst="rect">
            <a:avLst/>
          </a:prstGeom>
        </p:spPr>
      </p:pic>
      <p:sp>
        <p:nvSpPr>
          <p:cNvPr id="5" name="Slide Number Placeholder 3">
            <a:extLst>
              <a:ext uri="{FF2B5EF4-FFF2-40B4-BE49-F238E27FC236}">
                <a16:creationId xmlns:a16="http://schemas.microsoft.com/office/drawing/2014/main" id="{DB190FB1-7368-BFB6-8787-7EC37208DC46}"/>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38</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5DCF48A5-4163-03CD-C470-E4BEF7E2DA27}"/>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3C021634-A32C-7191-BF8F-5DA638DED14B}"/>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KB1</a:t>
            </a:r>
          </a:p>
        </p:txBody>
      </p:sp>
      <p:sp>
        <p:nvSpPr>
          <p:cNvPr id="19" name="TextBox 6">
            <a:extLst>
              <a:ext uri="{FF2B5EF4-FFF2-40B4-BE49-F238E27FC236}">
                <a16:creationId xmlns:a16="http://schemas.microsoft.com/office/drawing/2014/main" id="{E28C7E14-E2A3-D80F-4CE1-20AD6900547C}"/>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cxnSp>
        <p:nvCxnSpPr>
          <p:cNvPr id="6" name="Straight Arrow Connector 7">
            <a:extLst>
              <a:ext uri="{FF2B5EF4-FFF2-40B4-BE49-F238E27FC236}">
                <a16:creationId xmlns:a16="http://schemas.microsoft.com/office/drawing/2014/main" id="{77C23C2E-5929-1B90-56D9-76272721EC80}"/>
              </a:ext>
            </a:extLst>
          </p:cNvPr>
          <p:cNvCxnSpPr>
            <a:cxnSpLocks/>
          </p:cNvCxnSpPr>
          <p:nvPr/>
        </p:nvCxnSpPr>
        <p:spPr>
          <a:xfrm>
            <a:off x="4277360" y="4125939"/>
            <a:ext cx="3098800"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9">
                <a:extLst>
                  <a:ext uri="{FF2B5EF4-FFF2-40B4-BE49-F238E27FC236}">
                    <a16:creationId xmlns:a16="http://schemas.microsoft.com/office/drawing/2014/main" id="{5F50EABB-DE90-A142-C586-E102821C6CD6}"/>
                  </a:ext>
                </a:extLst>
              </p:cNvPr>
              <p:cNvSpPr txBox="1"/>
              <p:nvPr/>
            </p:nvSpPr>
            <p:spPr>
              <a:xfrm>
                <a:off x="4521504" y="4268766"/>
                <a:ext cx="2366976" cy="830997"/>
              </a:xfrm>
              <a:prstGeom prst="rect">
                <a:avLst/>
              </a:prstGeom>
              <a:noFill/>
            </p:spPr>
            <p:txBody>
              <a:bodyPr wrap="square" rtlCol="0">
                <a:spAutoFit/>
              </a:bodyPr>
              <a:lstStyle/>
              <a:p>
                <a:pPr algn="ctr"/>
                <a:r>
                  <a:rPr lang="en-US" sz="1600" b="1">
                    <a:solidFill>
                      <a:srgbClr val="00B050"/>
                    </a:solidFill>
                  </a:rPr>
                  <a:t>Dòng điện và điện áp phía lưới cùng pha với nhau -&gt; PF </a:t>
                </a:r>
                <a14:m>
                  <m:oMath xmlns:m="http://schemas.openxmlformats.org/officeDocument/2006/math">
                    <m:r>
                      <a:rPr lang="en-US" sz="1600" b="1" i="1" smtClean="0">
                        <a:solidFill>
                          <a:srgbClr val="00B050"/>
                        </a:solidFill>
                        <a:latin typeface="Cambria Math" panose="02040503050406030204" pitchFamily="18" charset="0"/>
                        <a:ea typeface="Cambria Math" panose="02040503050406030204" pitchFamily="18" charset="0"/>
                      </a:rPr>
                      <m:t>≈</m:t>
                    </m:r>
                  </m:oMath>
                </a14:m>
                <a:r>
                  <a:rPr lang="en-US" sz="1600" b="1">
                    <a:solidFill>
                      <a:srgbClr val="00B050"/>
                    </a:solidFill>
                  </a:rPr>
                  <a:t> 1</a:t>
                </a:r>
              </a:p>
            </p:txBody>
          </p:sp>
        </mc:Choice>
        <mc:Fallback xmlns="">
          <p:sp>
            <p:nvSpPr>
              <p:cNvPr id="7" name="TextBox 9">
                <a:extLst>
                  <a:ext uri="{FF2B5EF4-FFF2-40B4-BE49-F238E27FC236}">
                    <a16:creationId xmlns:a16="http://schemas.microsoft.com/office/drawing/2014/main" id="{5F50EABB-DE90-A142-C586-E102821C6CD6}"/>
                  </a:ext>
                </a:extLst>
              </p:cNvPr>
              <p:cNvSpPr txBox="1">
                <a:spLocks noRot="1" noChangeAspect="1" noMove="1" noResize="1" noEditPoints="1" noAdjustHandles="1" noChangeArrowheads="1" noChangeShapeType="1" noTextEdit="1"/>
              </p:cNvSpPr>
              <p:nvPr/>
            </p:nvSpPr>
            <p:spPr>
              <a:xfrm>
                <a:off x="4521504" y="4268766"/>
                <a:ext cx="2366976" cy="830997"/>
              </a:xfrm>
              <a:prstGeom prst="rect">
                <a:avLst/>
              </a:prstGeom>
              <a:blipFill>
                <a:blip r:embed="rId3"/>
                <a:stretch>
                  <a:fillRect t="-2190" b="-8029"/>
                </a:stretch>
              </a:blipFill>
            </p:spPr>
            <p:txBody>
              <a:bodyPr/>
              <a:lstStyle/>
              <a:p>
                <a:r>
                  <a:rPr lang="en-US">
                    <a:noFill/>
                  </a:rPr>
                  <a:t> </a:t>
                </a:r>
              </a:p>
            </p:txBody>
          </p:sp>
        </mc:Fallback>
      </mc:AlternateContent>
      <p:sp>
        <p:nvSpPr>
          <p:cNvPr id="9" name="TextBox 6">
            <a:extLst>
              <a:ext uri="{FF2B5EF4-FFF2-40B4-BE49-F238E27FC236}">
                <a16:creationId xmlns:a16="http://schemas.microsoft.com/office/drawing/2014/main" id="{94730B79-28E3-4A22-9841-4DF99D5E3B34}"/>
              </a:ext>
            </a:extLst>
          </p:cNvPr>
          <p:cNvSpPr txBox="1"/>
          <p:nvPr/>
        </p:nvSpPr>
        <p:spPr>
          <a:xfrm>
            <a:off x="4009696" y="6038463"/>
            <a:ext cx="6204608" cy="400110"/>
          </a:xfrm>
          <a:prstGeom prst="rect">
            <a:avLst/>
          </a:prstGeom>
          <a:noFill/>
        </p:spPr>
        <p:txBody>
          <a:bodyPr wrap="square" rtlCol="0">
            <a:spAutoFit/>
          </a:bodyPr>
          <a:lstStyle/>
          <a:p>
            <a:pPr algn="just"/>
            <a:r>
              <a:rPr lang="en-US" sz="2000"/>
              <a:t>Hình 4.7.3. Điện áp và dòng điện phía lưới</a:t>
            </a:r>
          </a:p>
        </p:txBody>
      </p:sp>
    </p:spTree>
    <p:extLst>
      <p:ext uri="{BB962C8B-B14F-4D97-AF65-F5344CB8AC3E}">
        <p14:creationId xmlns:p14="http://schemas.microsoft.com/office/powerpoint/2010/main" val="1612511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CDFF9-7594-46B8-F1B3-675543E6F123}"/>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48EC7C5E-288F-CA86-496D-10C5CDCA385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39</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3210766D-6EFC-4893-516F-CC3ADB9A67FD}"/>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49A47B4C-D179-8554-42EF-4F2E0B67F267}"/>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KB1</a:t>
            </a:r>
          </a:p>
        </p:txBody>
      </p:sp>
      <p:sp>
        <p:nvSpPr>
          <p:cNvPr id="19" name="TextBox 6">
            <a:extLst>
              <a:ext uri="{FF2B5EF4-FFF2-40B4-BE49-F238E27FC236}">
                <a16:creationId xmlns:a16="http://schemas.microsoft.com/office/drawing/2014/main" id="{98014F1D-254D-232A-E6E8-4AC22D6D4384}"/>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cxnSp>
        <p:nvCxnSpPr>
          <p:cNvPr id="6" name="Straight Arrow Connector 7">
            <a:extLst>
              <a:ext uri="{FF2B5EF4-FFF2-40B4-BE49-F238E27FC236}">
                <a16:creationId xmlns:a16="http://schemas.microsoft.com/office/drawing/2014/main" id="{84D8A1B6-607E-A666-63E8-99EDBE6BEC7E}"/>
              </a:ext>
            </a:extLst>
          </p:cNvPr>
          <p:cNvCxnSpPr>
            <a:cxnSpLocks/>
          </p:cNvCxnSpPr>
          <p:nvPr/>
        </p:nvCxnSpPr>
        <p:spPr>
          <a:xfrm>
            <a:off x="4277360" y="4125939"/>
            <a:ext cx="3098800" cy="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9">
                <a:extLst>
                  <a:ext uri="{FF2B5EF4-FFF2-40B4-BE49-F238E27FC236}">
                    <a16:creationId xmlns:a16="http://schemas.microsoft.com/office/drawing/2014/main" id="{01741DD3-706D-B2F0-7E06-B3F10F467CD3}"/>
                  </a:ext>
                </a:extLst>
              </p:cNvPr>
              <p:cNvSpPr txBox="1"/>
              <p:nvPr/>
            </p:nvSpPr>
            <p:spPr>
              <a:xfrm>
                <a:off x="4521504" y="4268766"/>
                <a:ext cx="2366976" cy="830997"/>
              </a:xfrm>
              <a:prstGeom prst="rect">
                <a:avLst/>
              </a:prstGeom>
              <a:noFill/>
            </p:spPr>
            <p:txBody>
              <a:bodyPr wrap="square" rtlCol="0">
                <a:spAutoFit/>
              </a:bodyPr>
              <a:lstStyle/>
              <a:p>
                <a:pPr algn="ctr"/>
                <a:r>
                  <a:rPr lang="en-US" sz="1600" b="1">
                    <a:solidFill>
                      <a:srgbClr val="00B050"/>
                    </a:solidFill>
                  </a:rPr>
                  <a:t>Dòng điện và điện áp phía lưới cùng pha với nhau -&gt; PF </a:t>
                </a:r>
                <a14:m>
                  <m:oMath xmlns:m="http://schemas.openxmlformats.org/officeDocument/2006/math">
                    <m:r>
                      <a:rPr lang="en-US" sz="1600" b="1" i="1" smtClean="0">
                        <a:solidFill>
                          <a:srgbClr val="00B050"/>
                        </a:solidFill>
                        <a:latin typeface="Cambria Math" panose="02040503050406030204" pitchFamily="18" charset="0"/>
                        <a:ea typeface="Cambria Math" panose="02040503050406030204" pitchFamily="18" charset="0"/>
                      </a:rPr>
                      <m:t>≈</m:t>
                    </m:r>
                  </m:oMath>
                </a14:m>
                <a:r>
                  <a:rPr lang="en-US" sz="1600" b="1">
                    <a:solidFill>
                      <a:srgbClr val="00B050"/>
                    </a:solidFill>
                  </a:rPr>
                  <a:t> 1</a:t>
                </a:r>
              </a:p>
            </p:txBody>
          </p:sp>
        </mc:Choice>
        <mc:Fallback xmlns="">
          <p:sp>
            <p:nvSpPr>
              <p:cNvPr id="7" name="TextBox 9">
                <a:extLst>
                  <a:ext uri="{FF2B5EF4-FFF2-40B4-BE49-F238E27FC236}">
                    <a16:creationId xmlns:a16="http://schemas.microsoft.com/office/drawing/2014/main" id="{01741DD3-706D-B2F0-7E06-B3F10F467CD3}"/>
                  </a:ext>
                </a:extLst>
              </p:cNvPr>
              <p:cNvSpPr txBox="1">
                <a:spLocks noRot="1" noChangeAspect="1" noMove="1" noResize="1" noEditPoints="1" noAdjustHandles="1" noChangeArrowheads="1" noChangeShapeType="1" noTextEdit="1"/>
              </p:cNvSpPr>
              <p:nvPr/>
            </p:nvSpPr>
            <p:spPr>
              <a:xfrm>
                <a:off x="4521504" y="4268766"/>
                <a:ext cx="2366976" cy="830997"/>
              </a:xfrm>
              <a:prstGeom prst="rect">
                <a:avLst/>
              </a:prstGeom>
              <a:blipFill>
                <a:blip r:embed="rId2"/>
                <a:stretch>
                  <a:fillRect t="-2190" b="-8029"/>
                </a:stretch>
              </a:blipFill>
            </p:spPr>
            <p:txBody>
              <a:bodyPr/>
              <a:lstStyle/>
              <a:p>
                <a:r>
                  <a:rPr lang="en-US">
                    <a:noFill/>
                  </a:rPr>
                  <a:t> </a:t>
                </a:r>
              </a:p>
            </p:txBody>
          </p:sp>
        </mc:Fallback>
      </mc:AlternateContent>
      <p:sp>
        <p:nvSpPr>
          <p:cNvPr id="9" name="TextBox 6">
            <a:extLst>
              <a:ext uri="{FF2B5EF4-FFF2-40B4-BE49-F238E27FC236}">
                <a16:creationId xmlns:a16="http://schemas.microsoft.com/office/drawing/2014/main" id="{1C98BDDA-E577-4FA2-BBD2-43B1B7AEB6C8}"/>
              </a:ext>
            </a:extLst>
          </p:cNvPr>
          <p:cNvSpPr txBox="1"/>
          <p:nvPr/>
        </p:nvSpPr>
        <p:spPr>
          <a:xfrm>
            <a:off x="4009696" y="6038463"/>
            <a:ext cx="6204608" cy="400110"/>
          </a:xfrm>
          <a:prstGeom prst="rect">
            <a:avLst/>
          </a:prstGeom>
          <a:noFill/>
        </p:spPr>
        <p:txBody>
          <a:bodyPr wrap="square" rtlCol="0">
            <a:spAutoFit/>
          </a:bodyPr>
          <a:lstStyle/>
          <a:p>
            <a:pPr algn="just"/>
            <a:r>
              <a:rPr lang="en-US" sz="2000"/>
              <a:t>Hình 4.7.4. Dòng điện phía lưới</a:t>
            </a:r>
          </a:p>
        </p:txBody>
      </p:sp>
      <p:pic>
        <p:nvPicPr>
          <p:cNvPr id="2" name="Hình ảnh 1">
            <a:extLst>
              <a:ext uri="{FF2B5EF4-FFF2-40B4-BE49-F238E27FC236}">
                <a16:creationId xmlns:a16="http://schemas.microsoft.com/office/drawing/2014/main" id="{5AA21CD7-B074-2820-AF77-7FCE46CA867F}"/>
              </a:ext>
            </a:extLst>
          </p:cNvPr>
          <p:cNvPicPr>
            <a:picLocks noChangeAspect="1"/>
          </p:cNvPicPr>
          <p:nvPr/>
        </p:nvPicPr>
        <p:blipFill>
          <a:blip r:embed="rId3"/>
          <a:srcRect r="33627"/>
          <a:stretch/>
        </p:blipFill>
        <p:spPr>
          <a:xfrm>
            <a:off x="840583" y="1102284"/>
            <a:ext cx="6720591" cy="4936179"/>
          </a:xfrm>
          <a:prstGeom prst="rect">
            <a:avLst/>
          </a:prstGeom>
        </p:spPr>
      </p:pic>
      <p:sp>
        <p:nvSpPr>
          <p:cNvPr id="3" name="Hộp Văn bản 2">
            <a:extLst>
              <a:ext uri="{FF2B5EF4-FFF2-40B4-BE49-F238E27FC236}">
                <a16:creationId xmlns:a16="http://schemas.microsoft.com/office/drawing/2014/main" id="{DC5A1D88-78D9-A374-39AE-A4630199C328}"/>
              </a:ext>
            </a:extLst>
          </p:cNvPr>
          <p:cNvSpPr txBox="1"/>
          <p:nvPr/>
        </p:nvSpPr>
        <p:spPr>
          <a:xfrm>
            <a:off x="8230644" y="2453915"/>
            <a:ext cx="2605967" cy="1477328"/>
          </a:xfrm>
          <a:prstGeom prst="rect">
            <a:avLst/>
          </a:prstGeom>
          <a:noFill/>
          <a:ln w="19050">
            <a:solidFill>
              <a:srgbClr val="FF0000"/>
            </a:solidFill>
          </a:ln>
        </p:spPr>
        <p:txBody>
          <a:bodyPr wrap="square" rtlCol="0">
            <a:spAutoFit/>
          </a:bodyPr>
          <a:lstStyle/>
          <a:p>
            <a:r>
              <a:rPr lang="en-US"/>
              <a:t>Nhận xét: Dòng điện đầu vào phía lưới có hệ số THD=4.91%&lt;5% phù hợp với tiêu chuẩn IEEE Std 519-2014</a:t>
            </a:r>
          </a:p>
        </p:txBody>
      </p:sp>
      <p:sp>
        <p:nvSpPr>
          <p:cNvPr id="11" name="Hộp Văn bản 10">
            <a:extLst>
              <a:ext uri="{FF2B5EF4-FFF2-40B4-BE49-F238E27FC236}">
                <a16:creationId xmlns:a16="http://schemas.microsoft.com/office/drawing/2014/main" id="{633E402E-AF31-4731-6BDB-CFF96C7C206A}"/>
              </a:ext>
            </a:extLst>
          </p:cNvPr>
          <p:cNvSpPr txBox="1"/>
          <p:nvPr/>
        </p:nvSpPr>
        <p:spPr>
          <a:xfrm>
            <a:off x="7775642" y="4803735"/>
            <a:ext cx="4416358" cy="1477328"/>
          </a:xfrm>
          <a:prstGeom prst="rect">
            <a:avLst/>
          </a:prstGeom>
          <a:noFill/>
        </p:spPr>
        <p:txBody>
          <a:bodyPr wrap="square" rtlCol="0">
            <a:spAutoFit/>
          </a:bodyPr>
          <a:lstStyle/>
          <a:p>
            <a:r>
              <a:rPr lang="en-US" err="1"/>
              <a:t>Nguồn</a:t>
            </a:r>
            <a:r>
              <a:rPr lang="en-US"/>
              <a:t>: https://www.mirusinternational.com/downloads/White%20Paper%20-%20IEEE%20Std%20519-2014%20Harmonic%20Limits.pdf</a:t>
            </a:r>
          </a:p>
        </p:txBody>
      </p:sp>
    </p:spTree>
    <p:extLst>
      <p:ext uri="{BB962C8B-B14F-4D97-AF65-F5344CB8AC3E}">
        <p14:creationId xmlns:p14="http://schemas.microsoft.com/office/powerpoint/2010/main" val="2627199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0C81-4E45-3DA6-0720-36CD9B215BB5}"/>
            </a:ext>
          </a:extLst>
        </p:cNvPr>
        <p:cNvGrpSpPr/>
        <p:nvPr/>
      </p:nvGrpSpPr>
      <p:grpSpPr>
        <a:xfrm>
          <a:off x="0" y="0"/>
          <a:ext cx="0" cy="0"/>
          <a:chOff x="0" y="0"/>
          <a:chExt cx="0" cy="0"/>
        </a:xfrm>
      </p:grpSpPr>
      <p:pic>
        <p:nvPicPr>
          <p:cNvPr id="14" name="Hình ảnh 13">
            <a:extLst>
              <a:ext uri="{FF2B5EF4-FFF2-40B4-BE49-F238E27FC236}">
                <a16:creationId xmlns:a16="http://schemas.microsoft.com/office/drawing/2014/main" id="{179449D7-B680-3510-03F7-3378FE760A08}"/>
              </a:ext>
            </a:extLst>
          </p:cNvPr>
          <p:cNvPicPr>
            <a:picLocks noChangeAspect="1"/>
          </p:cNvPicPr>
          <p:nvPr/>
        </p:nvPicPr>
        <p:blipFill>
          <a:blip r:embed="rId2"/>
          <a:stretch>
            <a:fillRect/>
          </a:stretch>
        </p:blipFill>
        <p:spPr>
          <a:xfrm>
            <a:off x="111338" y="1087869"/>
            <a:ext cx="10717458" cy="5050602"/>
          </a:xfrm>
          <a:prstGeom prst="rect">
            <a:avLst/>
          </a:prstGeom>
        </p:spPr>
      </p:pic>
      <p:sp>
        <p:nvSpPr>
          <p:cNvPr id="5" name="Slide Number Placeholder 3">
            <a:extLst>
              <a:ext uri="{FF2B5EF4-FFF2-40B4-BE49-F238E27FC236}">
                <a16:creationId xmlns:a16="http://schemas.microsoft.com/office/drawing/2014/main" id="{213CA09C-51B4-EBA2-FC37-7DC5866A3C5C}"/>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40</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DA44FB71-925C-00CF-F670-B1DB745B088E}"/>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7C66D949-76F2-925F-E9DD-C34A42448458}"/>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KB2</a:t>
            </a:r>
          </a:p>
        </p:txBody>
      </p:sp>
      <p:sp>
        <p:nvSpPr>
          <p:cNvPr id="19" name="TextBox 6">
            <a:extLst>
              <a:ext uri="{FF2B5EF4-FFF2-40B4-BE49-F238E27FC236}">
                <a16:creationId xmlns:a16="http://schemas.microsoft.com/office/drawing/2014/main" id="{5AE3DA1E-EBC3-57DD-5CB2-D370B77006B2}"/>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cxnSp>
        <p:nvCxnSpPr>
          <p:cNvPr id="6" name="Straight Arrow Connector 7">
            <a:extLst>
              <a:ext uri="{FF2B5EF4-FFF2-40B4-BE49-F238E27FC236}">
                <a16:creationId xmlns:a16="http://schemas.microsoft.com/office/drawing/2014/main" id="{3C2D4756-CF2A-4590-14D1-E61970DBC447}"/>
              </a:ext>
            </a:extLst>
          </p:cNvPr>
          <p:cNvCxnSpPr>
            <a:cxnSpLocks/>
          </p:cNvCxnSpPr>
          <p:nvPr/>
        </p:nvCxnSpPr>
        <p:spPr>
          <a:xfrm>
            <a:off x="1700237" y="2714386"/>
            <a:ext cx="4511510"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9">
            <a:extLst>
              <a:ext uri="{FF2B5EF4-FFF2-40B4-BE49-F238E27FC236}">
                <a16:creationId xmlns:a16="http://schemas.microsoft.com/office/drawing/2014/main" id="{519373DA-6968-7821-C396-1DF235B52DAA}"/>
              </a:ext>
            </a:extLst>
          </p:cNvPr>
          <p:cNvSpPr txBox="1"/>
          <p:nvPr/>
        </p:nvSpPr>
        <p:spPr>
          <a:xfrm>
            <a:off x="3084657" y="2773408"/>
            <a:ext cx="1992890" cy="338554"/>
          </a:xfrm>
          <a:prstGeom prst="rect">
            <a:avLst/>
          </a:prstGeom>
          <a:noFill/>
        </p:spPr>
        <p:txBody>
          <a:bodyPr wrap="square" rtlCol="0">
            <a:spAutoFit/>
          </a:bodyPr>
          <a:lstStyle/>
          <a:p>
            <a:pPr algn="ctr"/>
            <a:r>
              <a:rPr lang="en-US" sz="1600" b="1">
                <a:solidFill>
                  <a:srgbClr val="FF0000"/>
                </a:solidFill>
              </a:rPr>
              <a:t>100% tải định mức</a:t>
            </a:r>
          </a:p>
        </p:txBody>
      </p:sp>
      <p:sp>
        <p:nvSpPr>
          <p:cNvPr id="8" name="TextBox 13">
            <a:extLst>
              <a:ext uri="{FF2B5EF4-FFF2-40B4-BE49-F238E27FC236}">
                <a16:creationId xmlns:a16="http://schemas.microsoft.com/office/drawing/2014/main" id="{E4D437DB-B1C7-C39D-4DBC-9298F206D55E}"/>
              </a:ext>
            </a:extLst>
          </p:cNvPr>
          <p:cNvSpPr txBox="1"/>
          <p:nvPr/>
        </p:nvSpPr>
        <p:spPr>
          <a:xfrm>
            <a:off x="5696978" y="1369945"/>
            <a:ext cx="1992890" cy="338554"/>
          </a:xfrm>
          <a:prstGeom prst="rect">
            <a:avLst/>
          </a:prstGeom>
          <a:noFill/>
        </p:spPr>
        <p:txBody>
          <a:bodyPr wrap="square" rtlCol="0">
            <a:spAutoFit/>
          </a:bodyPr>
          <a:lstStyle/>
          <a:p>
            <a:pPr algn="ctr"/>
            <a:r>
              <a:rPr lang="en-US" sz="1600" b="1">
                <a:solidFill>
                  <a:srgbClr val="FF0000"/>
                </a:solidFill>
              </a:rPr>
              <a:t>0.05s</a:t>
            </a:r>
          </a:p>
        </p:txBody>
      </p:sp>
      <p:cxnSp>
        <p:nvCxnSpPr>
          <p:cNvPr id="9" name="Straight Arrow Connector 15">
            <a:extLst>
              <a:ext uri="{FF2B5EF4-FFF2-40B4-BE49-F238E27FC236}">
                <a16:creationId xmlns:a16="http://schemas.microsoft.com/office/drawing/2014/main" id="{02A9EA59-ADF9-49AC-95D8-E32CBA609AB3}"/>
              </a:ext>
            </a:extLst>
          </p:cNvPr>
          <p:cNvCxnSpPr>
            <a:cxnSpLocks/>
          </p:cNvCxnSpPr>
          <p:nvPr/>
        </p:nvCxnSpPr>
        <p:spPr>
          <a:xfrm>
            <a:off x="6211747" y="2714386"/>
            <a:ext cx="4517213"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7">
            <a:extLst>
              <a:ext uri="{FF2B5EF4-FFF2-40B4-BE49-F238E27FC236}">
                <a16:creationId xmlns:a16="http://schemas.microsoft.com/office/drawing/2014/main" id="{DC1369C7-41FD-495B-C77F-D9331C549140}"/>
              </a:ext>
            </a:extLst>
          </p:cNvPr>
          <p:cNvSpPr txBox="1"/>
          <p:nvPr/>
        </p:nvSpPr>
        <p:spPr>
          <a:xfrm>
            <a:off x="7789543" y="2396750"/>
            <a:ext cx="1992890" cy="338554"/>
          </a:xfrm>
          <a:prstGeom prst="rect">
            <a:avLst/>
          </a:prstGeom>
          <a:noFill/>
        </p:spPr>
        <p:txBody>
          <a:bodyPr wrap="square" rtlCol="0">
            <a:spAutoFit/>
          </a:bodyPr>
          <a:lstStyle/>
          <a:p>
            <a:pPr algn="ctr"/>
            <a:r>
              <a:rPr lang="en-US" sz="1600" b="1">
                <a:solidFill>
                  <a:srgbClr val="FF0000"/>
                </a:solidFill>
              </a:rPr>
              <a:t>200% tải định mức</a:t>
            </a:r>
          </a:p>
        </p:txBody>
      </p:sp>
      <p:cxnSp>
        <p:nvCxnSpPr>
          <p:cNvPr id="12" name="Straight Arrow Connector 20">
            <a:extLst>
              <a:ext uri="{FF2B5EF4-FFF2-40B4-BE49-F238E27FC236}">
                <a16:creationId xmlns:a16="http://schemas.microsoft.com/office/drawing/2014/main" id="{D1BF212C-DFF9-A35F-5644-AA20E41CF233}"/>
              </a:ext>
            </a:extLst>
          </p:cNvPr>
          <p:cNvCxnSpPr>
            <a:cxnSpLocks/>
          </p:cNvCxnSpPr>
          <p:nvPr/>
        </p:nvCxnSpPr>
        <p:spPr>
          <a:xfrm>
            <a:off x="6294401" y="1940889"/>
            <a:ext cx="1528799"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Hộp Văn bản 1">
            <a:extLst>
              <a:ext uri="{FF2B5EF4-FFF2-40B4-BE49-F238E27FC236}">
                <a16:creationId xmlns:a16="http://schemas.microsoft.com/office/drawing/2014/main" id="{889B4D2C-3510-442F-E301-949ACDB230B1}"/>
              </a:ext>
            </a:extLst>
          </p:cNvPr>
          <p:cNvSpPr txBox="1"/>
          <p:nvPr/>
        </p:nvSpPr>
        <p:spPr>
          <a:xfrm>
            <a:off x="10824487" y="2020807"/>
            <a:ext cx="1363204" cy="2800767"/>
          </a:xfrm>
          <a:prstGeom prst="rect">
            <a:avLst/>
          </a:prstGeom>
          <a:noFill/>
          <a:ln w="19050">
            <a:solidFill>
              <a:srgbClr val="FF0000"/>
            </a:solidFill>
          </a:ln>
        </p:spPr>
        <p:txBody>
          <a:bodyPr wrap="square" rtlCol="0">
            <a:spAutoFit/>
          </a:bodyPr>
          <a:lstStyle/>
          <a:p>
            <a:r>
              <a:rPr lang="en-US" sz="1600"/>
              <a:t>Khi tải thay đổi mạch đã đáp ứng nhanh, có sụt áp ở thời điểm chuyển trạng thái nhưng bộ điều khiển đã nhanh chóng tác động.</a:t>
            </a:r>
          </a:p>
        </p:txBody>
      </p:sp>
    </p:spTree>
    <p:extLst>
      <p:ext uri="{BB962C8B-B14F-4D97-AF65-F5344CB8AC3E}">
        <p14:creationId xmlns:p14="http://schemas.microsoft.com/office/powerpoint/2010/main" val="2108969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44076-D1BD-7661-788E-D714F24A70F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A8BC8D56-4DAE-9F6C-D02F-078B9CC9DB68}"/>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41</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13496D85-2897-7160-8D54-A6D291255C94}"/>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CE7BDD81-A4E1-6AB5-9E63-CF265601E4C8}"/>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KB2</a:t>
            </a:r>
          </a:p>
        </p:txBody>
      </p:sp>
      <p:sp>
        <p:nvSpPr>
          <p:cNvPr id="19" name="TextBox 6">
            <a:extLst>
              <a:ext uri="{FF2B5EF4-FFF2-40B4-BE49-F238E27FC236}">
                <a16:creationId xmlns:a16="http://schemas.microsoft.com/office/drawing/2014/main" id="{72794EBF-67AC-7547-94C3-F8D08566B77A}"/>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pic>
        <p:nvPicPr>
          <p:cNvPr id="7" name="Hình ảnh 6">
            <a:extLst>
              <a:ext uri="{FF2B5EF4-FFF2-40B4-BE49-F238E27FC236}">
                <a16:creationId xmlns:a16="http://schemas.microsoft.com/office/drawing/2014/main" id="{ECA0CE6D-463E-F4F7-FCFE-07B2D3AAAEF4}"/>
              </a:ext>
            </a:extLst>
          </p:cNvPr>
          <p:cNvPicPr>
            <a:picLocks noChangeAspect="1"/>
          </p:cNvPicPr>
          <p:nvPr/>
        </p:nvPicPr>
        <p:blipFill>
          <a:blip r:embed="rId2"/>
          <a:stretch>
            <a:fillRect/>
          </a:stretch>
        </p:blipFill>
        <p:spPr>
          <a:xfrm>
            <a:off x="176176" y="1181348"/>
            <a:ext cx="9405411" cy="4918226"/>
          </a:xfrm>
          <a:prstGeom prst="rect">
            <a:avLst/>
          </a:prstGeom>
        </p:spPr>
      </p:pic>
      <p:sp>
        <p:nvSpPr>
          <p:cNvPr id="8" name="Hình Bầu dục 7">
            <a:extLst>
              <a:ext uri="{FF2B5EF4-FFF2-40B4-BE49-F238E27FC236}">
                <a16:creationId xmlns:a16="http://schemas.microsoft.com/office/drawing/2014/main" id="{6F62E73D-F16C-7A55-4FCF-546B1DF1EAFA}"/>
              </a:ext>
            </a:extLst>
          </p:cNvPr>
          <p:cNvSpPr/>
          <p:nvPr/>
        </p:nvSpPr>
        <p:spPr>
          <a:xfrm>
            <a:off x="5474079" y="2002592"/>
            <a:ext cx="914400" cy="715036"/>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31">
            <a:extLst>
              <a:ext uri="{FF2B5EF4-FFF2-40B4-BE49-F238E27FC236}">
                <a16:creationId xmlns:a16="http://schemas.microsoft.com/office/drawing/2014/main" id="{6FEADF0F-B91E-FCC1-F5F9-F54A84F9B4F0}"/>
              </a:ext>
            </a:extLst>
          </p:cNvPr>
          <p:cNvCxnSpPr>
            <a:cxnSpLocks/>
          </p:cNvCxnSpPr>
          <p:nvPr/>
        </p:nvCxnSpPr>
        <p:spPr>
          <a:xfrm flipH="1">
            <a:off x="5742875" y="2717628"/>
            <a:ext cx="188404" cy="19665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20" name="Hình ảnh 19">
            <a:extLst>
              <a:ext uri="{FF2B5EF4-FFF2-40B4-BE49-F238E27FC236}">
                <a16:creationId xmlns:a16="http://schemas.microsoft.com/office/drawing/2014/main" id="{D76944E4-CF70-17D7-BD27-57684AA1F14E}"/>
              </a:ext>
            </a:extLst>
          </p:cNvPr>
          <p:cNvPicPr>
            <a:picLocks noChangeAspect="1"/>
          </p:cNvPicPr>
          <p:nvPr/>
        </p:nvPicPr>
        <p:blipFill>
          <a:blip r:embed="rId3"/>
          <a:srcRect t="3917" r="78000" b="59460"/>
          <a:stretch/>
        </p:blipFill>
        <p:spPr>
          <a:xfrm>
            <a:off x="4719300" y="2963591"/>
            <a:ext cx="1117777" cy="876890"/>
          </a:xfrm>
          <a:prstGeom prst="rect">
            <a:avLst/>
          </a:prstGeom>
          <a:ln w="19050">
            <a:solidFill>
              <a:srgbClr val="00B0F0"/>
            </a:solidFill>
          </a:ln>
        </p:spPr>
      </p:pic>
      <p:cxnSp>
        <p:nvCxnSpPr>
          <p:cNvPr id="22" name="Straight Arrow Connector 7">
            <a:extLst>
              <a:ext uri="{FF2B5EF4-FFF2-40B4-BE49-F238E27FC236}">
                <a16:creationId xmlns:a16="http://schemas.microsoft.com/office/drawing/2014/main" id="{F9F1B8DB-435B-3F70-2E14-7EB27C79D5B9}"/>
              </a:ext>
            </a:extLst>
          </p:cNvPr>
          <p:cNvCxnSpPr>
            <a:cxnSpLocks/>
          </p:cNvCxnSpPr>
          <p:nvPr/>
        </p:nvCxnSpPr>
        <p:spPr>
          <a:xfrm>
            <a:off x="5577840" y="3048000"/>
            <a:ext cx="0" cy="72580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7" name="TextBox 9">
            <a:extLst>
              <a:ext uri="{FF2B5EF4-FFF2-40B4-BE49-F238E27FC236}">
                <a16:creationId xmlns:a16="http://schemas.microsoft.com/office/drawing/2014/main" id="{6E4431CC-F90C-42C9-D030-163086BA90F9}"/>
              </a:ext>
            </a:extLst>
          </p:cNvPr>
          <p:cNvSpPr txBox="1"/>
          <p:nvPr/>
        </p:nvSpPr>
        <p:spPr>
          <a:xfrm>
            <a:off x="4077162" y="3202554"/>
            <a:ext cx="1992890" cy="338554"/>
          </a:xfrm>
          <a:prstGeom prst="rect">
            <a:avLst/>
          </a:prstGeom>
          <a:noFill/>
        </p:spPr>
        <p:txBody>
          <a:bodyPr wrap="square" rtlCol="0">
            <a:spAutoFit/>
          </a:bodyPr>
          <a:lstStyle/>
          <a:p>
            <a:pPr algn="ctr"/>
            <a:r>
              <a:rPr lang="en-US" sz="1600" b="1"/>
              <a:t>Sụt áp 30V</a:t>
            </a:r>
          </a:p>
        </p:txBody>
      </p:sp>
      <p:sp>
        <p:nvSpPr>
          <p:cNvPr id="35" name="Hình Bầu dục 34">
            <a:extLst>
              <a:ext uri="{FF2B5EF4-FFF2-40B4-BE49-F238E27FC236}">
                <a16:creationId xmlns:a16="http://schemas.microsoft.com/office/drawing/2014/main" id="{A35E742D-3D15-1EA6-AC4C-AC566F5BD861}"/>
              </a:ext>
            </a:extLst>
          </p:cNvPr>
          <p:cNvSpPr/>
          <p:nvPr/>
        </p:nvSpPr>
        <p:spPr>
          <a:xfrm>
            <a:off x="4598726" y="2022674"/>
            <a:ext cx="831039" cy="338555"/>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1">
            <a:extLst>
              <a:ext uri="{FF2B5EF4-FFF2-40B4-BE49-F238E27FC236}">
                <a16:creationId xmlns:a16="http://schemas.microsoft.com/office/drawing/2014/main" id="{8671CD67-F74B-026F-3298-B115044B98D9}"/>
              </a:ext>
            </a:extLst>
          </p:cNvPr>
          <p:cNvCxnSpPr>
            <a:cxnSpLocks/>
            <a:stCxn id="35" idx="1"/>
          </p:cNvCxnSpPr>
          <p:nvPr/>
        </p:nvCxnSpPr>
        <p:spPr>
          <a:xfrm flipH="1" flipV="1">
            <a:off x="4310315" y="1769007"/>
            <a:ext cx="410114" cy="303247"/>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Hộp Văn bản 37">
                <a:extLst>
                  <a:ext uri="{FF2B5EF4-FFF2-40B4-BE49-F238E27FC236}">
                    <a16:creationId xmlns:a16="http://schemas.microsoft.com/office/drawing/2014/main" id="{07C3B64C-D6F3-F54E-3140-77E3C3A88346}"/>
                  </a:ext>
                </a:extLst>
              </p:cNvPr>
              <p:cNvSpPr txBox="1"/>
              <p:nvPr/>
            </p:nvSpPr>
            <p:spPr>
              <a:xfrm>
                <a:off x="3702438" y="1429767"/>
                <a:ext cx="1371169" cy="369332"/>
              </a:xfrm>
              <a:prstGeom prst="rect">
                <a:avLst/>
              </a:prstGeom>
              <a:noFill/>
              <a:ln w="19050">
                <a:solidFill>
                  <a:srgbClr val="00B0F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=10.3</m:t>
                      </m:r>
                      <m:r>
                        <a:rPr lang="en-US" b="0" i="1" smtClean="0">
                          <a:latin typeface="Cambria Math" panose="02040503050406030204" pitchFamily="18" charset="0"/>
                          <a:ea typeface="Cambria Math" panose="02040503050406030204" pitchFamily="18" charset="0"/>
                        </a:rPr>
                        <m:t>𝑉</m:t>
                      </m:r>
                    </m:oMath>
                  </m:oMathPara>
                </a14:m>
                <a:endParaRPr lang="en-US"/>
              </a:p>
            </p:txBody>
          </p:sp>
        </mc:Choice>
        <mc:Fallback xmlns="">
          <p:sp>
            <p:nvSpPr>
              <p:cNvPr id="38" name="Hộp Văn bản 37">
                <a:extLst>
                  <a:ext uri="{FF2B5EF4-FFF2-40B4-BE49-F238E27FC236}">
                    <a16:creationId xmlns:a16="http://schemas.microsoft.com/office/drawing/2014/main" id="{07C3B64C-D6F3-F54E-3140-77E3C3A88346}"/>
                  </a:ext>
                </a:extLst>
              </p:cNvPr>
              <p:cNvSpPr txBox="1">
                <a:spLocks noRot="1" noChangeAspect="1" noMove="1" noResize="1" noEditPoints="1" noAdjustHandles="1" noChangeArrowheads="1" noChangeShapeType="1" noTextEdit="1"/>
              </p:cNvSpPr>
              <p:nvPr/>
            </p:nvSpPr>
            <p:spPr>
              <a:xfrm>
                <a:off x="3702438" y="1429767"/>
                <a:ext cx="1371169" cy="369332"/>
              </a:xfrm>
              <a:prstGeom prst="rect">
                <a:avLst/>
              </a:prstGeom>
              <a:blipFill>
                <a:blip r:embed="rId4"/>
                <a:stretch>
                  <a:fillRect/>
                </a:stretch>
              </a:blipFill>
              <a:ln w="19050">
                <a:solidFill>
                  <a:srgbClr val="00B0F0"/>
                </a:solidFill>
              </a:ln>
            </p:spPr>
            <p:txBody>
              <a:bodyPr/>
              <a:lstStyle/>
              <a:p>
                <a:r>
                  <a:rPr lang="en-US">
                    <a:noFill/>
                  </a:rPr>
                  <a:t> </a:t>
                </a:r>
              </a:p>
            </p:txBody>
          </p:sp>
        </mc:Fallback>
      </mc:AlternateContent>
      <p:sp>
        <p:nvSpPr>
          <p:cNvPr id="39" name="Hình Bầu dục 38">
            <a:extLst>
              <a:ext uri="{FF2B5EF4-FFF2-40B4-BE49-F238E27FC236}">
                <a16:creationId xmlns:a16="http://schemas.microsoft.com/office/drawing/2014/main" id="{64B8CCB9-81C9-D26C-0297-2C7005D2C750}"/>
              </a:ext>
            </a:extLst>
          </p:cNvPr>
          <p:cNvSpPr/>
          <p:nvPr/>
        </p:nvSpPr>
        <p:spPr>
          <a:xfrm>
            <a:off x="8184581" y="1884279"/>
            <a:ext cx="831039" cy="583135"/>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1">
            <a:extLst>
              <a:ext uri="{FF2B5EF4-FFF2-40B4-BE49-F238E27FC236}">
                <a16:creationId xmlns:a16="http://schemas.microsoft.com/office/drawing/2014/main" id="{3E3F278A-F543-04B1-D0B8-719EE8EB03BF}"/>
              </a:ext>
            </a:extLst>
          </p:cNvPr>
          <p:cNvCxnSpPr>
            <a:cxnSpLocks/>
            <a:stCxn id="39" idx="3"/>
          </p:cNvCxnSpPr>
          <p:nvPr/>
        </p:nvCxnSpPr>
        <p:spPr>
          <a:xfrm flipH="1">
            <a:off x="8079416" y="2382016"/>
            <a:ext cx="226868" cy="34398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Hộp Văn bản 40">
                <a:extLst>
                  <a:ext uri="{FF2B5EF4-FFF2-40B4-BE49-F238E27FC236}">
                    <a16:creationId xmlns:a16="http://schemas.microsoft.com/office/drawing/2014/main" id="{21EF0B68-246C-ED39-8313-7AC59904EFC9}"/>
                  </a:ext>
                </a:extLst>
              </p:cNvPr>
              <p:cNvSpPr txBox="1"/>
              <p:nvPr/>
            </p:nvSpPr>
            <p:spPr>
              <a:xfrm>
                <a:off x="7556384" y="2725998"/>
                <a:ext cx="1371169" cy="369332"/>
              </a:xfrm>
              <a:prstGeom prst="rect">
                <a:avLst/>
              </a:prstGeom>
              <a:noFill/>
              <a:ln w="19050">
                <a:solidFill>
                  <a:srgbClr val="00B0F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=20</m:t>
                      </m:r>
                      <m:r>
                        <a:rPr lang="en-US" b="0" i="1" smtClean="0">
                          <a:latin typeface="Cambria Math" panose="02040503050406030204" pitchFamily="18" charset="0"/>
                          <a:ea typeface="Cambria Math" panose="02040503050406030204" pitchFamily="18" charset="0"/>
                        </a:rPr>
                        <m:t>𝑉</m:t>
                      </m:r>
                    </m:oMath>
                  </m:oMathPara>
                </a14:m>
                <a:endParaRPr lang="en-US"/>
              </a:p>
            </p:txBody>
          </p:sp>
        </mc:Choice>
        <mc:Fallback xmlns="">
          <p:sp>
            <p:nvSpPr>
              <p:cNvPr id="41" name="Hộp Văn bản 40">
                <a:extLst>
                  <a:ext uri="{FF2B5EF4-FFF2-40B4-BE49-F238E27FC236}">
                    <a16:creationId xmlns:a16="http://schemas.microsoft.com/office/drawing/2014/main" id="{21EF0B68-246C-ED39-8313-7AC59904EFC9}"/>
                  </a:ext>
                </a:extLst>
              </p:cNvPr>
              <p:cNvSpPr txBox="1">
                <a:spLocks noRot="1" noChangeAspect="1" noMove="1" noResize="1" noEditPoints="1" noAdjustHandles="1" noChangeArrowheads="1" noChangeShapeType="1" noTextEdit="1"/>
              </p:cNvSpPr>
              <p:nvPr/>
            </p:nvSpPr>
            <p:spPr>
              <a:xfrm>
                <a:off x="7556384" y="2725998"/>
                <a:ext cx="1371169" cy="369332"/>
              </a:xfrm>
              <a:prstGeom prst="rect">
                <a:avLst/>
              </a:prstGeom>
              <a:blipFill>
                <a:blip r:embed="rId5"/>
                <a:stretch>
                  <a:fillRect/>
                </a:stretch>
              </a:blipFill>
              <a:ln w="19050">
                <a:solidFill>
                  <a:srgbClr val="00B0F0"/>
                </a:solidFill>
              </a:ln>
            </p:spPr>
            <p:txBody>
              <a:bodyPr/>
              <a:lstStyle/>
              <a:p>
                <a:r>
                  <a:rPr lang="en-US">
                    <a:noFill/>
                  </a:rPr>
                  <a:t> </a:t>
                </a:r>
              </a:p>
            </p:txBody>
          </p:sp>
        </mc:Fallback>
      </mc:AlternateContent>
      <p:sp>
        <p:nvSpPr>
          <p:cNvPr id="45" name="Hộp Văn bản 44">
            <a:extLst>
              <a:ext uri="{FF2B5EF4-FFF2-40B4-BE49-F238E27FC236}">
                <a16:creationId xmlns:a16="http://schemas.microsoft.com/office/drawing/2014/main" id="{11088E45-4DA4-A505-BB9B-D9B5B956311A}"/>
              </a:ext>
            </a:extLst>
          </p:cNvPr>
          <p:cNvSpPr txBox="1"/>
          <p:nvPr/>
        </p:nvSpPr>
        <p:spPr>
          <a:xfrm>
            <a:off x="9792656" y="2002592"/>
            <a:ext cx="1725999" cy="2308324"/>
          </a:xfrm>
          <a:prstGeom prst="rect">
            <a:avLst/>
          </a:prstGeom>
          <a:noFill/>
          <a:ln>
            <a:solidFill>
              <a:srgbClr val="FF0000"/>
            </a:solidFill>
          </a:ln>
        </p:spPr>
        <p:txBody>
          <a:bodyPr wrap="square" rtlCol="0">
            <a:spAutoFit/>
          </a:bodyPr>
          <a:lstStyle/>
          <a:p>
            <a:r>
              <a:rPr lang="en-US"/>
              <a:t>Nhận xét: Ở chế độ quá tải, dòng điện tăng lên và độ đập mạch điện áp đầu ra tăng theo hệ số quá tải</a:t>
            </a:r>
          </a:p>
        </p:txBody>
      </p:sp>
      <p:cxnSp>
        <p:nvCxnSpPr>
          <p:cNvPr id="46" name="Straight Arrow Connector 7">
            <a:extLst>
              <a:ext uri="{FF2B5EF4-FFF2-40B4-BE49-F238E27FC236}">
                <a16:creationId xmlns:a16="http://schemas.microsoft.com/office/drawing/2014/main" id="{5AAF3887-2BDB-E16B-1983-3B8EFE7E167E}"/>
              </a:ext>
            </a:extLst>
          </p:cNvPr>
          <p:cNvCxnSpPr>
            <a:cxnSpLocks/>
          </p:cNvCxnSpPr>
          <p:nvPr/>
        </p:nvCxnSpPr>
        <p:spPr>
          <a:xfrm>
            <a:off x="4087322" y="4673600"/>
            <a:ext cx="0" cy="65024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8" name="Hộp Văn bản 47">
            <a:extLst>
              <a:ext uri="{FF2B5EF4-FFF2-40B4-BE49-F238E27FC236}">
                <a16:creationId xmlns:a16="http://schemas.microsoft.com/office/drawing/2014/main" id="{D2207581-3417-6E68-13D6-38880B3233C1}"/>
              </a:ext>
            </a:extLst>
          </p:cNvPr>
          <p:cNvSpPr txBox="1"/>
          <p:nvPr/>
        </p:nvSpPr>
        <p:spPr>
          <a:xfrm>
            <a:off x="3507712" y="5402390"/>
            <a:ext cx="1371169" cy="369332"/>
          </a:xfrm>
          <a:prstGeom prst="rect">
            <a:avLst/>
          </a:prstGeom>
          <a:noFill/>
          <a:ln w="19050">
            <a:solidFill>
              <a:srgbClr val="00B0F0"/>
            </a:solidFill>
          </a:ln>
        </p:spPr>
        <p:txBody>
          <a:bodyPr wrap="square" rtlCol="0">
            <a:spAutoFit/>
          </a:bodyPr>
          <a:lstStyle/>
          <a:p>
            <a:r>
              <a:rPr lang="en-US"/>
              <a:t>Ipeak=7.4A</a:t>
            </a:r>
          </a:p>
        </p:txBody>
      </p:sp>
      <p:cxnSp>
        <p:nvCxnSpPr>
          <p:cNvPr id="49" name="Straight Arrow Connector 7">
            <a:extLst>
              <a:ext uri="{FF2B5EF4-FFF2-40B4-BE49-F238E27FC236}">
                <a16:creationId xmlns:a16="http://schemas.microsoft.com/office/drawing/2014/main" id="{695D538B-F1F8-C435-9DF2-D8FB53A63FF8}"/>
              </a:ext>
            </a:extLst>
          </p:cNvPr>
          <p:cNvCxnSpPr>
            <a:cxnSpLocks/>
          </p:cNvCxnSpPr>
          <p:nvPr/>
        </p:nvCxnSpPr>
        <p:spPr>
          <a:xfrm>
            <a:off x="8560390" y="4191000"/>
            <a:ext cx="14015" cy="113284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52" name="Hộp Văn bản 51">
            <a:extLst>
              <a:ext uri="{FF2B5EF4-FFF2-40B4-BE49-F238E27FC236}">
                <a16:creationId xmlns:a16="http://schemas.microsoft.com/office/drawing/2014/main" id="{F2B30DCE-30B3-29FC-AC8A-6B6C7E217F83}"/>
              </a:ext>
            </a:extLst>
          </p:cNvPr>
          <p:cNvSpPr txBox="1"/>
          <p:nvPr/>
        </p:nvSpPr>
        <p:spPr>
          <a:xfrm>
            <a:off x="7914515" y="5392230"/>
            <a:ext cx="1371169" cy="369332"/>
          </a:xfrm>
          <a:prstGeom prst="rect">
            <a:avLst/>
          </a:prstGeom>
          <a:noFill/>
          <a:ln w="19050">
            <a:solidFill>
              <a:srgbClr val="00B0F0"/>
            </a:solidFill>
          </a:ln>
        </p:spPr>
        <p:txBody>
          <a:bodyPr wrap="square" rtlCol="0">
            <a:spAutoFit/>
          </a:bodyPr>
          <a:lstStyle/>
          <a:p>
            <a:r>
              <a:rPr lang="en-US"/>
              <a:t>Ipeak=14A</a:t>
            </a:r>
          </a:p>
        </p:txBody>
      </p:sp>
    </p:spTree>
    <p:extLst>
      <p:ext uri="{BB962C8B-B14F-4D97-AF65-F5344CB8AC3E}">
        <p14:creationId xmlns:p14="http://schemas.microsoft.com/office/powerpoint/2010/main" val="3754177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8E7A2-76CB-84DF-5240-235A47DFC59F}"/>
            </a:ext>
          </a:extLst>
        </p:cNvPr>
        <p:cNvGrpSpPr/>
        <p:nvPr/>
      </p:nvGrpSpPr>
      <p:grpSpPr>
        <a:xfrm>
          <a:off x="0" y="0"/>
          <a:ext cx="0" cy="0"/>
          <a:chOff x="0" y="0"/>
          <a:chExt cx="0" cy="0"/>
        </a:xfrm>
      </p:grpSpPr>
      <p:pic>
        <p:nvPicPr>
          <p:cNvPr id="29" name="Hình ảnh 28">
            <a:extLst>
              <a:ext uri="{FF2B5EF4-FFF2-40B4-BE49-F238E27FC236}">
                <a16:creationId xmlns:a16="http://schemas.microsoft.com/office/drawing/2014/main" id="{CED7AC28-AABF-EBE0-8C82-74BCC96ACF8C}"/>
              </a:ext>
            </a:extLst>
          </p:cNvPr>
          <p:cNvPicPr>
            <a:picLocks noChangeAspect="1"/>
          </p:cNvPicPr>
          <p:nvPr/>
        </p:nvPicPr>
        <p:blipFill>
          <a:blip r:embed="rId2"/>
          <a:srcRect b="45291"/>
          <a:stretch/>
        </p:blipFill>
        <p:spPr>
          <a:xfrm>
            <a:off x="87548" y="3514339"/>
            <a:ext cx="9300292" cy="2730625"/>
          </a:xfrm>
          <a:prstGeom prst="rect">
            <a:avLst/>
          </a:prstGeom>
        </p:spPr>
      </p:pic>
      <p:sp>
        <p:nvSpPr>
          <p:cNvPr id="5" name="Slide Number Placeholder 3">
            <a:extLst>
              <a:ext uri="{FF2B5EF4-FFF2-40B4-BE49-F238E27FC236}">
                <a16:creationId xmlns:a16="http://schemas.microsoft.com/office/drawing/2014/main" id="{753ABC75-F761-1842-3D32-8B14AD90DDAE}"/>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42</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904737E5-2EAB-BB26-44E2-D044C2035944}"/>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6A706048-0001-0766-236F-01D1E7370C8C}"/>
              </a:ext>
            </a:extLst>
          </p:cNvPr>
          <p:cNvSpPr txBox="1"/>
          <p:nvPr/>
        </p:nvSpPr>
        <p:spPr>
          <a:xfrm>
            <a:off x="87548" y="781238"/>
            <a:ext cx="3560323" cy="707886"/>
          </a:xfrm>
          <a:prstGeom prst="rect">
            <a:avLst/>
          </a:prstGeom>
          <a:noFill/>
        </p:spPr>
        <p:txBody>
          <a:bodyPr wrap="square" rtlCol="0">
            <a:spAutoFit/>
          </a:bodyPr>
          <a:lstStyle/>
          <a:p>
            <a:r>
              <a:rPr lang="en-US" sz="2000"/>
              <a:t>b) Kết quả mô phỏng của KB3:</a:t>
            </a:r>
          </a:p>
          <a:p>
            <a:endParaRPr lang="en-US" sz="2000"/>
          </a:p>
        </p:txBody>
      </p:sp>
      <p:sp>
        <p:nvSpPr>
          <p:cNvPr id="19" name="TextBox 6">
            <a:extLst>
              <a:ext uri="{FF2B5EF4-FFF2-40B4-BE49-F238E27FC236}">
                <a16:creationId xmlns:a16="http://schemas.microsoft.com/office/drawing/2014/main" id="{3138C1C1-72D4-42EF-A71C-33AD970B0FBC}"/>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pic>
        <p:nvPicPr>
          <p:cNvPr id="3" name="Hình ảnh 2">
            <a:extLst>
              <a:ext uri="{FF2B5EF4-FFF2-40B4-BE49-F238E27FC236}">
                <a16:creationId xmlns:a16="http://schemas.microsoft.com/office/drawing/2014/main" id="{15748013-AE35-9702-8C7A-43842FDD73C2}"/>
              </a:ext>
            </a:extLst>
          </p:cNvPr>
          <p:cNvPicPr>
            <a:picLocks noChangeAspect="1"/>
          </p:cNvPicPr>
          <p:nvPr/>
        </p:nvPicPr>
        <p:blipFill>
          <a:blip r:embed="rId3"/>
          <a:srcRect b="27950"/>
          <a:stretch/>
        </p:blipFill>
        <p:spPr>
          <a:xfrm>
            <a:off x="87548" y="1135181"/>
            <a:ext cx="9221822" cy="2300955"/>
          </a:xfrm>
          <a:prstGeom prst="rect">
            <a:avLst/>
          </a:prstGeom>
        </p:spPr>
      </p:pic>
      <p:sp>
        <p:nvSpPr>
          <p:cNvPr id="11" name="Hình Bầu dục 10">
            <a:extLst>
              <a:ext uri="{FF2B5EF4-FFF2-40B4-BE49-F238E27FC236}">
                <a16:creationId xmlns:a16="http://schemas.microsoft.com/office/drawing/2014/main" id="{B2E5C68C-BE16-5E99-573E-F3645EA0EC9D}"/>
              </a:ext>
            </a:extLst>
          </p:cNvPr>
          <p:cNvSpPr/>
          <p:nvPr/>
        </p:nvSpPr>
        <p:spPr>
          <a:xfrm>
            <a:off x="2320998" y="1390293"/>
            <a:ext cx="831039" cy="7078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31">
            <a:extLst>
              <a:ext uri="{FF2B5EF4-FFF2-40B4-BE49-F238E27FC236}">
                <a16:creationId xmlns:a16="http://schemas.microsoft.com/office/drawing/2014/main" id="{EAEC5BF0-A758-935C-CBC7-70615250B0A2}"/>
              </a:ext>
            </a:extLst>
          </p:cNvPr>
          <p:cNvCxnSpPr>
            <a:cxnSpLocks/>
          </p:cNvCxnSpPr>
          <p:nvPr/>
        </p:nvCxnSpPr>
        <p:spPr>
          <a:xfrm flipH="1">
            <a:off x="2470587" y="2058094"/>
            <a:ext cx="48837" cy="40179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Hộp Văn bản 12">
                <a:extLst>
                  <a:ext uri="{FF2B5EF4-FFF2-40B4-BE49-F238E27FC236}">
                    <a16:creationId xmlns:a16="http://schemas.microsoft.com/office/drawing/2014/main" id="{4F824352-27CE-CD41-A01D-40727855F094}"/>
                  </a:ext>
                </a:extLst>
              </p:cNvPr>
              <p:cNvSpPr txBox="1"/>
              <p:nvPr/>
            </p:nvSpPr>
            <p:spPr>
              <a:xfrm>
                <a:off x="2046608" y="2459887"/>
                <a:ext cx="1499663" cy="646331"/>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=33</m:t>
                      </m:r>
                      <m:r>
                        <a:rPr lang="en-US" b="0" i="1" smtClean="0">
                          <a:latin typeface="Cambria Math" panose="02040503050406030204" pitchFamily="18" charset="0"/>
                          <a:ea typeface="Cambria Math" panose="02040503050406030204" pitchFamily="18" charset="0"/>
                        </a:rPr>
                        <m:t>𝑉</m:t>
                      </m:r>
                    </m:oMath>
                  </m:oMathPara>
                </a14:m>
                <a:endParaRPr lang="en-US" b="0">
                  <a:ea typeface="Cambria Math" panose="02040503050406030204" pitchFamily="18" charset="0"/>
                </a:endParaRPr>
              </a:p>
              <a:p>
                <a:r>
                  <a:rPr lang="en-US"/>
                  <a:t>=&gt;</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=8.25%</m:t>
                    </m:r>
                  </m:oMath>
                </a14:m>
                <a:endParaRPr lang="en-US"/>
              </a:p>
            </p:txBody>
          </p:sp>
        </mc:Choice>
        <mc:Fallback xmlns="">
          <p:sp>
            <p:nvSpPr>
              <p:cNvPr id="13" name="Hộp Văn bản 12">
                <a:extLst>
                  <a:ext uri="{FF2B5EF4-FFF2-40B4-BE49-F238E27FC236}">
                    <a16:creationId xmlns:a16="http://schemas.microsoft.com/office/drawing/2014/main" id="{4F824352-27CE-CD41-A01D-40727855F094}"/>
                  </a:ext>
                </a:extLst>
              </p:cNvPr>
              <p:cNvSpPr txBox="1">
                <a:spLocks noRot="1" noChangeAspect="1" noMove="1" noResize="1" noEditPoints="1" noAdjustHandles="1" noChangeArrowheads="1" noChangeShapeType="1" noTextEdit="1"/>
              </p:cNvSpPr>
              <p:nvPr/>
            </p:nvSpPr>
            <p:spPr>
              <a:xfrm>
                <a:off x="2046608" y="2459887"/>
                <a:ext cx="1499663" cy="646331"/>
              </a:xfrm>
              <a:prstGeom prst="rect">
                <a:avLst/>
              </a:prstGeom>
              <a:blipFill>
                <a:blip r:embed="rId4"/>
                <a:stretch>
                  <a:fillRect l="-3213" b="-11927"/>
                </a:stretch>
              </a:blipFill>
              <a:ln w="19050">
                <a:solidFill>
                  <a:srgbClr val="FF0000"/>
                </a:solidFill>
              </a:ln>
            </p:spPr>
            <p:txBody>
              <a:bodyPr/>
              <a:lstStyle/>
              <a:p>
                <a:r>
                  <a:rPr lang="en-US">
                    <a:noFill/>
                  </a:rPr>
                  <a:t> </a:t>
                </a:r>
              </a:p>
            </p:txBody>
          </p:sp>
        </mc:Fallback>
      </mc:AlternateContent>
      <p:cxnSp>
        <p:nvCxnSpPr>
          <p:cNvPr id="16" name="Straight Arrow Connector 20">
            <a:extLst>
              <a:ext uri="{FF2B5EF4-FFF2-40B4-BE49-F238E27FC236}">
                <a16:creationId xmlns:a16="http://schemas.microsoft.com/office/drawing/2014/main" id="{C4504E75-7E67-FF86-BC4E-205C0D60127A}"/>
              </a:ext>
            </a:extLst>
          </p:cNvPr>
          <p:cNvCxnSpPr>
            <a:cxnSpLocks/>
          </p:cNvCxnSpPr>
          <p:nvPr/>
        </p:nvCxnSpPr>
        <p:spPr>
          <a:xfrm>
            <a:off x="2639439" y="1594616"/>
            <a:ext cx="0" cy="31623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Hình Bầu dục 23">
            <a:extLst>
              <a:ext uri="{FF2B5EF4-FFF2-40B4-BE49-F238E27FC236}">
                <a16:creationId xmlns:a16="http://schemas.microsoft.com/office/drawing/2014/main" id="{510985E6-841C-5BBB-4FF2-C09763DAC05F}"/>
              </a:ext>
            </a:extLst>
          </p:cNvPr>
          <p:cNvSpPr/>
          <p:nvPr/>
        </p:nvSpPr>
        <p:spPr>
          <a:xfrm>
            <a:off x="1582237" y="3967113"/>
            <a:ext cx="831039" cy="7078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31">
            <a:extLst>
              <a:ext uri="{FF2B5EF4-FFF2-40B4-BE49-F238E27FC236}">
                <a16:creationId xmlns:a16="http://schemas.microsoft.com/office/drawing/2014/main" id="{BBDD9D10-2708-5FC1-B4E3-E3969B26D9F0}"/>
              </a:ext>
            </a:extLst>
          </p:cNvPr>
          <p:cNvCxnSpPr>
            <a:cxnSpLocks/>
          </p:cNvCxnSpPr>
          <p:nvPr/>
        </p:nvCxnSpPr>
        <p:spPr>
          <a:xfrm>
            <a:off x="2240280" y="4634914"/>
            <a:ext cx="228146" cy="40179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Hộp Văn bản 25">
                <a:extLst>
                  <a:ext uri="{FF2B5EF4-FFF2-40B4-BE49-F238E27FC236}">
                    <a16:creationId xmlns:a16="http://schemas.microsoft.com/office/drawing/2014/main" id="{098CD48C-74C1-CA23-AC5C-8CE1D7C4A6B6}"/>
                  </a:ext>
                </a:extLst>
              </p:cNvPr>
              <p:cNvSpPr txBox="1"/>
              <p:nvPr/>
            </p:nvSpPr>
            <p:spPr>
              <a:xfrm>
                <a:off x="2044447" y="5036707"/>
                <a:ext cx="1648713" cy="646331"/>
              </a:xfrm>
              <a:prstGeom prst="rect">
                <a:avLst/>
              </a:prstGeom>
              <a:noFill/>
              <a:ln w="19050">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=65</m:t>
                      </m:r>
                      <m:r>
                        <a:rPr lang="en-US" b="0" i="1" smtClean="0">
                          <a:latin typeface="Cambria Math" panose="02040503050406030204" pitchFamily="18" charset="0"/>
                          <a:ea typeface="Cambria Math" panose="02040503050406030204" pitchFamily="18" charset="0"/>
                        </a:rPr>
                        <m:t>𝑉</m:t>
                      </m:r>
                    </m:oMath>
                  </m:oMathPara>
                </a14:m>
                <a:endParaRPr lang="en-US" b="0">
                  <a:ea typeface="Cambria Math" panose="02040503050406030204" pitchFamily="18" charset="0"/>
                </a:endParaRPr>
              </a:p>
              <a:p>
                <a:r>
                  <a:rPr lang="en-US"/>
                  <a:t>=&gt;</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=16.25%</m:t>
                    </m:r>
                  </m:oMath>
                </a14:m>
                <a:endParaRPr lang="en-US"/>
              </a:p>
            </p:txBody>
          </p:sp>
        </mc:Choice>
        <mc:Fallback xmlns="">
          <p:sp>
            <p:nvSpPr>
              <p:cNvPr id="26" name="Hộp Văn bản 25">
                <a:extLst>
                  <a:ext uri="{FF2B5EF4-FFF2-40B4-BE49-F238E27FC236}">
                    <a16:creationId xmlns:a16="http://schemas.microsoft.com/office/drawing/2014/main" id="{098CD48C-74C1-CA23-AC5C-8CE1D7C4A6B6}"/>
                  </a:ext>
                </a:extLst>
              </p:cNvPr>
              <p:cNvSpPr txBox="1">
                <a:spLocks noRot="1" noChangeAspect="1" noMove="1" noResize="1" noEditPoints="1" noAdjustHandles="1" noChangeArrowheads="1" noChangeShapeType="1" noTextEdit="1"/>
              </p:cNvSpPr>
              <p:nvPr/>
            </p:nvSpPr>
            <p:spPr>
              <a:xfrm>
                <a:off x="2044447" y="5036707"/>
                <a:ext cx="1648713" cy="646331"/>
              </a:xfrm>
              <a:prstGeom prst="rect">
                <a:avLst/>
              </a:prstGeom>
              <a:blipFill>
                <a:blip r:embed="rId5"/>
                <a:stretch>
                  <a:fillRect l="-2555" b="-11927"/>
                </a:stretch>
              </a:blipFill>
              <a:ln w="19050">
                <a:solidFill>
                  <a:srgbClr val="FF0000"/>
                </a:solidFill>
              </a:ln>
            </p:spPr>
            <p:txBody>
              <a:bodyPr/>
              <a:lstStyle/>
              <a:p>
                <a:r>
                  <a:rPr lang="en-US">
                    <a:noFill/>
                  </a:rPr>
                  <a:t> </a:t>
                </a:r>
              </a:p>
            </p:txBody>
          </p:sp>
        </mc:Fallback>
      </mc:AlternateContent>
      <p:cxnSp>
        <p:nvCxnSpPr>
          <p:cNvPr id="27" name="Straight Arrow Connector 20">
            <a:extLst>
              <a:ext uri="{FF2B5EF4-FFF2-40B4-BE49-F238E27FC236}">
                <a16:creationId xmlns:a16="http://schemas.microsoft.com/office/drawing/2014/main" id="{C1DD98FE-2E72-C88D-ED12-DE2C725E8C1F}"/>
              </a:ext>
            </a:extLst>
          </p:cNvPr>
          <p:cNvCxnSpPr>
            <a:cxnSpLocks/>
          </p:cNvCxnSpPr>
          <p:nvPr/>
        </p:nvCxnSpPr>
        <p:spPr>
          <a:xfrm>
            <a:off x="1939413" y="4118481"/>
            <a:ext cx="0" cy="516433"/>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6">
            <a:extLst>
              <a:ext uri="{FF2B5EF4-FFF2-40B4-BE49-F238E27FC236}">
                <a16:creationId xmlns:a16="http://schemas.microsoft.com/office/drawing/2014/main" id="{AD7105D2-FBFC-6D3E-C868-CAD8BCD2C72B}"/>
              </a:ext>
            </a:extLst>
          </p:cNvPr>
          <p:cNvSpPr txBox="1"/>
          <p:nvPr/>
        </p:nvSpPr>
        <p:spPr>
          <a:xfrm>
            <a:off x="9387840" y="981377"/>
            <a:ext cx="2498558" cy="3477875"/>
          </a:xfrm>
          <a:prstGeom prst="rect">
            <a:avLst/>
          </a:prstGeom>
          <a:noFill/>
        </p:spPr>
        <p:txBody>
          <a:bodyPr wrap="square" rtlCol="0">
            <a:spAutoFit/>
          </a:bodyPr>
          <a:lstStyle/>
          <a:p>
            <a:pPr algn="just"/>
            <a:r>
              <a:rPr lang="en-US" sz="2000"/>
              <a:t>Hình 4.9.1 Mô phỏng trong trường hợp biên độ điện áp lưới thay đổi trong khoảng 310 +- 10%V</a:t>
            </a:r>
          </a:p>
          <a:p>
            <a:pPr algn="just"/>
            <a:r>
              <a:rPr lang="en-US" sz="2000"/>
              <a:t>a, Trường hợp biên độ điện áp tăng lên 10%</a:t>
            </a:r>
          </a:p>
          <a:p>
            <a:pPr algn="just"/>
            <a:r>
              <a:rPr lang="en-US" sz="2000"/>
              <a:t>b, Trường hợp biên độ điện áp giảm xuống 10%</a:t>
            </a:r>
          </a:p>
        </p:txBody>
      </p:sp>
      <p:sp>
        <p:nvSpPr>
          <p:cNvPr id="2" name="Hộp Văn bản 1">
            <a:extLst>
              <a:ext uri="{FF2B5EF4-FFF2-40B4-BE49-F238E27FC236}">
                <a16:creationId xmlns:a16="http://schemas.microsoft.com/office/drawing/2014/main" id="{13699127-E078-225F-242C-8F06120B354F}"/>
              </a:ext>
            </a:extLst>
          </p:cNvPr>
          <p:cNvSpPr txBox="1"/>
          <p:nvPr/>
        </p:nvSpPr>
        <p:spPr>
          <a:xfrm>
            <a:off x="5165073" y="5190027"/>
            <a:ext cx="3991438" cy="923330"/>
          </a:xfrm>
          <a:prstGeom prst="rect">
            <a:avLst/>
          </a:prstGeom>
          <a:noFill/>
          <a:ln>
            <a:solidFill>
              <a:srgbClr val="FF0000"/>
            </a:solidFill>
          </a:ln>
        </p:spPr>
        <p:txBody>
          <a:bodyPr wrap="square" rtlCol="0">
            <a:spAutoFit/>
          </a:bodyPr>
          <a:lstStyle/>
          <a:p>
            <a:r>
              <a:rPr lang="en-US"/>
              <a:t>Nhận xét: Mạch có thời gian xác lập trong 0.05s, độ đập mạch điện áp đầu ra thỏa mãn yêu cầu thiết kế.</a:t>
            </a:r>
          </a:p>
        </p:txBody>
      </p:sp>
      <p:sp>
        <p:nvSpPr>
          <p:cNvPr id="6" name="Hình Bầu dục 5">
            <a:extLst>
              <a:ext uri="{FF2B5EF4-FFF2-40B4-BE49-F238E27FC236}">
                <a16:creationId xmlns:a16="http://schemas.microsoft.com/office/drawing/2014/main" id="{7E41D017-632F-A33B-A61C-DB54C6457CA2}"/>
              </a:ext>
            </a:extLst>
          </p:cNvPr>
          <p:cNvSpPr/>
          <p:nvPr/>
        </p:nvSpPr>
        <p:spPr>
          <a:xfrm>
            <a:off x="7630104" y="1619278"/>
            <a:ext cx="831039" cy="583135"/>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31">
            <a:extLst>
              <a:ext uri="{FF2B5EF4-FFF2-40B4-BE49-F238E27FC236}">
                <a16:creationId xmlns:a16="http://schemas.microsoft.com/office/drawing/2014/main" id="{7B6627C8-8C68-8252-A928-5408A537CC38}"/>
              </a:ext>
            </a:extLst>
          </p:cNvPr>
          <p:cNvCxnSpPr>
            <a:cxnSpLocks/>
            <a:stCxn id="6" idx="3"/>
          </p:cNvCxnSpPr>
          <p:nvPr/>
        </p:nvCxnSpPr>
        <p:spPr>
          <a:xfrm flipH="1">
            <a:off x="7524939" y="2117015"/>
            <a:ext cx="226868" cy="34398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E9DCF4F5-CF3A-96A5-1A8C-A983372762EE}"/>
                  </a:ext>
                </a:extLst>
              </p:cNvPr>
              <p:cNvSpPr txBox="1"/>
              <p:nvPr/>
            </p:nvSpPr>
            <p:spPr>
              <a:xfrm>
                <a:off x="7001907" y="2460997"/>
                <a:ext cx="1371169" cy="369332"/>
              </a:xfrm>
              <a:prstGeom prst="rect">
                <a:avLst/>
              </a:prstGeom>
              <a:noFill/>
              <a:ln w="19050">
                <a:solidFill>
                  <a:srgbClr val="00B0F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=10.3</m:t>
                      </m:r>
                      <m:r>
                        <a:rPr lang="en-US" b="0" i="1" smtClean="0">
                          <a:latin typeface="Cambria Math" panose="02040503050406030204" pitchFamily="18" charset="0"/>
                          <a:ea typeface="Cambria Math" panose="02040503050406030204" pitchFamily="18" charset="0"/>
                        </a:rPr>
                        <m:t>𝑉</m:t>
                      </m:r>
                    </m:oMath>
                  </m:oMathPara>
                </a14:m>
                <a:endParaRPr lang="en-US"/>
              </a:p>
            </p:txBody>
          </p:sp>
        </mc:Choice>
        <mc:Fallback xmlns="">
          <p:sp>
            <p:nvSpPr>
              <p:cNvPr id="8" name="Hộp Văn bản 7">
                <a:extLst>
                  <a:ext uri="{FF2B5EF4-FFF2-40B4-BE49-F238E27FC236}">
                    <a16:creationId xmlns:a16="http://schemas.microsoft.com/office/drawing/2014/main" id="{E9DCF4F5-CF3A-96A5-1A8C-A983372762EE}"/>
                  </a:ext>
                </a:extLst>
              </p:cNvPr>
              <p:cNvSpPr txBox="1">
                <a:spLocks noRot="1" noChangeAspect="1" noMove="1" noResize="1" noEditPoints="1" noAdjustHandles="1" noChangeArrowheads="1" noChangeShapeType="1" noTextEdit="1"/>
              </p:cNvSpPr>
              <p:nvPr/>
            </p:nvSpPr>
            <p:spPr>
              <a:xfrm>
                <a:off x="7001907" y="2460997"/>
                <a:ext cx="1371169" cy="369332"/>
              </a:xfrm>
              <a:prstGeom prst="rect">
                <a:avLst/>
              </a:prstGeom>
              <a:blipFill>
                <a:blip r:embed="rId6"/>
                <a:stretch>
                  <a:fillRect/>
                </a:stretch>
              </a:blipFill>
              <a:ln w="19050">
                <a:solidFill>
                  <a:srgbClr val="00B0F0"/>
                </a:solidFill>
              </a:ln>
            </p:spPr>
            <p:txBody>
              <a:bodyPr/>
              <a:lstStyle/>
              <a:p>
                <a:r>
                  <a:rPr lang="en-US">
                    <a:noFill/>
                  </a:rPr>
                  <a:t> </a:t>
                </a:r>
              </a:p>
            </p:txBody>
          </p:sp>
        </mc:Fallback>
      </mc:AlternateContent>
      <p:sp>
        <p:nvSpPr>
          <p:cNvPr id="14" name="Hình Bầu dục 13">
            <a:extLst>
              <a:ext uri="{FF2B5EF4-FFF2-40B4-BE49-F238E27FC236}">
                <a16:creationId xmlns:a16="http://schemas.microsoft.com/office/drawing/2014/main" id="{6CFBE9F7-E3BE-4DC6-E947-FAA7D120F650}"/>
              </a:ext>
            </a:extLst>
          </p:cNvPr>
          <p:cNvSpPr/>
          <p:nvPr/>
        </p:nvSpPr>
        <p:spPr>
          <a:xfrm>
            <a:off x="7608728" y="4244808"/>
            <a:ext cx="831039" cy="583135"/>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31">
            <a:extLst>
              <a:ext uri="{FF2B5EF4-FFF2-40B4-BE49-F238E27FC236}">
                <a16:creationId xmlns:a16="http://schemas.microsoft.com/office/drawing/2014/main" id="{505A0A9D-218A-991B-BED0-D6538CFA695A}"/>
              </a:ext>
            </a:extLst>
          </p:cNvPr>
          <p:cNvCxnSpPr>
            <a:cxnSpLocks/>
          </p:cNvCxnSpPr>
          <p:nvPr/>
        </p:nvCxnSpPr>
        <p:spPr>
          <a:xfrm flipH="1" flipV="1">
            <a:off x="7390674" y="4166605"/>
            <a:ext cx="329318" cy="164412"/>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E5684A4B-FA01-16B6-16B0-1D4DFBD8A83F}"/>
                  </a:ext>
                </a:extLst>
              </p:cNvPr>
              <p:cNvSpPr txBox="1"/>
              <p:nvPr/>
            </p:nvSpPr>
            <p:spPr>
              <a:xfrm>
                <a:off x="6015235" y="3951724"/>
                <a:ext cx="1371169" cy="369332"/>
              </a:xfrm>
              <a:prstGeom prst="rect">
                <a:avLst/>
              </a:prstGeom>
              <a:noFill/>
              <a:ln w="19050">
                <a:solidFill>
                  <a:srgbClr val="00B0F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=10.6</m:t>
                      </m:r>
                      <m:r>
                        <a:rPr lang="en-US" b="0" i="1" smtClean="0">
                          <a:latin typeface="Cambria Math" panose="02040503050406030204" pitchFamily="18" charset="0"/>
                          <a:ea typeface="Cambria Math" panose="02040503050406030204" pitchFamily="18" charset="0"/>
                        </a:rPr>
                        <m:t>𝑉</m:t>
                      </m:r>
                    </m:oMath>
                  </m:oMathPara>
                </a14:m>
                <a:endParaRPr lang="en-US"/>
              </a:p>
            </p:txBody>
          </p:sp>
        </mc:Choice>
        <mc:Fallback xmlns="">
          <p:sp>
            <p:nvSpPr>
              <p:cNvPr id="17" name="Hộp Văn bản 16">
                <a:extLst>
                  <a:ext uri="{FF2B5EF4-FFF2-40B4-BE49-F238E27FC236}">
                    <a16:creationId xmlns:a16="http://schemas.microsoft.com/office/drawing/2014/main" id="{E5684A4B-FA01-16B6-16B0-1D4DFBD8A83F}"/>
                  </a:ext>
                </a:extLst>
              </p:cNvPr>
              <p:cNvSpPr txBox="1">
                <a:spLocks noRot="1" noChangeAspect="1" noMove="1" noResize="1" noEditPoints="1" noAdjustHandles="1" noChangeArrowheads="1" noChangeShapeType="1" noTextEdit="1"/>
              </p:cNvSpPr>
              <p:nvPr/>
            </p:nvSpPr>
            <p:spPr>
              <a:xfrm>
                <a:off x="6015235" y="3951724"/>
                <a:ext cx="1371169" cy="369332"/>
              </a:xfrm>
              <a:prstGeom prst="rect">
                <a:avLst/>
              </a:prstGeom>
              <a:blipFill>
                <a:blip r:embed="rId7"/>
                <a:stretch>
                  <a:fillRect/>
                </a:stretch>
              </a:blipFill>
              <a:ln w="19050">
                <a:solidFill>
                  <a:srgbClr val="00B0F0"/>
                </a:solidFill>
              </a:ln>
            </p:spPr>
            <p:txBody>
              <a:bodyPr/>
              <a:lstStyle/>
              <a:p>
                <a:r>
                  <a:rPr lang="en-US">
                    <a:noFill/>
                  </a:rPr>
                  <a:t> </a:t>
                </a:r>
              </a:p>
            </p:txBody>
          </p:sp>
        </mc:Fallback>
      </mc:AlternateContent>
    </p:spTree>
    <p:extLst>
      <p:ext uri="{BB962C8B-B14F-4D97-AF65-F5344CB8AC3E}">
        <p14:creationId xmlns:p14="http://schemas.microsoft.com/office/powerpoint/2010/main" val="4292002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F906C-52AF-EBB4-B416-3A505D914420}"/>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A218DCDA-AD91-4827-B0AE-A283D04DE3BB}"/>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43</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846EF62C-E2ED-0C42-EC9C-BCBC6C788E9C}"/>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E0726E08-8ACB-5218-9608-6C060BD7C0F5}"/>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KB3</a:t>
            </a:r>
          </a:p>
        </p:txBody>
      </p:sp>
      <p:sp>
        <p:nvSpPr>
          <p:cNvPr id="19" name="TextBox 6">
            <a:extLst>
              <a:ext uri="{FF2B5EF4-FFF2-40B4-BE49-F238E27FC236}">
                <a16:creationId xmlns:a16="http://schemas.microsoft.com/office/drawing/2014/main" id="{2E9BD649-EE25-F35B-8BE7-413F32E567B4}"/>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pic>
        <p:nvPicPr>
          <p:cNvPr id="3" name="Hình ảnh 2">
            <a:extLst>
              <a:ext uri="{FF2B5EF4-FFF2-40B4-BE49-F238E27FC236}">
                <a16:creationId xmlns:a16="http://schemas.microsoft.com/office/drawing/2014/main" id="{289F6266-924A-9F77-FA94-B0EA522C3162}"/>
              </a:ext>
            </a:extLst>
          </p:cNvPr>
          <p:cNvPicPr>
            <a:picLocks noChangeAspect="1"/>
          </p:cNvPicPr>
          <p:nvPr/>
        </p:nvPicPr>
        <p:blipFill>
          <a:blip r:embed="rId2"/>
          <a:srcRect b="44209"/>
          <a:stretch/>
        </p:blipFill>
        <p:spPr>
          <a:xfrm>
            <a:off x="87548" y="1229120"/>
            <a:ext cx="9273691" cy="2438208"/>
          </a:xfrm>
          <a:prstGeom prst="rect">
            <a:avLst/>
          </a:prstGeom>
        </p:spPr>
      </p:pic>
      <p:pic>
        <p:nvPicPr>
          <p:cNvPr id="9" name="Hình ảnh 8" descr="Ảnh có chứa văn bản, Sơ đồ, hàng, biểu đồ&#10;&#10;Nội dung do AI tạo ra có thể không chính xác.">
            <a:extLst>
              <a:ext uri="{FF2B5EF4-FFF2-40B4-BE49-F238E27FC236}">
                <a16:creationId xmlns:a16="http://schemas.microsoft.com/office/drawing/2014/main" id="{61945412-710D-A514-AF9D-F5BEC358C68D}"/>
              </a:ext>
            </a:extLst>
          </p:cNvPr>
          <p:cNvPicPr>
            <a:picLocks noChangeAspect="1"/>
          </p:cNvPicPr>
          <p:nvPr/>
        </p:nvPicPr>
        <p:blipFill>
          <a:blip r:embed="rId3">
            <a:extLst>
              <a:ext uri="{28A0092B-C50C-407E-A947-70E740481C1C}">
                <a14:useLocalDpi xmlns:a14="http://schemas.microsoft.com/office/drawing/2010/main" val="0"/>
              </a:ext>
            </a:extLst>
          </a:blip>
          <a:srcRect t="25449" r="73032" b="21468"/>
          <a:stretch/>
        </p:blipFill>
        <p:spPr>
          <a:xfrm>
            <a:off x="5738675" y="2350772"/>
            <a:ext cx="978356" cy="1042036"/>
          </a:xfrm>
          <a:prstGeom prst="rect">
            <a:avLst/>
          </a:prstGeom>
          <a:ln>
            <a:solidFill>
              <a:srgbClr val="FF0000"/>
            </a:solidFill>
          </a:ln>
        </p:spPr>
      </p:pic>
      <p:sp>
        <p:nvSpPr>
          <p:cNvPr id="11" name="Hình Bầu dục 10">
            <a:extLst>
              <a:ext uri="{FF2B5EF4-FFF2-40B4-BE49-F238E27FC236}">
                <a16:creationId xmlns:a16="http://schemas.microsoft.com/office/drawing/2014/main" id="{8BF580A6-F422-EBF8-34BA-70AF1ED638F1}"/>
              </a:ext>
            </a:extLst>
          </p:cNvPr>
          <p:cNvSpPr/>
          <p:nvPr/>
        </p:nvSpPr>
        <p:spPr>
          <a:xfrm>
            <a:off x="7235899" y="2070205"/>
            <a:ext cx="407969" cy="3148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31">
            <a:extLst>
              <a:ext uri="{FF2B5EF4-FFF2-40B4-BE49-F238E27FC236}">
                <a16:creationId xmlns:a16="http://schemas.microsoft.com/office/drawing/2014/main" id="{907572CB-817B-F99D-604B-2F9ED5200FB5}"/>
              </a:ext>
            </a:extLst>
          </p:cNvPr>
          <p:cNvCxnSpPr>
            <a:cxnSpLocks/>
          </p:cNvCxnSpPr>
          <p:nvPr/>
        </p:nvCxnSpPr>
        <p:spPr>
          <a:xfrm flipH="1">
            <a:off x="6820631" y="2309460"/>
            <a:ext cx="390077" cy="1562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20">
            <a:extLst>
              <a:ext uri="{FF2B5EF4-FFF2-40B4-BE49-F238E27FC236}">
                <a16:creationId xmlns:a16="http://schemas.microsoft.com/office/drawing/2014/main" id="{C1F9BC1E-4289-B261-FE4C-A032E5CA186E}"/>
              </a:ext>
            </a:extLst>
          </p:cNvPr>
          <p:cNvCxnSpPr>
            <a:cxnSpLocks/>
          </p:cNvCxnSpPr>
          <p:nvPr/>
        </p:nvCxnSpPr>
        <p:spPr>
          <a:xfrm flipH="1">
            <a:off x="5884545" y="2822260"/>
            <a:ext cx="651510"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20">
            <a:extLst>
              <a:ext uri="{FF2B5EF4-FFF2-40B4-BE49-F238E27FC236}">
                <a16:creationId xmlns:a16="http://schemas.microsoft.com/office/drawing/2014/main" id="{C2B958AE-6AEE-540F-C0E6-ABB414300317}"/>
              </a:ext>
            </a:extLst>
          </p:cNvPr>
          <p:cNvCxnSpPr>
            <a:cxnSpLocks/>
          </p:cNvCxnSpPr>
          <p:nvPr/>
        </p:nvCxnSpPr>
        <p:spPr>
          <a:xfrm>
            <a:off x="5832219" y="2430780"/>
            <a:ext cx="0" cy="901065"/>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Hộp Văn bản 23">
            <a:extLst>
              <a:ext uri="{FF2B5EF4-FFF2-40B4-BE49-F238E27FC236}">
                <a16:creationId xmlns:a16="http://schemas.microsoft.com/office/drawing/2014/main" id="{6CF80F7E-177E-FAEF-20C2-19E2E560262A}"/>
              </a:ext>
            </a:extLst>
          </p:cNvPr>
          <p:cNvSpPr txBox="1"/>
          <p:nvPr/>
        </p:nvSpPr>
        <p:spPr>
          <a:xfrm>
            <a:off x="6008370" y="2941320"/>
            <a:ext cx="468630" cy="369332"/>
          </a:xfrm>
          <a:prstGeom prst="rect">
            <a:avLst/>
          </a:prstGeom>
          <a:noFill/>
        </p:spPr>
        <p:txBody>
          <a:bodyPr wrap="square" rtlCol="0">
            <a:spAutoFit/>
          </a:bodyPr>
          <a:lstStyle/>
          <a:p>
            <a:endParaRPr lang="en-US"/>
          </a:p>
        </p:txBody>
      </p:sp>
      <p:sp>
        <p:nvSpPr>
          <p:cNvPr id="25" name="TextBox 13">
            <a:extLst>
              <a:ext uri="{FF2B5EF4-FFF2-40B4-BE49-F238E27FC236}">
                <a16:creationId xmlns:a16="http://schemas.microsoft.com/office/drawing/2014/main" id="{46BF5656-2F5E-AF28-5A2A-F5B757CFF5DB}"/>
              </a:ext>
            </a:extLst>
          </p:cNvPr>
          <p:cNvSpPr txBox="1"/>
          <p:nvPr/>
        </p:nvSpPr>
        <p:spPr>
          <a:xfrm>
            <a:off x="5446993" y="2857571"/>
            <a:ext cx="1992890" cy="338554"/>
          </a:xfrm>
          <a:prstGeom prst="rect">
            <a:avLst/>
          </a:prstGeom>
          <a:noFill/>
        </p:spPr>
        <p:txBody>
          <a:bodyPr wrap="square" rtlCol="0">
            <a:spAutoFit/>
          </a:bodyPr>
          <a:lstStyle/>
          <a:p>
            <a:pPr algn="ctr"/>
            <a:r>
              <a:rPr lang="en-US" sz="1600" b="1">
                <a:solidFill>
                  <a:srgbClr val="FF0000"/>
                </a:solidFill>
              </a:rPr>
              <a:t>10.655ms</a:t>
            </a:r>
          </a:p>
        </p:txBody>
      </p:sp>
      <mc:AlternateContent xmlns:mc="http://schemas.openxmlformats.org/markup-compatibility/2006" xmlns:a14="http://schemas.microsoft.com/office/drawing/2010/main">
        <mc:Choice Requires="a14">
          <p:sp>
            <p:nvSpPr>
              <p:cNvPr id="26" name="TextBox 13">
                <a:extLst>
                  <a:ext uri="{FF2B5EF4-FFF2-40B4-BE49-F238E27FC236}">
                    <a16:creationId xmlns:a16="http://schemas.microsoft.com/office/drawing/2014/main" id="{E3644533-71B0-C3AD-29D3-0019809EF245}"/>
                  </a:ext>
                </a:extLst>
              </p:cNvPr>
              <p:cNvSpPr txBox="1"/>
              <p:nvPr/>
            </p:nvSpPr>
            <p:spPr>
              <a:xfrm>
                <a:off x="4249795" y="2702513"/>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𝑼</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𝟏𝟏</m:t>
                      </m:r>
                      <m:r>
                        <a:rPr lang="en-US" sz="1600" b="1" i="1" smtClean="0">
                          <a:solidFill>
                            <a:srgbClr val="FF0000"/>
                          </a:solidFill>
                          <a:latin typeface="Cambria Math" panose="02040503050406030204" pitchFamily="18" charset="0"/>
                          <a:ea typeface="Cambria Math" panose="02040503050406030204" pitchFamily="18" charset="0"/>
                        </a:rPr>
                        <m:t>𝑽</m:t>
                      </m:r>
                    </m:oMath>
                  </m:oMathPara>
                </a14:m>
                <a:endParaRPr lang="en-US" sz="1600" b="1">
                  <a:solidFill>
                    <a:srgbClr val="FF0000"/>
                  </a:solidFill>
                </a:endParaRPr>
              </a:p>
            </p:txBody>
          </p:sp>
        </mc:Choice>
        <mc:Fallback xmlns="">
          <p:sp>
            <p:nvSpPr>
              <p:cNvPr id="26" name="TextBox 13">
                <a:extLst>
                  <a:ext uri="{FF2B5EF4-FFF2-40B4-BE49-F238E27FC236}">
                    <a16:creationId xmlns:a16="http://schemas.microsoft.com/office/drawing/2014/main" id="{E3644533-71B0-C3AD-29D3-0019809EF245}"/>
                  </a:ext>
                </a:extLst>
              </p:cNvPr>
              <p:cNvSpPr txBox="1">
                <a:spLocks noRot="1" noChangeAspect="1" noMove="1" noResize="1" noEditPoints="1" noAdjustHandles="1" noChangeArrowheads="1" noChangeShapeType="1" noTextEdit="1"/>
              </p:cNvSpPr>
              <p:nvPr/>
            </p:nvSpPr>
            <p:spPr>
              <a:xfrm>
                <a:off x="4249795" y="2702513"/>
                <a:ext cx="1992890" cy="338554"/>
              </a:xfrm>
              <a:prstGeom prst="rect">
                <a:avLst/>
              </a:prstGeom>
              <a:blipFill>
                <a:blip r:embed="rId4"/>
                <a:stretch>
                  <a:fillRect/>
                </a:stretch>
              </a:blipFill>
            </p:spPr>
            <p:txBody>
              <a:bodyPr/>
              <a:lstStyle/>
              <a:p>
                <a:r>
                  <a:rPr lang="en-US">
                    <a:noFill/>
                  </a:rPr>
                  <a:t> </a:t>
                </a:r>
              </a:p>
            </p:txBody>
          </p:sp>
        </mc:Fallback>
      </mc:AlternateContent>
      <p:pic>
        <p:nvPicPr>
          <p:cNvPr id="28" name="Hình ảnh 27" descr="Ảnh có chứa văn bản, ảnh chụp màn hình, hàng, Sơ đồ&#10;&#10;Nội dung do AI tạo ra có thể không chính xác.">
            <a:extLst>
              <a:ext uri="{FF2B5EF4-FFF2-40B4-BE49-F238E27FC236}">
                <a16:creationId xmlns:a16="http://schemas.microsoft.com/office/drawing/2014/main" id="{0561DB51-58F5-2CA7-659F-A81AFCC5222B}"/>
              </a:ext>
            </a:extLst>
          </p:cNvPr>
          <p:cNvPicPr>
            <a:picLocks noChangeAspect="1"/>
          </p:cNvPicPr>
          <p:nvPr/>
        </p:nvPicPr>
        <p:blipFill>
          <a:blip r:embed="rId5">
            <a:extLst>
              <a:ext uri="{28A0092B-C50C-407E-A947-70E740481C1C}">
                <a14:useLocalDpi xmlns:a14="http://schemas.microsoft.com/office/drawing/2010/main" val="0"/>
              </a:ext>
            </a:extLst>
          </a:blip>
          <a:srcRect t="12347" b="10026"/>
          <a:stretch/>
        </p:blipFill>
        <p:spPr>
          <a:xfrm>
            <a:off x="87548" y="3781428"/>
            <a:ext cx="9273691" cy="2127525"/>
          </a:xfrm>
          <a:prstGeom prst="rect">
            <a:avLst/>
          </a:prstGeom>
        </p:spPr>
      </p:pic>
      <p:cxnSp>
        <p:nvCxnSpPr>
          <p:cNvPr id="29" name="Straight Arrow Connector 20">
            <a:extLst>
              <a:ext uri="{FF2B5EF4-FFF2-40B4-BE49-F238E27FC236}">
                <a16:creationId xmlns:a16="http://schemas.microsoft.com/office/drawing/2014/main" id="{5942D415-3BDA-90B8-5E31-18935B6F004A}"/>
              </a:ext>
            </a:extLst>
          </p:cNvPr>
          <p:cNvCxnSpPr>
            <a:cxnSpLocks/>
          </p:cNvCxnSpPr>
          <p:nvPr/>
        </p:nvCxnSpPr>
        <p:spPr>
          <a:xfrm flipH="1">
            <a:off x="4678680" y="4786315"/>
            <a:ext cx="786765"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13">
                <a:extLst>
                  <a:ext uri="{FF2B5EF4-FFF2-40B4-BE49-F238E27FC236}">
                    <a16:creationId xmlns:a16="http://schemas.microsoft.com/office/drawing/2014/main" id="{DD1452D0-E677-B6C5-B79E-46AF2F801DA3}"/>
                  </a:ext>
                </a:extLst>
              </p:cNvPr>
              <p:cNvSpPr txBox="1"/>
              <p:nvPr/>
            </p:nvSpPr>
            <p:spPr>
              <a:xfrm>
                <a:off x="4103110" y="4400655"/>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𝒕</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𝟐𝟏</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𝟐𝟔𝟕</m:t>
                      </m:r>
                      <m:r>
                        <a:rPr lang="en-US" sz="1600" b="1" i="1" smtClean="0">
                          <a:solidFill>
                            <a:schemeClr val="tx1"/>
                          </a:solidFill>
                          <a:latin typeface="Cambria Math" panose="02040503050406030204" pitchFamily="18" charset="0"/>
                          <a:ea typeface="Cambria Math" panose="02040503050406030204" pitchFamily="18" charset="0"/>
                        </a:rPr>
                        <m:t>𝒎𝒔</m:t>
                      </m:r>
                      <m:r>
                        <a:rPr lang="en-US" sz="1600" b="1" i="1" smtClean="0">
                          <a:solidFill>
                            <a:schemeClr val="tx1"/>
                          </a:solidFill>
                          <a:latin typeface="Cambria Math" panose="02040503050406030204" pitchFamily="18" charset="0"/>
                          <a:ea typeface="Cambria Math" panose="02040503050406030204" pitchFamily="18" charset="0"/>
                        </a:rPr>
                        <m:t> </m:t>
                      </m:r>
                    </m:oMath>
                  </m:oMathPara>
                </a14:m>
                <a:endParaRPr lang="en-US" sz="1600" b="1">
                  <a:solidFill>
                    <a:schemeClr val="tx1"/>
                  </a:solidFill>
                </a:endParaRPr>
              </a:p>
            </p:txBody>
          </p:sp>
        </mc:Choice>
        <mc:Fallback xmlns="">
          <p:sp>
            <p:nvSpPr>
              <p:cNvPr id="32" name="TextBox 13">
                <a:extLst>
                  <a:ext uri="{FF2B5EF4-FFF2-40B4-BE49-F238E27FC236}">
                    <a16:creationId xmlns:a16="http://schemas.microsoft.com/office/drawing/2014/main" id="{DD1452D0-E677-B6C5-B79E-46AF2F801DA3}"/>
                  </a:ext>
                </a:extLst>
              </p:cNvPr>
              <p:cNvSpPr txBox="1">
                <a:spLocks noRot="1" noChangeAspect="1" noMove="1" noResize="1" noEditPoints="1" noAdjustHandles="1" noChangeArrowheads="1" noChangeShapeType="1" noTextEdit="1"/>
              </p:cNvSpPr>
              <p:nvPr/>
            </p:nvSpPr>
            <p:spPr>
              <a:xfrm>
                <a:off x="4103110" y="4400655"/>
                <a:ext cx="1992890" cy="338554"/>
              </a:xfrm>
              <a:prstGeom prst="rect">
                <a:avLst/>
              </a:prstGeom>
              <a:blipFill>
                <a:blip r:embed="rId6"/>
                <a:stretch>
                  <a:fillRect/>
                </a:stretch>
              </a:blipFill>
            </p:spPr>
            <p:txBody>
              <a:bodyPr/>
              <a:lstStyle/>
              <a:p>
                <a:r>
                  <a:rPr lang="en-US">
                    <a:noFill/>
                  </a:rPr>
                  <a:t> </a:t>
                </a:r>
              </a:p>
            </p:txBody>
          </p:sp>
        </mc:Fallback>
      </mc:AlternateContent>
      <p:sp>
        <p:nvSpPr>
          <p:cNvPr id="33" name="TextBox 6">
            <a:extLst>
              <a:ext uri="{FF2B5EF4-FFF2-40B4-BE49-F238E27FC236}">
                <a16:creationId xmlns:a16="http://schemas.microsoft.com/office/drawing/2014/main" id="{935B5D87-282C-227C-35A0-3E27A72DA5C3}"/>
              </a:ext>
            </a:extLst>
          </p:cNvPr>
          <p:cNvSpPr txBox="1"/>
          <p:nvPr/>
        </p:nvSpPr>
        <p:spPr>
          <a:xfrm>
            <a:off x="0" y="5856082"/>
            <a:ext cx="9273690" cy="400110"/>
          </a:xfrm>
          <a:prstGeom prst="rect">
            <a:avLst/>
          </a:prstGeom>
          <a:noFill/>
        </p:spPr>
        <p:txBody>
          <a:bodyPr wrap="square" rtlCol="0">
            <a:spAutoFit/>
          </a:bodyPr>
          <a:lstStyle/>
          <a:p>
            <a:pPr algn="ctr"/>
            <a:r>
              <a:rPr lang="en-US" sz="2000"/>
              <a:t>Hình 4.10.1. Mô phỏng trong trường hợp tần số lưới giảm xuống 47Hz(T=21.276ms)</a:t>
            </a:r>
          </a:p>
        </p:txBody>
      </p:sp>
      <p:sp>
        <p:nvSpPr>
          <p:cNvPr id="34" name="Hộp Văn bản 33">
            <a:extLst>
              <a:ext uri="{FF2B5EF4-FFF2-40B4-BE49-F238E27FC236}">
                <a16:creationId xmlns:a16="http://schemas.microsoft.com/office/drawing/2014/main" id="{43FA42A5-05B6-3E60-1F6D-902A4903FA56}"/>
              </a:ext>
            </a:extLst>
          </p:cNvPr>
          <p:cNvSpPr txBox="1"/>
          <p:nvPr/>
        </p:nvSpPr>
        <p:spPr>
          <a:xfrm>
            <a:off x="9820343" y="1872686"/>
            <a:ext cx="1725999" cy="2031325"/>
          </a:xfrm>
          <a:prstGeom prst="rect">
            <a:avLst/>
          </a:prstGeom>
          <a:noFill/>
          <a:ln>
            <a:solidFill>
              <a:srgbClr val="FF0000"/>
            </a:solidFill>
          </a:ln>
        </p:spPr>
        <p:txBody>
          <a:bodyPr wrap="square" rtlCol="0">
            <a:spAutoFit/>
          </a:bodyPr>
          <a:lstStyle/>
          <a:p>
            <a:r>
              <a:rPr lang="en-US"/>
              <a:t>Nhận xét: Khi tần số lưới giảm so với tần số định mức, điện áp đầu ra đập mạch lớn hơn.</a:t>
            </a:r>
          </a:p>
        </p:txBody>
      </p:sp>
    </p:spTree>
    <p:extLst>
      <p:ext uri="{BB962C8B-B14F-4D97-AF65-F5344CB8AC3E}">
        <p14:creationId xmlns:p14="http://schemas.microsoft.com/office/powerpoint/2010/main" val="1624437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25C36-52F0-86AE-48A3-50EF5394D3B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908B7C8E-5438-029A-907A-107559CF1D92}"/>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44</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8B1B2EA6-6806-DD64-F698-B6447E3853B3}"/>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020DDB9A-29D3-F87C-BC6A-F164E0054AFF}"/>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KB3</a:t>
            </a:r>
          </a:p>
        </p:txBody>
      </p:sp>
      <p:sp>
        <p:nvSpPr>
          <p:cNvPr id="19" name="TextBox 6">
            <a:extLst>
              <a:ext uri="{FF2B5EF4-FFF2-40B4-BE49-F238E27FC236}">
                <a16:creationId xmlns:a16="http://schemas.microsoft.com/office/drawing/2014/main" id="{0B0C5C6A-99BB-98DA-6B43-F16CE51F0028}"/>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pic>
        <p:nvPicPr>
          <p:cNvPr id="7" name="Hình ảnh 6">
            <a:extLst>
              <a:ext uri="{FF2B5EF4-FFF2-40B4-BE49-F238E27FC236}">
                <a16:creationId xmlns:a16="http://schemas.microsoft.com/office/drawing/2014/main" id="{EDAE308D-2218-FCA4-772A-F9B0C45F11B5}"/>
              </a:ext>
            </a:extLst>
          </p:cNvPr>
          <p:cNvPicPr>
            <a:picLocks noChangeAspect="1"/>
          </p:cNvPicPr>
          <p:nvPr/>
        </p:nvPicPr>
        <p:blipFill>
          <a:blip r:embed="rId2"/>
          <a:stretch>
            <a:fillRect/>
          </a:stretch>
        </p:blipFill>
        <p:spPr>
          <a:xfrm>
            <a:off x="87548" y="4158350"/>
            <a:ext cx="9991172" cy="1904507"/>
          </a:xfrm>
          <a:prstGeom prst="rect">
            <a:avLst/>
          </a:prstGeom>
        </p:spPr>
      </p:pic>
      <p:pic>
        <p:nvPicPr>
          <p:cNvPr id="9" name="Hình ảnh 8">
            <a:extLst>
              <a:ext uri="{FF2B5EF4-FFF2-40B4-BE49-F238E27FC236}">
                <a16:creationId xmlns:a16="http://schemas.microsoft.com/office/drawing/2014/main" id="{2A2CE59B-C0EA-EEB1-1860-2AE449E25520}"/>
              </a:ext>
            </a:extLst>
          </p:cNvPr>
          <p:cNvPicPr>
            <a:picLocks noChangeAspect="1"/>
          </p:cNvPicPr>
          <p:nvPr/>
        </p:nvPicPr>
        <p:blipFill>
          <a:blip r:embed="rId3"/>
          <a:srcRect b="43143"/>
          <a:stretch/>
        </p:blipFill>
        <p:spPr>
          <a:xfrm>
            <a:off x="87548" y="1212221"/>
            <a:ext cx="9991172" cy="2776119"/>
          </a:xfrm>
          <a:prstGeom prst="rect">
            <a:avLst/>
          </a:prstGeom>
        </p:spPr>
      </p:pic>
      <p:cxnSp>
        <p:nvCxnSpPr>
          <p:cNvPr id="11" name="Straight Arrow Connector 20">
            <a:extLst>
              <a:ext uri="{FF2B5EF4-FFF2-40B4-BE49-F238E27FC236}">
                <a16:creationId xmlns:a16="http://schemas.microsoft.com/office/drawing/2014/main" id="{CA21AFB3-9F7D-2B86-FC20-48B541FA3430}"/>
              </a:ext>
            </a:extLst>
          </p:cNvPr>
          <p:cNvCxnSpPr>
            <a:cxnSpLocks/>
          </p:cNvCxnSpPr>
          <p:nvPr/>
        </p:nvCxnSpPr>
        <p:spPr>
          <a:xfrm>
            <a:off x="2765817" y="1649199"/>
            <a:ext cx="0" cy="637028"/>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3">
                <a:extLst>
                  <a:ext uri="{FF2B5EF4-FFF2-40B4-BE49-F238E27FC236}">
                    <a16:creationId xmlns:a16="http://schemas.microsoft.com/office/drawing/2014/main" id="{A742440D-B430-2FBE-0728-B32FEB6E0189}"/>
                  </a:ext>
                </a:extLst>
              </p:cNvPr>
              <p:cNvSpPr txBox="1"/>
              <p:nvPr/>
            </p:nvSpPr>
            <p:spPr>
              <a:xfrm>
                <a:off x="1231018" y="1863127"/>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𝑼</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𝟕𝟓</m:t>
                      </m:r>
                      <m:r>
                        <a:rPr lang="en-US" sz="1600" b="1" i="1" smtClean="0">
                          <a:solidFill>
                            <a:srgbClr val="FF0000"/>
                          </a:solidFill>
                          <a:latin typeface="Cambria Math" panose="02040503050406030204" pitchFamily="18" charset="0"/>
                          <a:ea typeface="Cambria Math" panose="02040503050406030204" pitchFamily="18" charset="0"/>
                        </a:rPr>
                        <m:t>𝑽</m:t>
                      </m:r>
                    </m:oMath>
                  </m:oMathPara>
                </a14:m>
                <a:endParaRPr lang="en-US" sz="1600" b="1">
                  <a:solidFill>
                    <a:srgbClr val="FF0000"/>
                  </a:solidFill>
                </a:endParaRPr>
              </a:p>
            </p:txBody>
          </p:sp>
        </mc:Choice>
        <mc:Fallback xmlns="">
          <p:sp>
            <p:nvSpPr>
              <p:cNvPr id="12" name="TextBox 13">
                <a:extLst>
                  <a:ext uri="{FF2B5EF4-FFF2-40B4-BE49-F238E27FC236}">
                    <a16:creationId xmlns:a16="http://schemas.microsoft.com/office/drawing/2014/main" id="{A742440D-B430-2FBE-0728-B32FEB6E0189}"/>
                  </a:ext>
                </a:extLst>
              </p:cNvPr>
              <p:cNvSpPr txBox="1">
                <a:spLocks noRot="1" noChangeAspect="1" noMove="1" noResize="1" noEditPoints="1" noAdjustHandles="1" noChangeArrowheads="1" noChangeShapeType="1" noTextEdit="1"/>
              </p:cNvSpPr>
              <p:nvPr/>
            </p:nvSpPr>
            <p:spPr>
              <a:xfrm>
                <a:off x="1231018" y="1863127"/>
                <a:ext cx="1992890" cy="338554"/>
              </a:xfrm>
              <a:prstGeom prst="rect">
                <a:avLst/>
              </a:prstGeom>
              <a:blipFill>
                <a:blip r:embed="rId4"/>
                <a:stretch>
                  <a:fillRect/>
                </a:stretch>
              </a:blipFill>
            </p:spPr>
            <p:txBody>
              <a:bodyPr/>
              <a:lstStyle/>
              <a:p>
                <a:r>
                  <a:rPr lang="en-US">
                    <a:noFill/>
                  </a:rPr>
                  <a:t> </a:t>
                </a:r>
              </a:p>
            </p:txBody>
          </p:sp>
        </mc:Fallback>
      </mc:AlternateContent>
      <p:sp>
        <p:nvSpPr>
          <p:cNvPr id="14" name="Hình Bầu dục 13">
            <a:extLst>
              <a:ext uri="{FF2B5EF4-FFF2-40B4-BE49-F238E27FC236}">
                <a16:creationId xmlns:a16="http://schemas.microsoft.com/office/drawing/2014/main" id="{268ADC8E-C4E8-74C9-B441-478896E2CA25}"/>
              </a:ext>
            </a:extLst>
          </p:cNvPr>
          <p:cNvSpPr/>
          <p:nvPr/>
        </p:nvSpPr>
        <p:spPr>
          <a:xfrm>
            <a:off x="8169426" y="2128799"/>
            <a:ext cx="407969" cy="3148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31">
            <a:extLst>
              <a:ext uri="{FF2B5EF4-FFF2-40B4-BE49-F238E27FC236}">
                <a16:creationId xmlns:a16="http://schemas.microsoft.com/office/drawing/2014/main" id="{22F728AA-D511-9668-6379-82D7A75A6676}"/>
              </a:ext>
            </a:extLst>
          </p:cNvPr>
          <p:cNvCxnSpPr>
            <a:cxnSpLocks/>
          </p:cNvCxnSpPr>
          <p:nvPr/>
        </p:nvCxnSpPr>
        <p:spPr>
          <a:xfrm flipH="1">
            <a:off x="7754158" y="2368054"/>
            <a:ext cx="390077" cy="1562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2" name="Hình ảnh 21" descr="Ảnh có chứa văn bản, Sơ đồ, hàng, biểu đồ&#10;&#10;Nội dung do AI tạo ra có thể không chính xác.">
            <a:extLst>
              <a:ext uri="{FF2B5EF4-FFF2-40B4-BE49-F238E27FC236}">
                <a16:creationId xmlns:a16="http://schemas.microsoft.com/office/drawing/2014/main" id="{5C59B666-6801-213F-F54B-964D6B31E839}"/>
              </a:ext>
            </a:extLst>
          </p:cNvPr>
          <p:cNvPicPr>
            <a:picLocks noChangeAspect="1"/>
          </p:cNvPicPr>
          <p:nvPr/>
        </p:nvPicPr>
        <p:blipFill>
          <a:blip r:embed="rId5">
            <a:extLst>
              <a:ext uri="{28A0092B-C50C-407E-A947-70E740481C1C}">
                <a14:useLocalDpi xmlns:a14="http://schemas.microsoft.com/office/drawing/2010/main" val="0"/>
              </a:ext>
            </a:extLst>
          </a:blip>
          <a:srcRect t="32500" r="58503" b="29437"/>
          <a:stretch/>
        </p:blipFill>
        <p:spPr>
          <a:xfrm>
            <a:off x="6380592" y="2486136"/>
            <a:ext cx="1526470" cy="942864"/>
          </a:xfrm>
          <a:prstGeom prst="rect">
            <a:avLst/>
          </a:prstGeom>
          <a:ln w="19050">
            <a:solidFill>
              <a:srgbClr val="FF0000"/>
            </a:solidFill>
          </a:ln>
        </p:spPr>
      </p:pic>
      <p:cxnSp>
        <p:nvCxnSpPr>
          <p:cNvPr id="16" name="Straight Arrow Connector 20">
            <a:extLst>
              <a:ext uri="{FF2B5EF4-FFF2-40B4-BE49-F238E27FC236}">
                <a16:creationId xmlns:a16="http://schemas.microsoft.com/office/drawing/2014/main" id="{A5A04E3C-1ABC-A89B-2FAC-8E9C93EDDEE1}"/>
              </a:ext>
            </a:extLst>
          </p:cNvPr>
          <p:cNvCxnSpPr>
            <a:cxnSpLocks/>
          </p:cNvCxnSpPr>
          <p:nvPr/>
        </p:nvCxnSpPr>
        <p:spPr>
          <a:xfrm flipH="1">
            <a:off x="6549467" y="2926173"/>
            <a:ext cx="1219123"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20">
            <a:extLst>
              <a:ext uri="{FF2B5EF4-FFF2-40B4-BE49-F238E27FC236}">
                <a16:creationId xmlns:a16="http://schemas.microsoft.com/office/drawing/2014/main" id="{58AC16BA-F317-B5FC-4D4B-21BEF947CDA5}"/>
              </a:ext>
            </a:extLst>
          </p:cNvPr>
          <p:cNvCxnSpPr>
            <a:cxnSpLocks/>
          </p:cNvCxnSpPr>
          <p:nvPr/>
        </p:nvCxnSpPr>
        <p:spPr>
          <a:xfrm>
            <a:off x="6640016" y="2571289"/>
            <a:ext cx="0" cy="804371"/>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3">
            <a:extLst>
              <a:ext uri="{FF2B5EF4-FFF2-40B4-BE49-F238E27FC236}">
                <a16:creationId xmlns:a16="http://schemas.microsoft.com/office/drawing/2014/main" id="{7C357C5E-5769-AE21-7571-63FA6F2EE096}"/>
              </a:ext>
            </a:extLst>
          </p:cNvPr>
          <p:cNvSpPr txBox="1"/>
          <p:nvPr/>
        </p:nvSpPr>
        <p:spPr>
          <a:xfrm>
            <a:off x="6339301" y="2906373"/>
            <a:ext cx="1992890" cy="338554"/>
          </a:xfrm>
          <a:prstGeom prst="rect">
            <a:avLst/>
          </a:prstGeom>
          <a:noFill/>
        </p:spPr>
        <p:txBody>
          <a:bodyPr wrap="square" rtlCol="0">
            <a:spAutoFit/>
          </a:bodyPr>
          <a:lstStyle/>
          <a:p>
            <a:pPr algn="ctr"/>
            <a:r>
              <a:rPr lang="en-US" sz="1600" b="1">
                <a:solidFill>
                  <a:srgbClr val="FF0000"/>
                </a:solidFill>
              </a:rPr>
              <a:t>7.883ms</a:t>
            </a:r>
          </a:p>
        </p:txBody>
      </p:sp>
      <mc:AlternateContent xmlns:mc="http://schemas.openxmlformats.org/markup-compatibility/2006" xmlns:a14="http://schemas.microsoft.com/office/drawing/2010/main">
        <mc:Choice Requires="a14">
          <p:sp>
            <p:nvSpPr>
              <p:cNvPr id="20" name="TextBox 13">
                <a:extLst>
                  <a:ext uri="{FF2B5EF4-FFF2-40B4-BE49-F238E27FC236}">
                    <a16:creationId xmlns:a16="http://schemas.microsoft.com/office/drawing/2014/main" id="{CFFE56D8-91E3-C78F-7D2F-8D2F749256AE}"/>
                  </a:ext>
                </a:extLst>
              </p:cNvPr>
              <p:cNvSpPr txBox="1"/>
              <p:nvPr/>
            </p:nvSpPr>
            <p:spPr>
              <a:xfrm>
                <a:off x="4844011" y="2788291"/>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𝑼</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𝟖</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𝟐</m:t>
                      </m:r>
                      <m:r>
                        <a:rPr lang="en-US" sz="1600" b="1" i="1" smtClean="0">
                          <a:solidFill>
                            <a:srgbClr val="FF0000"/>
                          </a:solidFill>
                          <a:latin typeface="Cambria Math" panose="02040503050406030204" pitchFamily="18" charset="0"/>
                          <a:ea typeface="Cambria Math" panose="02040503050406030204" pitchFamily="18" charset="0"/>
                        </a:rPr>
                        <m:t>𝑽</m:t>
                      </m:r>
                    </m:oMath>
                  </m:oMathPara>
                </a14:m>
                <a:endParaRPr lang="en-US" sz="1600" b="1">
                  <a:solidFill>
                    <a:srgbClr val="FF0000"/>
                  </a:solidFill>
                </a:endParaRPr>
              </a:p>
            </p:txBody>
          </p:sp>
        </mc:Choice>
        <mc:Fallback xmlns="">
          <p:sp>
            <p:nvSpPr>
              <p:cNvPr id="20" name="TextBox 13">
                <a:extLst>
                  <a:ext uri="{FF2B5EF4-FFF2-40B4-BE49-F238E27FC236}">
                    <a16:creationId xmlns:a16="http://schemas.microsoft.com/office/drawing/2014/main" id="{CFFE56D8-91E3-C78F-7D2F-8D2F749256AE}"/>
                  </a:ext>
                </a:extLst>
              </p:cNvPr>
              <p:cNvSpPr txBox="1">
                <a:spLocks noRot="1" noChangeAspect="1" noMove="1" noResize="1" noEditPoints="1" noAdjustHandles="1" noChangeArrowheads="1" noChangeShapeType="1" noTextEdit="1"/>
              </p:cNvSpPr>
              <p:nvPr/>
            </p:nvSpPr>
            <p:spPr>
              <a:xfrm>
                <a:off x="4844011" y="2788291"/>
                <a:ext cx="1992890" cy="338554"/>
              </a:xfrm>
              <a:prstGeom prst="rect">
                <a:avLst/>
              </a:prstGeom>
              <a:blipFill>
                <a:blip r:embed="rId6"/>
                <a:stretch>
                  <a:fillRect/>
                </a:stretch>
              </a:blipFill>
            </p:spPr>
            <p:txBody>
              <a:bodyPr/>
              <a:lstStyle/>
              <a:p>
                <a:r>
                  <a:rPr lang="en-US">
                    <a:noFill/>
                  </a:rPr>
                  <a:t> </a:t>
                </a:r>
              </a:p>
            </p:txBody>
          </p:sp>
        </mc:Fallback>
      </mc:AlternateContent>
      <p:cxnSp>
        <p:nvCxnSpPr>
          <p:cNvPr id="25" name="Straight Arrow Connector 20">
            <a:extLst>
              <a:ext uri="{FF2B5EF4-FFF2-40B4-BE49-F238E27FC236}">
                <a16:creationId xmlns:a16="http://schemas.microsoft.com/office/drawing/2014/main" id="{70E77C86-BE91-48CE-5264-450DA4A1C5F4}"/>
              </a:ext>
            </a:extLst>
          </p:cNvPr>
          <p:cNvCxnSpPr>
            <a:cxnSpLocks/>
          </p:cNvCxnSpPr>
          <p:nvPr/>
        </p:nvCxnSpPr>
        <p:spPr>
          <a:xfrm flipH="1">
            <a:off x="4697730" y="5026345"/>
            <a:ext cx="821055"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13">
                <a:extLst>
                  <a:ext uri="{FF2B5EF4-FFF2-40B4-BE49-F238E27FC236}">
                    <a16:creationId xmlns:a16="http://schemas.microsoft.com/office/drawing/2014/main" id="{2389FFDD-91AB-BD56-2635-95DE93D78055}"/>
                  </a:ext>
                </a:extLst>
              </p:cNvPr>
              <p:cNvSpPr txBox="1"/>
              <p:nvPr/>
            </p:nvSpPr>
            <p:spPr>
              <a:xfrm>
                <a:off x="4133590" y="4634970"/>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𝒕</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𝟏𝟓</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𝟖𝟓𝟖</m:t>
                      </m:r>
                      <m:r>
                        <a:rPr lang="en-US" sz="1600" b="1" i="1" smtClean="0">
                          <a:solidFill>
                            <a:schemeClr val="tx1"/>
                          </a:solidFill>
                          <a:latin typeface="Cambria Math" panose="02040503050406030204" pitchFamily="18" charset="0"/>
                          <a:ea typeface="Cambria Math" panose="02040503050406030204" pitchFamily="18" charset="0"/>
                        </a:rPr>
                        <m:t>𝒎𝒔</m:t>
                      </m:r>
                      <m:r>
                        <a:rPr lang="en-US" sz="1600" b="1" i="1" smtClean="0">
                          <a:solidFill>
                            <a:schemeClr val="tx1"/>
                          </a:solidFill>
                          <a:latin typeface="Cambria Math" panose="02040503050406030204" pitchFamily="18" charset="0"/>
                          <a:ea typeface="Cambria Math" panose="02040503050406030204" pitchFamily="18" charset="0"/>
                        </a:rPr>
                        <m:t> </m:t>
                      </m:r>
                    </m:oMath>
                  </m:oMathPara>
                </a14:m>
                <a:endParaRPr lang="en-US" sz="1600" b="1">
                  <a:solidFill>
                    <a:schemeClr val="tx1"/>
                  </a:solidFill>
                </a:endParaRPr>
              </a:p>
            </p:txBody>
          </p:sp>
        </mc:Choice>
        <mc:Fallback xmlns="">
          <p:sp>
            <p:nvSpPr>
              <p:cNvPr id="26" name="TextBox 13">
                <a:extLst>
                  <a:ext uri="{FF2B5EF4-FFF2-40B4-BE49-F238E27FC236}">
                    <a16:creationId xmlns:a16="http://schemas.microsoft.com/office/drawing/2014/main" id="{2389FFDD-91AB-BD56-2635-95DE93D78055}"/>
                  </a:ext>
                </a:extLst>
              </p:cNvPr>
              <p:cNvSpPr txBox="1">
                <a:spLocks noRot="1" noChangeAspect="1" noMove="1" noResize="1" noEditPoints="1" noAdjustHandles="1" noChangeArrowheads="1" noChangeShapeType="1" noTextEdit="1"/>
              </p:cNvSpPr>
              <p:nvPr/>
            </p:nvSpPr>
            <p:spPr>
              <a:xfrm>
                <a:off x="4133590" y="4634970"/>
                <a:ext cx="1992890" cy="338554"/>
              </a:xfrm>
              <a:prstGeom prst="rect">
                <a:avLst/>
              </a:prstGeom>
              <a:blipFill>
                <a:blip r:embed="rId7"/>
                <a:stretch>
                  <a:fillRect/>
                </a:stretch>
              </a:blipFill>
            </p:spPr>
            <p:txBody>
              <a:bodyPr/>
              <a:lstStyle/>
              <a:p>
                <a:r>
                  <a:rPr lang="en-US">
                    <a:noFill/>
                  </a:rPr>
                  <a:t> </a:t>
                </a:r>
              </a:p>
            </p:txBody>
          </p:sp>
        </mc:Fallback>
      </mc:AlternateContent>
      <p:sp>
        <p:nvSpPr>
          <p:cNvPr id="28" name="TextBox 6">
            <a:extLst>
              <a:ext uri="{FF2B5EF4-FFF2-40B4-BE49-F238E27FC236}">
                <a16:creationId xmlns:a16="http://schemas.microsoft.com/office/drawing/2014/main" id="{7C01954D-D02C-A672-8074-0A83FC273DD8}"/>
              </a:ext>
            </a:extLst>
          </p:cNvPr>
          <p:cNvSpPr txBox="1"/>
          <p:nvPr/>
        </p:nvSpPr>
        <p:spPr>
          <a:xfrm>
            <a:off x="811872" y="5933535"/>
            <a:ext cx="8794971" cy="400110"/>
          </a:xfrm>
          <a:prstGeom prst="rect">
            <a:avLst/>
          </a:prstGeom>
          <a:noFill/>
        </p:spPr>
        <p:txBody>
          <a:bodyPr wrap="square" rtlCol="0">
            <a:spAutoFit/>
          </a:bodyPr>
          <a:lstStyle/>
          <a:p>
            <a:pPr algn="ctr"/>
            <a:r>
              <a:rPr lang="en-US" sz="2000"/>
              <a:t>Hình 4.10.1. Mô phỏng trong trường hợp tần số lưới tăng lên 63Hz(T=15.87ms)</a:t>
            </a:r>
          </a:p>
        </p:txBody>
      </p:sp>
      <p:sp>
        <p:nvSpPr>
          <p:cNvPr id="29" name="Hộp Văn bản 28">
            <a:extLst>
              <a:ext uri="{FF2B5EF4-FFF2-40B4-BE49-F238E27FC236}">
                <a16:creationId xmlns:a16="http://schemas.microsoft.com/office/drawing/2014/main" id="{CE4F0A0E-A2D6-D5C1-CE4D-7141B009D3E9}"/>
              </a:ext>
            </a:extLst>
          </p:cNvPr>
          <p:cNvSpPr txBox="1"/>
          <p:nvPr/>
        </p:nvSpPr>
        <p:spPr>
          <a:xfrm>
            <a:off x="10271333" y="1910510"/>
            <a:ext cx="1725999" cy="2308324"/>
          </a:xfrm>
          <a:prstGeom prst="rect">
            <a:avLst/>
          </a:prstGeom>
          <a:noFill/>
          <a:ln>
            <a:solidFill>
              <a:srgbClr val="FF0000"/>
            </a:solidFill>
          </a:ln>
        </p:spPr>
        <p:txBody>
          <a:bodyPr wrap="square" rtlCol="0">
            <a:spAutoFit/>
          </a:bodyPr>
          <a:lstStyle/>
          <a:p>
            <a:r>
              <a:rPr lang="en-US"/>
              <a:t>Nhận xét: Khi tần số lưới tăng so với tần số định mức, điện áp đầu ra đập mạch bé hơn và điện áp lúc nạp tụ tăng vọt</a:t>
            </a:r>
          </a:p>
        </p:txBody>
      </p:sp>
    </p:spTree>
    <p:extLst>
      <p:ext uri="{BB962C8B-B14F-4D97-AF65-F5344CB8AC3E}">
        <p14:creationId xmlns:p14="http://schemas.microsoft.com/office/powerpoint/2010/main" val="3275401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51609-A6D1-D8E7-9223-1BB7DA60F294}"/>
            </a:ext>
          </a:extLst>
        </p:cNvPr>
        <p:cNvGrpSpPr/>
        <p:nvPr/>
      </p:nvGrpSpPr>
      <p:grpSpPr>
        <a:xfrm>
          <a:off x="0" y="0"/>
          <a:ext cx="0" cy="0"/>
          <a:chOff x="0" y="0"/>
          <a:chExt cx="0" cy="0"/>
        </a:xfrm>
      </p:grpSpPr>
      <p:pic>
        <p:nvPicPr>
          <p:cNvPr id="3" name="Hình ảnh 2">
            <a:extLst>
              <a:ext uri="{FF2B5EF4-FFF2-40B4-BE49-F238E27FC236}">
                <a16:creationId xmlns:a16="http://schemas.microsoft.com/office/drawing/2014/main" id="{BECFBEB1-7C9A-30EC-BBF6-D98A9D3BD0C0}"/>
              </a:ext>
            </a:extLst>
          </p:cNvPr>
          <p:cNvPicPr>
            <a:picLocks noChangeAspect="1"/>
          </p:cNvPicPr>
          <p:nvPr/>
        </p:nvPicPr>
        <p:blipFill>
          <a:blip r:embed="rId2"/>
          <a:stretch>
            <a:fillRect/>
          </a:stretch>
        </p:blipFill>
        <p:spPr>
          <a:xfrm>
            <a:off x="87548" y="1096666"/>
            <a:ext cx="9604446" cy="4526095"/>
          </a:xfrm>
          <a:prstGeom prst="rect">
            <a:avLst/>
          </a:prstGeom>
        </p:spPr>
      </p:pic>
      <p:sp>
        <p:nvSpPr>
          <p:cNvPr id="5" name="Slide Number Placeholder 3">
            <a:extLst>
              <a:ext uri="{FF2B5EF4-FFF2-40B4-BE49-F238E27FC236}">
                <a16:creationId xmlns:a16="http://schemas.microsoft.com/office/drawing/2014/main" id="{43D9F04C-8DB2-D55A-B4D5-6D3F74E66281}"/>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DA8447AD-B41D-9886-98C0-37631522BFCC}"/>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95C3AF34-BEF0-4B5E-720D-8B6DD00670A6}"/>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KB2</a:t>
            </a:r>
          </a:p>
        </p:txBody>
      </p:sp>
      <p:sp>
        <p:nvSpPr>
          <p:cNvPr id="19" name="TextBox 6">
            <a:extLst>
              <a:ext uri="{FF2B5EF4-FFF2-40B4-BE49-F238E27FC236}">
                <a16:creationId xmlns:a16="http://schemas.microsoft.com/office/drawing/2014/main" id="{1C97B378-409A-E458-0480-965990933DA0}"/>
              </a:ext>
            </a:extLst>
          </p:cNvPr>
          <p:cNvSpPr txBox="1"/>
          <p:nvPr/>
        </p:nvSpPr>
        <p:spPr>
          <a:xfrm>
            <a:off x="10271333" y="1174539"/>
            <a:ext cx="1833119" cy="400110"/>
          </a:xfrm>
          <a:prstGeom prst="rect">
            <a:avLst/>
          </a:prstGeom>
          <a:noFill/>
        </p:spPr>
        <p:txBody>
          <a:bodyPr wrap="square" rtlCol="0">
            <a:spAutoFit/>
          </a:bodyPr>
          <a:lstStyle/>
          <a:p>
            <a:pPr algn="just"/>
            <a:endParaRPr lang="en-US" sz="2000"/>
          </a:p>
        </p:txBody>
      </p:sp>
      <p:cxnSp>
        <p:nvCxnSpPr>
          <p:cNvPr id="11" name="Straight Arrow Connector 20">
            <a:extLst>
              <a:ext uri="{FF2B5EF4-FFF2-40B4-BE49-F238E27FC236}">
                <a16:creationId xmlns:a16="http://schemas.microsoft.com/office/drawing/2014/main" id="{25B0CB54-FE19-DCFB-DDA1-7341E7BF03BE}"/>
              </a:ext>
            </a:extLst>
          </p:cNvPr>
          <p:cNvCxnSpPr>
            <a:cxnSpLocks/>
          </p:cNvCxnSpPr>
          <p:nvPr/>
        </p:nvCxnSpPr>
        <p:spPr>
          <a:xfrm>
            <a:off x="6570864" y="1605280"/>
            <a:ext cx="0" cy="44450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3">
                <a:extLst>
                  <a:ext uri="{FF2B5EF4-FFF2-40B4-BE49-F238E27FC236}">
                    <a16:creationId xmlns:a16="http://schemas.microsoft.com/office/drawing/2014/main" id="{0FA5E9C0-CB1D-9F0F-5FCE-FD9B7BD1D13D}"/>
                  </a:ext>
                </a:extLst>
              </p:cNvPr>
              <p:cNvSpPr txBox="1"/>
              <p:nvPr/>
            </p:nvSpPr>
            <p:spPr>
              <a:xfrm>
                <a:off x="5036065" y="1752981"/>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𝑼</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𝟖</m:t>
                      </m:r>
                      <m:r>
                        <a:rPr lang="en-US" sz="1600" b="1" i="1" smtClean="0">
                          <a:solidFill>
                            <a:srgbClr val="FF0000"/>
                          </a:solidFill>
                          <a:latin typeface="Cambria Math" panose="02040503050406030204" pitchFamily="18" charset="0"/>
                          <a:ea typeface="Cambria Math" panose="02040503050406030204" pitchFamily="18" charset="0"/>
                        </a:rPr>
                        <m:t>.</m:t>
                      </m:r>
                      <m:r>
                        <a:rPr lang="en-US" sz="1600" b="1" i="1" smtClean="0">
                          <a:solidFill>
                            <a:srgbClr val="FF0000"/>
                          </a:solidFill>
                          <a:latin typeface="Cambria Math" panose="02040503050406030204" pitchFamily="18" charset="0"/>
                          <a:ea typeface="Cambria Math" panose="02040503050406030204" pitchFamily="18" charset="0"/>
                        </a:rPr>
                        <m:t>𝟓</m:t>
                      </m:r>
                      <m:r>
                        <a:rPr lang="en-US" sz="1600" b="1" i="1" smtClean="0">
                          <a:solidFill>
                            <a:srgbClr val="FF0000"/>
                          </a:solidFill>
                          <a:latin typeface="Cambria Math" panose="02040503050406030204" pitchFamily="18" charset="0"/>
                          <a:ea typeface="Cambria Math" panose="02040503050406030204" pitchFamily="18" charset="0"/>
                        </a:rPr>
                        <m:t>𝑽</m:t>
                      </m:r>
                    </m:oMath>
                  </m:oMathPara>
                </a14:m>
                <a:endParaRPr lang="en-US" sz="1600" b="1">
                  <a:solidFill>
                    <a:srgbClr val="FF0000"/>
                  </a:solidFill>
                </a:endParaRPr>
              </a:p>
            </p:txBody>
          </p:sp>
        </mc:Choice>
        <mc:Fallback xmlns="">
          <p:sp>
            <p:nvSpPr>
              <p:cNvPr id="12" name="TextBox 13">
                <a:extLst>
                  <a:ext uri="{FF2B5EF4-FFF2-40B4-BE49-F238E27FC236}">
                    <a16:creationId xmlns:a16="http://schemas.microsoft.com/office/drawing/2014/main" id="{0FA5E9C0-CB1D-9F0F-5FCE-FD9B7BD1D13D}"/>
                  </a:ext>
                </a:extLst>
              </p:cNvPr>
              <p:cNvSpPr txBox="1">
                <a:spLocks noRot="1" noChangeAspect="1" noMove="1" noResize="1" noEditPoints="1" noAdjustHandles="1" noChangeArrowheads="1" noChangeShapeType="1" noTextEdit="1"/>
              </p:cNvSpPr>
              <p:nvPr/>
            </p:nvSpPr>
            <p:spPr>
              <a:xfrm>
                <a:off x="5036065" y="1752981"/>
                <a:ext cx="1992890" cy="338554"/>
              </a:xfrm>
              <a:prstGeom prst="rect">
                <a:avLst/>
              </a:prstGeom>
              <a:blipFill>
                <a:blip r:embed="rId3"/>
                <a:stretch>
                  <a:fillRect/>
                </a:stretch>
              </a:blipFill>
            </p:spPr>
            <p:txBody>
              <a:bodyPr/>
              <a:lstStyle/>
              <a:p>
                <a:r>
                  <a:rPr lang="en-US">
                    <a:noFill/>
                  </a:rPr>
                  <a:t> </a:t>
                </a:r>
              </a:p>
            </p:txBody>
          </p:sp>
        </mc:Fallback>
      </mc:AlternateContent>
      <p:sp>
        <p:nvSpPr>
          <p:cNvPr id="14" name="Hình Bầu dục 13">
            <a:extLst>
              <a:ext uri="{FF2B5EF4-FFF2-40B4-BE49-F238E27FC236}">
                <a16:creationId xmlns:a16="http://schemas.microsoft.com/office/drawing/2014/main" id="{A51ADD92-CB1B-415F-7ECF-8DCEE7E20508}"/>
              </a:ext>
            </a:extLst>
          </p:cNvPr>
          <p:cNvSpPr/>
          <p:nvPr/>
        </p:nvSpPr>
        <p:spPr>
          <a:xfrm>
            <a:off x="7875904" y="1259794"/>
            <a:ext cx="407969" cy="3148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31">
            <a:extLst>
              <a:ext uri="{FF2B5EF4-FFF2-40B4-BE49-F238E27FC236}">
                <a16:creationId xmlns:a16="http://schemas.microsoft.com/office/drawing/2014/main" id="{A3B7A21C-79CC-00C3-1EB0-FC4C6D56B5DA}"/>
              </a:ext>
            </a:extLst>
          </p:cNvPr>
          <p:cNvCxnSpPr>
            <a:cxnSpLocks/>
          </p:cNvCxnSpPr>
          <p:nvPr/>
        </p:nvCxnSpPr>
        <p:spPr>
          <a:xfrm flipH="1">
            <a:off x="7605746" y="1580766"/>
            <a:ext cx="390077" cy="1562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Hộp Văn bản 28">
            <a:extLst>
              <a:ext uri="{FF2B5EF4-FFF2-40B4-BE49-F238E27FC236}">
                <a16:creationId xmlns:a16="http://schemas.microsoft.com/office/drawing/2014/main" id="{20929C2F-538F-A6C1-C668-3A6AE394BD00}"/>
              </a:ext>
            </a:extLst>
          </p:cNvPr>
          <p:cNvSpPr txBox="1"/>
          <p:nvPr/>
        </p:nvSpPr>
        <p:spPr>
          <a:xfrm>
            <a:off x="10271333" y="1910510"/>
            <a:ext cx="1725999" cy="2308324"/>
          </a:xfrm>
          <a:prstGeom prst="rect">
            <a:avLst/>
          </a:prstGeom>
          <a:noFill/>
          <a:ln>
            <a:solidFill>
              <a:srgbClr val="FF0000"/>
            </a:solidFill>
          </a:ln>
        </p:spPr>
        <p:txBody>
          <a:bodyPr wrap="square" rtlCol="0">
            <a:spAutoFit/>
          </a:bodyPr>
          <a:lstStyle/>
          <a:p>
            <a:r>
              <a:rPr lang="en-US"/>
              <a:t>Nhận xét: Khi tần số lưới tăng so với tần số định mức, điện áp đầu ra đập mạch bé hơn và điện áp lúc nạp tụ tăng vọt</a:t>
            </a:r>
          </a:p>
        </p:txBody>
      </p:sp>
      <p:pic>
        <p:nvPicPr>
          <p:cNvPr id="8" name="Hình ảnh 7">
            <a:extLst>
              <a:ext uri="{FF2B5EF4-FFF2-40B4-BE49-F238E27FC236}">
                <a16:creationId xmlns:a16="http://schemas.microsoft.com/office/drawing/2014/main" id="{44BE9506-5AC2-5173-ED45-AA44F9A6FD7F}"/>
              </a:ext>
            </a:extLst>
          </p:cNvPr>
          <p:cNvPicPr>
            <a:picLocks noChangeAspect="1"/>
          </p:cNvPicPr>
          <p:nvPr/>
        </p:nvPicPr>
        <p:blipFill>
          <a:blip r:embed="rId4"/>
          <a:srcRect r="39217"/>
          <a:stretch/>
        </p:blipFill>
        <p:spPr>
          <a:xfrm>
            <a:off x="6789184" y="1548946"/>
            <a:ext cx="739688" cy="573483"/>
          </a:xfrm>
          <a:prstGeom prst="rect">
            <a:avLst/>
          </a:prstGeom>
          <a:ln w="19050">
            <a:solidFill>
              <a:srgbClr val="FF0000"/>
            </a:solidFill>
          </a:ln>
        </p:spPr>
      </p:pic>
      <p:cxnSp>
        <p:nvCxnSpPr>
          <p:cNvPr id="13" name="Straight Arrow Connector 20">
            <a:extLst>
              <a:ext uri="{FF2B5EF4-FFF2-40B4-BE49-F238E27FC236}">
                <a16:creationId xmlns:a16="http://schemas.microsoft.com/office/drawing/2014/main" id="{19D79AEB-CFD4-25AF-6DEB-99934B15758E}"/>
              </a:ext>
            </a:extLst>
          </p:cNvPr>
          <p:cNvCxnSpPr>
            <a:cxnSpLocks/>
          </p:cNvCxnSpPr>
          <p:nvPr/>
        </p:nvCxnSpPr>
        <p:spPr>
          <a:xfrm flipH="1">
            <a:off x="6836901" y="1767107"/>
            <a:ext cx="5411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13">
                <a:extLst>
                  <a:ext uri="{FF2B5EF4-FFF2-40B4-BE49-F238E27FC236}">
                    <a16:creationId xmlns:a16="http://schemas.microsoft.com/office/drawing/2014/main" id="{2779BF64-4F8F-F995-AF4C-2C76E08EF997}"/>
                  </a:ext>
                </a:extLst>
              </p:cNvPr>
              <p:cNvSpPr txBox="1"/>
              <p:nvPr/>
            </p:nvSpPr>
            <p:spPr>
              <a:xfrm>
                <a:off x="6290983" y="1842010"/>
                <a:ext cx="1992890"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m:rPr>
                          <m:sty m:val="p"/>
                        </m:rPr>
                        <a:rPr lang="en-US" sz="1600" b="1" i="1" smtClean="0">
                          <a:latin typeface="Cambria Math" panose="02040503050406030204" pitchFamily="18" charset="0"/>
                          <a:ea typeface="Cambria Math" panose="02040503050406030204" pitchFamily="18" charset="0"/>
                        </a:rPr>
                        <m:t>T</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𝟏𝟎</m:t>
                      </m:r>
                      <m:r>
                        <a:rPr lang="en-US" sz="1600" b="1" i="1" smtClean="0">
                          <a:solidFill>
                            <a:schemeClr val="tx1"/>
                          </a:solidFill>
                          <a:latin typeface="Cambria Math" panose="02040503050406030204" pitchFamily="18" charset="0"/>
                          <a:ea typeface="Cambria Math" panose="02040503050406030204" pitchFamily="18" charset="0"/>
                        </a:rPr>
                        <m:t>.</m:t>
                      </m:r>
                      <m:r>
                        <a:rPr lang="en-US" sz="1600" b="1" i="1" smtClean="0">
                          <a:solidFill>
                            <a:schemeClr val="tx1"/>
                          </a:solidFill>
                          <a:latin typeface="Cambria Math" panose="02040503050406030204" pitchFamily="18" charset="0"/>
                          <a:ea typeface="Cambria Math" panose="02040503050406030204" pitchFamily="18" charset="0"/>
                        </a:rPr>
                        <m:t>𝟎𝟓𝟑</m:t>
                      </m:r>
                      <m:r>
                        <a:rPr lang="en-US" sz="1600" b="1" i="1" smtClean="0">
                          <a:solidFill>
                            <a:schemeClr val="tx1"/>
                          </a:solidFill>
                          <a:latin typeface="Cambria Math" panose="02040503050406030204" pitchFamily="18" charset="0"/>
                          <a:ea typeface="Cambria Math" panose="02040503050406030204" pitchFamily="18" charset="0"/>
                        </a:rPr>
                        <m:t>𝒎𝒔</m:t>
                      </m:r>
                    </m:oMath>
                  </m:oMathPara>
                </a14:m>
                <a:endParaRPr lang="en-US" sz="1600" b="1">
                  <a:solidFill>
                    <a:schemeClr val="tx1"/>
                  </a:solidFill>
                </a:endParaRPr>
              </a:p>
            </p:txBody>
          </p:sp>
        </mc:Choice>
        <mc:Fallback xmlns="">
          <p:sp>
            <p:nvSpPr>
              <p:cNvPr id="24" name="TextBox 13">
                <a:extLst>
                  <a:ext uri="{FF2B5EF4-FFF2-40B4-BE49-F238E27FC236}">
                    <a16:creationId xmlns:a16="http://schemas.microsoft.com/office/drawing/2014/main" id="{2779BF64-4F8F-F995-AF4C-2C76E08EF997}"/>
                  </a:ext>
                </a:extLst>
              </p:cNvPr>
              <p:cNvSpPr txBox="1">
                <a:spLocks noRot="1" noChangeAspect="1" noMove="1" noResize="1" noEditPoints="1" noAdjustHandles="1" noChangeArrowheads="1" noChangeShapeType="1" noTextEdit="1"/>
              </p:cNvSpPr>
              <p:nvPr/>
            </p:nvSpPr>
            <p:spPr>
              <a:xfrm>
                <a:off x="6290983" y="1842010"/>
                <a:ext cx="1992890" cy="338554"/>
              </a:xfrm>
              <a:prstGeom prst="rect">
                <a:avLst/>
              </a:prstGeom>
              <a:blipFill>
                <a:blip r:embed="rId5"/>
                <a:stretch>
                  <a:fillRect/>
                </a:stretch>
              </a:blipFill>
            </p:spPr>
            <p:txBody>
              <a:bodyPr/>
              <a:lstStyle/>
              <a:p>
                <a:r>
                  <a:rPr lang="en-US">
                    <a:noFill/>
                  </a:rPr>
                  <a:t> </a:t>
                </a:r>
              </a:p>
            </p:txBody>
          </p:sp>
        </mc:Fallback>
      </mc:AlternateContent>
      <p:sp>
        <p:nvSpPr>
          <p:cNvPr id="31" name="TextBox 6">
            <a:extLst>
              <a:ext uri="{FF2B5EF4-FFF2-40B4-BE49-F238E27FC236}">
                <a16:creationId xmlns:a16="http://schemas.microsoft.com/office/drawing/2014/main" id="{4FBFC843-A1B5-40BF-42AB-C6F6825BD298}"/>
              </a:ext>
            </a:extLst>
          </p:cNvPr>
          <p:cNvSpPr txBox="1"/>
          <p:nvPr/>
        </p:nvSpPr>
        <p:spPr>
          <a:xfrm>
            <a:off x="1555348" y="5423489"/>
            <a:ext cx="7763749" cy="707886"/>
          </a:xfrm>
          <a:prstGeom prst="rect">
            <a:avLst/>
          </a:prstGeom>
          <a:noFill/>
        </p:spPr>
        <p:txBody>
          <a:bodyPr wrap="square" rtlCol="0">
            <a:spAutoFit/>
          </a:bodyPr>
          <a:lstStyle/>
          <a:p>
            <a:pPr algn="just"/>
            <a:r>
              <a:rPr lang="en-US" sz="2000"/>
              <a:t>Hình 4.11.1 Mô phỏng trong trường hợp điện áp lưới có thêm thành phần sóng hài bậc 3 và bậc 5, tương đương với THD = 8%</a:t>
            </a:r>
          </a:p>
        </p:txBody>
      </p:sp>
    </p:spTree>
    <p:extLst>
      <p:ext uri="{BB962C8B-B14F-4D97-AF65-F5344CB8AC3E}">
        <p14:creationId xmlns:p14="http://schemas.microsoft.com/office/powerpoint/2010/main" val="1855296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9ABD4-660A-2857-5426-7AC9554B717F}"/>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8645B41-C004-F72E-6198-FB1376D0E261}"/>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46</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25A0328E-445A-F8B0-2C51-C16A27A9D86F}"/>
              </a:ext>
            </a:extLst>
          </p:cNvPr>
          <p:cNvSpPr>
            <a:spLocks noGrp="1"/>
          </p:cNvSpPr>
          <p:nvPr>
            <p:ph type="title"/>
          </p:nvPr>
        </p:nvSpPr>
        <p:spPr>
          <a:xfrm>
            <a:off x="338736" y="297368"/>
            <a:ext cx="11514528" cy="436098"/>
          </a:xfrm>
        </p:spPr>
        <p:txBody>
          <a:bodyPr>
            <a:normAutofit fontScale="90000"/>
          </a:bodyPr>
          <a:lstStyle/>
          <a:p>
            <a:r>
              <a:rPr lang="en-US"/>
              <a:t>4. Mô phỏng nguyên lý điều khiển</a:t>
            </a:r>
            <a:br>
              <a:rPr lang="en-US"/>
            </a:br>
            <a:endParaRPr lang="en-US"/>
          </a:p>
        </p:txBody>
      </p:sp>
      <p:sp>
        <p:nvSpPr>
          <p:cNvPr id="4" name="Hộp Văn bản 3">
            <a:extLst>
              <a:ext uri="{FF2B5EF4-FFF2-40B4-BE49-F238E27FC236}">
                <a16:creationId xmlns:a16="http://schemas.microsoft.com/office/drawing/2014/main" id="{667C6F52-0229-1C0C-6AD9-0B15CA71AD79}"/>
              </a:ext>
            </a:extLst>
          </p:cNvPr>
          <p:cNvSpPr txBox="1"/>
          <p:nvPr/>
        </p:nvSpPr>
        <p:spPr>
          <a:xfrm>
            <a:off x="87548" y="781238"/>
            <a:ext cx="3560323" cy="400110"/>
          </a:xfrm>
          <a:prstGeom prst="rect">
            <a:avLst/>
          </a:prstGeom>
          <a:noFill/>
        </p:spPr>
        <p:txBody>
          <a:bodyPr wrap="square" rtlCol="0">
            <a:spAutoFit/>
          </a:bodyPr>
          <a:lstStyle/>
          <a:p>
            <a:r>
              <a:rPr lang="en-US" sz="2000"/>
              <a:t>b) Kết quả mô phỏng của KB2</a:t>
            </a:r>
          </a:p>
        </p:txBody>
      </p:sp>
      <p:sp>
        <p:nvSpPr>
          <p:cNvPr id="31" name="TextBox 6">
            <a:extLst>
              <a:ext uri="{FF2B5EF4-FFF2-40B4-BE49-F238E27FC236}">
                <a16:creationId xmlns:a16="http://schemas.microsoft.com/office/drawing/2014/main" id="{4D9BDF3F-19AD-CE2F-CE26-FAFD6EEE43F2}"/>
              </a:ext>
            </a:extLst>
          </p:cNvPr>
          <p:cNvSpPr txBox="1"/>
          <p:nvPr/>
        </p:nvSpPr>
        <p:spPr>
          <a:xfrm>
            <a:off x="2382199" y="5876706"/>
            <a:ext cx="7763749" cy="400110"/>
          </a:xfrm>
          <a:prstGeom prst="rect">
            <a:avLst/>
          </a:prstGeom>
          <a:noFill/>
        </p:spPr>
        <p:txBody>
          <a:bodyPr wrap="square" rtlCol="0">
            <a:spAutoFit/>
          </a:bodyPr>
          <a:lstStyle/>
          <a:p>
            <a:pPr algn="just"/>
            <a:r>
              <a:rPr lang="en-US" sz="2000"/>
              <a:t>Hình 4.11.2 Hệ số THD </a:t>
            </a:r>
          </a:p>
        </p:txBody>
      </p:sp>
      <p:pic>
        <p:nvPicPr>
          <p:cNvPr id="2" name="Hình ảnh 1">
            <a:extLst>
              <a:ext uri="{FF2B5EF4-FFF2-40B4-BE49-F238E27FC236}">
                <a16:creationId xmlns:a16="http://schemas.microsoft.com/office/drawing/2014/main" id="{B5EAA199-C224-16B7-1D84-A048EC125B61}"/>
              </a:ext>
            </a:extLst>
          </p:cNvPr>
          <p:cNvPicPr>
            <a:picLocks noChangeAspect="1"/>
          </p:cNvPicPr>
          <p:nvPr/>
        </p:nvPicPr>
        <p:blipFill>
          <a:blip r:embed="rId2"/>
          <a:srcRect r="33922"/>
          <a:stretch/>
        </p:blipFill>
        <p:spPr>
          <a:xfrm>
            <a:off x="659748" y="1213896"/>
            <a:ext cx="7997869" cy="4630261"/>
          </a:xfrm>
          <a:prstGeom prst="rect">
            <a:avLst/>
          </a:prstGeom>
        </p:spPr>
      </p:pic>
      <p:sp>
        <p:nvSpPr>
          <p:cNvPr id="6" name="Hộp Văn bản 5">
            <a:extLst>
              <a:ext uri="{FF2B5EF4-FFF2-40B4-BE49-F238E27FC236}">
                <a16:creationId xmlns:a16="http://schemas.microsoft.com/office/drawing/2014/main" id="{21FB35BF-5E7F-DAF2-33C7-9F70A7ECEAEE}"/>
              </a:ext>
            </a:extLst>
          </p:cNvPr>
          <p:cNvSpPr txBox="1"/>
          <p:nvPr/>
        </p:nvSpPr>
        <p:spPr>
          <a:xfrm>
            <a:off x="9156511" y="2427923"/>
            <a:ext cx="2165121" cy="1754326"/>
          </a:xfrm>
          <a:prstGeom prst="rect">
            <a:avLst/>
          </a:prstGeom>
          <a:noFill/>
          <a:ln w="19050">
            <a:solidFill>
              <a:srgbClr val="FF0000"/>
            </a:solidFill>
          </a:ln>
        </p:spPr>
        <p:txBody>
          <a:bodyPr wrap="square" rtlCol="0">
            <a:spAutoFit/>
          </a:bodyPr>
          <a:lstStyle/>
          <a:p>
            <a:r>
              <a:rPr lang="en-US"/>
              <a:t>Nhận xét: Khi điện áp đầu vào có hệ số THD 8% thì dòng điện đầu vào phía lưới có có hệ số THD gần 8%</a:t>
            </a:r>
          </a:p>
        </p:txBody>
      </p:sp>
    </p:spTree>
    <p:extLst>
      <p:ext uri="{BB962C8B-B14F-4D97-AF65-F5344CB8AC3E}">
        <p14:creationId xmlns:p14="http://schemas.microsoft.com/office/powerpoint/2010/main" val="3908574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6027-820E-25D8-56B2-D74EFF617DF8}"/>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22BAFAB-6849-60BB-E68D-7B43C02EAA5E}"/>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47</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6D4FE1AC-2683-9AD7-CAA6-AC789F6D5C31}"/>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EA0323B5-3E20-2947-286E-07DC8C589906}"/>
              </a:ext>
            </a:extLst>
          </p:cNvPr>
          <p:cNvSpPr txBox="1"/>
          <p:nvPr/>
        </p:nvSpPr>
        <p:spPr>
          <a:xfrm>
            <a:off x="145915" y="933855"/>
            <a:ext cx="4328808" cy="400110"/>
          </a:xfrm>
          <a:prstGeom prst="rect">
            <a:avLst/>
          </a:prstGeom>
          <a:noFill/>
        </p:spPr>
        <p:txBody>
          <a:bodyPr wrap="square" rtlCol="0">
            <a:spAutoFit/>
          </a:bodyPr>
          <a:lstStyle/>
          <a:p>
            <a:r>
              <a:rPr lang="en-US" sz="2000"/>
              <a:t>a) Gián đoạn hóa bộ điều khiển</a:t>
            </a:r>
          </a:p>
        </p:txBody>
      </p:sp>
      <p:sp>
        <p:nvSpPr>
          <p:cNvPr id="7" name="TextBox 7">
            <a:extLst>
              <a:ext uri="{FF2B5EF4-FFF2-40B4-BE49-F238E27FC236}">
                <a16:creationId xmlns:a16="http://schemas.microsoft.com/office/drawing/2014/main" id="{B9E3A479-3B8E-29F4-CD0D-B4CA9C85FA7F}"/>
              </a:ext>
            </a:extLst>
          </p:cNvPr>
          <p:cNvSpPr txBox="1"/>
          <p:nvPr/>
        </p:nvSpPr>
        <p:spPr>
          <a:xfrm>
            <a:off x="463358" y="1491588"/>
            <a:ext cx="10922801" cy="400110"/>
          </a:xfrm>
          <a:prstGeom prst="rect">
            <a:avLst/>
          </a:prstGeom>
          <a:noFill/>
        </p:spPr>
        <p:txBody>
          <a:bodyPr wrap="square" rtlCol="0">
            <a:spAutoFit/>
          </a:bodyPr>
          <a:lstStyle/>
          <a:p>
            <a:r>
              <a:rPr lang="en-US" sz="2000" err="1"/>
              <a:t>Để</a:t>
            </a:r>
            <a:r>
              <a:rPr lang="en-US" sz="2000"/>
              <a:t> </a:t>
            </a:r>
            <a:r>
              <a:rPr lang="en-US" sz="2000" err="1"/>
              <a:t>mô</a:t>
            </a:r>
            <a:r>
              <a:rPr lang="en-US" sz="2000"/>
              <a:t> </a:t>
            </a:r>
            <a:r>
              <a:rPr lang="en-US" sz="2000" err="1"/>
              <a:t>phỏng</a:t>
            </a:r>
            <a:r>
              <a:rPr lang="en-US" sz="2000"/>
              <a:t> </a:t>
            </a:r>
            <a:r>
              <a:rPr lang="en-US" sz="2000" err="1"/>
              <a:t>hệ</a:t>
            </a:r>
            <a:r>
              <a:rPr lang="en-US" sz="2000"/>
              <a:t> </a:t>
            </a:r>
            <a:r>
              <a:rPr lang="en-US" sz="2000" err="1"/>
              <a:t>thống</a:t>
            </a:r>
            <a:r>
              <a:rPr lang="en-US" sz="2000"/>
              <a:t> </a:t>
            </a:r>
            <a:r>
              <a:rPr lang="en-US" sz="2000" err="1"/>
              <a:t>điều</a:t>
            </a:r>
            <a:r>
              <a:rPr lang="en-US" sz="2000"/>
              <a:t> </a:t>
            </a:r>
            <a:r>
              <a:rPr lang="en-US" sz="2000" err="1"/>
              <a:t>khiển</a:t>
            </a:r>
            <a:r>
              <a:rPr lang="en-US" sz="2000"/>
              <a:t> </a:t>
            </a:r>
            <a:r>
              <a:rPr lang="en-US" sz="2000" err="1"/>
              <a:t>số</a:t>
            </a:r>
            <a:r>
              <a:rPr lang="en-US" sz="2000"/>
              <a:t> </a:t>
            </a:r>
            <a:r>
              <a:rPr lang="en-US" sz="2000" err="1"/>
              <a:t>trên</a:t>
            </a:r>
            <a:r>
              <a:rPr lang="en-US" sz="2000"/>
              <a:t> Simulink, ta </a:t>
            </a:r>
            <a:r>
              <a:rPr lang="en-US" sz="2000" err="1"/>
              <a:t>cần</a:t>
            </a:r>
            <a:r>
              <a:rPr lang="en-US" sz="2000"/>
              <a:t> </a:t>
            </a:r>
            <a:r>
              <a:rPr lang="en-US" sz="2000" err="1"/>
              <a:t>phải</a:t>
            </a:r>
            <a:r>
              <a:rPr lang="en-US" sz="2000"/>
              <a:t> </a:t>
            </a:r>
            <a:r>
              <a:rPr lang="en-US" sz="2000" err="1"/>
              <a:t>gián</a:t>
            </a:r>
            <a:r>
              <a:rPr lang="en-US" sz="2000"/>
              <a:t> </a:t>
            </a:r>
            <a:r>
              <a:rPr lang="en-US" sz="2000" err="1"/>
              <a:t>đoạn</a:t>
            </a:r>
            <a:r>
              <a:rPr lang="en-US" sz="2000"/>
              <a:t> </a:t>
            </a:r>
            <a:r>
              <a:rPr lang="en-US" sz="2000" err="1"/>
              <a:t>hóa</a:t>
            </a:r>
            <a:r>
              <a:rPr lang="en-US" sz="2000"/>
              <a:t> </a:t>
            </a:r>
            <a:r>
              <a:rPr lang="en-US" sz="2000" err="1"/>
              <a:t>bộ</a:t>
            </a:r>
            <a:r>
              <a:rPr lang="en-US" sz="2000"/>
              <a:t> </a:t>
            </a:r>
            <a:r>
              <a:rPr lang="en-US" sz="2000" err="1"/>
              <a:t>điều</a:t>
            </a:r>
            <a:r>
              <a:rPr lang="en-US" sz="2000"/>
              <a:t> </a:t>
            </a:r>
            <a:r>
              <a:rPr lang="en-US" sz="2000" err="1"/>
              <a:t>khiển</a:t>
            </a:r>
            <a:endParaRPr lang="en-US" sz="2000"/>
          </a:p>
        </p:txBody>
      </p:sp>
      <p:sp>
        <p:nvSpPr>
          <p:cNvPr id="9" name="TextBox 8">
            <a:extLst>
              <a:ext uri="{FF2B5EF4-FFF2-40B4-BE49-F238E27FC236}">
                <a16:creationId xmlns:a16="http://schemas.microsoft.com/office/drawing/2014/main" id="{FE70FF4D-6513-4E75-BEEC-E02AE4650D65}"/>
              </a:ext>
            </a:extLst>
          </p:cNvPr>
          <p:cNvSpPr txBox="1"/>
          <p:nvPr/>
        </p:nvSpPr>
        <p:spPr>
          <a:xfrm>
            <a:off x="463358" y="1904709"/>
            <a:ext cx="10922801" cy="707886"/>
          </a:xfrm>
          <a:prstGeom prst="rect">
            <a:avLst/>
          </a:prstGeom>
          <a:noFill/>
        </p:spPr>
        <p:txBody>
          <a:bodyPr wrap="square" rtlCol="0">
            <a:spAutoFit/>
          </a:bodyPr>
          <a:lstStyle/>
          <a:p>
            <a:r>
              <a:rPr lang="en-US" sz="2000" err="1"/>
              <a:t>Sử</a:t>
            </a:r>
            <a:r>
              <a:rPr lang="en-US" sz="2000"/>
              <a:t> </a:t>
            </a:r>
            <a:r>
              <a:rPr lang="en-US" sz="2000" err="1"/>
              <a:t>dụng</a:t>
            </a:r>
            <a:r>
              <a:rPr lang="en-US" sz="2000"/>
              <a:t> </a:t>
            </a:r>
            <a:r>
              <a:rPr lang="en-US" sz="2000" err="1"/>
              <a:t>phương</a:t>
            </a:r>
            <a:r>
              <a:rPr lang="en-US" sz="2000"/>
              <a:t> </a:t>
            </a:r>
            <a:r>
              <a:rPr lang="en-US" sz="2000" err="1"/>
              <a:t>pháp</a:t>
            </a:r>
            <a:r>
              <a:rPr lang="en-US" sz="2000"/>
              <a:t> Tustin </a:t>
            </a:r>
            <a:r>
              <a:rPr lang="en-US" sz="2000" err="1"/>
              <a:t>để</a:t>
            </a:r>
            <a:r>
              <a:rPr lang="en-US" sz="2000"/>
              <a:t> </a:t>
            </a:r>
            <a:r>
              <a:rPr lang="en-US" sz="2000" err="1"/>
              <a:t>chuyển</a:t>
            </a:r>
            <a:r>
              <a:rPr lang="en-US" sz="2000"/>
              <a:t> </a:t>
            </a:r>
            <a:r>
              <a:rPr lang="en-US" sz="2000" err="1"/>
              <a:t>hàm</a:t>
            </a:r>
            <a:r>
              <a:rPr lang="en-US" sz="2000"/>
              <a:t> </a:t>
            </a:r>
            <a:r>
              <a:rPr lang="en-US" sz="2000" err="1"/>
              <a:t>truyền</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từ</a:t>
            </a:r>
            <a:r>
              <a:rPr lang="en-US" sz="2000"/>
              <a:t> </a:t>
            </a:r>
            <a:r>
              <a:rPr lang="en-US" sz="2000" err="1"/>
              <a:t>miền</a:t>
            </a:r>
            <a:r>
              <a:rPr lang="en-US" sz="2000"/>
              <a:t> </a:t>
            </a:r>
            <a:r>
              <a:rPr lang="en-US" sz="2000" err="1"/>
              <a:t>toán</a:t>
            </a:r>
            <a:r>
              <a:rPr lang="en-US" sz="2000"/>
              <a:t> </a:t>
            </a:r>
            <a:r>
              <a:rPr lang="en-US" sz="2000" err="1"/>
              <a:t>tử</a:t>
            </a:r>
            <a:r>
              <a:rPr lang="en-US" sz="2000"/>
              <a:t> Laplace sang </a:t>
            </a:r>
            <a:r>
              <a:rPr lang="en-US" sz="2000" err="1"/>
              <a:t>miền</a:t>
            </a:r>
            <a:r>
              <a:rPr lang="en-US" sz="2000"/>
              <a:t> </a:t>
            </a:r>
            <a:r>
              <a:rPr lang="en-US" sz="2000" err="1"/>
              <a:t>gián</a:t>
            </a:r>
            <a:r>
              <a:rPr lang="en-US" sz="2000"/>
              <a:t> </a:t>
            </a:r>
            <a:r>
              <a:rPr lang="en-US" sz="2000" err="1"/>
              <a:t>đoạn</a:t>
            </a:r>
            <a:r>
              <a:rPr lang="en-US" sz="2000"/>
              <a:t> z:</a:t>
            </a:r>
          </a:p>
        </p:txBody>
      </p:sp>
      <p:graphicFrame>
        <p:nvGraphicFramePr>
          <p:cNvPr id="16" name="Object 2">
            <a:extLst>
              <a:ext uri="{FF2B5EF4-FFF2-40B4-BE49-F238E27FC236}">
                <a16:creationId xmlns:a16="http://schemas.microsoft.com/office/drawing/2014/main" id="{F1E3527E-08CE-E44C-4DF7-DDACB9B826B4}"/>
              </a:ext>
            </a:extLst>
          </p:cNvPr>
          <p:cNvGraphicFramePr>
            <a:graphicFrameLocks noChangeAspect="1"/>
          </p:cNvGraphicFramePr>
          <p:nvPr/>
        </p:nvGraphicFramePr>
        <p:xfrm>
          <a:off x="1370330" y="2730023"/>
          <a:ext cx="1645354" cy="707885"/>
        </p:xfrm>
        <a:graphic>
          <a:graphicData uri="http://schemas.openxmlformats.org/presentationml/2006/ole">
            <mc:AlternateContent xmlns:mc="http://schemas.openxmlformats.org/markup-compatibility/2006">
              <mc:Choice xmlns:v="urn:schemas-microsoft-com:vml" Requires="v">
                <p:oleObj name="Equation" r:id="rId2" imgW="1091880" imgH="469800" progId="Equation.DSMT4">
                  <p:embed/>
                </p:oleObj>
              </mc:Choice>
              <mc:Fallback>
                <p:oleObj name="Equation" r:id="rId2" imgW="1091880" imgH="469800" progId="Equation.DSMT4">
                  <p:embed/>
                  <p:pic>
                    <p:nvPicPr>
                      <p:cNvPr id="16" name="Object 2">
                        <a:extLst>
                          <a:ext uri="{FF2B5EF4-FFF2-40B4-BE49-F238E27FC236}">
                            <a16:creationId xmlns:a16="http://schemas.microsoft.com/office/drawing/2014/main" id="{F1E3527E-08CE-E44C-4DF7-DDACB9B826B4}"/>
                          </a:ext>
                        </a:extLst>
                      </p:cNvPr>
                      <p:cNvPicPr/>
                      <p:nvPr/>
                    </p:nvPicPr>
                    <p:blipFill>
                      <a:blip r:embed="rId3"/>
                      <a:stretch>
                        <a:fillRect/>
                      </a:stretch>
                    </p:blipFill>
                    <p:spPr>
                      <a:xfrm>
                        <a:off x="1370330" y="2730023"/>
                        <a:ext cx="1645354" cy="707885"/>
                      </a:xfrm>
                      <a:prstGeom prst="rect">
                        <a:avLst/>
                      </a:prstGeom>
                    </p:spPr>
                  </p:pic>
                </p:oleObj>
              </mc:Fallback>
            </mc:AlternateContent>
          </a:graphicData>
        </a:graphic>
      </p:graphicFrame>
      <p:sp>
        <p:nvSpPr>
          <p:cNvPr id="17" name="TextBox 10">
            <a:extLst>
              <a:ext uri="{FF2B5EF4-FFF2-40B4-BE49-F238E27FC236}">
                <a16:creationId xmlns:a16="http://schemas.microsoft.com/office/drawing/2014/main" id="{AF65A6CA-C63C-8899-C953-C1AECD3195DA}"/>
              </a:ext>
            </a:extLst>
          </p:cNvPr>
          <p:cNvSpPr txBox="1"/>
          <p:nvPr/>
        </p:nvSpPr>
        <p:spPr>
          <a:xfrm>
            <a:off x="3283801" y="2895914"/>
            <a:ext cx="5872710" cy="400110"/>
          </a:xfrm>
          <a:prstGeom prst="rect">
            <a:avLst/>
          </a:prstGeom>
          <a:noFill/>
        </p:spPr>
        <p:txBody>
          <a:bodyPr wrap="square" rtlCol="0">
            <a:spAutoFit/>
          </a:bodyPr>
          <a:lstStyle/>
          <a:p>
            <a:r>
              <a:rPr lang="en-US" sz="2000" err="1"/>
              <a:t>Trong</a:t>
            </a:r>
            <a:r>
              <a:rPr lang="en-US" sz="2000"/>
              <a:t> </a:t>
            </a:r>
            <a:r>
              <a:rPr lang="en-US" sz="2000" err="1"/>
              <a:t>đó</a:t>
            </a:r>
            <a:r>
              <a:rPr lang="en-US" sz="2000"/>
              <a:t>: T </a:t>
            </a:r>
            <a:r>
              <a:rPr lang="en-US" sz="2000" err="1"/>
              <a:t>là</a:t>
            </a:r>
            <a:r>
              <a:rPr lang="en-US" sz="2000"/>
              <a:t> chu </a:t>
            </a:r>
            <a:r>
              <a:rPr lang="en-US" sz="2000" err="1"/>
              <a:t>kỳ</a:t>
            </a:r>
            <a:r>
              <a:rPr lang="en-US" sz="2000"/>
              <a:t> </a:t>
            </a:r>
            <a:r>
              <a:rPr lang="en-US" sz="2000" err="1"/>
              <a:t>lấy</a:t>
            </a:r>
            <a:r>
              <a:rPr lang="en-US" sz="2000"/>
              <a:t> </a:t>
            </a:r>
            <a:r>
              <a:rPr lang="en-US" sz="2000" err="1"/>
              <a:t>mẫu</a:t>
            </a:r>
            <a:endParaRPr lang="en-US" sz="2000"/>
          </a:p>
        </p:txBody>
      </p:sp>
      <p:sp>
        <p:nvSpPr>
          <p:cNvPr id="18" name="TextBox 11">
            <a:extLst>
              <a:ext uri="{FF2B5EF4-FFF2-40B4-BE49-F238E27FC236}">
                <a16:creationId xmlns:a16="http://schemas.microsoft.com/office/drawing/2014/main" id="{D2285A34-B12F-1C64-8C0F-6993F7887C80}"/>
              </a:ext>
            </a:extLst>
          </p:cNvPr>
          <p:cNvSpPr txBox="1"/>
          <p:nvPr/>
        </p:nvSpPr>
        <p:spPr>
          <a:xfrm>
            <a:off x="463358" y="3484401"/>
            <a:ext cx="10922801" cy="400110"/>
          </a:xfrm>
          <a:prstGeom prst="rect">
            <a:avLst/>
          </a:prstGeom>
          <a:noFill/>
        </p:spPr>
        <p:txBody>
          <a:bodyPr wrap="square" rtlCol="0">
            <a:spAutoFit/>
          </a:bodyPr>
          <a:lstStyle/>
          <a:p>
            <a:r>
              <a:rPr lang="en-US" sz="2000" err="1"/>
              <a:t>Gián</a:t>
            </a:r>
            <a:r>
              <a:rPr lang="en-US" sz="2000"/>
              <a:t> </a:t>
            </a:r>
            <a:r>
              <a:rPr lang="en-US" sz="2000" err="1"/>
              <a:t>đoạn</a:t>
            </a:r>
            <a:r>
              <a:rPr lang="en-US" sz="2000"/>
              <a:t> </a:t>
            </a:r>
            <a:r>
              <a:rPr lang="en-US" sz="2000" err="1"/>
              <a:t>hóa</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dòng</a:t>
            </a:r>
            <a:r>
              <a:rPr lang="en-US" sz="2000"/>
              <a:t> </a:t>
            </a:r>
            <a:r>
              <a:rPr lang="en-US" sz="2000" err="1"/>
              <a:t>điện</a:t>
            </a:r>
            <a:r>
              <a:rPr lang="en-US" sz="2000"/>
              <a:t> </a:t>
            </a:r>
            <a:r>
              <a:rPr lang="en-US" sz="2000" err="1"/>
              <a:t>và</a:t>
            </a:r>
            <a:r>
              <a:rPr lang="en-US" sz="2000"/>
              <a:t> </a:t>
            </a:r>
            <a:r>
              <a:rPr lang="en-US" sz="2000" err="1"/>
              <a:t>điện</a:t>
            </a:r>
            <a:r>
              <a:rPr lang="en-US" sz="2000"/>
              <a:t> </a:t>
            </a:r>
            <a:r>
              <a:rPr lang="en-US" sz="2000" err="1"/>
              <a:t>áp</a:t>
            </a:r>
            <a:r>
              <a:rPr lang="en-US" sz="2000"/>
              <a:t>, ta </a:t>
            </a:r>
            <a:r>
              <a:rPr lang="en-US" sz="2000" err="1"/>
              <a:t>thu</a:t>
            </a:r>
            <a:r>
              <a:rPr lang="en-US" sz="2000"/>
              <a:t> </a:t>
            </a:r>
            <a:r>
              <a:rPr lang="en-US" sz="2000" err="1"/>
              <a:t>được</a:t>
            </a:r>
            <a:r>
              <a:rPr lang="en-US" sz="2000"/>
              <a:t>:</a:t>
            </a:r>
          </a:p>
        </p:txBody>
      </p:sp>
      <mc:AlternateContent xmlns:mc="http://schemas.openxmlformats.org/markup-compatibility/2006" xmlns:a14="http://schemas.microsoft.com/office/drawing/2010/main">
        <mc:Choice Requires="a14">
          <p:sp>
            <p:nvSpPr>
              <p:cNvPr id="20" name="Object 9">
                <a:extLst>
                  <a:ext uri="{FF2B5EF4-FFF2-40B4-BE49-F238E27FC236}">
                    <a16:creationId xmlns:a16="http://schemas.microsoft.com/office/drawing/2014/main" id="{DD94B7D2-C27A-7481-8F3B-D2A39B1FB22C}"/>
                  </a:ext>
                </a:extLst>
              </p:cNvPr>
              <p:cNvSpPr txBox="1"/>
              <p:nvPr/>
            </p:nvSpPr>
            <p:spPr>
              <a:xfrm>
                <a:off x="1370012" y="3895726"/>
                <a:ext cx="6168923" cy="68522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𝐺</m:t>
                          </m:r>
                        </m:e>
                        <m:sub>
                          <m:r>
                            <a:rPr lang="en-US" sz="2000" i="1">
                              <a:solidFill>
                                <a:srgbClr val="000000"/>
                              </a:solidFill>
                              <a:latin typeface="Cambria Math" panose="02040503050406030204" pitchFamily="18" charset="0"/>
                            </a:rPr>
                            <m:t>𝑐</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𝑠</m:t>
                      </m:r>
                      <m:r>
                        <a:rPr lang="en-US" sz="2000" i="1">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𝐾</m:t>
                          </m:r>
                        </m:e>
                        <m:sub>
                          <m:r>
                            <a:rPr lang="en-US" sz="2000" i="1">
                              <a:solidFill>
                                <a:srgbClr val="000000"/>
                              </a:solidFill>
                              <a:latin typeface="Cambria Math" panose="02040503050406030204" pitchFamily="18" charset="0"/>
                            </a:rPr>
                            <m:t>𝑝</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𝐾</m:t>
                              </m:r>
                            </m:e>
                            <m:sub>
                              <m:r>
                                <a:rPr lang="en-US" sz="2000" b="0" i="1" smtClean="0">
                                  <a:solidFill>
                                    <a:srgbClr val="000000"/>
                                  </a:solidFill>
                                  <a:latin typeface="Cambria Math" panose="02040503050406030204" pitchFamily="18" charset="0"/>
                                </a:rPr>
                                <m:t>𝑖</m:t>
                              </m:r>
                            </m:sub>
                          </m:sSub>
                        </m:num>
                        <m:den>
                          <m:r>
                            <a:rPr lang="en-US" sz="2000" i="1">
                              <a:solidFill>
                                <a:srgbClr val="000000"/>
                              </a:solidFill>
                              <a:latin typeface="Cambria Math" panose="02040503050406030204" pitchFamily="18" charset="0"/>
                            </a:rPr>
                            <m:t>𝑠</m:t>
                          </m:r>
                        </m:den>
                      </m:f>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𝐺</m:t>
                          </m:r>
                        </m:e>
                        <m:sub>
                          <m:r>
                            <a:rPr lang="en-US" sz="2000" i="1">
                              <a:solidFill>
                                <a:srgbClr val="000000"/>
                              </a:solidFill>
                              <a:latin typeface="Cambria Math" panose="02040503050406030204" pitchFamily="18" charset="0"/>
                            </a:rPr>
                            <m:t>𝑐</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𝑧</m:t>
                      </m:r>
                      <m:r>
                        <a:rPr lang="en-US" sz="2000" i="1">
                          <a:solidFill>
                            <a:srgbClr val="000000"/>
                          </a:solidFill>
                          <a:latin typeface="Cambria Math" panose="02040503050406030204" pitchFamily="18" charset="0"/>
                        </a:rPr>
                        <m:t>)=</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𝐾</m:t>
                          </m:r>
                        </m:e>
                        <m:sub>
                          <m:r>
                            <a:rPr lang="en-US" sz="2000" i="1">
                              <a:solidFill>
                                <a:srgbClr val="000000"/>
                              </a:solidFill>
                              <a:latin typeface="Cambria Math" panose="02040503050406030204" pitchFamily="18" charset="0"/>
                            </a:rPr>
                            <m:t>𝑝</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𝐾</m:t>
                              </m:r>
                            </m:e>
                            <m:sub>
                              <m:r>
                                <a:rPr lang="en-US" sz="2000" b="0" i="1" smtClean="0">
                                  <a:solidFill>
                                    <a:srgbClr val="000000"/>
                                  </a:solidFill>
                                  <a:latin typeface="Cambria Math" panose="02040503050406030204" pitchFamily="18" charset="0"/>
                                </a:rPr>
                                <m:t>𝑖</m:t>
                              </m:r>
                            </m:sub>
                          </m:sSub>
                          <m:r>
                            <a:rPr lang="en-US" sz="2000" i="1">
                              <a:solidFill>
                                <a:srgbClr val="000000"/>
                              </a:solidFill>
                              <a:latin typeface="Cambria Math" panose="02040503050406030204" pitchFamily="18" charset="0"/>
                            </a:rPr>
                            <m:t>𝑇</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𝑧</m:t>
                          </m:r>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𝑧</m:t>
                          </m:r>
                          <m:r>
                            <a:rPr lang="en-US" sz="2000" i="1">
                              <a:solidFill>
                                <a:srgbClr val="000000"/>
                              </a:solidFill>
                              <a:latin typeface="Cambria Math" panose="02040503050406030204" pitchFamily="18" charset="0"/>
                            </a:rPr>
                            <m:t>−1)</m:t>
                          </m:r>
                        </m:den>
                      </m:f>
                      <m:r>
                        <a:rPr lang="en-US" sz="2000" i="1">
                          <a:solidFill>
                            <a:srgbClr val="000000"/>
                          </a:solidFill>
                          <a:latin typeface="Cambria Math" panose="02040503050406030204" pitchFamily="18" charset="0"/>
                        </a:rPr>
                        <m:t>)</m:t>
                      </m:r>
                    </m:oMath>
                  </m:oMathPara>
                </a14:m>
                <a:endParaRPr lang="en-US" sz="2000"/>
              </a:p>
            </p:txBody>
          </p:sp>
        </mc:Choice>
        <mc:Fallback xmlns="">
          <p:sp>
            <p:nvSpPr>
              <p:cNvPr id="20" name="Object 9">
                <a:extLst>
                  <a:ext uri="{FF2B5EF4-FFF2-40B4-BE49-F238E27FC236}">
                    <a16:creationId xmlns:a16="http://schemas.microsoft.com/office/drawing/2014/main" id="{DD94B7D2-C27A-7481-8F3B-D2A39B1FB22C}"/>
                  </a:ext>
                </a:extLst>
              </p:cNvPr>
              <p:cNvSpPr txBox="1">
                <a:spLocks noRot="1" noChangeAspect="1" noMove="1" noResize="1" noEditPoints="1" noAdjustHandles="1" noChangeArrowheads="1" noChangeShapeType="1" noTextEdit="1"/>
              </p:cNvSpPr>
              <p:nvPr/>
            </p:nvSpPr>
            <p:spPr>
              <a:xfrm>
                <a:off x="1370012" y="3895726"/>
                <a:ext cx="6168923" cy="685222"/>
              </a:xfrm>
              <a:prstGeom prst="rect">
                <a:avLst/>
              </a:prstGeom>
              <a:blipFill>
                <a:blip r:embed="rId4"/>
                <a:stretch>
                  <a:fillRect/>
                </a:stretch>
              </a:blipFill>
            </p:spPr>
            <p:txBody>
              <a:bodyPr/>
              <a:lstStyle/>
              <a:p>
                <a:r>
                  <a:rPr lang="en-US">
                    <a:noFill/>
                  </a:rPr>
                  <a:t> </a:t>
                </a:r>
              </a:p>
            </p:txBody>
          </p:sp>
        </mc:Fallback>
      </mc:AlternateContent>
      <p:sp>
        <p:nvSpPr>
          <p:cNvPr id="21" name="TextBox 13">
            <a:extLst>
              <a:ext uri="{FF2B5EF4-FFF2-40B4-BE49-F238E27FC236}">
                <a16:creationId xmlns:a16="http://schemas.microsoft.com/office/drawing/2014/main" id="{D2C4FEFF-F32C-7580-DBBD-9B93BC2C1684}"/>
              </a:ext>
            </a:extLst>
          </p:cNvPr>
          <p:cNvSpPr txBox="1"/>
          <p:nvPr/>
        </p:nvSpPr>
        <p:spPr>
          <a:xfrm>
            <a:off x="463358" y="4606987"/>
            <a:ext cx="10922801" cy="400110"/>
          </a:xfrm>
          <a:prstGeom prst="rect">
            <a:avLst/>
          </a:prstGeom>
          <a:noFill/>
        </p:spPr>
        <p:txBody>
          <a:bodyPr wrap="square" rtlCol="0">
            <a:spAutoFit/>
          </a:bodyPr>
          <a:lstStyle/>
          <a:p>
            <a:r>
              <a:rPr lang="en-US" sz="2000" err="1"/>
              <a:t>Hoặc</a:t>
            </a:r>
            <a:r>
              <a:rPr lang="en-US" sz="2000"/>
              <a:t> ta </a:t>
            </a:r>
            <a:r>
              <a:rPr lang="en-US" sz="2000" err="1"/>
              <a:t>có</a:t>
            </a:r>
            <a:r>
              <a:rPr lang="en-US" sz="2000"/>
              <a:t> </a:t>
            </a:r>
            <a:r>
              <a:rPr lang="en-US" sz="2000" err="1"/>
              <a:t>thể</a:t>
            </a:r>
            <a:r>
              <a:rPr lang="en-US" sz="2000"/>
              <a:t> </a:t>
            </a:r>
            <a:r>
              <a:rPr lang="en-US" sz="2000" err="1"/>
              <a:t>sử</a:t>
            </a:r>
            <a:r>
              <a:rPr lang="en-US" sz="2000"/>
              <a:t> </a:t>
            </a:r>
            <a:r>
              <a:rPr lang="en-US" sz="2000" err="1"/>
              <a:t>dụng</a:t>
            </a:r>
            <a:r>
              <a:rPr lang="en-US" sz="2000"/>
              <a:t> </a:t>
            </a:r>
            <a:r>
              <a:rPr lang="en-US" sz="2000" err="1"/>
              <a:t>câu</a:t>
            </a:r>
            <a:r>
              <a:rPr lang="en-US" sz="2000"/>
              <a:t> </a:t>
            </a:r>
            <a:r>
              <a:rPr lang="en-US" sz="2000" err="1"/>
              <a:t>lệnh</a:t>
            </a:r>
            <a:r>
              <a:rPr lang="en-US" sz="2000"/>
              <a:t> c2d </a:t>
            </a:r>
            <a:r>
              <a:rPr lang="en-US" sz="2000" err="1"/>
              <a:t>của</a:t>
            </a:r>
            <a:r>
              <a:rPr lang="en-US" sz="2000"/>
              <a:t> MATLAB </a:t>
            </a:r>
            <a:r>
              <a:rPr lang="en-US" sz="2000" err="1"/>
              <a:t>để</a:t>
            </a:r>
            <a:r>
              <a:rPr lang="en-US" sz="2000"/>
              <a:t> </a:t>
            </a:r>
            <a:r>
              <a:rPr lang="en-US" sz="2000" err="1"/>
              <a:t>tính</a:t>
            </a:r>
            <a:r>
              <a:rPr lang="en-US" sz="2000"/>
              <a:t>:</a:t>
            </a:r>
          </a:p>
        </p:txBody>
      </p:sp>
      <p:sp>
        <p:nvSpPr>
          <p:cNvPr id="22" name="TextBox 15">
            <a:extLst>
              <a:ext uri="{FF2B5EF4-FFF2-40B4-BE49-F238E27FC236}">
                <a16:creationId xmlns:a16="http://schemas.microsoft.com/office/drawing/2014/main" id="{9AEBAA1E-DA8D-44BD-91C2-289FB387D2D3}"/>
              </a:ext>
            </a:extLst>
          </p:cNvPr>
          <p:cNvSpPr txBox="1"/>
          <p:nvPr/>
        </p:nvSpPr>
        <p:spPr>
          <a:xfrm>
            <a:off x="1370330" y="5137247"/>
            <a:ext cx="6093912" cy="369332"/>
          </a:xfrm>
          <a:prstGeom prst="rect">
            <a:avLst/>
          </a:prstGeom>
          <a:noFill/>
        </p:spPr>
        <p:txBody>
          <a:bodyPr wrap="square">
            <a:spAutoFit/>
          </a:bodyPr>
          <a:lstStyle/>
          <a:p>
            <a:r>
              <a:rPr lang="en-US" sz="1800" b="0" i="0" u="none" strike="noStrike" baseline="0">
                <a:solidFill>
                  <a:srgbClr val="000000"/>
                </a:solidFill>
                <a:latin typeface="Courier New" panose="02070309020205020404" pitchFamily="49" charset="0"/>
              </a:rPr>
              <a:t>Gd = c2d(Gc,Ts,</a:t>
            </a:r>
            <a:r>
              <a:rPr lang="en-US" sz="1800" b="0" i="0" u="none" strike="noStrike" baseline="0">
                <a:solidFill>
                  <a:srgbClr val="AA04F9"/>
                </a:solidFill>
                <a:latin typeface="Courier New" panose="02070309020205020404" pitchFamily="49" charset="0"/>
              </a:rPr>
              <a:t>'</a:t>
            </a:r>
            <a:r>
              <a:rPr lang="en-US" sz="1800" b="0" i="0" u="none" strike="noStrike" baseline="0" err="1">
                <a:solidFill>
                  <a:srgbClr val="AA04F9"/>
                </a:solidFill>
                <a:latin typeface="Courier New" panose="02070309020205020404" pitchFamily="49" charset="0"/>
              </a:rPr>
              <a:t>tustin</a:t>
            </a:r>
            <a:r>
              <a:rPr lang="en-US" sz="1800" b="0" i="0" u="none" strike="noStrike" baseline="0">
                <a:solidFill>
                  <a:srgbClr val="AA04F9"/>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a:t>
            </a:r>
          </a:p>
        </p:txBody>
      </p:sp>
      <p:sp>
        <p:nvSpPr>
          <p:cNvPr id="23" name="TextBox 16">
            <a:extLst>
              <a:ext uri="{FF2B5EF4-FFF2-40B4-BE49-F238E27FC236}">
                <a16:creationId xmlns:a16="http://schemas.microsoft.com/office/drawing/2014/main" id="{129F3B6A-9B6B-2B32-4A8A-23ABD6D9A391}"/>
              </a:ext>
            </a:extLst>
          </p:cNvPr>
          <p:cNvSpPr txBox="1"/>
          <p:nvPr/>
        </p:nvSpPr>
        <p:spPr>
          <a:xfrm>
            <a:off x="5690885" y="5132509"/>
            <a:ext cx="5695273" cy="400110"/>
          </a:xfrm>
          <a:prstGeom prst="rect">
            <a:avLst/>
          </a:prstGeom>
          <a:noFill/>
        </p:spPr>
        <p:txBody>
          <a:bodyPr wrap="square" rtlCol="0">
            <a:spAutoFit/>
          </a:bodyPr>
          <a:lstStyle/>
          <a:p>
            <a:r>
              <a:rPr lang="en-US" sz="2000" err="1"/>
              <a:t>Trong</a:t>
            </a:r>
            <a:r>
              <a:rPr lang="en-US" sz="2000"/>
              <a:t> </a:t>
            </a:r>
            <a:r>
              <a:rPr lang="en-US" sz="2000" err="1"/>
              <a:t>đó</a:t>
            </a:r>
            <a:r>
              <a:rPr lang="en-US" sz="2000"/>
              <a:t>: Ts </a:t>
            </a:r>
            <a:r>
              <a:rPr lang="en-US" sz="2000" err="1"/>
              <a:t>là</a:t>
            </a:r>
            <a:r>
              <a:rPr lang="en-US" sz="2000"/>
              <a:t> chu </a:t>
            </a:r>
            <a:r>
              <a:rPr lang="en-US" sz="2000" err="1"/>
              <a:t>kỳ</a:t>
            </a:r>
            <a:r>
              <a:rPr lang="en-US" sz="2000"/>
              <a:t> </a:t>
            </a:r>
            <a:r>
              <a:rPr lang="en-US" sz="2000" err="1"/>
              <a:t>trích</a:t>
            </a:r>
            <a:r>
              <a:rPr lang="en-US" sz="2000"/>
              <a:t> </a:t>
            </a:r>
            <a:r>
              <a:rPr lang="en-US" sz="2000" err="1"/>
              <a:t>mẫu</a:t>
            </a:r>
            <a:r>
              <a:rPr lang="en-US" sz="2000"/>
              <a:t> </a:t>
            </a:r>
            <a:r>
              <a:rPr lang="en-US" sz="2000" err="1"/>
              <a:t>của</a:t>
            </a:r>
            <a:r>
              <a:rPr lang="en-US" sz="2000"/>
              <a:t> </a:t>
            </a:r>
            <a:r>
              <a:rPr lang="en-US" sz="2000" err="1"/>
              <a:t>bộ</a:t>
            </a:r>
            <a:r>
              <a:rPr lang="en-US" sz="2000"/>
              <a:t> </a:t>
            </a:r>
            <a:r>
              <a:rPr lang="en-US" sz="2000" err="1"/>
              <a:t>điều</a:t>
            </a:r>
            <a:r>
              <a:rPr lang="en-US" sz="2000"/>
              <a:t> </a:t>
            </a:r>
            <a:r>
              <a:rPr lang="en-US" sz="2000" err="1"/>
              <a:t>khiển</a:t>
            </a:r>
            <a:endParaRPr lang="en-US" sz="2000"/>
          </a:p>
        </p:txBody>
      </p:sp>
      <p:sp>
        <p:nvSpPr>
          <p:cNvPr id="3" name="Hộp Văn bản 2">
            <a:extLst>
              <a:ext uri="{FF2B5EF4-FFF2-40B4-BE49-F238E27FC236}">
                <a16:creationId xmlns:a16="http://schemas.microsoft.com/office/drawing/2014/main" id="{DF9D10D5-73D9-3CB2-1D0E-B028C7B1FD3E}"/>
              </a:ext>
            </a:extLst>
          </p:cNvPr>
          <p:cNvSpPr txBox="1"/>
          <p:nvPr/>
        </p:nvSpPr>
        <p:spPr>
          <a:xfrm>
            <a:off x="338736" y="5585671"/>
            <a:ext cx="5560978" cy="646331"/>
          </a:xfrm>
          <a:prstGeom prst="rect">
            <a:avLst/>
          </a:prstGeom>
          <a:noFill/>
          <a:ln>
            <a:solidFill>
              <a:srgbClr val="FF0000"/>
            </a:solidFill>
          </a:ln>
        </p:spPr>
        <p:txBody>
          <a:bodyPr wrap="square" rtlCol="0">
            <a:spAutoFit/>
          </a:bodyPr>
          <a:lstStyle/>
          <a:p>
            <a:r>
              <a:rPr lang="en-US"/>
              <a:t>Tham khảo thêm ở giáo trình điều khiển điện tử công suất của thầy Trần Trọng Minh và Vũ Hoàng Phương</a:t>
            </a:r>
          </a:p>
        </p:txBody>
      </p:sp>
    </p:spTree>
    <p:extLst>
      <p:ext uri="{BB962C8B-B14F-4D97-AF65-F5344CB8AC3E}">
        <p14:creationId xmlns:p14="http://schemas.microsoft.com/office/powerpoint/2010/main" val="3791980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97680-9637-1DB9-CBB7-19C049E5B33D}"/>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3AAED1F-8801-6239-B141-2471508808FA}"/>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48</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AA66791B-385F-8E4D-4362-F1813675B00E}"/>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3" name="Hộp Văn bản 2">
            <a:extLst>
              <a:ext uri="{FF2B5EF4-FFF2-40B4-BE49-F238E27FC236}">
                <a16:creationId xmlns:a16="http://schemas.microsoft.com/office/drawing/2014/main" id="{2EE7C622-545F-5A3E-D26C-73F6B3C7ADF6}"/>
              </a:ext>
            </a:extLst>
          </p:cNvPr>
          <p:cNvSpPr txBox="1"/>
          <p:nvPr/>
        </p:nvSpPr>
        <p:spPr>
          <a:xfrm>
            <a:off x="145915" y="933855"/>
            <a:ext cx="4328808" cy="400110"/>
          </a:xfrm>
          <a:prstGeom prst="rect">
            <a:avLst/>
          </a:prstGeom>
          <a:noFill/>
        </p:spPr>
        <p:txBody>
          <a:bodyPr wrap="square" rtlCol="0">
            <a:spAutoFit/>
          </a:bodyPr>
          <a:lstStyle/>
          <a:p>
            <a:r>
              <a:rPr lang="en-US" sz="2000"/>
              <a:t>a) Gián đoạn hóa bộ điều khiển</a:t>
            </a:r>
          </a:p>
        </p:txBody>
      </p:sp>
      <p:sp>
        <p:nvSpPr>
          <p:cNvPr id="6" name="TextBox 7">
            <a:extLst>
              <a:ext uri="{FF2B5EF4-FFF2-40B4-BE49-F238E27FC236}">
                <a16:creationId xmlns:a16="http://schemas.microsoft.com/office/drawing/2014/main" id="{E83C71D3-AD79-0302-70C4-1E78B92CD020}"/>
              </a:ext>
            </a:extLst>
          </p:cNvPr>
          <p:cNvSpPr txBox="1"/>
          <p:nvPr/>
        </p:nvSpPr>
        <p:spPr>
          <a:xfrm>
            <a:off x="463358" y="1491588"/>
            <a:ext cx="10922801" cy="400110"/>
          </a:xfrm>
          <a:prstGeom prst="rect">
            <a:avLst/>
          </a:prstGeom>
          <a:noFill/>
        </p:spPr>
        <p:txBody>
          <a:bodyPr wrap="square" rtlCol="0">
            <a:spAutoFit/>
          </a:bodyPr>
          <a:lstStyle/>
          <a:p>
            <a:r>
              <a:rPr lang="en-US" sz="2000" err="1"/>
              <a:t>Sử</a:t>
            </a:r>
            <a:r>
              <a:rPr lang="en-US" sz="2000"/>
              <a:t> </a:t>
            </a:r>
            <a:r>
              <a:rPr lang="en-US" sz="2000" err="1"/>
              <a:t>dụng</a:t>
            </a:r>
            <a:r>
              <a:rPr lang="en-US" sz="2000"/>
              <a:t> </a:t>
            </a:r>
            <a:r>
              <a:rPr lang="en-US" sz="2000" err="1"/>
              <a:t>câu</a:t>
            </a:r>
            <a:r>
              <a:rPr lang="en-US" sz="2000"/>
              <a:t> </a:t>
            </a:r>
            <a:r>
              <a:rPr lang="en-US" sz="2000" err="1"/>
              <a:t>lệnh</a:t>
            </a:r>
            <a:r>
              <a:rPr lang="en-US" sz="2000"/>
              <a:t> c2d </a:t>
            </a:r>
            <a:r>
              <a:rPr lang="en-US" sz="2000" err="1"/>
              <a:t>để</a:t>
            </a:r>
            <a:r>
              <a:rPr lang="en-US" sz="2000"/>
              <a:t> </a:t>
            </a:r>
            <a:r>
              <a:rPr lang="en-US" sz="2000" err="1"/>
              <a:t>xác</a:t>
            </a:r>
            <a:r>
              <a:rPr lang="en-US" sz="2000"/>
              <a:t> </a:t>
            </a:r>
            <a:r>
              <a:rPr lang="en-US" sz="2000" err="1"/>
              <a:t>định</a:t>
            </a:r>
            <a:r>
              <a:rPr lang="en-US" sz="2000"/>
              <a:t> </a:t>
            </a:r>
            <a:r>
              <a:rPr lang="en-US" sz="2000" err="1"/>
              <a:t>hàm</a:t>
            </a:r>
            <a:r>
              <a:rPr lang="en-US" sz="2000"/>
              <a:t> </a:t>
            </a:r>
            <a:r>
              <a:rPr lang="en-US" sz="2000" err="1"/>
              <a:t>truyền</a:t>
            </a:r>
            <a:r>
              <a:rPr lang="en-US" sz="2000"/>
              <a:t> </a:t>
            </a:r>
            <a:r>
              <a:rPr lang="en-US" sz="2000" err="1"/>
              <a:t>của</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trong</a:t>
            </a:r>
            <a:r>
              <a:rPr lang="en-US" sz="2000"/>
              <a:t> </a:t>
            </a:r>
            <a:r>
              <a:rPr lang="en-US" sz="2000" err="1"/>
              <a:t>miền</a:t>
            </a:r>
            <a:r>
              <a:rPr lang="en-US" sz="2000"/>
              <a:t> </a:t>
            </a:r>
            <a:r>
              <a:rPr lang="en-US" sz="2000" err="1"/>
              <a:t>gián</a:t>
            </a:r>
            <a:r>
              <a:rPr lang="en-US" sz="2000"/>
              <a:t> </a:t>
            </a:r>
            <a:r>
              <a:rPr lang="en-US" sz="2000" err="1"/>
              <a:t>đoạn</a:t>
            </a:r>
            <a:endParaRPr lang="en-US" sz="2000"/>
          </a:p>
        </p:txBody>
      </p:sp>
      <p:sp>
        <p:nvSpPr>
          <p:cNvPr id="7" name="TextBox 17">
            <a:extLst>
              <a:ext uri="{FF2B5EF4-FFF2-40B4-BE49-F238E27FC236}">
                <a16:creationId xmlns:a16="http://schemas.microsoft.com/office/drawing/2014/main" id="{257583C1-0669-3D1B-2135-C54876E8909C}"/>
              </a:ext>
            </a:extLst>
          </p:cNvPr>
          <p:cNvSpPr txBox="1"/>
          <p:nvPr/>
        </p:nvSpPr>
        <p:spPr>
          <a:xfrm>
            <a:off x="463358" y="1904224"/>
            <a:ext cx="2931195" cy="400110"/>
          </a:xfrm>
          <a:prstGeom prst="rect">
            <a:avLst/>
          </a:prstGeom>
          <a:noFill/>
        </p:spPr>
        <p:txBody>
          <a:bodyPr wrap="square" rtlCol="0">
            <a:spAutoFit/>
          </a:bodyPr>
          <a:lstStyle/>
          <a:p>
            <a:r>
              <a:rPr lang="en-US" sz="2000" err="1"/>
              <a:t>Bộ</a:t>
            </a:r>
            <a:r>
              <a:rPr lang="en-US" sz="2000"/>
              <a:t> </a:t>
            </a:r>
            <a:r>
              <a:rPr lang="en-US" sz="2000" err="1"/>
              <a:t>điều</a:t>
            </a:r>
            <a:r>
              <a:rPr lang="en-US" sz="2000"/>
              <a:t> </a:t>
            </a:r>
            <a:r>
              <a:rPr lang="en-US" sz="2000" err="1"/>
              <a:t>khiển</a:t>
            </a:r>
            <a:r>
              <a:rPr lang="en-US" sz="2000"/>
              <a:t> </a:t>
            </a:r>
            <a:r>
              <a:rPr lang="en-US" sz="2000" err="1"/>
              <a:t>dòng</a:t>
            </a:r>
            <a:r>
              <a:rPr lang="en-US" sz="2000"/>
              <a:t> </a:t>
            </a:r>
            <a:r>
              <a:rPr lang="en-US" sz="2000" err="1"/>
              <a:t>điện</a:t>
            </a:r>
            <a:r>
              <a:rPr lang="en-US" sz="2000"/>
              <a:t>: </a:t>
            </a:r>
          </a:p>
        </p:txBody>
      </p:sp>
      <p:sp>
        <p:nvSpPr>
          <p:cNvPr id="8" name="TextBox 19">
            <a:extLst>
              <a:ext uri="{FF2B5EF4-FFF2-40B4-BE49-F238E27FC236}">
                <a16:creationId xmlns:a16="http://schemas.microsoft.com/office/drawing/2014/main" id="{4EFAFBE8-EAEC-C9FD-1D19-B5C4F8159DF4}"/>
              </a:ext>
            </a:extLst>
          </p:cNvPr>
          <p:cNvSpPr txBox="1"/>
          <p:nvPr/>
        </p:nvSpPr>
        <p:spPr>
          <a:xfrm>
            <a:off x="463358" y="2649980"/>
            <a:ext cx="4381016" cy="646331"/>
          </a:xfrm>
          <a:prstGeom prst="rect">
            <a:avLst/>
          </a:prstGeom>
          <a:noFill/>
        </p:spPr>
        <p:txBody>
          <a:bodyPr wrap="square">
            <a:spAutoFit/>
          </a:bodyPr>
          <a:lstStyle/>
          <a:p>
            <a:r>
              <a:rPr lang="en-US" sz="1800" b="0" i="0" u="none" strike="noStrike" baseline="0">
                <a:solidFill>
                  <a:srgbClr val="000000"/>
                </a:solidFill>
                <a:latin typeface="Courier New" panose="02070309020205020404" pitchFamily="49" charset="0"/>
              </a:rPr>
              <a:t>Gp_i_d = c2d(Gpi_i,Ts_i,</a:t>
            </a:r>
            <a:r>
              <a:rPr lang="en-US" sz="1800" b="0" i="0" u="none" strike="noStrike" baseline="0">
                <a:solidFill>
                  <a:srgbClr val="AA04F9"/>
                </a:solidFill>
                <a:latin typeface="Courier New" panose="02070309020205020404" pitchFamily="49" charset="0"/>
              </a:rPr>
              <a:t>'</a:t>
            </a:r>
            <a:r>
              <a:rPr lang="en-US" sz="1800" b="0" i="0" u="none" strike="noStrike" baseline="0" err="1">
                <a:solidFill>
                  <a:srgbClr val="AA04F9"/>
                </a:solidFill>
                <a:latin typeface="Courier New" panose="02070309020205020404" pitchFamily="49" charset="0"/>
              </a:rPr>
              <a:t>tustin</a:t>
            </a:r>
            <a:r>
              <a:rPr lang="en-US" sz="1800" b="0" i="0" u="none" strike="noStrike" baseline="0">
                <a:solidFill>
                  <a:srgbClr val="AA04F9"/>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a:t>
            </a:r>
          </a:p>
        </p:txBody>
      </p:sp>
      <p:sp>
        <p:nvSpPr>
          <p:cNvPr id="9" name="TextBox 20">
            <a:extLst>
              <a:ext uri="{FF2B5EF4-FFF2-40B4-BE49-F238E27FC236}">
                <a16:creationId xmlns:a16="http://schemas.microsoft.com/office/drawing/2014/main" id="{05ADC5AB-5F68-3A4E-6356-6DBA3CD4D8A5}"/>
              </a:ext>
            </a:extLst>
          </p:cNvPr>
          <p:cNvSpPr txBox="1"/>
          <p:nvPr/>
        </p:nvSpPr>
        <p:spPr>
          <a:xfrm>
            <a:off x="463358" y="3585858"/>
            <a:ext cx="10922801" cy="400110"/>
          </a:xfrm>
          <a:prstGeom prst="rect">
            <a:avLst/>
          </a:prstGeom>
          <a:noFill/>
        </p:spPr>
        <p:txBody>
          <a:bodyPr wrap="square" rtlCol="0">
            <a:spAutoFit/>
          </a:bodyPr>
          <a:lstStyle/>
          <a:p>
            <a:r>
              <a:rPr lang="en-US" sz="2000" err="1"/>
              <a:t>Bộ</a:t>
            </a:r>
            <a:r>
              <a:rPr lang="en-US" sz="2000"/>
              <a:t> </a:t>
            </a:r>
            <a:r>
              <a:rPr lang="en-US" sz="2000" err="1"/>
              <a:t>điều</a:t>
            </a:r>
            <a:r>
              <a:rPr lang="en-US" sz="2000"/>
              <a:t> </a:t>
            </a:r>
            <a:r>
              <a:rPr lang="en-US" sz="2000" err="1"/>
              <a:t>khiển</a:t>
            </a:r>
            <a:r>
              <a:rPr lang="en-US" sz="2000"/>
              <a:t> </a:t>
            </a:r>
            <a:r>
              <a:rPr lang="en-US" sz="2000" err="1"/>
              <a:t>điện</a:t>
            </a:r>
            <a:r>
              <a:rPr lang="en-US" sz="2000"/>
              <a:t> </a:t>
            </a:r>
            <a:r>
              <a:rPr lang="en-US" sz="2000" err="1"/>
              <a:t>áp</a:t>
            </a:r>
            <a:r>
              <a:rPr lang="en-US" sz="2000"/>
              <a:t>: </a:t>
            </a:r>
          </a:p>
        </p:txBody>
      </p:sp>
      <p:sp>
        <p:nvSpPr>
          <p:cNvPr id="11" name="TextBox 21">
            <a:extLst>
              <a:ext uri="{FF2B5EF4-FFF2-40B4-BE49-F238E27FC236}">
                <a16:creationId xmlns:a16="http://schemas.microsoft.com/office/drawing/2014/main" id="{3B5931EB-0CD3-C007-46D2-52B01CA76CF1}"/>
              </a:ext>
            </a:extLst>
          </p:cNvPr>
          <p:cNvSpPr txBox="1"/>
          <p:nvPr/>
        </p:nvSpPr>
        <p:spPr>
          <a:xfrm>
            <a:off x="5248352" y="2243485"/>
            <a:ext cx="2019717" cy="1477328"/>
          </a:xfrm>
          <a:prstGeom prst="rect">
            <a:avLst/>
          </a:prstGeom>
          <a:noFill/>
        </p:spPr>
        <p:txBody>
          <a:bodyPr wrap="square">
            <a:spAutoFit/>
          </a:bodyPr>
          <a:lstStyle/>
          <a:p>
            <a:r>
              <a:rPr lang="en-US"/>
              <a:t>Gpi_i_d =</a:t>
            </a:r>
          </a:p>
          <a:p>
            <a:r>
              <a:rPr lang="en-US"/>
              <a:t> </a:t>
            </a:r>
          </a:p>
          <a:p>
            <a:r>
              <a:rPr lang="en-US"/>
              <a:t>  </a:t>
            </a:r>
            <a:r>
              <a:rPr lang="pl-PL"/>
              <a:t> 0.2715 z - 0.1728</a:t>
            </a:r>
          </a:p>
          <a:p>
            <a:r>
              <a:rPr lang="pl-PL"/>
              <a:t>  -----------------</a:t>
            </a:r>
          </a:p>
          <a:p>
            <a:r>
              <a:rPr lang="pl-PL"/>
              <a:t>        z - 1</a:t>
            </a:r>
            <a:endParaRPr lang="en-US"/>
          </a:p>
        </p:txBody>
      </p:sp>
      <p:cxnSp>
        <p:nvCxnSpPr>
          <p:cNvPr id="12" name="Straight Arrow Connector 23">
            <a:extLst>
              <a:ext uri="{FF2B5EF4-FFF2-40B4-BE49-F238E27FC236}">
                <a16:creationId xmlns:a16="http://schemas.microsoft.com/office/drawing/2014/main" id="{9B37BD18-DE0E-429E-8BAE-5FA5A93F646F}"/>
              </a:ext>
            </a:extLst>
          </p:cNvPr>
          <p:cNvCxnSpPr>
            <a:cxnSpLocks/>
          </p:cNvCxnSpPr>
          <p:nvPr/>
        </p:nvCxnSpPr>
        <p:spPr>
          <a:xfrm>
            <a:off x="4271375" y="3077837"/>
            <a:ext cx="826718" cy="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3" name="TextBox 24">
            <a:extLst>
              <a:ext uri="{FF2B5EF4-FFF2-40B4-BE49-F238E27FC236}">
                <a16:creationId xmlns:a16="http://schemas.microsoft.com/office/drawing/2014/main" id="{0628B34A-35AD-DD68-BABA-940382E87F16}"/>
              </a:ext>
            </a:extLst>
          </p:cNvPr>
          <p:cNvSpPr txBox="1"/>
          <p:nvPr/>
        </p:nvSpPr>
        <p:spPr>
          <a:xfrm>
            <a:off x="7861516" y="2393828"/>
            <a:ext cx="2931195" cy="1323439"/>
          </a:xfrm>
          <a:prstGeom prst="rect">
            <a:avLst/>
          </a:prstGeom>
          <a:noFill/>
        </p:spPr>
        <p:txBody>
          <a:bodyPr wrap="square" rtlCol="0">
            <a:spAutoFit/>
          </a:bodyPr>
          <a:lstStyle/>
          <a:p>
            <a:r>
              <a:rPr lang="en-US" sz="2000"/>
              <a:t>Toc </a:t>
            </a:r>
            <a:r>
              <a:rPr lang="en-US" sz="2000" err="1"/>
              <a:t>là</a:t>
            </a:r>
            <a:r>
              <a:rPr lang="en-US" sz="2000"/>
              <a:t> chu </a:t>
            </a:r>
            <a:r>
              <a:rPr lang="en-US" sz="2000" err="1"/>
              <a:t>kỳ</a:t>
            </a:r>
            <a:r>
              <a:rPr lang="en-US" sz="2000"/>
              <a:t> </a:t>
            </a:r>
            <a:r>
              <a:rPr lang="en-US" sz="2000" err="1"/>
              <a:t>lấy</a:t>
            </a:r>
            <a:r>
              <a:rPr lang="en-US" sz="2000"/>
              <a:t> </a:t>
            </a:r>
            <a:r>
              <a:rPr lang="en-US" sz="2000" err="1"/>
              <a:t>mẫu</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dòng</a:t>
            </a:r>
            <a:r>
              <a:rPr lang="en-US" sz="2000"/>
              <a:t> </a:t>
            </a:r>
            <a:r>
              <a:rPr lang="en-US" sz="2000" err="1"/>
              <a:t>điện</a:t>
            </a:r>
            <a:r>
              <a:rPr lang="en-US" sz="2000"/>
              <a:t>, </a:t>
            </a:r>
            <a:r>
              <a:rPr lang="en-US" sz="2000" err="1"/>
              <a:t>chọn</a:t>
            </a:r>
            <a:r>
              <a:rPr lang="en-US" sz="2000"/>
              <a:t> </a:t>
            </a:r>
            <a:r>
              <a:rPr lang="en-US" sz="2000" err="1"/>
              <a:t>bằng</a:t>
            </a:r>
            <a:r>
              <a:rPr lang="en-US" sz="2000"/>
              <a:t> chu </a:t>
            </a:r>
            <a:r>
              <a:rPr lang="en-US" sz="2000" err="1"/>
              <a:t>kì</a:t>
            </a:r>
            <a:r>
              <a:rPr lang="en-US" sz="2000"/>
              <a:t> </a:t>
            </a:r>
            <a:r>
              <a:rPr lang="en-US" sz="2000" err="1"/>
              <a:t>phát</a:t>
            </a:r>
            <a:r>
              <a:rPr lang="en-US" sz="2000"/>
              <a:t> </a:t>
            </a:r>
            <a:r>
              <a:rPr lang="en-US" sz="2000" err="1"/>
              <a:t>xung</a:t>
            </a:r>
            <a:r>
              <a:rPr lang="en-US" sz="2000"/>
              <a:t> PWM = 1/100kHz</a:t>
            </a:r>
          </a:p>
        </p:txBody>
      </p:sp>
      <p:sp>
        <p:nvSpPr>
          <p:cNvPr id="14" name="TextBox 25">
            <a:extLst>
              <a:ext uri="{FF2B5EF4-FFF2-40B4-BE49-F238E27FC236}">
                <a16:creationId xmlns:a16="http://schemas.microsoft.com/office/drawing/2014/main" id="{290603CF-F179-08EB-5DED-0611C8BBFCA2}"/>
              </a:ext>
            </a:extLst>
          </p:cNvPr>
          <p:cNvSpPr txBox="1"/>
          <p:nvPr/>
        </p:nvSpPr>
        <p:spPr>
          <a:xfrm>
            <a:off x="463358" y="4528805"/>
            <a:ext cx="3808017" cy="646331"/>
          </a:xfrm>
          <a:prstGeom prst="rect">
            <a:avLst/>
          </a:prstGeom>
          <a:noFill/>
        </p:spPr>
        <p:txBody>
          <a:bodyPr wrap="square">
            <a:spAutoFit/>
          </a:bodyPr>
          <a:lstStyle/>
          <a:p>
            <a:r>
              <a:rPr lang="en-US" sz="1800" b="0" i="0" u="none" strike="noStrike" baseline="0">
                <a:solidFill>
                  <a:srgbClr val="000000"/>
                </a:solidFill>
                <a:latin typeface="Courier New" panose="02070309020205020404" pitchFamily="49" charset="0"/>
              </a:rPr>
              <a:t>Gpi_v_d = c2d(Gpi_v,Tov,</a:t>
            </a:r>
            <a:r>
              <a:rPr lang="en-US" sz="1800" b="0" i="0" u="none" strike="noStrike" baseline="0">
                <a:solidFill>
                  <a:srgbClr val="AA04F9"/>
                </a:solidFill>
                <a:latin typeface="Courier New" panose="02070309020205020404" pitchFamily="49" charset="0"/>
              </a:rPr>
              <a:t>'</a:t>
            </a:r>
            <a:r>
              <a:rPr lang="en-US" sz="1800" b="0" i="0" u="none" strike="noStrike" baseline="0" err="1">
                <a:solidFill>
                  <a:srgbClr val="AA04F9"/>
                </a:solidFill>
                <a:latin typeface="Courier New" panose="02070309020205020404" pitchFamily="49" charset="0"/>
              </a:rPr>
              <a:t>tustin</a:t>
            </a:r>
            <a:r>
              <a:rPr lang="en-US" sz="1800" b="0" i="0" u="none" strike="noStrike" baseline="0">
                <a:solidFill>
                  <a:srgbClr val="AA04F9"/>
                </a:solidFill>
                <a:latin typeface="Courier New" panose="02070309020205020404" pitchFamily="49" charset="0"/>
              </a:rPr>
              <a:t>'</a:t>
            </a:r>
            <a:r>
              <a:rPr lang="en-US" sz="1800" b="0" i="0" u="none" strike="noStrike" baseline="0">
                <a:solidFill>
                  <a:srgbClr val="000000"/>
                </a:solidFill>
                <a:latin typeface="Courier New" panose="02070309020205020404" pitchFamily="49" charset="0"/>
              </a:rPr>
              <a:t>)</a:t>
            </a:r>
          </a:p>
        </p:txBody>
      </p:sp>
      <p:cxnSp>
        <p:nvCxnSpPr>
          <p:cNvPr id="15" name="Straight Arrow Connector 26">
            <a:extLst>
              <a:ext uri="{FF2B5EF4-FFF2-40B4-BE49-F238E27FC236}">
                <a16:creationId xmlns:a16="http://schemas.microsoft.com/office/drawing/2014/main" id="{5FB50DC2-7983-16D4-0117-FC63EAAC86B1}"/>
              </a:ext>
            </a:extLst>
          </p:cNvPr>
          <p:cNvCxnSpPr>
            <a:cxnSpLocks/>
          </p:cNvCxnSpPr>
          <p:nvPr/>
        </p:nvCxnSpPr>
        <p:spPr>
          <a:xfrm>
            <a:off x="4271375" y="4713471"/>
            <a:ext cx="826718" cy="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6" name="TextBox 28">
            <a:extLst>
              <a:ext uri="{FF2B5EF4-FFF2-40B4-BE49-F238E27FC236}">
                <a16:creationId xmlns:a16="http://schemas.microsoft.com/office/drawing/2014/main" id="{7713CEC9-5697-D917-30E0-483850C5832D}"/>
              </a:ext>
            </a:extLst>
          </p:cNvPr>
          <p:cNvSpPr txBox="1"/>
          <p:nvPr/>
        </p:nvSpPr>
        <p:spPr>
          <a:xfrm>
            <a:off x="5248352" y="4174179"/>
            <a:ext cx="2301658" cy="1477328"/>
          </a:xfrm>
          <a:prstGeom prst="rect">
            <a:avLst/>
          </a:prstGeom>
          <a:noFill/>
        </p:spPr>
        <p:txBody>
          <a:bodyPr wrap="square">
            <a:spAutoFit/>
          </a:bodyPr>
          <a:lstStyle/>
          <a:p>
            <a:r>
              <a:rPr lang="en-US"/>
              <a:t>Gpi_i_d =</a:t>
            </a:r>
          </a:p>
          <a:p>
            <a:r>
              <a:rPr lang="en-US"/>
              <a:t> </a:t>
            </a:r>
          </a:p>
          <a:p>
            <a:r>
              <a:rPr lang="en-US"/>
              <a:t>  </a:t>
            </a:r>
            <a:r>
              <a:rPr lang="pl-PL"/>
              <a:t>0.1337 z - 0.1332</a:t>
            </a:r>
          </a:p>
          <a:p>
            <a:r>
              <a:rPr lang="pl-PL"/>
              <a:t>  -----------------</a:t>
            </a:r>
          </a:p>
          <a:p>
            <a:r>
              <a:rPr lang="pl-PL"/>
              <a:t>        z - 1</a:t>
            </a:r>
            <a:endParaRPr lang="en-US"/>
          </a:p>
        </p:txBody>
      </p:sp>
      <p:sp>
        <p:nvSpPr>
          <p:cNvPr id="17" name="TextBox 29">
            <a:extLst>
              <a:ext uri="{FF2B5EF4-FFF2-40B4-BE49-F238E27FC236}">
                <a16:creationId xmlns:a16="http://schemas.microsoft.com/office/drawing/2014/main" id="{90604D5B-1976-A62D-C556-AFF10C6B967D}"/>
              </a:ext>
            </a:extLst>
          </p:cNvPr>
          <p:cNvSpPr txBox="1"/>
          <p:nvPr/>
        </p:nvSpPr>
        <p:spPr>
          <a:xfrm>
            <a:off x="7861516" y="4247577"/>
            <a:ext cx="2931195" cy="1323439"/>
          </a:xfrm>
          <a:prstGeom prst="rect">
            <a:avLst/>
          </a:prstGeom>
          <a:noFill/>
        </p:spPr>
        <p:txBody>
          <a:bodyPr wrap="square" rtlCol="0">
            <a:spAutoFit/>
          </a:bodyPr>
          <a:lstStyle/>
          <a:p>
            <a:r>
              <a:rPr lang="en-US" sz="2000"/>
              <a:t>Tov </a:t>
            </a:r>
            <a:r>
              <a:rPr lang="en-US" sz="2000" err="1"/>
              <a:t>là</a:t>
            </a:r>
            <a:r>
              <a:rPr lang="en-US" sz="2000"/>
              <a:t> chu </a:t>
            </a:r>
            <a:r>
              <a:rPr lang="en-US" sz="2000" err="1"/>
              <a:t>kỳ</a:t>
            </a:r>
            <a:r>
              <a:rPr lang="en-US" sz="2000"/>
              <a:t> </a:t>
            </a:r>
            <a:r>
              <a:rPr lang="en-US" sz="2000" err="1"/>
              <a:t>lấy</a:t>
            </a:r>
            <a:r>
              <a:rPr lang="en-US" sz="2000"/>
              <a:t> </a:t>
            </a:r>
            <a:r>
              <a:rPr lang="en-US" sz="2000" err="1"/>
              <a:t>mẫu</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điện</a:t>
            </a:r>
            <a:r>
              <a:rPr lang="en-US" sz="2000"/>
              <a:t> </a:t>
            </a:r>
            <a:r>
              <a:rPr lang="en-US" sz="2000" err="1"/>
              <a:t>áp</a:t>
            </a:r>
            <a:r>
              <a:rPr lang="en-US" sz="2000"/>
              <a:t>, </a:t>
            </a:r>
            <a:r>
              <a:rPr lang="en-US" sz="2000" err="1"/>
              <a:t>chọn</a:t>
            </a:r>
            <a:r>
              <a:rPr lang="en-US" sz="2000"/>
              <a:t> </a:t>
            </a:r>
            <a:r>
              <a:rPr lang="en-US" sz="2000" err="1"/>
              <a:t>bằng</a:t>
            </a:r>
            <a:r>
              <a:rPr lang="en-US" sz="2000"/>
              <a:t> 5 </a:t>
            </a:r>
            <a:r>
              <a:rPr lang="en-US" sz="2000" err="1"/>
              <a:t>lần</a:t>
            </a:r>
            <a:r>
              <a:rPr lang="en-US" sz="2000"/>
              <a:t> chu </a:t>
            </a:r>
            <a:r>
              <a:rPr lang="en-US" sz="2000" err="1"/>
              <a:t>kì</a:t>
            </a:r>
            <a:r>
              <a:rPr lang="en-US" sz="2000"/>
              <a:t> </a:t>
            </a:r>
            <a:r>
              <a:rPr lang="en-US" sz="2000" err="1"/>
              <a:t>lấy</a:t>
            </a:r>
            <a:r>
              <a:rPr lang="en-US" sz="2000"/>
              <a:t> </a:t>
            </a:r>
            <a:r>
              <a:rPr lang="en-US" sz="2000" err="1"/>
              <a:t>mẫu</a:t>
            </a:r>
            <a:r>
              <a:rPr lang="en-US" sz="2000"/>
              <a:t> </a:t>
            </a:r>
            <a:r>
              <a:rPr lang="en-US" sz="2000" err="1"/>
              <a:t>bộ</a:t>
            </a:r>
            <a:r>
              <a:rPr lang="en-US" sz="2000"/>
              <a:t> </a:t>
            </a:r>
            <a:r>
              <a:rPr lang="en-US" sz="2000" err="1"/>
              <a:t>điều</a:t>
            </a:r>
            <a:r>
              <a:rPr lang="en-US" sz="2000"/>
              <a:t> </a:t>
            </a:r>
            <a:r>
              <a:rPr lang="en-US" sz="2000" err="1"/>
              <a:t>khiển</a:t>
            </a:r>
            <a:r>
              <a:rPr lang="en-US" sz="2000"/>
              <a:t> </a:t>
            </a:r>
            <a:r>
              <a:rPr lang="en-US" sz="2000" err="1"/>
              <a:t>dòng</a:t>
            </a:r>
            <a:r>
              <a:rPr lang="en-US" sz="2000"/>
              <a:t> </a:t>
            </a:r>
            <a:r>
              <a:rPr lang="en-US" sz="2000" err="1"/>
              <a:t>điện</a:t>
            </a:r>
            <a:endParaRPr lang="en-US" sz="2000"/>
          </a:p>
        </p:txBody>
      </p:sp>
    </p:spTree>
    <p:extLst>
      <p:ext uri="{BB962C8B-B14F-4D97-AF65-F5344CB8AC3E}">
        <p14:creationId xmlns:p14="http://schemas.microsoft.com/office/powerpoint/2010/main" val="20777269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8511-80CA-0C5A-93E1-F4C1C1D64B60}"/>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F2B20BB-6A82-A45E-469C-82BF579AD7CA}"/>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49</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46E982B2-46EA-BE5E-0DF2-883BFD3C8C4E}"/>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E8D8410E-E394-0551-18D5-689C499B7E52}"/>
              </a:ext>
            </a:extLst>
          </p:cNvPr>
          <p:cNvSpPr txBox="1"/>
          <p:nvPr/>
        </p:nvSpPr>
        <p:spPr>
          <a:xfrm>
            <a:off x="145915" y="933855"/>
            <a:ext cx="2801566" cy="400110"/>
          </a:xfrm>
          <a:prstGeom prst="rect">
            <a:avLst/>
          </a:prstGeom>
          <a:noFill/>
        </p:spPr>
        <p:txBody>
          <a:bodyPr wrap="square" rtlCol="0">
            <a:spAutoFit/>
          </a:bodyPr>
          <a:lstStyle/>
          <a:p>
            <a:r>
              <a:rPr lang="en-US" sz="2000"/>
              <a:t>b) Sai phân hóa</a:t>
            </a:r>
          </a:p>
        </p:txBody>
      </p:sp>
      <mc:AlternateContent xmlns:mc="http://schemas.openxmlformats.org/markup-compatibility/2006" xmlns:a14="http://schemas.microsoft.com/office/drawing/2010/main">
        <mc:Choice Requires="a14">
          <p:sp>
            <p:nvSpPr>
              <p:cNvPr id="3" name="Hộp Văn bản 2">
                <a:extLst>
                  <a:ext uri="{FF2B5EF4-FFF2-40B4-BE49-F238E27FC236}">
                    <a16:creationId xmlns:a16="http://schemas.microsoft.com/office/drawing/2014/main" id="{CDE341C0-C7B5-4298-5217-23A38362B32F}"/>
                  </a:ext>
                </a:extLst>
              </p:cNvPr>
              <p:cNvSpPr txBox="1"/>
              <p:nvPr/>
            </p:nvSpPr>
            <p:spPr>
              <a:xfrm>
                <a:off x="132023" y="1830441"/>
                <a:ext cx="6507804" cy="7638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𝐿𝑟𝑒𝑓</m:t>
                              </m:r>
                            </m:sub>
                          </m:sSub>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rPr>
                            <m:t>)</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𝑣</m:t>
                              </m:r>
                            </m:sub>
                          </m:sSub>
                          <m:r>
                            <a:rPr lang="en-US" sz="2000" i="1">
                              <a:latin typeface="Cambria Math" panose="02040503050406030204" pitchFamily="18" charset="0"/>
                            </a:rPr>
                            <m:t>(</m:t>
                          </m:r>
                          <m:r>
                            <a:rPr lang="en-US" sz="2000" i="1">
                              <a:latin typeface="Cambria Math" panose="02040503050406030204" pitchFamily="18" charset="0"/>
                            </a:rPr>
                            <m:t>𝑧</m:t>
                          </m:r>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0.1337∗</m:t>
                          </m:r>
                          <m:r>
                            <a:rPr lang="en-US" sz="2000" b="0" i="1" smtClean="0">
                              <a:latin typeface="Cambria Math" panose="02040503050406030204" pitchFamily="18" charset="0"/>
                            </a:rPr>
                            <m:t>𝑧</m:t>
                          </m:r>
                          <m:r>
                            <a:rPr lang="en-US" sz="2000" b="0" i="1" smtClean="0">
                              <a:latin typeface="Cambria Math" panose="02040503050406030204" pitchFamily="18" charset="0"/>
                            </a:rPr>
                            <m:t>−0.1332</m:t>
                          </m:r>
                        </m:num>
                        <m:den>
                          <m:r>
                            <a:rPr lang="en-US" sz="2000" b="0" i="1" smtClean="0">
                              <a:latin typeface="Cambria Math" panose="02040503050406030204" pitchFamily="18" charset="0"/>
                            </a:rPr>
                            <m:t>𝑧</m:t>
                          </m:r>
                          <m:r>
                            <a:rPr lang="en-US" sz="2000" b="0" i="1" smtClean="0">
                              <a:latin typeface="Cambria Math" panose="02040503050406030204" pitchFamily="18" charset="0"/>
                            </a:rPr>
                            <m:t>−1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0.1337−0.1332∗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−1</m:t>
                              </m:r>
                            </m:sup>
                          </m:sSup>
                        </m:num>
                        <m:den>
                          <m:r>
                            <a:rPr lang="en-US" sz="2000" b="0" i="1" smtClean="0">
                              <a:latin typeface="Cambria Math" panose="02040503050406030204" pitchFamily="18" charset="0"/>
                            </a:rPr>
                            <m:t>1</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den>
                      </m:f>
                    </m:oMath>
                  </m:oMathPara>
                </a14:m>
                <a:endParaRPr lang="en-US" sz="2000"/>
              </a:p>
            </p:txBody>
          </p:sp>
        </mc:Choice>
        <mc:Fallback xmlns="">
          <p:sp>
            <p:nvSpPr>
              <p:cNvPr id="3" name="Hộp Văn bản 2">
                <a:extLst>
                  <a:ext uri="{FF2B5EF4-FFF2-40B4-BE49-F238E27FC236}">
                    <a16:creationId xmlns:a16="http://schemas.microsoft.com/office/drawing/2014/main" id="{CDE341C0-C7B5-4298-5217-23A38362B32F}"/>
                  </a:ext>
                </a:extLst>
              </p:cNvPr>
              <p:cNvSpPr txBox="1">
                <a:spLocks noRot="1" noChangeAspect="1" noMove="1" noResize="1" noEditPoints="1" noAdjustHandles="1" noChangeArrowheads="1" noChangeShapeType="1" noTextEdit="1"/>
              </p:cNvSpPr>
              <p:nvPr/>
            </p:nvSpPr>
            <p:spPr>
              <a:xfrm>
                <a:off x="132023" y="1830441"/>
                <a:ext cx="6507804" cy="76386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6A1B934A-3392-E112-AF21-A20B2BE36B7C}"/>
                  </a:ext>
                </a:extLst>
              </p:cNvPr>
              <p:cNvSpPr txBox="1"/>
              <p:nvPr/>
            </p:nvSpPr>
            <p:spPr>
              <a:xfrm>
                <a:off x="145915" y="1275413"/>
                <a:ext cx="2801566" cy="410305"/>
              </a:xfrm>
              <a:prstGeom prst="rect">
                <a:avLst/>
              </a:prstGeom>
              <a:noFill/>
            </p:spPr>
            <p:txBody>
              <a:bodyPr wrap="square" rtlCol="0">
                <a:spAutoFit/>
              </a:bodyPr>
              <a:lstStyle/>
              <a:p>
                <a:r>
                  <a:rPr lang="en-US" sz="200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𝑃𝐼</m:t>
                        </m:r>
                        <m:r>
                          <a:rPr lang="en-US" sz="2000" b="0" i="1" smtClean="0">
                            <a:latin typeface="Cambria Math" panose="02040503050406030204" pitchFamily="18" charset="0"/>
                          </a:rPr>
                          <m:t>_</m:t>
                        </m:r>
                        <m:r>
                          <a:rPr lang="en-US" sz="2000" b="0" i="1" smtClean="0">
                            <a:latin typeface="Cambria Math" panose="02040503050406030204" pitchFamily="18" charset="0"/>
                          </a:rPr>
                          <m:t>𝑣</m:t>
                        </m:r>
                        <m:r>
                          <a:rPr lang="en-US" sz="2000" b="0" i="1" smtClean="0">
                            <a:latin typeface="Cambria Math" panose="02040503050406030204" pitchFamily="18" charset="0"/>
                          </a:rPr>
                          <m:t>_</m:t>
                        </m:r>
                        <m:r>
                          <a:rPr lang="en-US" sz="2000" b="0" i="1" smtClean="0">
                            <a:latin typeface="Cambria Math" panose="02040503050406030204" pitchFamily="18" charset="0"/>
                          </a:rPr>
                          <m:t>𝑑</m:t>
                        </m:r>
                      </m:sub>
                    </m:sSub>
                  </m:oMath>
                </a14:m>
                <a:r>
                  <a:rPr lang="en-US" sz="2000"/>
                  <a:t>:</a:t>
                </a:r>
              </a:p>
            </p:txBody>
          </p:sp>
        </mc:Choice>
        <mc:Fallback xmlns="">
          <p:sp>
            <p:nvSpPr>
              <p:cNvPr id="4" name="Hộp Văn bản 3">
                <a:extLst>
                  <a:ext uri="{FF2B5EF4-FFF2-40B4-BE49-F238E27FC236}">
                    <a16:creationId xmlns:a16="http://schemas.microsoft.com/office/drawing/2014/main" id="{6A1B934A-3392-E112-AF21-A20B2BE36B7C}"/>
                  </a:ext>
                </a:extLst>
              </p:cNvPr>
              <p:cNvSpPr txBox="1">
                <a:spLocks noRot="1" noChangeAspect="1" noMove="1" noResize="1" noEditPoints="1" noAdjustHandles="1" noChangeArrowheads="1" noChangeShapeType="1" noTextEdit="1"/>
              </p:cNvSpPr>
              <p:nvPr/>
            </p:nvSpPr>
            <p:spPr>
              <a:xfrm>
                <a:off x="145915" y="1275413"/>
                <a:ext cx="2801566" cy="410305"/>
              </a:xfrm>
              <a:prstGeom prst="rect">
                <a:avLst/>
              </a:prstGeom>
              <a:blipFill>
                <a:blip r:embed="rId3"/>
                <a:stretch>
                  <a:fillRect l="-2391" t="-5882"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31142F7D-A9BD-2B16-D52E-2FA02A9FC4DB}"/>
                  </a:ext>
                </a:extLst>
              </p:cNvPr>
              <p:cNvSpPr txBox="1"/>
              <p:nvPr/>
            </p:nvSpPr>
            <p:spPr>
              <a:xfrm>
                <a:off x="6542120" y="2098736"/>
                <a:ext cx="5649880" cy="337978"/>
              </a:xfrm>
              <a:prstGeom prst="rect">
                <a:avLst/>
              </a:prstGeom>
              <a:noFill/>
            </p:spPr>
            <p:txBody>
              <a:bodyPr wrap="none" lIns="0" tIns="0" rIns="0" bIns="0" rtlCol="0">
                <a:spAutoFit/>
              </a:bodyPr>
              <a:lstStyle/>
              <a:p>
                <a:r>
                  <a:rPr lang="en-US" sz="2000"/>
                  <a:t>=&gt;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𝐿𝑟𝑒𝑓</m:t>
                        </m:r>
                      </m:sub>
                    </m:sSub>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sub>
                    </m:sSub>
                    <m:r>
                      <a:rPr lang="en-US" sz="2000" b="0" i="1" smtClean="0">
                        <a:latin typeface="Cambria Math" panose="02040503050406030204" pitchFamily="18" charset="0"/>
                      </a:rPr>
                      <m:t>∗(</m:t>
                    </m:r>
                    <m:r>
                      <a:rPr lang="en-US" sz="2000" i="1">
                        <a:latin typeface="Cambria Math" panose="02040503050406030204" pitchFamily="18" charset="0"/>
                      </a:rPr>
                      <m:t>0.1337−0.1332∗</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oMath>
                </a14:m>
                <a:endParaRPr lang="en-US" sz="2000"/>
              </a:p>
            </p:txBody>
          </p:sp>
        </mc:Choice>
        <mc:Fallback xmlns="">
          <p:sp>
            <p:nvSpPr>
              <p:cNvPr id="6" name="Hộp Văn bản 5">
                <a:extLst>
                  <a:ext uri="{FF2B5EF4-FFF2-40B4-BE49-F238E27FC236}">
                    <a16:creationId xmlns:a16="http://schemas.microsoft.com/office/drawing/2014/main" id="{31142F7D-A9BD-2B16-D52E-2FA02A9FC4DB}"/>
                  </a:ext>
                </a:extLst>
              </p:cNvPr>
              <p:cNvSpPr txBox="1">
                <a:spLocks noRot="1" noChangeAspect="1" noMove="1" noResize="1" noEditPoints="1" noAdjustHandles="1" noChangeArrowheads="1" noChangeShapeType="1" noTextEdit="1"/>
              </p:cNvSpPr>
              <p:nvPr/>
            </p:nvSpPr>
            <p:spPr>
              <a:xfrm>
                <a:off x="6542120" y="2098736"/>
                <a:ext cx="5649880" cy="337978"/>
              </a:xfrm>
              <a:prstGeom prst="rect">
                <a:avLst/>
              </a:prstGeom>
              <a:blipFill>
                <a:blip r:embed="rId4"/>
                <a:stretch>
                  <a:fillRect l="-2697" t="-21429" r="-971" b="-37500"/>
                </a:stretch>
              </a:blipFill>
            </p:spPr>
            <p:txBody>
              <a:bodyPr/>
              <a:lstStyle/>
              <a:p>
                <a:r>
                  <a:rPr lang="en-US">
                    <a:noFill/>
                  </a:rPr>
                  <a:t> </a:t>
                </a:r>
              </a:p>
            </p:txBody>
          </p:sp>
        </mc:Fallback>
      </mc:AlternateContent>
      <p:sp>
        <p:nvSpPr>
          <p:cNvPr id="7" name="Hộp Văn bản 6">
            <a:extLst>
              <a:ext uri="{FF2B5EF4-FFF2-40B4-BE49-F238E27FC236}">
                <a16:creationId xmlns:a16="http://schemas.microsoft.com/office/drawing/2014/main" id="{F9C985E7-FE88-5DE7-9410-76CD4E12C3A3}"/>
              </a:ext>
            </a:extLst>
          </p:cNvPr>
          <p:cNvSpPr txBox="1"/>
          <p:nvPr/>
        </p:nvSpPr>
        <p:spPr>
          <a:xfrm>
            <a:off x="310599" y="2762620"/>
            <a:ext cx="1138136" cy="400110"/>
          </a:xfrm>
          <a:prstGeom prst="rect">
            <a:avLst/>
          </a:prstGeom>
          <a:noFill/>
        </p:spPr>
        <p:txBody>
          <a:bodyPr wrap="square" rtlCol="0">
            <a:spAutoFit/>
          </a:bodyPr>
          <a:lstStyle/>
          <a:p>
            <a:r>
              <a:rPr lang="en-US" sz="2000"/>
              <a:t>Đặt: </a:t>
            </a:r>
          </a:p>
        </p:txBody>
      </p: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A6A61271-98F3-C895-EA64-FB5A8814DED4}"/>
                  </a:ext>
                </a:extLst>
              </p:cNvPr>
              <p:cNvSpPr txBox="1"/>
              <p:nvPr/>
            </p:nvSpPr>
            <p:spPr>
              <a:xfrm>
                <a:off x="2051257" y="2871085"/>
                <a:ext cx="2410403" cy="6703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b="0" i="1" smtClean="0">
                              <a:latin typeface="Cambria Math" panose="02040503050406030204" pitchFamily="18" charset="0"/>
                            </a:rPr>
                            <m:t>_</m:t>
                          </m:r>
                          <m:r>
                            <a:rPr lang="en-US" sz="2000" b="0" i="1" smtClean="0">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sub>
                      </m:sSub>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i="1">
                              <a:latin typeface="Cambria Math" panose="02040503050406030204" pitchFamily="18" charset="0"/>
                            </a:rPr>
                            <m:t>_</m:t>
                          </m:r>
                          <m:r>
                            <a:rPr lang="en-US" sz="2000" i="1">
                              <a:latin typeface="Cambria Math" panose="02040503050406030204" pitchFamily="18" charset="0"/>
                            </a:rPr>
                            <m:t>𝑘</m:t>
                          </m:r>
                          <m:r>
                            <a:rPr lang="en-US" sz="2000" b="0" i="1" smtClean="0">
                              <a:latin typeface="Cambria Math" panose="02040503050406030204" pitchFamily="18" charset="0"/>
                            </a:rPr>
                            <m:t>_1</m:t>
                          </m:r>
                        </m:sub>
                      </m:sSub>
                    </m:oMath>
                  </m:oMathPara>
                </a14:m>
                <a:endParaRPr lang="en-US" sz="2000"/>
              </a:p>
            </p:txBody>
          </p:sp>
        </mc:Choice>
        <mc:Fallback xmlns="">
          <p:sp>
            <p:nvSpPr>
              <p:cNvPr id="8" name="Hộp Văn bản 7">
                <a:extLst>
                  <a:ext uri="{FF2B5EF4-FFF2-40B4-BE49-F238E27FC236}">
                    <a16:creationId xmlns:a16="http://schemas.microsoft.com/office/drawing/2014/main" id="{A6A61271-98F3-C895-EA64-FB5A8814DED4}"/>
                  </a:ext>
                </a:extLst>
              </p:cNvPr>
              <p:cNvSpPr txBox="1">
                <a:spLocks noRot="1" noChangeAspect="1" noMove="1" noResize="1" noEditPoints="1" noAdjustHandles="1" noChangeArrowheads="1" noChangeShapeType="1" noTextEdit="1"/>
              </p:cNvSpPr>
              <p:nvPr/>
            </p:nvSpPr>
            <p:spPr>
              <a:xfrm>
                <a:off x="2051257" y="2871085"/>
                <a:ext cx="2410403" cy="670376"/>
              </a:xfrm>
              <a:prstGeom prst="rect">
                <a:avLst/>
              </a:prstGeom>
              <a:blipFill>
                <a:blip r:embed="rId5"/>
                <a:stretch>
                  <a:fillRect l="-2020" r="-253"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Hộp Văn bản 8">
                <a:extLst>
                  <a:ext uri="{FF2B5EF4-FFF2-40B4-BE49-F238E27FC236}">
                    <a16:creationId xmlns:a16="http://schemas.microsoft.com/office/drawing/2014/main" id="{9DBE1DE0-54AA-57C3-174D-A601DF1A368E}"/>
                  </a:ext>
                </a:extLst>
              </p:cNvPr>
              <p:cNvSpPr txBox="1"/>
              <p:nvPr/>
            </p:nvSpPr>
            <p:spPr>
              <a:xfrm>
                <a:off x="6182268" y="2896958"/>
                <a:ext cx="1918602" cy="6415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r>
                            <a:rPr lang="en-US" sz="2000" b="0" i="1" smtClean="0">
                              <a:latin typeface="Cambria Math" panose="02040503050406030204" pitchFamily="18" charset="0"/>
                            </a:rPr>
                            <m:t>_</m:t>
                          </m:r>
                          <m:r>
                            <a:rPr lang="en-US" sz="2000" b="0" i="1" smtClean="0">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sub>
                      </m:sSub>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r>
                            <a:rPr lang="en-US" sz="2000" i="1">
                              <a:latin typeface="Cambria Math" panose="02040503050406030204" pitchFamily="18" charset="0"/>
                            </a:rPr>
                            <m:t>_</m:t>
                          </m:r>
                          <m:r>
                            <a:rPr lang="en-US" sz="2000" i="1">
                              <a:latin typeface="Cambria Math" panose="02040503050406030204" pitchFamily="18" charset="0"/>
                            </a:rPr>
                            <m:t>𝑘</m:t>
                          </m:r>
                          <m:r>
                            <a:rPr lang="en-US" sz="2000" b="0" i="1" smtClean="0">
                              <a:latin typeface="Cambria Math" panose="02040503050406030204" pitchFamily="18" charset="0"/>
                            </a:rPr>
                            <m:t>_1</m:t>
                          </m:r>
                        </m:sub>
                      </m:sSub>
                    </m:oMath>
                  </m:oMathPara>
                </a14:m>
                <a:endParaRPr lang="en-US" sz="2000"/>
              </a:p>
            </p:txBody>
          </p:sp>
        </mc:Choice>
        <mc:Fallback xmlns="">
          <p:sp>
            <p:nvSpPr>
              <p:cNvPr id="9" name="Hộp Văn bản 8">
                <a:extLst>
                  <a:ext uri="{FF2B5EF4-FFF2-40B4-BE49-F238E27FC236}">
                    <a16:creationId xmlns:a16="http://schemas.microsoft.com/office/drawing/2014/main" id="{9DBE1DE0-54AA-57C3-174D-A601DF1A368E}"/>
                  </a:ext>
                </a:extLst>
              </p:cNvPr>
              <p:cNvSpPr txBox="1">
                <a:spLocks noRot="1" noChangeAspect="1" noMove="1" noResize="1" noEditPoints="1" noAdjustHandles="1" noChangeArrowheads="1" noChangeShapeType="1" noTextEdit="1"/>
              </p:cNvSpPr>
              <p:nvPr/>
            </p:nvSpPr>
            <p:spPr>
              <a:xfrm>
                <a:off x="6182268" y="2896958"/>
                <a:ext cx="1918602" cy="641522"/>
              </a:xfrm>
              <a:prstGeom prst="rect">
                <a:avLst/>
              </a:prstGeom>
              <a:blipFill>
                <a:blip r:embed="rId6"/>
                <a:stretch>
                  <a:fillRect l="-2540" r="-317"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6F4040BD-CBAD-1F03-1809-C715D2F5F190}"/>
                  </a:ext>
                </a:extLst>
              </p:cNvPr>
              <p:cNvSpPr txBox="1"/>
              <p:nvPr/>
            </p:nvSpPr>
            <p:spPr>
              <a:xfrm>
                <a:off x="408562" y="3859594"/>
                <a:ext cx="5973365" cy="332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i="1">
                              <a:latin typeface="Cambria Math" panose="02040503050406030204" pitchFamily="18" charset="0"/>
                            </a:rPr>
                            <m:t>_</m:t>
                          </m:r>
                          <m:r>
                            <a:rPr lang="en-US" sz="2000" i="1">
                              <a:latin typeface="Cambria Math" panose="02040503050406030204" pitchFamily="18" charset="0"/>
                            </a:rPr>
                            <m:t>𝑘</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+0.1337∗</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r>
                            <a:rPr lang="en-US" sz="2000" i="1">
                              <a:latin typeface="Cambria Math" panose="02040503050406030204" pitchFamily="18" charset="0"/>
                            </a:rPr>
                            <m:t>_</m:t>
                          </m:r>
                          <m:r>
                            <a:rPr lang="en-US" sz="2000" i="1">
                              <a:latin typeface="Cambria Math" panose="02040503050406030204" pitchFamily="18" charset="0"/>
                            </a:rPr>
                            <m:t>𝑘</m:t>
                          </m:r>
                        </m:sub>
                      </m:sSub>
                      <m:r>
                        <a:rPr lang="en-US" sz="2000" b="0" i="1" smtClean="0">
                          <a:latin typeface="Cambria Math" panose="02040503050406030204" pitchFamily="18" charset="0"/>
                        </a:rPr>
                        <m:t>−0.1332∗</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𝑣</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oMath>
                  </m:oMathPara>
                </a14:m>
                <a:endParaRPr lang="en-US" sz="2000"/>
              </a:p>
            </p:txBody>
          </p:sp>
        </mc:Choice>
        <mc:Fallback xmlns="">
          <p:sp>
            <p:nvSpPr>
              <p:cNvPr id="11" name="Hộp Văn bản 10">
                <a:extLst>
                  <a:ext uri="{FF2B5EF4-FFF2-40B4-BE49-F238E27FC236}">
                    <a16:creationId xmlns:a16="http://schemas.microsoft.com/office/drawing/2014/main" id="{6F4040BD-CBAD-1F03-1809-C715D2F5F190}"/>
                  </a:ext>
                </a:extLst>
              </p:cNvPr>
              <p:cNvSpPr txBox="1">
                <a:spLocks noRot="1" noChangeAspect="1" noMove="1" noResize="1" noEditPoints="1" noAdjustHandles="1" noChangeArrowheads="1" noChangeShapeType="1" noTextEdit="1"/>
              </p:cNvSpPr>
              <p:nvPr/>
            </p:nvSpPr>
            <p:spPr>
              <a:xfrm>
                <a:off x="408562" y="3859594"/>
                <a:ext cx="5973365" cy="332399"/>
              </a:xfrm>
              <a:prstGeom prst="rect">
                <a:avLst/>
              </a:prstGeom>
              <a:blipFill>
                <a:blip r:embed="rId7"/>
                <a:stretch>
                  <a:fillRect l="-306" b="-25455"/>
                </a:stretch>
              </a:blipFill>
            </p:spPr>
            <p:txBody>
              <a:bodyPr/>
              <a:lstStyle/>
              <a:p>
                <a:r>
                  <a:rPr lang="en-US">
                    <a:noFill/>
                  </a:rPr>
                  <a:t> </a:t>
                </a:r>
              </a:p>
            </p:txBody>
          </p:sp>
        </mc:Fallback>
      </mc:AlternateContent>
      <p:sp>
        <p:nvSpPr>
          <p:cNvPr id="12" name="Hộp Văn bản 11">
            <a:extLst>
              <a:ext uri="{FF2B5EF4-FFF2-40B4-BE49-F238E27FC236}">
                <a16:creationId xmlns:a16="http://schemas.microsoft.com/office/drawing/2014/main" id="{58E9BFAC-5800-3356-875B-02CA0461BD81}"/>
              </a:ext>
            </a:extLst>
          </p:cNvPr>
          <p:cNvSpPr txBox="1"/>
          <p:nvPr/>
        </p:nvSpPr>
        <p:spPr>
          <a:xfrm>
            <a:off x="338736" y="4472730"/>
            <a:ext cx="2346098" cy="400110"/>
          </a:xfrm>
          <a:prstGeom prst="rect">
            <a:avLst/>
          </a:prstGeom>
          <a:noFill/>
        </p:spPr>
        <p:txBody>
          <a:bodyPr wrap="square" rtlCol="0">
            <a:spAutoFit/>
          </a:bodyPr>
          <a:lstStyle/>
          <a:p>
            <a:r>
              <a:rPr lang="en-US" sz="2000"/>
              <a:t>Chu kỳ tiếp theo: </a:t>
            </a:r>
          </a:p>
        </p:txBody>
      </p:sp>
      <mc:AlternateContent xmlns:mc="http://schemas.openxmlformats.org/markup-compatibility/2006" xmlns:a14="http://schemas.microsoft.com/office/drawing/2010/main">
        <mc:Choice Requires="a14">
          <p:sp>
            <p:nvSpPr>
              <p:cNvPr id="14" name="Hộp Văn bản 13">
                <a:extLst>
                  <a:ext uri="{FF2B5EF4-FFF2-40B4-BE49-F238E27FC236}">
                    <a16:creationId xmlns:a16="http://schemas.microsoft.com/office/drawing/2014/main" id="{912D49EC-7022-570A-56C3-4F3F0B326DB9}"/>
                  </a:ext>
                </a:extLst>
              </p:cNvPr>
              <p:cNvSpPr txBox="1"/>
              <p:nvPr/>
            </p:nvSpPr>
            <p:spPr>
              <a:xfrm>
                <a:off x="545449" y="4718554"/>
                <a:ext cx="6094378" cy="7427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𝐿𝑟𝑒𝑓</m:t>
                          </m:r>
                          <m:r>
                            <a:rPr lang="en-US" sz="2000" i="1">
                              <a:latin typeface="Cambria Math" panose="02040503050406030204" pitchFamily="18" charset="0"/>
                            </a:rPr>
                            <m:t>_</m:t>
                          </m:r>
                          <m:r>
                            <a:rPr lang="en-US" sz="2000" i="1">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𝑣</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𝑣</m:t>
                          </m:r>
                          <m:r>
                            <a:rPr lang="en-US" sz="2000" i="1">
                              <a:latin typeface="Cambria Math" panose="02040503050406030204" pitchFamily="18" charset="0"/>
                            </a:rPr>
                            <m:t>_</m:t>
                          </m:r>
                          <m:r>
                            <a:rPr lang="en-US" sz="2000" i="1">
                              <a:latin typeface="Cambria Math" panose="02040503050406030204" pitchFamily="18" charset="0"/>
                            </a:rPr>
                            <m:t>𝑘</m:t>
                          </m:r>
                        </m:sub>
                      </m:sSub>
                    </m:oMath>
                  </m:oMathPara>
                </a14:m>
                <a:endParaRPr lang="en-US" sz="2000"/>
              </a:p>
            </p:txBody>
          </p:sp>
        </mc:Choice>
        <mc:Fallback xmlns="">
          <p:sp>
            <p:nvSpPr>
              <p:cNvPr id="14" name="Hộp Văn bản 13">
                <a:extLst>
                  <a:ext uri="{FF2B5EF4-FFF2-40B4-BE49-F238E27FC236}">
                    <a16:creationId xmlns:a16="http://schemas.microsoft.com/office/drawing/2014/main" id="{912D49EC-7022-570A-56C3-4F3F0B326DB9}"/>
                  </a:ext>
                </a:extLst>
              </p:cNvPr>
              <p:cNvSpPr txBox="1">
                <a:spLocks noRot="1" noChangeAspect="1" noMove="1" noResize="1" noEditPoints="1" noAdjustHandles="1" noChangeArrowheads="1" noChangeShapeType="1" noTextEdit="1"/>
              </p:cNvSpPr>
              <p:nvPr/>
            </p:nvSpPr>
            <p:spPr>
              <a:xfrm>
                <a:off x="545449" y="4718554"/>
                <a:ext cx="6094378" cy="742704"/>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777680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925BF-0138-6746-826A-D38F85EC8DDE}"/>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A1360B20-5A1B-3CB4-956F-F69B734F881B}"/>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50</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5BB14D99-12EF-AD49-6146-93DD1BDB150C}"/>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D00A43BE-50D9-8F13-73A8-30795E4514C9}"/>
              </a:ext>
            </a:extLst>
          </p:cNvPr>
          <p:cNvSpPr txBox="1"/>
          <p:nvPr/>
        </p:nvSpPr>
        <p:spPr>
          <a:xfrm>
            <a:off x="145915" y="933855"/>
            <a:ext cx="2801566" cy="400110"/>
          </a:xfrm>
          <a:prstGeom prst="rect">
            <a:avLst/>
          </a:prstGeom>
          <a:noFill/>
        </p:spPr>
        <p:txBody>
          <a:bodyPr wrap="square" rtlCol="0">
            <a:spAutoFit/>
          </a:bodyPr>
          <a:lstStyle/>
          <a:p>
            <a:r>
              <a:rPr lang="en-US" sz="2000"/>
              <a:t>b) Sai phân hóa</a:t>
            </a:r>
          </a:p>
        </p:txBody>
      </p:sp>
      <mc:AlternateContent xmlns:mc="http://schemas.openxmlformats.org/markup-compatibility/2006" xmlns:a14="http://schemas.microsoft.com/office/drawing/2010/main">
        <mc:Choice Requires="a14">
          <p:sp>
            <p:nvSpPr>
              <p:cNvPr id="3" name="Hộp Văn bản 2">
                <a:extLst>
                  <a:ext uri="{FF2B5EF4-FFF2-40B4-BE49-F238E27FC236}">
                    <a16:creationId xmlns:a16="http://schemas.microsoft.com/office/drawing/2014/main" id="{3392FE2B-8589-787F-5308-FA233A6C6254}"/>
                  </a:ext>
                </a:extLst>
              </p:cNvPr>
              <p:cNvSpPr txBox="1"/>
              <p:nvPr/>
            </p:nvSpPr>
            <p:spPr>
              <a:xfrm>
                <a:off x="132023" y="1830441"/>
                <a:ext cx="6507804" cy="7638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US" sz="2000" i="1" smtClean="0">
                              <a:latin typeface="Cambria Math" panose="02040503050406030204" pitchFamily="18" charset="0"/>
                            </a:rPr>
                            <m:t>𝑈</m:t>
                          </m:r>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rPr>
                            <m:t>)</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𝑧</m:t>
                          </m:r>
                          <m:r>
                            <a:rPr lang="en-US" sz="2000" i="1">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0.2715∗</m:t>
                          </m:r>
                          <m:r>
                            <a:rPr lang="en-US" sz="2000" b="0" i="1" smtClean="0">
                              <a:latin typeface="Cambria Math" panose="02040503050406030204" pitchFamily="18" charset="0"/>
                            </a:rPr>
                            <m:t>𝑧</m:t>
                          </m:r>
                          <m:r>
                            <a:rPr lang="en-US" sz="2000" b="0" i="1" smtClean="0">
                              <a:latin typeface="Cambria Math" panose="02040503050406030204" pitchFamily="18" charset="0"/>
                            </a:rPr>
                            <m:t>−0.1728</m:t>
                          </m:r>
                        </m:num>
                        <m:den>
                          <m:r>
                            <a:rPr lang="en-US" sz="2000" b="0" i="1" smtClean="0">
                              <a:latin typeface="Cambria Math" panose="02040503050406030204" pitchFamily="18" charset="0"/>
                            </a:rPr>
                            <m:t>𝑧</m:t>
                          </m:r>
                          <m:r>
                            <a:rPr lang="en-US" sz="2000" b="0" i="1" smtClean="0">
                              <a:latin typeface="Cambria Math" panose="02040503050406030204" pitchFamily="18" charset="0"/>
                            </a:rPr>
                            <m:t>−1</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0.2715−0.1728∗</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−1</m:t>
                              </m:r>
                            </m:sup>
                          </m:sSup>
                        </m:num>
                        <m:den>
                          <m:r>
                            <a:rPr lang="en-US" sz="2000" b="0" i="1" smtClean="0">
                              <a:latin typeface="Cambria Math" panose="02040503050406030204" pitchFamily="18" charset="0"/>
                            </a:rPr>
                            <m:t>1</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den>
                      </m:f>
                    </m:oMath>
                  </m:oMathPara>
                </a14:m>
                <a:endParaRPr lang="en-US" sz="2000"/>
              </a:p>
            </p:txBody>
          </p:sp>
        </mc:Choice>
        <mc:Fallback xmlns="">
          <p:sp>
            <p:nvSpPr>
              <p:cNvPr id="3" name="Hộp Văn bản 2">
                <a:extLst>
                  <a:ext uri="{FF2B5EF4-FFF2-40B4-BE49-F238E27FC236}">
                    <a16:creationId xmlns:a16="http://schemas.microsoft.com/office/drawing/2014/main" id="{3392FE2B-8589-787F-5308-FA233A6C6254}"/>
                  </a:ext>
                </a:extLst>
              </p:cNvPr>
              <p:cNvSpPr txBox="1">
                <a:spLocks noRot="1" noChangeAspect="1" noMove="1" noResize="1" noEditPoints="1" noAdjustHandles="1" noChangeArrowheads="1" noChangeShapeType="1" noTextEdit="1"/>
              </p:cNvSpPr>
              <p:nvPr/>
            </p:nvSpPr>
            <p:spPr>
              <a:xfrm>
                <a:off x="132023" y="1830441"/>
                <a:ext cx="6507804" cy="76386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F82C17C9-BC10-F67B-63B9-D1A8A06115E6}"/>
                  </a:ext>
                </a:extLst>
              </p:cNvPr>
              <p:cNvSpPr txBox="1"/>
              <p:nvPr/>
            </p:nvSpPr>
            <p:spPr>
              <a:xfrm>
                <a:off x="145915" y="1275413"/>
                <a:ext cx="2801566" cy="410305"/>
              </a:xfrm>
              <a:prstGeom prst="rect">
                <a:avLst/>
              </a:prstGeom>
              <a:noFill/>
            </p:spPr>
            <p:txBody>
              <a:bodyPr wrap="square" rtlCol="0">
                <a:spAutoFit/>
              </a:bodyPr>
              <a:lstStyle/>
              <a:p>
                <a:r>
                  <a:rPr lang="en-US" sz="200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𝑃𝐼</m:t>
                        </m:r>
                        <m:r>
                          <a:rPr lang="en-US" sz="2000" b="0" i="1" smtClean="0">
                            <a:latin typeface="Cambria Math" panose="02040503050406030204" pitchFamily="18" charset="0"/>
                          </a:rPr>
                          <m:t>_</m:t>
                        </m:r>
                        <m:r>
                          <a:rPr lang="en-US" sz="2000" b="0" i="1" smtClean="0">
                            <a:latin typeface="Cambria Math" panose="02040503050406030204" pitchFamily="18" charset="0"/>
                          </a:rPr>
                          <m:t>𝑖</m:t>
                        </m:r>
                        <m:r>
                          <a:rPr lang="en-US" sz="2000" b="0" i="1" smtClean="0">
                            <a:latin typeface="Cambria Math" panose="02040503050406030204" pitchFamily="18" charset="0"/>
                          </a:rPr>
                          <m:t>_</m:t>
                        </m:r>
                        <m:r>
                          <a:rPr lang="en-US" sz="2000" b="0" i="1" smtClean="0">
                            <a:latin typeface="Cambria Math" panose="02040503050406030204" pitchFamily="18" charset="0"/>
                          </a:rPr>
                          <m:t>𝑑</m:t>
                        </m:r>
                      </m:sub>
                    </m:sSub>
                  </m:oMath>
                </a14:m>
                <a:r>
                  <a:rPr lang="en-US" sz="2000"/>
                  <a:t>:</a:t>
                </a:r>
              </a:p>
            </p:txBody>
          </p:sp>
        </mc:Choice>
        <mc:Fallback xmlns="">
          <p:sp>
            <p:nvSpPr>
              <p:cNvPr id="4" name="Hộp Văn bản 3">
                <a:extLst>
                  <a:ext uri="{FF2B5EF4-FFF2-40B4-BE49-F238E27FC236}">
                    <a16:creationId xmlns:a16="http://schemas.microsoft.com/office/drawing/2014/main" id="{F82C17C9-BC10-F67B-63B9-D1A8A06115E6}"/>
                  </a:ext>
                </a:extLst>
              </p:cNvPr>
              <p:cNvSpPr txBox="1">
                <a:spLocks noRot="1" noChangeAspect="1" noMove="1" noResize="1" noEditPoints="1" noAdjustHandles="1" noChangeArrowheads="1" noChangeShapeType="1" noTextEdit="1"/>
              </p:cNvSpPr>
              <p:nvPr/>
            </p:nvSpPr>
            <p:spPr>
              <a:xfrm>
                <a:off x="145915" y="1275413"/>
                <a:ext cx="2801566" cy="410305"/>
              </a:xfrm>
              <a:prstGeom prst="rect">
                <a:avLst/>
              </a:prstGeom>
              <a:blipFill>
                <a:blip r:embed="rId3"/>
                <a:stretch>
                  <a:fillRect l="-2391" t="-5882"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EE9DEE03-0E7C-F225-17C0-DB26D8717AE9}"/>
                  </a:ext>
                </a:extLst>
              </p:cNvPr>
              <p:cNvSpPr txBox="1"/>
              <p:nvPr/>
            </p:nvSpPr>
            <p:spPr>
              <a:xfrm>
                <a:off x="6542120" y="2098736"/>
                <a:ext cx="5279202" cy="307777"/>
              </a:xfrm>
              <a:prstGeom prst="rect">
                <a:avLst/>
              </a:prstGeom>
              <a:noFill/>
            </p:spPr>
            <p:txBody>
              <a:bodyPr wrap="none" lIns="0" tIns="0" rIns="0" bIns="0" rtlCol="0">
                <a:spAutoFit/>
              </a:bodyPr>
              <a:lstStyle/>
              <a:p>
                <a:r>
                  <a:rPr lang="en-US" sz="2000"/>
                  <a:t>=&gt; </a:t>
                </a:r>
                <a14:m>
                  <m:oMath xmlns:m="http://schemas.openxmlformats.org/officeDocument/2006/math">
                    <m:r>
                      <a:rPr lang="en-US" sz="2000" i="1" smtClean="0">
                        <a:latin typeface="Cambria Math" panose="02040503050406030204" pitchFamily="18" charset="0"/>
                      </a:rPr>
                      <m:t>𝑈</m:t>
                    </m:r>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e>
                    </m:d>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r>
                      <a:rPr lang="en-US" sz="2000" i="1">
                        <a:latin typeface="Cambria Math" panose="02040503050406030204" pitchFamily="18" charset="0"/>
                      </a:rPr>
                      <m:t>0.</m:t>
                    </m:r>
                    <m:r>
                      <a:rPr lang="en-US" sz="2000" b="0" i="1" smtClean="0">
                        <a:latin typeface="Cambria Math" panose="02040503050406030204" pitchFamily="18" charset="0"/>
                      </a:rPr>
                      <m:t>2715</m:t>
                    </m:r>
                    <m:r>
                      <a:rPr lang="en-US" sz="2000" i="1">
                        <a:latin typeface="Cambria Math" panose="02040503050406030204" pitchFamily="18" charset="0"/>
                      </a:rPr>
                      <m:t>−0.1827∗</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oMath>
                </a14:m>
                <a:endParaRPr lang="en-US" sz="2000"/>
              </a:p>
            </p:txBody>
          </p:sp>
        </mc:Choice>
        <mc:Fallback xmlns="">
          <p:sp>
            <p:nvSpPr>
              <p:cNvPr id="6" name="Hộp Văn bản 5">
                <a:extLst>
                  <a:ext uri="{FF2B5EF4-FFF2-40B4-BE49-F238E27FC236}">
                    <a16:creationId xmlns:a16="http://schemas.microsoft.com/office/drawing/2014/main" id="{EE9DEE03-0E7C-F225-17C0-DB26D8717AE9}"/>
                  </a:ext>
                </a:extLst>
              </p:cNvPr>
              <p:cNvSpPr txBox="1">
                <a:spLocks noRot="1" noChangeAspect="1" noMove="1" noResize="1" noEditPoints="1" noAdjustHandles="1" noChangeArrowheads="1" noChangeShapeType="1" noTextEdit="1"/>
              </p:cNvSpPr>
              <p:nvPr/>
            </p:nvSpPr>
            <p:spPr>
              <a:xfrm>
                <a:off x="6542120" y="2098736"/>
                <a:ext cx="5279202" cy="307777"/>
              </a:xfrm>
              <a:prstGeom prst="rect">
                <a:avLst/>
              </a:prstGeom>
              <a:blipFill>
                <a:blip r:embed="rId4"/>
                <a:stretch>
                  <a:fillRect l="-2887" t="-25490" r="-1155" b="-49020"/>
                </a:stretch>
              </a:blipFill>
            </p:spPr>
            <p:txBody>
              <a:bodyPr/>
              <a:lstStyle/>
              <a:p>
                <a:r>
                  <a:rPr lang="en-US">
                    <a:noFill/>
                  </a:rPr>
                  <a:t> </a:t>
                </a:r>
              </a:p>
            </p:txBody>
          </p:sp>
        </mc:Fallback>
      </mc:AlternateContent>
      <p:sp>
        <p:nvSpPr>
          <p:cNvPr id="7" name="Hộp Văn bản 6">
            <a:extLst>
              <a:ext uri="{FF2B5EF4-FFF2-40B4-BE49-F238E27FC236}">
                <a16:creationId xmlns:a16="http://schemas.microsoft.com/office/drawing/2014/main" id="{E32A5F62-FB87-3F8D-C6F6-D4C09DEFDEAD}"/>
              </a:ext>
            </a:extLst>
          </p:cNvPr>
          <p:cNvSpPr txBox="1"/>
          <p:nvPr/>
        </p:nvSpPr>
        <p:spPr>
          <a:xfrm>
            <a:off x="310599" y="2762620"/>
            <a:ext cx="1138136" cy="400110"/>
          </a:xfrm>
          <a:prstGeom prst="rect">
            <a:avLst/>
          </a:prstGeom>
          <a:noFill/>
        </p:spPr>
        <p:txBody>
          <a:bodyPr wrap="square" rtlCol="0">
            <a:spAutoFit/>
          </a:bodyPr>
          <a:lstStyle/>
          <a:p>
            <a:r>
              <a:rPr lang="en-US" sz="2000"/>
              <a:t>Đặt: </a:t>
            </a:r>
          </a:p>
        </p:txBody>
      </p: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2F84514E-2B2A-2F1F-DA81-22A2FCE809CF}"/>
                  </a:ext>
                </a:extLst>
              </p:cNvPr>
              <p:cNvSpPr txBox="1"/>
              <p:nvPr/>
            </p:nvSpPr>
            <p:spPr>
              <a:xfrm>
                <a:off x="2051257" y="2871085"/>
                <a:ext cx="1735860" cy="6415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𝑈</m:t>
                      </m:r>
                      <m:r>
                        <a:rPr lang="en-US" sz="2000" b="0" i="1" smtClean="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en-US" sz="2000" b="0" i="1" smtClean="0">
                              <a:latin typeface="Cambria Math" panose="02040503050406030204" pitchFamily="18" charset="0"/>
                            </a:rPr>
                            <m:t>_</m:t>
                          </m:r>
                          <m:r>
                            <a:rPr lang="en-US" sz="2000" b="0" i="1" smtClean="0">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𝑈</m:t>
                      </m:r>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𝑈</m:t>
                          </m:r>
                        </m:e>
                        <m:sub>
                          <m:r>
                            <a:rPr lang="en-US" sz="2000" i="1">
                              <a:latin typeface="Cambria Math" panose="02040503050406030204" pitchFamily="18" charset="0"/>
                            </a:rPr>
                            <m:t>_</m:t>
                          </m:r>
                          <m:r>
                            <a:rPr lang="en-US" sz="2000" i="1">
                              <a:latin typeface="Cambria Math" panose="02040503050406030204" pitchFamily="18" charset="0"/>
                            </a:rPr>
                            <m:t>𝑘</m:t>
                          </m:r>
                          <m:r>
                            <a:rPr lang="en-US" sz="2000" b="0" i="1" smtClean="0">
                              <a:latin typeface="Cambria Math" panose="02040503050406030204" pitchFamily="18" charset="0"/>
                            </a:rPr>
                            <m:t>_1</m:t>
                          </m:r>
                        </m:sub>
                      </m:sSub>
                    </m:oMath>
                  </m:oMathPara>
                </a14:m>
                <a:endParaRPr lang="en-US" sz="2000"/>
              </a:p>
            </p:txBody>
          </p:sp>
        </mc:Choice>
        <mc:Fallback xmlns="">
          <p:sp>
            <p:nvSpPr>
              <p:cNvPr id="8" name="Hộp Văn bản 7">
                <a:extLst>
                  <a:ext uri="{FF2B5EF4-FFF2-40B4-BE49-F238E27FC236}">
                    <a16:creationId xmlns:a16="http://schemas.microsoft.com/office/drawing/2014/main" id="{2F84514E-2B2A-2F1F-DA81-22A2FCE809CF}"/>
                  </a:ext>
                </a:extLst>
              </p:cNvPr>
              <p:cNvSpPr txBox="1">
                <a:spLocks noRot="1" noChangeAspect="1" noMove="1" noResize="1" noEditPoints="1" noAdjustHandles="1" noChangeArrowheads="1" noChangeShapeType="1" noTextEdit="1"/>
              </p:cNvSpPr>
              <p:nvPr/>
            </p:nvSpPr>
            <p:spPr>
              <a:xfrm>
                <a:off x="2051257" y="2871085"/>
                <a:ext cx="1735860" cy="641522"/>
              </a:xfrm>
              <a:prstGeom prst="rect">
                <a:avLst/>
              </a:prstGeom>
              <a:blipFill>
                <a:blip r:embed="rId5"/>
                <a:stretch>
                  <a:fillRect l="-2807" r="-702"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Hộp Văn bản 8">
                <a:extLst>
                  <a:ext uri="{FF2B5EF4-FFF2-40B4-BE49-F238E27FC236}">
                    <a16:creationId xmlns:a16="http://schemas.microsoft.com/office/drawing/2014/main" id="{CB874596-6947-B984-2574-C4C679FD637D}"/>
                  </a:ext>
                </a:extLst>
              </p:cNvPr>
              <p:cNvSpPr txBox="1"/>
              <p:nvPr/>
            </p:nvSpPr>
            <p:spPr>
              <a:xfrm>
                <a:off x="6182268" y="2896958"/>
                <a:ext cx="1880195" cy="6415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r>
                            <a:rPr lang="en-US" sz="2000" b="0" i="1" smtClean="0">
                              <a:latin typeface="Cambria Math" panose="02040503050406030204" pitchFamily="18" charset="0"/>
                            </a:rPr>
                            <m:t>_</m:t>
                          </m:r>
                          <m:r>
                            <a:rPr lang="en-US" sz="2000" b="0" i="1" smtClean="0">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−1</m:t>
                          </m:r>
                        </m:sup>
                      </m:sSup>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r>
                            <a:rPr lang="en-US" sz="2000" i="1">
                              <a:latin typeface="Cambria Math" panose="02040503050406030204" pitchFamily="18" charset="0"/>
                            </a:rPr>
                            <m:t>_</m:t>
                          </m:r>
                          <m:r>
                            <a:rPr lang="en-US" sz="2000" i="1">
                              <a:latin typeface="Cambria Math" panose="02040503050406030204" pitchFamily="18" charset="0"/>
                            </a:rPr>
                            <m:t>𝑘</m:t>
                          </m:r>
                          <m:r>
                            <a:rPr lang="en-US" sz="2000" b="0" i="1" smtClean="0">
                              <a:latin typeface="Cambria Math" panose="02040503050406030204" pitchFamily="18" charset="0"/>
                            </a:rPr>
                            <m:t>_1</m:t>
                          </m:r>
                        </m:sub>
                      </m:sSub>
                    </m:oMath>
                  </m:oMathPara>
                </a14:m>
                <a:endParaRPr lang="en-US" sz="2000"/>
              </a:p>
            </p:txBody>
          </p:sp>
        </mc:Choice>
        <mc:Fallback xmlns="">
          <p:sp>
            <p:nvSpPr>
              <p:cNvPr id="9" name="Hộp Văn bản 8">
                <a:extLst>
                  <a:ext uri="{FF2B5EF4-FFF2-40B4-BE49-F238E27FC236}">
                    <a16:creationId xmlns:a16="http://schemas.microsoft.com/office/drawing/2014/main" id="{CB874596-6947-B984-2574-C4C679FD637D}"/>
                  </a:ext>
                </a:extLst>
              </p:cNvPr>
              <p:cNvSpPr txBox="1">
                <a:spLocks noRot="1" noChangeAspect="1" noMove="1" noResize="1" noEditPoints="1" noAdjustHandles="1" noChangeArrowheads="1" noChangeShapeType="1" noTextEdit="1"/>
              </p:cNvSpPr>
              <p:nvPr/>
            </p:nvSpPr>
            <p:spPr>
              <a:xfrm>
                <a:off x="6182268" y="2896958"/>
                <a:ext cx="1880195" cy="641522"/>
              </a:xfrm>
              <a:prstGeom prst="rect">
                <a:avLst/>
              </a:prstGeom>
              <a:blipFill>
                <a:blip r:embed="rId6"/>
                <a:stretch>
                  <a:fillRect l="-1618"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E4137DD2-0604-A944-FC1B-9D9EF5717D9F}"/>
                  </a:ext>
                </a:extLst>
              </p:cNvPr>
              <p:cNvSpPr txBox="1"/>
              <p:nvPr/>
            </p:nvSpPr>
            <p:spPr>
              <a:xfrm>
                <a:off x="408562" y="3859594"/>
                <a:ext cx="5212004" cy="3179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en-US" sz="2000" i="1">
                              <a:latin typeface="Cambria Math" panose="02040503050406030204" pitchFamily="18" charset="0"/>
                            </a:rPr>
                            <m:t>_</m:t>
                          </m:r>
                          <m:r>
                            <a:rPr lang="en-US" sz="2000" i="1">
                              <a:latin typeface="Cambria Math" panose="02040503050406030204" pitchFamily="18" charset="0"/>
                            </a:rPr>
                            <m:t>𝑘</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𝑈</m:t>
                          </m:r>
                        </m:e>
                        <m:sub>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+0.2715∗</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r>
                            <a:rPr lang="en-US" sz="2000" i="1">
                              <a:latin typeface="Cambria Math" panose="02040503050406030204" pitchFamily="18" charset="0"/>
                            </a:rPr>
                            <m:t>_</m:t>
                          </m:r>
                          <m:r>
                            <a:rPr lang="en-US" sz="2000" i="1">
                              <a:latin typeface="Cambria Math" panose="02040503050406030204" pitchFamily="18" charset="0"/>
                            </a:rPr>
                            <m:t>𝑘</m:t>
                          </m:r>
                        </m:sub>
                      </m:sSub>
                      <m:r>
                        <a:rPr lang="en-US" sz="2000" b="0" i="1" smtClean="0">
                          <a:latin typeface="Cambria Math" panose="02040503050406030204" pitchFamily="18" charset="0"/>
                        </a:rPr>
                        <m:t>−0.1827∗</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b="0" i="1" smtClean="0">
                              <a:latin typeface="Cambria Math" panose="02040503050406030204" pitchFamily="18" charset="0"/>
                            </a:rPr>
                            <m:t>𝑖</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oMath>
                  </m:oMathPara>
                </a14:m>
                <a:endParaRPr lang="en-US" sz="2000"/>
              </a:p>
            </p:txBody>
          </p:sp>
        </mc:Choice>
        <mc:Fallback xmlns="">
          <p:sp>
            <p:nvSpPr>
              <p:cNvPr id="11" name="Hộp Văn bản 10">
                <a:extLst>
                  <a:ext uri="{FF2B5EF4-FFF2-40B4-BE49-F238E27FC236}">
                    <a16:creationId xmlns:a16="http://schemas.microsoft.com/office/drawing/2014/main" id="{E4137DD2-0604-A944-FC1B-9D9EF5717D9F}"/>
                  </a:ext>
                </a:extLst>
              </p:cNvPr>
              <p:cNvSpPr txBox="1">
                <a:spLocks noRot="1" noChangeAspect="1" noMove="1" noResize="1" noEditPoints="1" noAdjustHandles="1" noChangeArrowheads="1" noChangeShapeType="1" noTextEdit="1"/>
              </p:cNvSpPr>
              <p:nvPr/>
            </p:nvSpPr>
            <p:spPr>
              <a:xfrm>
                <a:off x="408562" y="3859594"/>
                <a:ext cx="5212004" cy="317972"/>
              </a:xfrm>
              <a:prstGeom prst="rect">
                <a:avLst/>
              </a:prstGeom>
              <a:blipFill>
                <a:blip r:embed="rId7"/>
                <a:stretch>
                  <a:fillRect l="-468" b="-15385"/>
                </a:stretch>
              </a:blipFill>
            </p:spPr>
            <p:txBody>
              <a:bodyPr/>
              <a:lstStyle/>
              <a:p>
                <a:r>
                  <a:rPr lang="en-US">
                    <a:noFill/>
                  </a:rPr>
                  <a:t> </a:t>
                </a:r>
              </a:p>
            </p:txBody>
          </p:sp>
        </mc:Fallback>
      </mc:AlternateContent>
      <p:sp>
        <p:nvSpPr>
          <p:cNvPr id="12" name="Hộp Văn bản 11">
            <a:extLst>
              <a:ext uri="{FF2B5EF4-FFF2-40B4-BE49-F238E27FC236}">
                <a16:creationId xmlns:a16="http://schemas.microsoft.com/office/drawing/2014/main" id="{BF441DBA-320E-3720-B088-1FEC7AA16705}"/>
              </a:ext>
            </a:extLst>
          </p:cNvPr>
          <p:cNvSpPr txBox="1"/>
          <p:nvPr/>
        </p:nvSpPr>
        <p:spPr>
          <a:xfrm>
            <a:off x="338736" y="4472730"/>
            <a:ext cx="2346098" cy="400110"/>
          </a:xfrm>
          <a:prstGeom prst="rect">
            <a:avLst/>
          </a:prstGeom>
          <a:noFill/>
        </p:spPr>
        <p:txBody>
          <a:bodyPr wrap="square" rtlCol="0">
            <a:spAutoFit/>
          </a:bodyPr>
          <a:lstStyle/>
          <a:p>
            <a:r>
              <a:rPr lang="en-US" sz="2000"/>
              <a:t>Chu kỳ tiếp theo: </a:t>
            </a:r>
          </a:p>
        </p:txBody>
      </p:sp>
      <mc:AlternateContent xmlns:mc="http://schemas.openxmlformats.org/markup-compatibility/2006" xmlns:a14="http://schemas.microsoft.com/office/drawing/2010/main">
        <mc:Choice Requires="a14">
          <p:sp>
            <p:nvSpPr>
              <p:cNvPr id="14" name="Hộp Văn bản 13">
                <a:extLst>
                  <a:ext uri="{FF2B5EF4-FFF2-40B4-BE49-F238E27FC236}">
                    <a16:creationId xmlns:a16="http://schemas.microsoft.com/office/drawing/2014/main" id="{68A7F691-386B-D39E-E460-B60CFBBA3865}"/>
                  </a:ext>
                </a:extLst>
              </p:cNvPr>
              <p:cNvSpPr txBox="1"/>
              <p:nvPr/>
            </p:nvSpPr>
            <p:spPr>
              <a:xfrm>
                <a:off x="545449" y="4718554"/>
                <a:ext cx="6094378" cy="7427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𝑈</m:t>
                          </m:r>
                        </m:e>
                        <m:sub>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m:t>
                      </m:r>
                      <m:sSub>
                        <m:sSubPr>
                          <m:ctrlPr>
                            <a:rPr lang="vi-VN" sz="2000" i="1">
                              <a:latin typeface="Cambria Math" panose="02040503050406030204" pitchFamily="18" charset="0"/>
                            </a:rPr>
                          </m:ctrlPr>
                        </m:sSubPr>
                        <m:e>
                          <m:r>
                            <a:rPr lang="vi-VN" sz="2000" i="1">
                              <a:latin typeface="Cambria Math" panose="02040503050406030204" pitchFamily="18" charset="0"/>
                            </a:rPr>
                            <m:t>𝑈</m:t>
                          </m:r>
                        </m:e>
                        <m:sub>
                          <m:r>
                            <a:rPr lang="en-US" sz="2000" i="1">
                              <a:latin typeface="Cambria Math" panose="02040503050406030204" pitchFamily="18" charset="0"/>
                            </a:rPr>
                            <m:t>_</m:t>
                          </m:r>
                          <m:r>
                            <a:rPr lang="en-US" sz="2000" i="1">
                              <a:latin typeface="Cambria Math" panose="02040503050406030204" pitchFamily="18" charset="0"/>
                            </a:rPr>
                            <m:t>𝑘</m:t>
                          </m:r>
                        </m:sub>
                      </m:sSub>
                    </m:oMath>
                  </m:oMathPara>
                </a14:m>
                <a:endParaRPr lang="en-US" sz="2000"/>
              </a:p>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r>
                            <a:rPr lang="en-US" sz="2000" i="1">
                              <a:latin typeface="Cambria Math" panose="02040503050406030204" pitchFamily="18" charset="0"/>
                            </a:rPr>
                            <m:t>_</m:t>
                          </m:r>
                          <m:r>
                            <a:rPr lang="en-US" sz="2000" i="1">
                              <a:latin typeface="Cambria Math" panose="02040503050406030204" pitchFamily="18" charset="0"/>
                            </a:rPr>
                            <m:t>𝑘</m:t>
                          </m:r>
                          <m:r>
                            <a:rPr lang="en-US" sz="2000" i="1">
                              <a:latin typeface="Cambria Math" panose="02040503050406030204" pitchFamily="18" charset="0"/>
                            </a:rPr>
                            <m:t>_1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𝐸</m:t>
                          </m:r>
                        </m:e>
                        <m:sub>
                          <m:r>
                            <a:rPr lang="en-US" sz="2000" i="1">
                              <a:latin typeface="Cambria Math" panose="02040503050406030204" pitchFamily="18" charset="0"/>
                            </a:rPr>
                            <m:t>𝑖</m:t>
                          </m:r>
                          <m:r>
                            <a:rPr lang="en-US" sz="2000" i="1">
                              <a:latin typeface="Cambria Math" panose="02040503050406030204" pitchFamily="18" charset="0"/>
                            </a:rPr>
                            <m:t>_</m:t>
                          </m:r>
                          <m:r>
                            <a:rPr lang="en-US" sz="2000" i="1">
                              <a:latin typeface="Cambria Math" panose="02040503050406030204" pitchFamily="18" charset="0"/>
                            </a:rPr>
                            <m:t>𝑘</m:t>
                          </m:r>
                        </m:sub>
                      </m:sSub>
                    </m:oMath>
                  </m:oMathPara>
                </a14:m>
                <a:endParaRPr lang="en-US" sz="2000"/>
              </a:p>
            </p:txBody>
          </p:sp>
        </mc:Choice>
        <mc:Fallback xmlns="">
          <p:sp>
            <p:nvSpPr>
              <p:cNvPr id="14" name="Hộp Văn bản 13">
                <a:extLst>
                  <a:ext uri="{FF2B5EF4-FFF2-40B4-BE49-F238E27FC236}">
                    <a16:creationId xmlns:a16="http://schemas.microsoft.com/office/drawing/2014/main" id="{68A7F691-386B-D39E-E460-B60CFBBA3865}"/>
                  </a:ext>
                </a:extLst>
              </p:cNvPr>
              <p:cNvSpPr txBox="1">
                <a:spLocks noRot="1" noChangeAspect="1" noMove="1" noResize="1" noEditPoints="1" noAdjustHandles="1" noChangeArrowheads="1" noChangeShapeType="1" noTextEdit="1"/>
              </p:cNvSpPr>
              <p:nvPr/>
            </p:nvSpPr>
            <p:spPr>
              <a:xfrm>
                <a:off x="545449" y="4718554"/>
                <a:ext cx="6094378" cy="742704"/>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22176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30EDB-B1B7-B5A2-0C4B-42A2BD2BD04C}"/>
            </a:ext>
          </a:extLst>
        </p:cNvPr>
        <p:cNvGrpSpPr/>
        <p:nvPr/>
      </p:nvGrpSpPr>
      <p:grpSpPr>
        <a:xfrm>
          <a:off x="0" y="0"/>
          <a:ext cx="0" cy="0"/>
          <a:chOff x="0" y="0"/>
          <a:chExt cx="0" cy="0"/>
        </a:xfrm>
      </p:grpSpPr>
      <p:grpSp>
        <p:nvGrpSpPr>
          <p:cNvPr id="28" name="Nhóm 27">
            <a:extLst>
              <a:ext uri="{FF2B5EF4-FFF2-40B4-BE49-F238E27FC236}">
                <a16:creationId xmlns:a16="http://schemas.microsoft.com/office/drawing/2014/main" id="{BA9E2350-B2F6-11D8-69B9-1E7E60DEA238}"/>
              </a:ext>
            </a:extLst>
          </p:cNvPr>
          <p:cNvGrpSpPr/>
          <p:nvPr/>
        </p:nvGrpSpPr>
        <p:grpSpPr>
          <a:xfrm>
            <a:off x="807332" y="1160477"/>
            <a:ext cx="11384668" cy="2558569"/>
            <a:chOff x="1570687" y="1834936"/>
            <a:chExt cx="11384668" cy="2558569"/>
          </a:xfrm>
        </p:grpSpPr>
        <p:grpSp>
          <p:nvGrpSpPr>
            <p:cNvPr id="24" name="Nhóm 23">
              <a:extLst>
                <a:ext uri="{FF2B5EF4-FFF2-40B4-BE49-F238E27FC236}">
                  <a16:creationId xmlns:a16="http://schemas.microsoft.com/office/drawing/2014/main" id="{0BE8169F-36FD-3BF3-BF64-5C12FD2C51CA}"/>
                </a:ext>
              </a:extLst>
            </p:cNvPr>
            <p:cNvGrpSpPr/>
            <p:nvPr/>
          </p:nvGrpSpPr>
          <p:grpSpPr>
            <a:xfrm>
              <a:off x="2884086" y="1834936"/>
              <a:ext cx="7891563" cy="2146799"/>
              <a:chOff x="2911002" y="1515026"/>
              <a:chExt cx="7891563" cy="2146799"/>
            </a:xfrm>
          </p:grpSpPr>
          <p:pic>
            <p:nvPicPr>
              <p:cNvPr id="7" name="Hình ảnh 6" descr="Ảnh có chứa văn bản, ảnh chụp màn hình, phần mềm, hàng&#10;&#10;Nội dung do AI tạo ra có thể không chính xác.">
                <a:extLst>
                  <a:ext uri="{FF2B5EF4-FFF2-40B4-BE49-F238E27FC236}">
                    <a16:creationId xmlns:a16="http://schemas.microsoft.com/office/drawing/2014/main" id="{1407B03A-233F-A749-6D6F-091FFB04FDF4}"/>
                  </a:ext>
                </a:extLst>
              </p:cNvPr>
              <p:cNvPicPr>
                <a:picLocks noChangeAspect="1"/>
              </p:cNvPicPr>
              <p:nvPr/>
            </p:nvPicPr>
            <p:blipFill>
              <a:blip r:embed="rId2">
                <a:extLst>
                  <a:ext uri="{28A0092B-C50C-407E-A947-70E740481C1C}">
                    <a14:useLocalDpi xmlns:a14="http://schemas.microsoft.com/office/drawing/2010/main" val="0"/>
                  </a:ext>
                </a:extLst>
              </a:blip>
              <a:srcRect l="26352" t="51147" r="25667" b="24447"/>
              <a:stretch/>
            </p:blipFill>
            <p:spPr>
              <a:xfrm>
                <a:off x="2911002" y="1515026"/>
                <a:ext cx="7867431" cy="2146799"/>
              </a:xfrm>
              <a:prstGeom prst="rect">
                <a:avLst/>
              </a:prstGeom>
            </p:spPr>
          </p:pic>
          <mc:AlternateContent xmlns:mc="http://schemas.openxmlformats.org/markup-compatibility/2006" xmlns:a14="http://schemas.microsoft.com/office/drawing/2010/main">
            <mc:Choice Requires="a14">
              <p:sp>
                <p:nvSpPr>
                  <p:cNvPr id="9" name="Hộp Văn bản 8">
                    <a:extLst>
                      <a:ext uri="{FF2B5EF4-FFF2-40B4-BE49-F238E27FC236}">
                        <a16:creationId xmlns:a16="http://schemas.microsoft.com/office/drawing/2014/main" id="{8A378F16-6959-A869-F37D-25D71EC2BC91}"/>
                      </a:ext>
                    </a:extLst>
                  </p:cNvPr>
                  <p:cNvSpPr txBox="1"/>
                  <p:nvPr/>
                </p:nvSpPr>
                <p:spPr>
                  <a:xfrm>
                    <a:off x="2996120" y="2006286"/>
                    <a:ext cx="757964" cy="3915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𝑂</m:t>
                              </m:r>
                              <m:r>
                                <a:rPr lang="en-US" sz="1800" i="1">
                                  <a:latin typeface="Cambria Math" panose="02040503050406030204" pitchFamily="18" charset="0"/>
                                </a:rPr>
                                <m:t>𝑟𝑒𝑓</m:t>
                              </m:r>
                            </m:sub>
                          </m:sSub>
                        </m:oMath>
                      </m:oMathPara>
                    </a14:m>
                    <a:endParaRPr lang="en-US"/>
                  </a:p>
                </p:txBody>
              </p:sp>
            </mc:Choice>
            <mc:Fallback xmlns="">
              <p:sp>
                <p:nvSpPr>
                  <p:cNvPr id="9" name="Hộp Văn bản 8">
                    <a:extLst>
                      <a:ext uri="{FF2B5EF4-FFF2-40B4-BE49-F238E27FC236}">
                        <a16:creationId xmlns:a16="http://schemas.microsoft.com/office/drawing/2014/main" id="{8A378F16-6959-A869-F37D-25D71EC2BC91}"/>
                      </a:ext>
                    </a:extLst>
                  </p:cNvPr>
                  <p:cNvSpPr txBox="1">
                    <a:spLocks noRot="1" noChangeAspect="1" noMove="1" noResize="1" noEditPoints="1" noAdjustHandles="1" noChangeArrowheads="1" noChangeShapeType="1" noTextEdit="1"/>
                  </p:cNvSpPr>
                  <p:nvPr/>
                </p:nvSpPr>
                <p:spPr>
                  <a:xfrm>
                    <a:off x="2996120" y="2006286"/>
                    <a:ext cx="757964" cy="391582"/>
                  </a:xfrm>
                  <a:prstGeom prst="rect">
                    <a:avLst/>
                  </a:prstGeom>
                  <a:blipFill>
                    <a:blip r:embed="rId3"/>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335298B6-CAD4-505C-2A77-23C302C9E2B8}"/>
                      </a:ext>
                    </a:extLst>
                  </p:cNvPr>
                  <p:cNvSpPr txBox="1"/>
                  <p:nvPr/>
                </p:nvSpPr>
                <p:spPr>
                  <a:xfrm>
                    <a:off x="3628021" y="3191938"/>
                    <a:ext cx="4754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𝑉</m:t>
                              </m:r>
                            </m:e>
                            <m:sub>
                              <m:r>
                                <a:rPr lang="en-US" sz="1800" b="0" i="1" smtClean="0">
                                  <a:latin typeface="Cambria Math" panose="02040503050406030204" pitchFamily="18" charset="0"/>
                                </a:rPr>
                                <m:t>𝑂</m:t>
                              </m:r>
                            </m:sub>
                          </m:sSub>
                        </m:oMath>
                      </m:oMathPara>
                    </a14:m>
                    <a:endParaRPr lang="en-US"/>
                  </a:p>
                </p:txBody>
              </p:sp>
            </mc:Choice>
            <mc:Fallback xmlns="">
              <p:sp>
                <p:nvSpPr>
                  <p:cNvPr id="11" name="Hộp Văn bản 10">
                    <a:extLst>
                      <a:ext uri="{FF2B5EF4-FFF2-40B4-BE49-F238E27FC236}">
                        <a16:creationId xmlns:a16="http://schemas.microsoft.com/office/drawing/2014/main" id="{335298B6-CAD4-505C-2A77-23C302C9E2B8}"/>
                      </a:ext>
                    </a:extLst>
                  </p:cNvPr>
                  <p:cNvSpPr txBox="1">
                    <a:spLocks noRot="1" noChangeAspect="1" noMove="1" noResize="1" noEditPoints="1" noAdjustHandles="1" noChangeArrowheads="1" noChangeShapeType="1" noTextEdit="1"/>
                  </p:cNvSpPr>
                  <p:nvPr/>
                </p:nvSpPr>
                <p:spPr>
                  <a:xfrm>
                    <a:off x="3628021" y="3191938"/>
                    <a:ext cx="47545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21163A33-0122-15C1-1DD7-2836F2B0AF26}"/>
                      </a:ext>
                    </a:extLst>
                  </p:cNvPr>
                  <p:cNvSpPr txBox="1"/>
                  <p:nvPr/>
                </p:nvSpPr>
                <p:spPr>
                  <a:xfrm>
                    <a:off x="2911002" y="2464277"/>
                    <a:ext cx="6094378" cy="6908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𝐿𝑟𝑒𝑓</m:t>
                              </m:r>
                              <m:r>
                                <a:rPr lang="en-US" sz="1800" i="1">
                                  <a:latin typeface="Cambria Math" panose="02040503050406030204" pitchFamily="18" charset="0"/>
                                </a:rPr>
                                <m:t>_</m:t>
                              </m:r>
                              <m:r>
                                <a:rPr lang="en-US" sz="1800" i="1">
                                  <a:latin typeface="Cambria Math" panose="02040503050406030204" pitchFamily="18" charset="0"/>
                                </a:rPr>
                                <m:t>𝑘</m:t>
                              </m:r>
                              <m:r>
                                <a:rPr lang="en-US" sz="1800" i="1">
                                  <a:latin typeface="Cambria Math" panose="02040503050406030204" pitchFamily="18" charset="0"/>
                                </a:rPr>
                                <m:t>_1</m:t>
                              </m:r>
                            </m:sub>
                          </m:sSub>
                        </m:oMath>
                      </m:oMathPara>
                    </a14:m>
                    <a:endParaRPr lang="en-US"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𝐿𝑟𝑒𝑓</m:t>
                              </m:r>
                              <m:r>
                                <a:rPr lang="en-US" sz="1800" i="1">
                                  <a:latin typeface="Cambria Math" panose="02040503050406030204" pitchFamily="18" charset="0"/>
                                </a:rPr>
                                <m:t>_</m:t>
                              </m:r>
                              <m:r>
                                <a:rPr lang="en-US" sz="1800" i="1">
                                  <a:latin typeface="Cambria Math" panose="02040503050406030204" pitchFamily="18" charset="0"/>
                                </a:rPr>
                                <m:t>𝑘</m:t>
                              </m:r>
                            </m:sub>
                          </m:sSub>
                        </m:oMath>
                      </m:oMathPara>
                    </a14:m>
                    <a:endParaRPr lang="en-US"/>
                  </a:p>
                </p:txBody>
              </p:sp>
            </mc:Choice>
            <mc:Fallback xmlns="">
              <p:sp>
                <p:nvSpPr>
                  <p:cNvPr id="15" name="Hộp Văn bản 14">
                    <a:extLst>
                      <a:ext uri="{FF2B5EF4-FFF2-40B4-BE49-F238E27FC236}">
                        <a16:creationId xmlns:a16="http://schemas.microsoft.com/office/drawing/2014/main" id="{21163A33-0122-15C1-1DD7-2836F2B0AF26}"/>
                      </a:ext>
                    </a:extLst>
                  </p:cNvPr>
                  <p:cNvSpPr txBox="1">
                    <a:spLocks noRot="1" noChangeAspect="1" noMove="1" noResize="1" noEditPoints="1" noAdjustHandles="1" noChangeArrowheads="1" noChangeShapeType="1" noTextEdit="1"/>
                  </p:cNvSpPr>
                  <p:nvPr/>
                </p:nvSpPr>
                <p:spPr>
                  <a:xfrm>
                    <a:off x="2911002" y="2464277"/>
                    <a:ext cx="6094378" cy="690830"/>
                  </a:xfrm>
                  <a:prstGeom prst="rect">
                    <a:avLst/>
                  </a:prstGeom>
                  <a:blipFill>
                    <a:blip r:embed="rId5"/>
                    <a:stretch>
                      <a:fillRect b="-44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803F829E-81EF-F7B7-C9EE-A96A0213D95A}"/>
                      </a:ext>
                    </a:extLst>
                  </p:cNvPr>
                  <p:cNvSpPr txBox="1"/>
                  <p:nvPr/>
                </p:nvSpPr>
                <p:spPr>
                  <a:xfrm>
                    <a:off x="4027559" y="2501108"/>
                    <a:ext cx="6094378" cy="6649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𝐸</m:t>
                              </m:r>
                            </m:e>
                            <m:sub>
                              <m:r>
                                <a:rPr lang="en-US" sz="1800" i="1">
                                  <a:latin typeface="Cambria Math" panose="02040503050406030204" pitchFamily="18" charset="0"/>
                                </a:rPr>
                                <m:t>𝑖</m:t>
                              </m:r>
                              <m:r>
                                <a:rPr lang="en-US" sz="1800" i="1">
                                  <a:latin typeface="Cambria Math" panose="02040503050406030204" pitchFamily="18" charset="0"/>
                                </a:rPr>
                                <m:t>_</m:t>
                              </m:r>
                              <m:r>
                                <a:rPr lang="en-US" sz="1800" i="1">
                                  <a:latin typeface="Cambria Math" panose="02040503050406030204" pitchFamily="18" charset="0"/>
                                </a:rPr>
                                <m:t>𝑘</m:t>
                              </m:r>
                              <m:r>
                                <a:rPr lang="en-US" sz="1800" i="1">
                                  <a:latin typeface="Cambria Math" panose="02040503050406030204" pitchFamily="18" charset="0"/>
                                </a:rPr>
                                <m:t>_1</m:t>
                              </m:r>
                            </m:sub>
                          </m:sSub>
                        </m:oMath>
                      </m:oMathPara>
                    </a14:m>
                    <a:endParaRPr lang="en-US"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𝐸</m:t>
                              </m:r>
                            </m:e>
                            <m:sub>
                              <m:r>
                                <a:rPr lang="en-US" sz="1800" i="1">
                                  <a:latin typeface="Cambria Math" panose="02040503050406030204" pitchFamily="18" charset="0"/>
                                </a:rPr>
                                <m:t>𝑖</m:t>
                              </m:r>
                              <m:r>
                                <a:rPr lang="en-US" sz="1800" i="1">
                                  <a:latin typeface="Cambria Math" panose="02040503050406030204" pitchFamily="18" charset="0"/>
                                </a:rPr>
                                <m:t>_</m:t>
                              </m:r>
                              <m:r>
                                <a:rPr lang="en-US" sz="1800" i="1">
                                  <a:latin typeface="Cambria Math" panose="02040503050406030204" pitchFamily="18" charset="0"/>
                                </a:rPr>
                                <m:t>𝑘</m:t>
                              </m:r>
                            </m:sub>
                          </m:sSub>
                        </m:oMath>
                      </m:oMathPara>
                    </a14:m>
                    <a:endParaRPr lang="en-US"/>
                  </a:p>
                </p:txBody>
              </p:sp>
            </mc:Choice>
            <mc:Fallback xmlns="">
              <p:sp>
                <p:nvSpPr>
                  <p:cNvPr id="17" name="Hộp Văn bản 16">
                    <a:extLst>
                      <a:ext uri="{FF2B5EF4-FFF2-40B4-BE49-F238E27FC236}">
                        <a16:creationId xmlns:a16="http://schemas.microsoft.com/office/drawing/2014/main" id="{803F829E-81EF-F7B7-C9EE-A96A0213D95A}"/>
                      </a:ext>
                    </a:extLst>
                  </p:cNvPr>
                  <p:cNvSpPr txBox="1">
                    <a:spLocks noRot="1" noChangeAspect="1" noMove="1" noResize="1" noEditPoints="1" noAdjustHandles="1" noChangeArrowheads="1" noChangeShapeType="1" noTextEdit="1"/>
                  </p:cNvSpPr>
                  <p:nvPr/>
                </p:nvSpPr>
                <p:spPr>
                  <a:xfrm>
                    <a:off x="4027559" y="2501108"/>
                    <a:ext cx="6094378" cy="66492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Hộp Văn bản 20">
                    <a:extLst>
                      <a:ext uri="{FF2B5EF4-FFF2-40B4-BE49-F238E27FC236}">
                        <a16:creationId xmlns:a16="http://schemas.microsoft.com/office/drawing/2014/main" id="{429E63B5-E3D6-BF00-BCF1-D39967D6BDF6}"/>
                      </a:ext>
                    </a:extLst>
                  </p:cNvPr>
                  <p:cNvSpPr txBox="1"/>
                  <p:nvPr/>
                </p:nvSpPr>
                <p:spPr>
                  <a:xfrm>
                    <a:off x="4231531" y="1515027"/>
                    <a:ext cx="6571034" cy="378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1800" i="1" smtClean="0">
                                  <a:latin typeface="Cambria Math" panose="02040503050406030204" pitchFamily="18" charset="0"/>
                                </a:rPr>
                              </m:ctrlPr>
                            </m:funcPr>
                            <m:fName>
                              <m:r>
                                <m:rPr>
                                  <m:sty m:val="p"/>
                                </m:rPr>
                                <a:rPr lang="en-US" sz="1800" i="0" smtClean="0">
                                  <a:latin typeface="Cambria Math" panose="02040503050406030204" pitchFamily="18" charset="0"/>
                                </a:rPr>
                                <m:t>sin</m:t>
                              </m:r>
                            </m:fName>
                            <m:e>
                              <m:r>
                                <a:rPr lang="en-US" sz="1800" i="1" smtClean="0">
                                  <a:latin typeface="Cambria Math" panose="02040503050406030204" pitchFamily="18" charset="0"/>
                                  <a:ea typeface="Cambria Math" panose="02040503050406030204" pitchFamily="18" charset="0"/>
                                </a:rPr>
                                <m:t>𝜃</m:t>
                              </m:r>
                            </m:e>
                          </m:func>
                        </m:oMath>
                      </m:oMathPara>
                    </a14:m>
                    <a:endParaRPr lang="en-US"/>
                  </a:p>
                </p:txBody>
              </p:sp>
            </mc:Choice>
            <mc:Fallback xmlns="">
              <p:sp>
                <p:nvSpPr>
                  <p:cNvPr id="21" name="Hộp Văn bản 20">
                    <a:extLst>
                      <a:ext uri="{FF2B5EF4-FFF2-40B4-BE49-F238E27FC236}">
                        <a16:creationId xmlns:a16="http://schemas.microsoft.com/office/drawing/2014/main" id="{429E63B5-E3D6-BF00-BCF1-D39967D6BDF6}"/>
                      </a:ext>
                    </a:extLst>
                  </p:cNvPr>
                  <p:cNvSpPr txBox="1">
                    <a:spLocks noRot="1" noChangeAspect="1" noMove="1" noResize="1" noEditPoints="1" noAdjustHandles="1" noChangeArrowheads="1" noChangeShapeType="1" noTextEdit="1"/>
                  </p:cNvSpPr>
                  <p:nvPr/>
                </p:nvSpPr>
                <p:spPr>
                  <a:xfrm>
                    <a:off x="4231531" y="1515027"/>
                    <a:ext cx="6571034" cy="37863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Hộp Văn bản 21">
                    <a:extLst>
                      <a:ext uri="{FF2B5EF4-FFF2-40B4-BE49-F238E27FC236}">
                        <a16:creationId xmlns:a16="http://schemas.microsoft.com/office/drawing/2014/main" id="{D49E681C-446B-C54B-84B3-23BCC43546B2}"/>
                      </a:ext>
                    </a:extLst>
                  </p:cNvPr>
                  <p:cNvSpPr txBox="1"/>
                  <p:nvPr/>
                </p:nvSpPr>
                <p:spPr>
                  <a:xfrm>
                    <a:off x="6476691" y="3247679"/>
                    <a:ext cx="4112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𝐿</m:t>
                              </m:r>
                            </m:sub>
                          </m:sSub>
                        </m:oMath>
                      </m:oMathPara>
                    </a14:m>
                    <a:endParaRPr lang="en-US"/>
                  </a:p>
                </p:txBody>
              </p:sp>
            </mc:Choice>
            <mc:Fallback xmlns="">
              <p:sp>
                <p:nvSpPr>
                  <p:cNvPr id="22" name="Hộp Văn bản 21">
                    <a:extLst>
                      <a:ext uri="{FF2B5EF4-FFF2-40B4-BE49-F238E27FC236}">
                        <a16:creationId xmlns:a16="http://schemas.microsoft.com/office/drawing/2014/main" id="{D49E681C-446B-C54B-84B3-23BCC43546B2}"/>
                      </a:ext>
                    </a:extLst>
                  </p:cNvPr>
                  <p:cNvSpPr txBox="1">
                    <a:spLocks noRot="1" noChangeAspect="1" noMove="1" noResize="1" noEditPoints="1" noAdjustHandles="1" noChangeArrowheads="1" noChangeShapeType="1" noTextEdit="1"/>
                  </p:cNvSpPr>
                  <p:nvPr/>
                </p:nvSpPr>
                <p:spPr>
                  <a:xfrm>
                    <a:off x="6476691" y="3247679"/>
                    <a:ext cx="411202" cy="369332"/>
                  </a:xfrm>
                  <a:prstGeom prst="rect">
                    <a:avLst/>
                  </a:prstGeom>
                  <a:blipFill>
                    <a:blip r:embed="rId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 name="Hộp Văn bản 12">
                  <a:extLst>
                    <a:ext uri="{FF2B5EF4-FFF2-40B4-BE49-F238E27FC236}">
                      <a16:creationId xmlns:a16="http://schemas.microsoft.com/office/drawing/2014/main" id="{055B862E-D0B6-4645-DCE0-085392A741B4}"/>
                    </a:ext>
                  </a:extLst>
                </p:cNvPr>
                <p:cNvSpPr txBox="1"/>
                <p:nvPr/>
              </p:nvSpPr>
              <p:spPr>
                <a:xfrm>
                  <a:off x="1570687" y="2735508"/>
                  <a:ext cx="6094378" cy="6649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𝑣</m:t>
                            </m:r>
                            <m:r>
                              <a:rPr lang="en-US" sz="1800" i="1">
                                <a:latin typeface="Cambria Math" panose="02040503050406030204" pitchFamily="18" charset="0"/>
                              </a:rPr>
                              <m:t>_</m:t>
                            </m:r>
                            <m:r>
                              <a:rPr lang="en-US" sz="1800" i="1">
                                <a:latin typeface="Cambria Math" panose="02040503050406030204" pitchFamily="18" charset="0"/>
                              </a:rPr>
                              <m:t>𝑘</m:t>
                            </m:r>
                            <m:r>
                              <a:rPr lang="en-US" sz="1800" i="1">
                                <a:latin typeface="Cambria Math" panose="02040503050406030204" pitchFamily="18" charset="0"/>
                              </a:rPr>
                              <m:t>_1</m:t>
                            </m:r>
                          </m:sub>
                        </m:sSub>
                      </m:oMath>
                    </m:oMathPara>
                  </a14:m>
                  <a:endParaRPr lang="en-US"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𝐸</m:t>
                            </m:r>
                          </m:e>
                          <m:sub>
                            <m:r>
                              <a:rPr lang="en-US" sz="1800" b="0" i="1" smtClean="0">
                                <a:latin typeface="Cambria Math" panose="02040503050406030204" pitchFamily="18" charset="0"/>
                              </a:rPr>
                              <m:t>𝑣</m:t>
                            </m:r>
                            <m:r>
                              <a:rPr lang="en-US" sz="1800" i="1">
                                <a:latin typeface="Cambria Math" panose="02040503050406030204" pitchFamily="18" charset="0"/>
                              </a:rPr>
                              <m:t>_</m:t>
                            </m:r>
                            <m:r>
                              <a:rPr lang="en-US" sz="1800" i="1">
                                <a:latin typeface="Cambria Math" panose="02040503050406030204" pitchFamily="18" charset="0"/>
                              </a:rPr>
                              <m:t>𝑘</m:t>
                            </m:r>
                          </m:sub>
                        </m:sSub>
                      </m:oMath>
                    </m:oMathPara>
                  </a14:m>
                  <a:endParaRPr lang="en-US"/>
                </a:p>
              </p:txBody>
            </p:sp>
          </mc:Choice>
          <mc:Fallback xmlns="">
            <p:sp>
              <p:nvSpPr>
                <p:cNvPr id="13" name="Hộp Văn bản 12">
                  <a:extLst>
                    <a:ext uri="{FF2B5EF4-FFF2-40B4-BE49-F238E27FC236}">
                      <a16:creationId xmlns:a16="http://schemas.microsoft.com/office/drawing/2014/main" id="{055B862E-D0B6-4645-DCE0-085392A741B4}"/>
                    </a:ext>
                  </a:extLst>
                </p:cNvPr>
                <p:cNvSpPr txBox="1">
                  <a:spLocks noRot="1" noChangeAspect="1" noMove="1" noResize="1" noEditPoints="1" noAdjustHandles="1" noChangeArrowheads="1" noChangeShapeType="1" noTextEdit="1"/>
                </p:cNvSpPr>
                <p:nvPr/>
              </p:nvSpPr>
              <p:spPr>
                <a:xfrm>
                  <a:off x="1570687" y="2735508"/>
                  <a:ext cx="6094378" cy="66492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Hộp Văn bản 18">
                  <a:extLst>
                    <a:ext uri="{FF2B5EF4-FFF2-40B4-BE49-F238E27FC236}">
                      <a16:creationId xmlns:a16="http://schemas.microsoft.com/office/drawing/2014/main" id="{03E37FDB-2D0B-C322-7718-AD836C683F3E}"/>
                    </a:ext>
                  </a:extLst>
                </p:cNvPr>
                <p:cNvSpPr txBox="1"/>
                <p:nvPr/>
              </p:nvSpPr>
              <p:spPr>
                <a:xfrm>
                  <a:off x="6860977" y="2751047"/>
                  <a:ext cx="6094378" cy="6649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𝑈</m:t>
                            </m:r>
                          </m:e>
                          <m:sub>
                            <m:r>
                              <a:rPr lang="en-US" sz="1800" i="1">
                                <a:latin typeface="Cambria Math" panose="02040503050406030204" pitchFamily="18" charset="0"/>
                              </a:rPr>
                              <m:t>_</m:t>
                            </m:r>
                            <m:r>
                              <a:rPr lang="en-US" sz="1800" i="1">
                                <a:latin typeface="Cambria Math" panose="02040503050406030204" pitchFamily="18" charset="0"/>
                              </a:rPr>
                              <m:t>𝑘</m:t>
                            </m:r>
                            <m:r>
                              <a:rPr lang="en-US" sz="1800" i="1">
                                <a:latin typeface="Cambria Math" panose="02040503050406030204" pitchFamily="18" charset="0"/>
                              </a:rPr>
                              <m:t>_1</m:t>
                            </m:r>
                          </m:sub>
                        </m:sSub>
                      </m:oMath>
                    </m:oMathPara>
                  </a14:m>
                  <a:endParaRPr lang="en-US"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vi-VN" sz="1800" i="1">
                                <a:latin typeface="Cambria Math" panose="02040503050406030204" pitchFamily="18" charset="0"/>
                              </a:rPr>
                            </m:ctrlPr>
                          </m:sSubPr>
                          <m:e>
                            <m:r>
                              <a:rPr lang="vi-VN" sz="1800" i="1">
                                <a:latin typeface="Cambria Math" panose="02040503050406030204" pitchFamily="18" charset="0"/>
                              </a:rPr>
                              <m:t>𝑈</m:t>
                            </m:r>
                          </m:e>
                          <m:sub>
                            <m:r>
                              <a:rPr lang="en-US" sz="1800" i="1">
                                <a:latin typeface="Cambria Math" panose="02040503050406030204" pitchFamily="18" charset="0"/>
                              </a:rPr>
                              <m:t>_</m:t>
                            </m:r>
                            <m:r>
                              <a:rPr lang="en-US" sz="1800" i="1">
                                <a:latin typeface="Cambria Math" panose="02040503050406030204" pitchFamily="18" charset="0"/>
                              </a:rPr>
                              <m:t>𝑘</m:t>
                            </m:r>
                          </m:sub>
                        </m:sSub>
                      </m:oMath>
                    </m:oMathPara>
                  </a14:m>
                  <a:endParaRPr lang="en-US"/>
                </a:p>
              </p:txBody>
            </p:sp>
          </mc:Choice>
          <mc:Fallback xmlns="">
            <p:sp>
              <p:nvSpPr>
                <p:cNvPr id="19" name="Hộp Văn bản 18">
                  <a:extLst>
                    <a:ext uri="{FF2B5EF4-FFF2-40B4-BE49-F238E27FC236}">
                      <a16:creationId xmlns:a16="http://schemas.microsoft.com/office/drawing/2014/main" id="{03E37FDB-2D0B-C322-7718-AD836C683F3E}"/>
                    </a:ext>
                  </a:extLst>
                </p:cNvPr>
                <p:cNvSpPr txBox="1">
                  <a:spLocks noRot="1" noChangeAspect="1" noMove="1" noResize="1" noEditPoints="1" noAdjustHandles="1" noChangeArrowheads="1" noChangeShapeType="1" noTextEdit="1"/>
                </p:cNvSpPr>
                <p:nvPr/>
              </p:nvSpPr>
              <p:spPr>
                <a:xfrm>
                  <a:off x="6860977" y="2751047"/>
                  <a:ext cx="6094378" cy="66492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Hộp Văn bản 22">
                  <a:extLst>
                    <a:ext uri="{FF2B5EF4-FFF2-40B4-BE49-F238E27FC236}">
                      <a16:creationId xmlns:a16="http://schemas.microsoft.com/office/drawing/2014/main" id="{3040F61D-5881-0955-7BC3-829A8C464059}"/>
                    </a:ext>
                  </a:extLst>
                </p:cNvPr>
                <p:cNvSpPr txBox="1"/>
                <p:nvPr/>
              </p:nvSpPr>
              <p:spPr>
                <a:xfrm>
                  <a:off x="10535999" y="2609797"/>
                  <a:ext cx="967287" cy="378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𝑃𝑊𝑀</m:t>
                        </m:r>
                      </m:oMath>
                    </m:oMathPara>
                  </a14:m>
                  <a:endParaRPr lang="en-US"/>
                </a:p>
              </p:txBody>
            </p:sp>
          </mc:Choice>
          <mc:Fallback xmlns="">
            <p:sp>
              <p:nvSpPr>
                <p:cNvPr id="23" name="Hộp Văn bản 22">
                  <a:extLst>
                    <a:ext uri="{FF2B5EF4-FFF2-40B4-BE49-F238E27FC236}">
                      <a16:creationId xmlns:a16="http://schemas.microsoft.com/office/drawing/2014/main" id="{3040F61D-5881-0955-7BC3-829A8C464059}"/>
                    </a:ext>
                  </a:extLst>
                </p:cNvPr>
                <p:cNvSpPr txBox="1">
                  <a:spLocks noRot="1" noChangeAspect="1" noMove="1" noResize="1" noEditPoints="1" noAdjustHandles="1" noChangeArrowheads="1" noChangeShapeType="1" noTextEdit="1"/>
                </p:cNvSpPr>
                <p:nvPr/>
              </p:nvSpPr>
              <p:spPr>
                <a:xfrm>
                  <a:off x="10535999" y="2609797"/>
                  <a:ext cx="967287" cy="378630"/>
                </a:xfrm>
                <a:prstGeom prst="rect">
                  <a:avLst/>
                </a:prstGeom>
                <a:blipFill>
                  <a:blip r:embed="rId11"/>
                  <a:stretch>
                    <a:fillRect/>
                  </a:stretch>
                </a:blipFill>
              </p:spPr>
              <p:txBody>
                <a:bodyPr/>
                <a:lstStyle/>
                <a:p>
                  <a:r>
                    <a:rPr lang="en-US">
                      <a:noFill/>
                    </a:rPr>
                    <a:t> </a:t>
                  </a:r>
                </a:p>
              </p:txBody>
            </p:sp>
          </mc:Fallback>
        </mc:AlternateContent>
        <p:sp>
          <p:nvSpPr>
            <p:cNvPr id="25" name="Hình chữ nhật 24">
              <a:extLst>
                <a:ext uri="{FF2B5EF4-FFF2-40B4-BE49-F238E27FC236}">
                  <a16:creationId xmlns:a16="http://schemas.microsoft.com/office/drawing/2014/main" id="{5703D2A5-0561-FB0E-D28F-2970344C47B5}"/>
                </a:ext>
              </a:extLst>
            </p:cNvPr>
            <p:cNvSpPr/>
            <p:nvPr/>
          </p:nvSpPr>
          <p:spPr>
            <a:xfrm>
              <a:off x="2782110" y="2213566"/>
              <a:ext cx="7509753" cy="1335607"/>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Hộp Văn bản 25">
                  <a:extLst>
                    <a:ext uri="{FF2B5EF4-FFF2-40B4-BE49-F238E27FC236}">
                      <a16:creationId xmlns:a16="http://schemas.microsoft.com/office/drawing/2014/main" id="{FC6B0BBF-024D-72E0-84E8-920D4C4AEC17}"/>
                    </a:ext>
                  </a:extLst>
                </p:cNvPr>
                <p:cNvSpPr txBox="1"/>
                <p:nvPr/>
              </p:nvSpPr>
              <p:spPr>
                <a:xfrm>
                  <a:off x="3337132" y="4014875"/>
                  <a:ext cx="6571034" cy="3786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𝑆</m:t>
                        </m:r>
                        <m:r>
                          <a:rPr lang="en-US" sz="1800" b="0" i="1" smtClean="0">
                            <a:latin typeface="Cambria Math" panose="02040503050406030204" pitchFamily="18" charset="0"/>
                          </a:rPr>
                          <m:t>−</m:t>
                        </m:r>
                        <m:r>
                          <a:rPr lang="en-US" sz="1800" b="0" i="1" smtClean="0">
                            <a:latin typeface="Cambria Math" panose="02040503050406030204" pitchFamily="18" charset="0"/>
                          </a:rPr>
                          <m:t>𝐹𝑢𝑛𝑐𝑡𝑖𝑜𝑛</m:t>
                        </m:r>
                        <m:r>
                          <a:rPr lang="en-US" sz="1800" b="0" i="1" smtClean="0">
                            <a:latin typeface="Cambria Math" panose="02040503050406030204" pitchFamily="18" charset="0"/>
                          </a:rPr>
                          <m:t> </m:t>
                        </m:r>
                        <m:r>
                          <a:rPr lang="en-US" sz="1800" b="0" i="1" smtClean="0">
                            <a:latin typeface="Cambria Math" panose="02040503050406030204" pitchFamily="18" charset="0"/>
                          </a:rPr>
                          <m:t>𝑏𝑢𝑖𝑙𝑑𝑒𝑟</m:t>
                        </m:r>
                      </m:oMath>
                    </m:oMathPara>
                  </a14:m>
                  <a:endParaRPr lang="en-US"/>
                </a:p>
              </p:txBody>
            </p:sp>
          </mc:Choice>
          <mc:Fallback xmlns="">
            <p:sp>
              <p:nvSpPr>
                <p:cNvPr id="26" name="Hộp Văn bản 25">
                  <a:extLst>
                    <a:ext uri="{FF2B5EF4-FFF2-40B4-BE49-F238E27FC236}">
                      <a16:creationId xmlns:a16="http://schemas.microsoft.com/office/drawing/2014/main" id="{FC6B0BBF-024D-72E0-84E8-920D4C4AEC17}"/>
                    </a:ext>
                  </a:extLst>
                </p:cNvPr>
                <p:cNvSpPr txBox="1">
                  <a:spLocks noRot="1" noChangeAspect="1" noMove="1" noResize="1" noEditPoints="1" noAdjustHandles="1" noChangeArrowheads="1" noChangeShapeType="1" noTextEdit="1"/>
                </p:cNvSpPr>
                <p:nvPr/>
              </p:nvSpPr>
              <p:spPr>
                <a:xfrm>
                  <a:off x="3337132" y="4014875"/>
                  <a:ext cx="6571034" cy="378630"/>
                </a:xfrm>
                <a:prstGeom prst="rect">
                  <a:avLst/>
                </a:prstGeom>
                <a:blipFill>
                  <a:blip r:embed="rId12"/>
                  <a:stretch>
                    <a:fillRect/>
                  </a:stretch>
                </a:blipFill>
              </p:spPr>
              <p:txBody>
                <a:bodyPr/>
                <a:lstStyle/>
                <a:p>
                  <a:r>
                    <a:rPr lang="en-US">
                      <a:noFill/>
                    </a:rPr>
                    <a:t> </a:t>
                  </a:r>
                </a:p>
              </p:txBody>
            </p:sp>
          </mc:Fallback>
        </mc:AlternateContent>
      </p:grpSp>
      <p:sp>
        <p:nvSpPr>
          <p:cNvPr id="5" name="Slide Number Placeholder 3">
            <a:extLst>
              <a:ext uri="{FF2B5EF4-FFF2-40B4-BE49-F238E27FC236}">
                <a16:creationId xmlns:a16="http://schemas.microsoft.com/office/drawing/2014/main" id="{E87D766B-734A-D8A2-1191-EDFC7B4D01D2}"/>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51</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946FCAB6-C073-6BCE-1F1A-8520FDCDDA3C}"/>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092E17DE-EDE8-A709-2C73-CEBCF7305D87}"/>
              </a:ext>
            </a:extLst>
          </p:cNvPr>
          <p:cNvSpPr txBox="1"/>
          <p:nvPr/>
        </p:nvSpPr>
        <p:spPr>
          <a:xfrm>
            <a:off x="145914" y="933855"/>
            <a:ext cx="4085617" cy="400110"/>
          </a:xfrm>
          <a:prstGeom prst="rect">
            <a:avLst/>
          </a:prstGeom>
          <a:noFill/>
        </p:spPr>
        <p:txBody>
          <a:bodyPr wrap="square" rtlCol="0">
            <a:spAutoFit/>
          </a:bodyPr>
          <a:lstStyle/>
          <a:p>
            <a:r>
              <a:rPr lang="en-US" sz="2000"/>
              <a:t>c) Viết code trên S-Function builder</a:t>
            </a:r>
          </a:p>
        </p:txBody>
      </p:sp>
      <p:pic>
        <p:nvPicPr>
          <p:cNvPr id="30" name="Hình ảnh 29" descr="Ảnh có chứa văn bản, ảnh chụp màn hình, phần mềm, màn hình&#10;&#10;Nội dung do AI tạo ra có thể không chính xác.">
            <a:extLst>
              <a:ext uri="{FF2B5EF4-FFF2-40B4-BE49-F238E27FC236}">
                <a16:creationId xmlns:a16="http://schemas.microsoft.com/office/drawing/2014/main" id="{105BB79C-8D62-A9AA-880A-97CB22742D1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642610" y="3823879"/>
            <a:ext cx="4156391" cy="2245497"/>
          </a:xfrm>
          <a:prstGeom prst="rect">
            <a:avLst/>
          </a:prstGeom>
        </p:spPr>
      </p:pic>
    </p:spTree>
    <p:extLst>
      <p:ext uri="{BB962C8B-B14F-4D97-AF65-F5344CB8AC3E}">
        <p14:creationId xmlns:p14="http://schemas.microsoft.com/office/powerpoint/2010/main" val="30626185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0082E-02C1-B335-5A85-515B2455D9C5}"/>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6E367CAD-EE84-0885-B0D5-DADB979C87C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52</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E99F7863-A546-8A80-B1EA-CABFEAA5C075}"/>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7E793937-0C6E-3E5A-F948-52D7CC81AD9C}"/>
              </a:ext>
            </a:extLst>
          </p:cNvPr>
          <p:cNvSpPr txBox="1"/>
          <p:nvPr/>
        </p:nvSpPr>
        <p:spPr>
          <a:xfrm>
            <a:off x="145914" y="933855"/>
            <a:ext cx="4085617" cy="400110"/>
          </a:xfrm>
          <a:prstGeom prst="rect">
            <a:avLst/>
          </a:prstGeom>
          <a:noFill/>
        </p:spPr>
        <p:txBody>
          <a:bodyPr wrap="square" rtlCol="0">
            <a:spAutoFit/>
          </a:bodyPr>
          <a:lstStyle/>
          <a:p>
            <a:r>
              <a:rPr lang="en-US" sz="2000"/>
              <a:t>d)Vi điều khiển: </a:t>
            </a:r>
          </a:p>
        </p:txBody>
      </p:sp>
      <p:sp>
        <p:nvSpPr>
          <p:cNvPr id="3" name="Hộp Văn bản 2">
            <a:extLst>
              <a:ext uri="{FF2B5EF4-FFF2-40B4-BE49-F238E27FC236}">
                <a16:creationId xmlns:a16="http://schemas.microsoft.com/office/drawing/2014/main" id="{700D48E0-5342-2D3F-D805-C68134498940}"/>
              </a:ext>
            </a:extLst>
          </p:cNvPr>
          <p:cNvSpPr txBox="1"/>
          <p:nvPr/>
        </p:nvSpPr>
        <p:spPr>
          <a:xfrm>
            <a:off x="338736" y="1245141"/>
            <a:ext cx="9223553" cy="369332"/>
          </a:xfrm>
          <a:prstGeom prst="rect">
            <a:avLst/>
          </a:prstGeom>
          <a:noFill/>
        </p:spPr>
        <p:txBody>
          <a:bodyPr wrap="square" rtlCol="0">
            <a:spAutoFit/>
          </a:bodyPr>
          <a:lstStyle/>
          <a:p>
            <a:r>
              <a:rPr lang="en-US"/>
              <a:t>Chọn vi điều khiển STM32f103c8t6 của STMicroelectronics:</a:t>
            </a:r>
          </a:p>
        </p:txBody>
      </p:sp>
      <p:graphicFrame>
        <p:nvGraphicFramePr>
          <p:cNvPr id="4" name="Bảng 3">
            <a:extLst>
              <a:ext uri="{FF2B5EF4-FFF2-40B4-BE49-F238E27FC236}">
                <a16:creationId xmlns:a16="http://schemas.microsoft.com/office/drawing/2014/main" id="{1D11BDC6-ED52-A999-DD16-35AB32C441BD}"/>
              </a:ext>
            </a:extLst>
          </p:cNvPr>
          <p:cNvGraphicFramePr>
            <a:graphicFrameLocks noGrp="1"/>
          </p:cNvGraphicFramePr>
          <p:nvPr>
            <p:extLst>
              <p:ext uri="{D42A27DB-BD31-4B8C-83A1-F6EECF244321}">
                <p14:modId xmlns:p14="http://schemas.microsoft.com/office/powerpoint/2010/main" val="1332525150"/>
              </p:ext>
            </p:extLst>
          </p:nvPr>
        </p:nvGraphicFramePr>
        <p:xfrm>
          <a:off x="691904" y="1645251"/>
          <a:ext cx="6175012" cy="4487400"/>
        </p:xfrm>
        <a:graphic>
          <a:graphicData uri="http://schemas.openxmlformats.org/drawingml/2006/table">
            <a:tbl>
              <a:tblPr/>
              <a:tblGrid>
                <a:gridCol w="3086100">
                  <a:extLst>
                    <a:ext uri="{9D8B030D-6E8A-4147-A177-3AD203B41FA5}">
                      <a16:colId xmlns:a16="http://schemas.microsoft.com/office/drawing/2014/main" val="1836650375"/>
                    </a:ext>
                  </a:extLst>
                </a:gridCol>
                <a:gridCol w="3088912">
                  <a:extLst>
                    <a:ext uri="{9D8B030D-6E8A-4147-A177-3AD203B41FA5}">
                      <a16:colId xmlns:a16="http://schemas.microsoft.com/office/drawing/2014/main" val="2866619942"/>
                    </a:ext>
                  </a:extLst>
                </a:gridCol>
              </a:tblGrid>
              <a:tr h="214881">
                <a:tc>
                  <a:txBody>
                    <a:bodyPr/>
                    <a:lstStyle/>
                    <a:p>
                      <a:r>
                        <a:rPr lang="en-US" sz="1100" b="1"/>
                        <a:t>Thuộc tính</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1"/>
                        <a:t>Giá trị / Mô tả</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3511657"/>
                  </a:ext>
                </a:extLst>
              </a:tr>
              <a:tr h="214881">
                <a:tc>
                  <a:txBody>
                    <a:bodyPr/>
                    <a:lstStyle/>
                    <a:p>
                      <a:r>
                        <a:rPr lang="en-US" sz="1100" b="1"/>
                        <a:t>Dòng vi điều khiển</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STM32F1 (Cortex-M3)</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5349452"/>
                  </a:ext>
                </a:extLst>
              </a:tr>
              <a:tr h="214881">
                <a:tc>
                  <a:txBody>
                    <a:bodyPr/>
                    <a:lstStyle/>
                    <a:p>
                      <a:r>
                        <a:rPr lang="en-US" sz="1100" b="1"/>
                        <a:t>Lõi CPU</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ARM Cortex-M3</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819251"/>
                  </a:ext>
                </a:extLst>
              </a:tr>
              <a:tr h="214881">
                <a:tc>
                  <a:txBody>
                    <a:bodyPr/>
                    <a:lstStyle/>
                    <a:p>
                      <a:r>
                        <a:rPr lang="en-US" sz="1100" b="1"/>
                        <a:t>Tốc độ xung nhịp tối đa</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72 MHz</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614708"/>
                  </a:ext>
                </a:extLst>
              </a:tr>
              <a:tr h="376042">
                <a:tc>
                  <a:txBody>
                    <a:bodyPr/>
                    <a:lstStyle/>
                    <a:p>
                      <a:r>
                        <a:rPr lang="en-US" sz="1100" b="1"/>
                        <a:t>Bộ nhớ Flash</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64 KB hoặc 128 KB (tùy theo nhà sản xuất, mặc dù tên là C8 – 64 KB)</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398762"/>
                  </a:ext>
                </a:extLst>
              </a:tr>
              <a:tr h="214881">
                <a:tc>
                  <a:txBody>
                    <a:bodyPr/>
                    <a:lstStyle/>
                    <a:p>
                      <a:r>
                        <a:rPr lang="en-US" sz="1100" b="1"/>
                        <a:t>RAM (SRAM)</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20 KB</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450279"/>
                  </a:ext>
                </a:extLst>
              </a:tr>
              <a:tr h="214881">
                <a:tc>
                  <a:txBody>
                    <a:bodyPr/>
                    <a:lstStyle/>
                    <a:p>
                      <a:r>
                        <a:rPr lang="en-US" sz="1100" b="1"/>
                        <a:t>Số chân I/O</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Tối đa 37 chân GPIO</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1783724"/>
                  </a:ext>
                </a:extLst>
              </a:tr>
              <a:tr h="214881">
                <a:tc>
                  <a:txBody>
                    <a:bodyPr/>
                    <a:lstStyle/>
                    <a:p>
                      <a:r>
                        <a:rPr lang="en-US" sz="1100" b="1"/>
                        <a:t>Tín hiệu ngoại vi</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UART, SPI, I2C, CAN, USB (Full Speed)</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654136"/>
                  </a:ext>
                </a:extLst>
              </a:tr>
              <a:tr h="214881">
                <a:tc>
                  <a:txBody>
                    <a:bodyPr/>
                    <a:lstStyle/>
                    <a:p>
                      <a:r>
                        <a:rPr lang="en-US" sz="1100" b="1"/>
                        <a:t>Timer/Counters</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3 × 16-bit + 1 × 16-bit basic timer</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8012352"/>
                  </a:ext>
                </a:extLst>
              </a:tr>
              <a:tr h="214881">
                <a:tc>
                  <a:txBody>
                    <a:bodyPr/>
                    <a:lstStyle/>
                    <a:p>
                      <a:r>
                        <a:rPr lang="en-US" sz="1100" b="1">
                          <a:highlight>
                            <a:srgbClr val="FFFF00"/>
                          </a:highlight>
                        </a:rPr>
                        <a:t>ADC</a:t>
                      </a:r>
                      <a:endParaRPr lang="en-US" sz="1100">
                        <a:highlight>
                          <a:srgbClr val="FFFF00"/>
                        </a:highlight>
                      </a:endParaRP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highlight>
                            <a:srgbClr val="FFFF00"/>
                          </a:highlight>
                        </a:rPr>
                        <a:t>ADC 12-bit, tổng cộng 10 kênh</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095426"/>
                  </a:ext>
                </a:extLst>
              </a:tr>
              <a:tr h="214881">
                <a:tc>
                  <a:txBody>
                    <a:bodyPr/>
                    <a:lstStyle/>
                    <a:p>
                      <a:r>
                        <a:rPr lang="en-US" sz="1100" b="1"/>
                        <a:t>PWM</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Có (qua các timer)</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8063339"/>
                  </a:ext>
                </a:extLst>
              </a:tr>
              <a:tr h="214881">
                <a:tc>
                  <a:txBody>
                    <a:bodyPr/>
                    <a:lstStyle/>
                    <a:p>
                      <a:r>
                        <a:rPr lang="en-US" sz="1100" b="1"/>
                        <a:t>Nguồn điện hoạt động</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2.0V – 3.6V</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192599"/>
                  </a:ext>
                </a:extLst>
              </a:tr>
              <a:tr h="214881">
                <a:tc>
                  <a:txBody>
                    <a:bodyPr/>
                    <a:lstStyle/>
                    <a:p>
                      <a:r>
                        <a:rPr lang="vi-VN" sz="1100" b="1"/>
                        <a:t>Chế độ tiết kiệm năng lượng</a:t>
                      </a:r>
                      <a:endParaRPr lang="vi-VN"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Sleep, Stop, và Standby</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7692413"/>
                  </a:ext>
                </a:extLst>
              </a:tr>
              <a:tr h="214881">
                <a:tc>
                  <a:txBody>
                    <a:bodyPr/>
                    <a:lstStyle/>
                    <a:p>
                      <a:r>
                        <a:rPr lang="en-US" sz="1100" b="1"/>
                        <a:t>Package</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LQFP48 (48 chân)</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5784085"/>
                  </a:ext>
                </a:extLst>
              </a:tr>
              <a:tr h="376042">
                <a:tc>
                  <a:txBody>
                    <a:bodyPr/>
                    <a:lstStyle/>
                    <a:p>
                      <a:r>
                        <a:rPr lang="en-US" sz="1100" b="1"/>
                        <a:t>Giao tiếp lập trình/nạp</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100"/>
                        <a:t>SWD (Serial Wire Debug), UART (thường dùng với bootloader)</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6228547"/>
                  </a:ext>
                </a:extLst>
              </a:tr>
              <a:tr h="214881">
                <a:tc>
                  <a:txBody>
                    <a:bodyPr/>
                    <a:lstStyle/>
                    <a:p>
                      <a:r>
                        <a:rPr lang="en-US" sz="1100" b="1"/>
                        <a:t>Nhiệt độ hoạt động</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-40°C đến +85°C</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6063264"/>
                  </a:ext>
                </a:extLst>
              </a:tr>
              <a:tr h="376042">
                <a:tc>
                  <a:txBody>
                    <a:bodyPr/>
                    <a:lstStyle/>
                    <a:p>
                      <a:r>
                        <a:rPr lang="en-US" sz="1100" b="1"/>
                        <a:t>Ứng dụng phổ biến</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100"/>
                        <a:t>DIY, nhúng, IoT, điều khiển động cơ, thiết bị ngoại vi USB</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5425955"/>
                  </a:ext>
                </a:extLst>
              </a:tr>
              <a:tr h="214881">
                <a:tc>
                  <a:txBody>
                    <a:bodyPr/>
                    <a:lstStyle/>
                    <a:p>
                      <a:r>
                        <a:rPr lang="en-US" sz="1100" b="1"/>
                        <a:t>Board phát triển phổ biến</a:t>
                      </a:r>
                      <a:endParaRPr lang="en-US" sz="1100"/>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t>"Blue Pill"</a:t>
                      </a:r>
                    </a:p>
                  </a:txBody>
                  <a:tcPr marL="53720" marR="53720" marT="26860" marB="268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2724147"/>
                  </a:ext>
                </a:extLst>
              </a:tr>
            </a:tbl>
          </a:graphicData>
        </a:graphic>
      </p:graphicFrame>
      <p:pic>
        <p:nvPicPr>
          <p:cNvPr id="1028" name="Picture 4" descr="Bài 2: Tổng quan về KIT STM32F103C8T6 Blue Pill - Bài viết sưu tầm">
            <a:extLst>
              <a:ext uri="{FF2B5EF4-FFF2-40B4-BE49-F238E27FC236}">
                <a16:creationId xmlns:a16="http://schemas.microsoft.com/office/drawing/2014/main" id="{D71A9EB9-4D7C-F8E4-3DFE-66A1EA6EC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7326439" y="2543089"/>
            <a:ext cx="5030499" cy="2211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409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14EA-5A13-86FE-1222-9BDA67EF9444}"/>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BD398E13-4766-29F9-8110-6BF31E795A1C}"/>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53</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FA2900B0-6451-AAD4-42E0-7F08D9266E26}"/>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9E5A2042-DEEB-EC83-DB5E-3C53C3BC3080}"/>
              </a:ext>
            </a:extLst>
          </p:cNvPr>
          <p:cNvSpPr txBox="1"/>
          <p:nvPr/>
        </p:nvSpPr>
        <p:spPr>
          <a:xfrm>
            <a:off x="145915" y="933855"/>
            <a:ext cx="2801566" cy="400110"/>
          </a:xfrm>
          <a:prstGeom prst="rect">
            <a:avLst/>
          </a:prstGeom>
          <a:noFill/>
        </p:spPr>
        <p:txBody>
          <a:bodyPr wrap="square" rtlCol="0">
            <a:spAutoFit/>
          </a:bodyPr>
          <a:lstStyle/>
          <a:p>
            <a:r>
              <a:rPr lang="en-US" sz="2000"/>
              <a:t>e) Cấu trúc mô phỏng</a:t>
            </a:r>
          </a:p>
        </p:txBody>
      </p:sp>
      <p:pic>
        <p:nvPicPr>
          <p:cNvPr id="4" name="Hình ảnh 3">
            <a:extLst>
              <a:ext uri="{FF2B5EF4-FFF2-40B4-BE49-F238E27FC236}">
                <a16:creationId xmlns:a16="http://schemas.microsoft.com/office/drawing/2014/main" id="{2A5AE091-8B9C-2DCA-5FFB-776179978DED}"/>
              </a:ext>
            </a:extLst>
          </p:cNvPr>
          <p:cNvPicPr>
            <a:picLocks noChangeAspect="1"/>
          </p:cNvPicPr>
          <p:nvPr/>
        </p:nvPicPr>
        <p:blipFill>
          <a:blip r:embed="rId2"/>
          <a:srcRect l="22021" t="434" r="6170" b="28531"/>
          <a:stretch/>
        </p:blipFill>
        <p:spPr>
          <a:xfrm>
            <a:off x="1718553" y="1333965"/>
            <a:ext cx="8754894" cy="3608962"/>
          </a:xfrm>
          <a:prstGeom prst="rect">
            <a:avLst/>
          </a:prstGeom>
        </p:spPr>
      </p:pic>
      <p:sp>
        <p:nvSpPr>
          <p:cNvPr id="6" name="Hộp Văn bản 5">
            <a:extLst>
              <a:ext uri="{FF2B5EF4-FFF2-40B4-BE49-F238E27FC236}">
                <a16:creationId xmlns:a16="http://schemas.microsoft.com/office/drawing/2014/main" id="{0BF08599-3C37-BD08-7FE8-1EFA2C32B95A}"/>
              </a:ext>
            </a:extLst>
          </p:cNvPr>
          <p:cNvSpPr txBox="1"/>
          <p:nvPr/>
        </p:nvSpPr>
        <p:spPr>
          <a:xfrm>
            <a:off x="1060314" y="1934464"/>
            <a:ext cx="2227634" cy="369332"/>
          </a:xfrm>
          <a:prstGeom prst="rect">
            <a:avLst/>
          </a:prstGeom>
          <a:noFill/>
          <a:ln w="19050">
            <a:solidFill>
              <a:srgbClr val="FF0000"/>
            </a:solidFill>
          </a:ln>
        </p:spPr>
        <p:txBody>
          <a:bodyPr wrap="square" rtlCol="0">
            <a:spAutoFit/>
          </a:bodyPr>
          <a:lstStyle/>
          <a:p>
            <a:r>
              <a:rPr lang="en-US"/>
              <a:t>S-Function builder</a:t>
            </a:r>
          </a:p>
        </p:txBody>
      </p:sp>
      <p:sp>
        <p:nvSpPr>
          <p:cNvPr id="9" name="Hộp Văn bản 8">
            <a:extLst>
              <a:ext uri="{FF2B5EF4-FFF2-40B4-BE49-F238E27FC236}">
                <a16:creationId xmlns:a16="http://schemas.microsoft.com/office/drawing/2014/main" id="{253408CC-8587-0F95-91F4-5B35B45FEC2C}"/>
              </a:ext>
            </a:extLst>
          </p:cNvPr>
          <p:cNvSpPr txBox="1"/>
          <p:nvPr/>
        </p:nvSpPr>
        <p:spPr>
          <a:xfrm>
            <a:off x="3664084" y="4991661"/>
            <a:ext cx="674452" cy="369332"/>
          </a:xfrm>
          <a:prstGeom prst="rect">
            <a:avLst/>
          </a:prstGeom>
          <a:noFill/>
          <a:ln w="19050">
            <a:solidFill>
              <a:srgbClr val="FF0000"/>
            </a:solidFill>
          </a:ln>
        </p:spPr>
        <p:txBody>
          <a:bodyPr wrap="square" rtlCol="0">
            <a:spAutoFit/>
          </a:bodyPr>
          <a:lstStyle/>
          <a:p>
            <a:pPr algn="ctr"/>
            <a:r>
              <a:rPr lang="en-US"/>
              <a:t>ADC</a:t>
            </a:r>
          </a:p>
        </p:txBody>
      </p:sp>
      <p:sp>
        <p:nvSpPr>
          <p:cNvPr id="11" name="Hộp Văn bản 10">
            <a:extLst>
              <a:ext uri="{FF2B5EF4-FFF2-40B4-BE49-F238E27FC236}">
                <a16:creationId xmlns:a16="http://schemas.microsoft.com/office/drawing/2014/main" id="{DE5B1512-B344-B2B4-B46F-FC53FF6EA556}"/>
              </a:ext>
            </a:extLst>
          </p:cNvPr>
          <p:cNvSpPr txBox="1"/>
          <p:nvPr/>
        </p:nvSpPr>
        <p:spPr>
          <a:xfrm>
            <a:off x="3844046" y="1149299"/>
            <a:ext cx="988980" cy="369332"/>
          </a:xfrm>
          <a:prstGeom prst="rect">
            <a:avLst/>
          </a:prstGeom>
          <a:noFill/>
          <a:ln w="19050">
            <a:solidFill>
              <a:srgbClr val="FF0000"/>
            </a:solidFill>
          </a:ln>
        </p:spPr>
        <p:txBody>
          <a:bodyPr wrap="square" rtlCol="0">
            <a:spAutoFit/>
          </a:bodyPr>
          <a:lstStyle/>
          <a:p>
            <a:pPr algn="ctr"/>
            <a:r>
              <a:rPr lang="en-US"/>
              <a:t>PWM số</a:t>
            </a:r>
          </a:p>
        </p:txBody>
      </p:sp>
      <p:cxnSp>
        <p:nvCxnSpPr>
          <p:cNvPr id="13" name="Đường kết nối Mũi tên Thẳng 12">
            <a:extLst>
              <a:ext uri="{FF2B5EF4-FFF2-40B4-BE49-F238E27FC236}">
                <a16:creationId xmlns:a16="http://schemas.microsoft.com/office/drawing/2014/main" id="{E7075B4C-D6D3-E051-64F0-A4666E216DD5}"/>
              </a:ext>
            </a:extLst>
          </p:cNvPr>
          <p:cNvCxnSpPr/>
          <p:nvPr/>
        </p:nvCxnSpPr>
        <p:spPr>
          <a:xfrm>
            <a:off x="2256817" y="2303796"/>
            <a:ext cx="379379" cy="75068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Đường kết nối Mũi tên Thẳng 13">
            <a:extLst>
              <a:ext uri="{FF2B5EF4-FFF2-40B4-BE49-F238E27FC236}">
                <a16:creationId xmlns:a16="http://schemas.microsoft.com/office/drawing/2014/main" id="{A8E26654-251D-4CB6-1039-6519F2434F5D}"/>
              </a:ext>
            </a:extLst>
          </p:cNvPr>
          <p:cNvCxnSpPr>
            <a:cxnSpLocks/>
          </p:cNvCxnSpPr>
          <p:nvPr/>
        </p:nvCxnSpPr>
        <p:spPr>
          <a:xfrm>
            <a:off x="4338536" y="1559119"/>
            <a:ext cx="155643" cy="1495366"/>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Đường kết nối Mũi tên Thẳng 15">
            <a:extLst>
              <a:ext uri="{FF2B5EF4-FFF2-40B4-BE49-F238E27FC236}">
                <a16:creationId xmlns:a16="http://schemas.microsoft.com/office/drawing/2014/main" id="{F0CC9487-3B12-F8AE-64AF-C4DDA44156D9}"/>
              </a:ext>
            </a:extLst>
          </p:cNvPr>
          <p:cNvCxnSpPr>
            <a:cxnSpLocks/>
          </p:cNvCxnSpPr>
          <p:nvPr/>
        </p:nvCxnSpPr>
        <p:spPr>
          <a:xfrm flipV="1">
            <a:off x="4152088" y="4046706"/>
            <a:ext cx="680938" cy="896221"/>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Đường kết nối Mũi tên Thẳng 18">
            <a:extLst>
              <a:ext uri="{FF2B5EF4-FFF2-40B4-BE49-F238E27FC236}">
                <a16:creationId xmlns:a16="http://schemas.microsoft.com/office/drawing/2014/main" id="{67B22238-EEA8-CDEE-1D57-118271D96947}"/>
              </a:ext>
            </a:extLst>
          </p:cNvPr>
          <p:cNvCxnSpPr>
            <a:cxnSpLocks/>
          </p:cNvCxnSpPr>
          <p:nvPr/>
        </p:nvCxnSpPr>
        <p:spPr>
          <a:xfrm flipV="1">
            <a:off x="4338536" y="4494816"/>
            <a:ext cx="528538" cy="576143"/>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Đường kết nối Mũi tên Thẳng 20">
            <a:extLst>
              <a:ext uri="{FF2B5EF4-FFF2-40B4-BE49-F238E27FC236}">
                <a16:creationId xmlns:a16="http://schemas.microsoft.com/office/drawing/2014/main" id="{B7E14103-B3FB-CBB9-7DF2-C1F9DE96527A}"/>
              </a:ext>
            </a:extLst>
          </p:cNvPr>
          <p:cNvCxnSpPr>
            <a:cxnSpLocks/>
            <a:stCxn id="9" idx="3"/>
          </p:cNvCxnSpPr>
          <p:nvPr/>
        </p:nvCxnSpPr>
        <p:spPr>
          <a:xfrm flipV="1">
            <a:off x="4338536" y="4782887"/>
            <a:ext cx="1352145" cy="39344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5" name="Hình ảnh 24" descr="Ảnh có chứa văn bản, ảnh chụp màn hình, phần mềm, màn hình&#10;&#10;Nội dung do AI tạo ra có thể không chính xác.">
            <a:extLst>
              <a:ext uri="{FF2B5EF4-FFF2-40B4-BE49-F238E27FC236}">
                <a16:creationId xmlns:a16="http://schemas.microsoft.com/office/drawing/2014/main" id="{B6CEBB87-7C99-EEE2-6D26-B7D448A0340A}"/>
              </a:ext>
            </a:extLst>
          </p:cNvPr>
          <p:cNvPicPr>
            <a:picLocks noChangeAspect="1"/>
          </p:cNvPicPr>
          <p:nvPr/>
        </p:nvPicPr>
        <p:blipFill>
          <a:blip r:embed="rId3">
            <a:extLst>
              <a:ext uri="{28A0092B-C50C-407E-A947-70E740481C1C}">
                <a14:useLocalDpi xmlns:a14="http://schemas.microsoft.com/office/drawing/2010/main" val="0"/>
              </a:ext>
            </a:extLst>
          </a:blip>
          <a:srcRect l="37899" t="48736" r="35612" b="38481"/>
          <a:stretch/>
        </p:blipFill>
        <p:spPr>
          <a:xfrm>
            <a:off x="6504566" y="4931396"/>
            <a:ext cx="2289243" cy="592639"/>
          </a:xfrm>
          <a:prstGeom prst="rect">
            <a:avLst/>
          </a:prstGeom>
          <a:ln w="28575">
            <a:solidFill>
              <a:srgbClr val="FF0000"/>
            </a:solidFill>
          </a:ln>
        </p:spPr>
      </p:pic>
      <p:cxnSp>
        <p:nvCxnSpPr>
          <p:cNvPr id="26" name="Đường kết nối Mũi tên Thẳng 25">
            <a:extLst>
              <a:ext uri="{FF2B5EF4-FFF2-40B4-BE49-F238E27FC236}">
                <a16:creationId xmlns:a16="http://schemas.microsoft.com/office/drawing/2014/main" id="{6A26A0BA-EE1A-1452-DD38-0C15358470D9}"/>
              </a:ext>
            </a:extLst>
          </p:cNvPr>
          <p:cNvCxnSpPr>
            <a:cxnSpLocks/>
          </p:cNvCxnSpPr>
          <p:nvPr/>
        </p:nvCxnSpPr>
        <p:spPr>
          <a:xfrm flipV="1">
            <a:off x="7124919" y="4494816"/>
            <a:ext cx="2499394" cy="512127"/>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32" name="Hình ảnh 31" descr="Ảnh có chứa văn bản, ảnh chụp màn hình, phần mềm, Biểu tượng máy tính&#10;&#10;Nội dung do AI tạo ra có thể không chính xác.">
            <a:extLst>
              <a:ext uri="{FF2B5EF4-FFF2-40B4-BE49-F238E27FC236}">
                <a16:creationId xmlns:a16="http://schemas.microsoft.com/office/drawing/2014/main" id="{B3863970-0F5F-C930-29BA-190AC9924F25}"/>
              </a:ext>
            </a:extLst>
          </p:cNvPr>
          <p:cNvPicPr>
            <a:picLocks noChangeAspect="1"/>
          </p:cNvPicPr>
          <p:nvPr/>
        </p:nvPicPr>
        <p:blipFill>
          <a:blip r:embed="rId4">
            <a:extLst>
              <a:ext uri="{28A0092B-C50C-407E-A947-70E740481C1C}">
                <a14:useLocalDpi xmlns:a14="http://schemas.microsoft.com/office/drawing/2010/main" val="0"/>
              </a:ext>
            </a:extLst>
          </a:blip>
          <a:srcRect l="31530" t="44274" r="29707" b="24029"/>
          <a:stretch/>
        </p:blipFill>
        <p:spPr>
          <a:xfrm>
            <a:off x="235894" y="4710612"/>
            <a:ext cx="2965317" cy="1300761"/>
          </a:xfrm>
          <a:prstGeom prst="rect">
            <a:avLst/>
          </a:prstGeom>
          <a:ln w="28575">
            <a:solidFill>
              <a:srgbClr val="FF0000"/>
            </a:solidFill>
          </a:ln>
        </p:spPr>
      </p:pic>
      <p:cxnSp>
        <p:nvCxnSpPr>
          <p:cNvPr id="33" name="Đường kết nối Mũi tên Thẳng 32">
            <a:extLst>
              <a:ext uri="{FF2B5EF4-FFF2-40B4-BE49-F238E27FC236}">
                <a16:creationId xmlns:a16="http://schemas.microsoft.com/office/drawing/2014/main" id="{AA0EB3FE-45A4-54B3-88C9-C160E8EE68B5}"/>
              </a:ext>
            </a:extLst>
          </p:cNvPr>
          <p:cNvCxnSpPr>
            <a:cxnSpLocks/>
          </p:cNvCxnSpPr>
          <p:nvPr/>
        </p:nvCxnSpPr>
        <p:spPr>
          <a:xfrm flipH="1">
            <a:off x="3256332" y="3599234"/>
            <a:ext cx="950072" cy="1111378"/>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3" name="Hình ảnh 2" descr="Ảnh có chứa văn bản, ảnh chụp màn hình, số, Phông chữ&#10;&#10;Nội dung do AI tạo ra có thể không chính xác.">
            <a:extLst>
              <a:ext uri="{FF2B5EF4-FFF2-40B4-BE49-F238E27FC236}">
                <a16:creationId xmlns:a16="http://schemas.microsoft.com/office/drawing/2014/main" id="{794511AF-B5E1-6BE9-7D32-96E1C051C5A2}"/>
              </a:ext>
            </a:extLst>
          </p:cNvPr>
          <p:cNvPicPr>
            <a:picLocks noChangeAspect="1"/>
          </p:cNvPicPr>
          <p:nvPr/>
        </p:nvPicPr>
        <p:blipFill>
          <a:blip r:embed="rId5">
            <a:extLst>
              <a:ext uri="{28A0092B-C50C-407E-A947-70E740481C1C}">
                <a14:useLocalDpi xmlns:a14="http://schemas.microsoft.com/office/drawing/2010/main" val="0"/>
              </a:ext>
            </a:extLst>
          </a:blip>
          <a:srcRect r="53148"/>
          <a:stretch/>
        </p:blipFill>
        <p:spPr>
          <a:xfrm>
            <a:off x="9624313" y="4134743"/>
            <a:ext cx="1830401" cy="2083167"/>
          </a:xfrm>
          <a:prstGeom prst="rect">
            <a:avLst/>
          </a:prstGeom>
        </p:spPr>
      </p:pic>
      <p:pic>
        <p:nvPicPr>
          <p:cNvPr id="17" name="Hình ảnh 16" descr="Ảnh có chứa văn bản, ảnh chụp màn hình, màn hình, phần mềm&#10;&#10;Nội dung do AI tạo ra có thể không chính xác.">
            <a:extLst>
              <a:ext uri="{FF2B5EF4-FFF2-40B4-BE49-F238E27FC236}">
                <a16:creationId xmlns:a16="http://schemas.microsoft.com/office/drawing/2014/main" id="{47723D32-4228-0C20-2325-8F83B7D5F8DE}"/>
              </a:ext>
            </a:extLst>
          </p:cNvPr>
          <p:cNvPicPr>
            <a:picLocks noChangeAspect="1"/>
          </p:cNvPicPr>
          <p:nvPr/>
        </p:nvPicPr>
        <p:blipFill>
          <a:blip r:embed="rId6">
            <a:extLst>
              <a:ext uri="{28A0092B-C50C-407E-A947-70E740481C1C}">
                <a14:useLocalDpi xmlns:a14="http://schemas.microsoft.com/office/drawing/2010/main" val="0"/>
              </a:ext>
            </a:extLst>
          </a:blip>
          <a:srcRect t="46952" r="55117" b="20038"/>
          <a:stretch/>
        </p:blipFill>
        <p:spPr>
          <a:xfrm>
            <a:off x="4631988" y="5617364"/>
            <a:ext cx="1717185" cy="600546"/>
          </a:xfrm>
          <a:prstGeom prst="rect">
            <a:avLst/>
          </a:prstGeom>
          <a:ln w="19050">
            <a:solidFill>
              <a:srgbClr val="FF0000"/>
            </a:solidFill>
          </a:ln>
        </p:spPr>
      </p:pic>
      <p:cxnSp>
        <p:nvCxnSpPr>
          <p:cNvPr id="18" name="Đường kết nối Mũi tên Thẳng 17">
            <a:extLst>
              <a:ext uri="{FF2B5EF4-FFF2-40B4-BE49-F238E27FC236}">
                <a16:creationId xmlns:a16="http://schemas.microsoft.com/office/drawing/2014/main" id="{8E9BACE8-5E58-4725-18F1-369AC98F193C}"/>
              </a:ext>
            </a:extLst>
          </p:cNvPr>
          <p:cNvCxnSpPr>
            <a:cxnSpLocks/>
          </p:cNvCxnSpPr>
          <p:nvPr/>
        </p:nvCxnSpPr>
        <p:spPr>
          <a:xfrm flipH="1">
            <a:off x="6349173" y="5458190"/>
            <a:ext cx="1250782" cy="538130"/>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12">
            <a:extLst>
              <a:ext uri="{FF2B5EF4-FFF2-40B4-BE49-F238E27FC236}">
                <a16:creationId xmlns:a16="http://schemas.microsoft.com/office/drawing/2014/main" id="{8C1DEF9B-2344-F53E-9F74-14BF49C4FA46}"/>
              </a:ext>
            </a:extLst>
          </p:cNvPr>
          <p:cNvSpPr txBox="1"/>
          <p:nvPr/>
        </p:nvSpPr>
        <p:spPr>
          <a:xfrm>
            <a:off x="6196519" y="1333965"/>
            <a:ext cx="1992890" cy="400110"/>
          </a:xfrm>
          <a:prstGeom prst="rect">
            <a:avLst/>
          </a:prstGeom>
          <a:noFill/>
        </p:spPr>
        <p:txBody>
          <a:bodyPr wrap="square" rtlCol="0">
            <a:spAutoFit/>
          </a:bodyPr>
          <a:lstStyle/>
          <a:p>
            <a:pPr algn="ctr"/>
            <a:r>
              <a:rPr lang="en-US" sz="2000" b="1">
                <a:solidFill>
                  <a:srgbClr val="FF0000"/>
                </a:solidFill>
              </a:rPr>
              <a:t>Mạch lực</a:t>
            </a:r>
          </a:p>
        </p:txBody>
      </p:sp>
      <p:cxnSp>
        <p:nvCxnSpPr>
          <p:cNvPr id="8" name="Straight Arrow Connector 15">
            <a:extLst>
              <a:ext uri="{FF2B5EF4-FFF2-40B4-BE49-F238E27FC236}">
                <a16:creationId xmlns:a16="http://schemas.microsoft.com/office/drawing/2014/main" id="{3606A650-6A9E-C890-DC14-5A8CA9784C33}"/>
              </a:ext>
            </a:extLst>
          </p:cNvPr>
          <p:cNvCxnSpPr>
            <a:cxnSpLocks/>
          </p:cNvCxnSpPr>
          <p:nvPr/>
        </p:nvCxnSpPr>
        <p:spPr>
          <a:xfrm flipH="1">
            <a:off x="6774674" y="1764900"/>
            <a:ext cx="418290" cy="102457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Đường kết nối Mũi tên Thẳng 11">
            <a:extLst>
              <a:ext uri="{FF2B5EF4-FFF2-40B4-BE49-F238E27FC236}">
                <a16:creationId xmlns:a16="http://schemas.microsoft.com/office/drawing/2014/main" id="{57799D0C-BB24-4235-E0DA-A60CA90EE6E3}"/>
              </a:ext>
            </a:extLst>
          </p:cNvPr>
          <p:cNvCxnSpPr>
            <a:cxnSpLocks/>
          </p:cNvCxnSpPr>
          <p:nvPr/>
        </p:nvCxnSpPr>
        <p:spPr>
          <a:xfrm>
            <a:off x="5225569" y="4134743"/>
            <a:ext cx="1278997" cy="85003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4677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991D1-C3F0-0F37-56A2-D069F1C1D1FF}"/>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4C30C2A9-F785-AF06-90F5-D024136691F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54</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F5200345-831F-D8D6-F4E2-66DD1BAD36EF}"/>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C301431E-B619-36BD-3B0E-C2CF195C19E1}"/>
              </a:ext>
            </a:extLst>
          </p:cNvPr>
          <p:cNvSpPr txBox="1"/>
          <p:nvPr/>
        </p:nvSpPr>
        <p:spPr>
          <a:xfrm>
            <a:off x="145915" y="933855"/>
            <a:ext cx="2801566" cy="400110"/>
          </a:xfrm>
          <a:prstGeom prst="rect">
            <a:avLst/>
          </a:prstGeom>
          <a:noFill/>
        </p:spPr>
        <p:txBody>
          <a:bodyPr wrap="square" rtlCol="0">
            <a:spAutoFit/>
          </a:bodyPr>
          <a:lstStyle/>
          <a:p>
            <a:r>
              <a:rPr lang="en-US" sz="2000"/>
              <a:t>f) Kết quả mô phỏng</a:t>
            </a:r>
          </a:p>
        </p:txBody>
      </p:sp>
      <p:pic>
        <p:nvPicPr>
          <p:cNvPr id="8" name="Hình ảnh 7" descr="Ảnh có chứa văn bản, hàng, ảnh chụp màn hình, Sơ đồ&#10;&#10;Nội dung do AI tạo ra có thể không chính xác.">
            <a:extLst>
              <a:ext uri="{FF2B5EF4-FFF2-40B4-BE49-F238E27FC236}">
                <a16:creationId xmlns:a16="http://schemas.microsoft.com/office/drawing/2014/main" id="{D82941FB-89C2-958E-C83A-D65FE35C8437}"/>
              </a:ext>
            </a:extLst>
          </p:cNvPr>
          <p:cNvPicPr>
            <a:picLocks noChangeAspect="1"/>
          </p:cNvPicPr>
          <p:nvPr/>
        </p:nvPicPr>
        <p:blipFill>
          <a:blip r:embed="rId2">
            <a:extLst>
              <a:ext uri="{28A0092B-C50C-407E-A947-70E740481C1C}">
                <a14:useLocalDpi xmlns:a14="http://schemas.microsoft.com/office/drawing/2010/main" val="0"/>
              </a:ext>
            </a:extLst>
          </a:blip>
          <a:srcRect t="10409" b="3557"/>
          <a:stretch/>
        </p:blipFill>
        <p:spPr>
          <a:xfrm>
            <a:off x="338736" y="1333965"/>
            <a:ext cx="9156511" cy="4736095"/>
          </a:xfrm>
          <a:prstGeom prst="rect">
            <a:avLst/>
          </a:prstGeom>
        </p:spPr>
      </p:pic>
      <p:cxnSp>
        <p:nvCxnSpPr>
          <p:cNvPr id="12" name="Straight Arrow Connector 11">
            <a:extLst>
              <a:ext uri="{FF2B5EF4-FFF2-40B4-BE49-F238E27FC236}">
                <a16:creationId xmlns:a16="http://schemas.microsoft.com/office/drawing/2014/main" id="{2E791903-332C-D458-025B-71FA1CD94438}"/>
              </a:ext>
            </a:extLst>
          </p:cNvPr>
          <p:cNvCxnSpPr>
            <a:cxnSpLocks/>
          </p:cNvCxnSpPr>
          <p:nvPr/>
        </p:nvCxnSpPr>
        <p:spPr>
          <a:xfrm>
            <a:off x="1597767" y="1814222"/>
            <a:ext cx="1833120"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2">
            <a:extLst>
              <a:ext uri="{FF2B5EF4-FFF2-40B4-BE49-F238E27FC236}">
                <a16:creationId xmlns:a16="http://schemas.microsoft.com/office/drawing/2014/main" id="{EB04C363-DF20-007A-3BEA-AFD1054D7CFB}"/>
              </a:ext>
            </a:extLst>
          </p:cNvPr>
          <p:cNvSpPr txBox="1"/>
          <p:nvPr/>
        </p:nvSpPr>
        <p:spPr>
          <a:xfrm>
            <a:off x="1597767" y="1854307"/>
            <a:ext cx="1792083" cy="338554"/>
          </a:xfrm>
          <a:prstGeom prst="rect">
            <a:avLst/>
          </a:prstGeom>
          <a:noFill/>
        </p:spPr>
        <p:txBody>
          <a:bodyPr wrap="square" rtlCol="0">
            <a:spAutoFit/>
          </a:bodyPr>
          <a:lstStyle/>
          <a:p>
            <a:pPr algn="ctr"/>
            <a:r>
              <a:rPr lang="en-US" sz="1600" b="1">
                <a:solidFill>
                  <a:srgbClr val="FF0000"/>
                </a:solidFill>
              </a:rPr>
              <a:t>0.06s</a:t>
            </a:r>
          </a:p>
        </p:txBody>
      </p:sp>
      <p:sp>
        <p:nvSpPr>
          <p:cNvPr id="17" name="Hình Bầu dục 16">
            <a:extLst>
              <a:ext uri="{FF2B5EF4-FFF2-40B4-BE49-F238E27FC236}">
                <a16:creationId xmlns:a16="http://schemas.microsoft.com/office/drawing/2014/main" id="{EBCA1CCE-B2C0-70A7-2E65-FA023003B68D}"/>
              </a:ext>
            </a:extLst>
          </p:cNvPr>
          <p:cNvSpPr/>
          <p:nvPr/>
        </p:nvSpPr>
        <p:spPr>
          <a:xfrm>
            <a:off x="7410997" y="1515754"/>
            <a:ext cx="407969" cy="338553"/>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31">
            <a:extLst>
              <a:ext uri="{FF2B5EF4-FFF2-40B4-BE49-F238E27FC236}">
                <a16:creationId xmlns:a16="http://schemas.microsoft.com/office/drawing/2014/main" id="{25327F1E-DB3D-B385-997B-7B9E8D9A2F89}"/>
              </a:ext>
            </a:extLst>
          </p:cNvPr>
          <p:cNvCxnSpPr>
            <a:cxnSpLocks/>
          </p:cNvCxnSpPr>
          <p:nvPr/>
        </p:nvCxnSpPr>
        <p:spPr>
          <a:xfrm flipH="1">
            <a:off x="6995729" y="1778707"/>
            <a:ext cx="390077" cy="156208"/>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pic>
        <p:nvPicPr>
          <p:cNvPr id="23" name="Hình ảnh 22" descr="Ảnh có chứa văn bản, ảnh chụp màn hình, hàng, Sơ đồ&#10;&#10;Nội dung do AI tạo ra có thể không chính xác.">
            <a:extLst>
              <a:ext uri="{FF2B5EF4-FFF2-40B4-BE49-F238E27FC236}">
                <a16:creationId xmlns:a16="http://schemas.microsoft.com/office/drawing/2014/main" id="{6DAC8178-9428-76F8-DC95-E4C17AA8BB08}"/>
              </a:ext>
            </a:extLst>
          </p:cNvPr>
          <p:cNvPicPr>
            <a:picLocks noChangeAspect="1"/>
          </p:cNvPicPr>
          <p:nvPr/>
        </p:nvPicPr>
        <p:blipFill>
          <a:blip r:embed="rId3">
            <a:extLst>
              <a:ext uri="{28A0092B-C50C-407E-A947-70E740481C1C}">
                <a14:useLocalDpi xmlns:a14="http://schemas.microsoft.com/office/drawing/2010/main" val="0"/>
              </a:ext>
            </a:extLst>
          </a:blip>
          <a:srcRect l="73325" t="13210" r="18936" b="72648"/>
          <a:stretch/>
        </p:blipFill>
        <p:spPr>
          <a:xfrm>
            <a:off x="6073725" y="1814222"/>
            <a:ext cx="880967" cy="871055"/>
          </a:xfrm>
          <a:prstGeom prst="rect">
            <a:avLst/>
          </a:prstGeom>
          <a:ln w="19050">
            <a:solidFill>
              <a:srgbClr val="00B0F0"/>
            </a:solidFill>
          </a:ln>
        </p:spPr>
      </p:pic>
      <p:cxnSp>
        <p:nvCxnSpPr>
          <p:cNvPr id="24" name="Straight Arrow Connector 7">
            <a:extLst>
              <a:ext uri="{FF2B5EF4-FFF2-40B4-BE49-F238E27FC236}">
                <a16:creationId xmlns:a16="http://schemas.microsoft.com/office/drawing/2014/main" id="{D8D13B11-2B47-24B0-C164-272818C9B774}"/>
              </a:ext>
            </a:extLst>
          </p:cNvPr>
          <p:cNvCxnSpPr>
            <a:cxnSpLocks/>
          </p:cNvCxnSpPr>
          <p:nvPr/>
        </p:nvCxnSpPr>
        <p:spPr>
          <a:xfrm>
            <a:off x="5939755" y="1857548"/>
            <a:ext cx="0" cy="762716"/>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9">
            <a:extLst>
              <a:ext uri="{FF2B5EF4-FFF2-40B4-BE49-F238E27FC236}">
                <a16:creationId xmlns:a16="http://schemas.microsoft.com/office/drawing/2014/main" id="{0B11C1B5-6FC1-592D-E739-A28051EBDF5D}"/>
              </a:ext>
            </a:extLst>
          </p:cNvPr>
          <p:cNvSpPr txBox="1"/>
          <p:nvPr/>
        </p:nvSpPr>
        <p:spPr>
          <a:xfrm>
            <a:off x="5259721" y="2080472"/>
            <a:ext cx="836279" cy="338554"/>
          </a:xfrm>
          <a:prstGeom prst="rect">
            <a:avLst/>
          </a:prstGeom>
          <a:noFill/>
        </p:spPr>
        <p:txBody>
          <a:bodyPr wrap="square" rtlCol="0">
            <a:spAutoFit/>
          </a:bodyPr>
          <a:lstStyle/>
          <a:p>
            <a:pPr algn="ctr"/>
            <a:r>
              <a:rPr lang="en-US" sz="1600" b="1">
                <a:solidFill>
                  <a:srgbClr val="002060"/>
                </a:solidFill>
              </a:rPr>
              <a:t>10V</a:t>
            </a:r>
          </a:p>
        </p:txBody>
      </p:sp>
      <p:pic>
        <p:nvPicPr>
          <p:cNvPr id="29" name="Hình ảnh 28" descr="Ảnh có chứa văn bản, hàng, ảnh chụp màn hình, Sơ đồ&#10;&#10;Nội dung do AI tạo ra có thể không chính xác.">
            <a:extLst>
              <a:ext uri="{FF2B5EF4-FFF2-40B4-BE49-F238E27FC236}">
                <a16:creationId xmlns:a16="http://schemas.microsoft.com/office/drawing/2014/main" id="{B7216301-24E3-AB27-D3D6-FEF41C1D5C80}"/>
              </a:ext>
            </a:extLst>
          </p:cNvPr>
          <p:cNvPicPr>
            <a:picLocks noChangeAspect="1"/>
          </p:cNvPicPr>
          <p:nvPr/>
        </p:nvPicPr>
        <p:blipFill>
          <a:blip r:embed="rId4">
            <a:extLst>
              <a:ext uri="{28A0092B-C50C-407E-A947-70E740481C1C}">
                <a14:useLocalDpi xmlns:a14="http://schemas.microsoft.com/office/drawing/2010/main" val="0"/>
              </a:ext>
            </a:extLst>
          </a:blip>
          <a:srcRect l="59362" t="56119" r="32500" b="27352"/>
          <a:stretch/>
        </p:blipFill>
        <p:spPr>
          <a:xfrm>
            <a:off x="5629763" y="3642548"/>
            <a:ext cx="694049" cy="762715"/>
          </a:xfrm>
          <a:prstGeom prst="rect">
            <a:avLst/>
          </a:prstGeom>
          <a:ln w="19050">
            <a:solidFill>
              <a:srgbClr val="00B0F0"/>
            </a:solidFill>
          </a:ln>
        </p:spPr>
      </p:pic>
      <p:sp>
        <p:nvSpPr>
          <p:cNvPr id="36" name="Hình Bầu dục 35">
            <a:extLst>
              <a:ext uri="{FF2B5EF4-FFF2-40B4-BE49-F238E27FC236}">
                <a16:creationId xmlns:a16="http://schemas.microsoft.com/office/drawing/2014/main" id="{5D2EE371-487B-4CF0-207E-A87BF5EB1B67}"/>
              </a:ext>
            </a:extLst>
          </p:cNvPr>
          <p:cNvSpPr/>
          <p:nvPr/>
        </p:nvSpPr>
        <p:spPr>
          <a:xfrm>
            <a:off x="7091465" y="4260715"/>
            <a:ext cx="931486" cy="48310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1">
            <a:extLst>
              <a:ext uri="{FF2B5EF4-FFF2-40B4-BE49-F238E27FC236}">
                <a16:creationId xmlns:a16="http://schemas.microsoft.com/office/drawing/2014/main" id="{E51306E2-6B03-645B-CBC5-5414D8150DE7}"/>
              </a:ext>
            </a:extLst>
          </p:cNvPr>
          <p:cNvCxnSpPr>
            <a:cxnSpLocks/>
            <a:stCxn id="36" idx="1"/>
          </p:cNvCxnSpPr>
          <p:nvPr/>
        </p:nvCxnSpPr>
        <p:spPr>
          <a:xfrm flipH="1" flipV="1">
            <a:off x="6323812" y="4105072"/>
            <a:ext cx="904066" cy="2263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Hộp Văn bản 42">
                <a:extLst>
                  <a:ext uri="{FF2B5EF4-FFF2-40B4-BE49-F238E27FC236}">
                    <a16:creationId xmlns:a16="http://schemas.microsoft.com/office/drawing/2014/main" id="{07AB9C88-2770-D4B1-131C-D1E13B037F5A}"/>
                  </a:ext>
                </a:extLst>
              </p:cNvPr>
              <p:cNvSpPr txBox="1"/>
              <p:nvPr/>
            </p:nvSpPr>
            <p:spPr>
              <a:xfrm>
                <a:off x="6478680" y="3848936"/>
                <a:ext cx="1078528" cy="369332"/>
              </a:xfrm>
              <a:prstGeom prst="rect">
                <a:avLst/>
              </a:prstGeom>
              <a:noFill/>
            </p:spPr>
            <p:txBody>
              <a:bodyPr wrap="square">
                <a:spAutoFit/>
              </a:bodyPr>
              <a:lstStyle/>
              <a:p>
                <a:r>
                  <a:rPr lang="en-US" sz="1800" b="1">
                    <a:solidFill>
                      <a:srgbClr val="FF0000"/>
                    </a:solidFill>
                  </a:rPr>
                  <a:t>PF </a:t>
                </a:r>
                <a14:m>
                  <m:oMath xmlns:m="http://schemas.openxmlformats.org/officeDocument/2006/math">
                    <m:r>
                      <a:rPr lang="en-US" sz="1800" b="1" i="1" smtClean="0">
                        <a:solidFill>
                          <a:srgbClr val="FF0000"/>
                        </a:solidFill>
                        <a:latin typeface="Cambria Math" panose="02040503050406030204" pitchFamily="18" charset="0"/>
                        <a:ea typeface="Cambria Math" panose="02040503050406030204" pitchFamily="18" charset="0"/>
                      </a:rPr>
                      <m:t>≈</m:t>
                    </m:r>
                  </m:oMath>
                </a14:m>
                <a:r>
                  <a:rPr lang="en-US" sz="1800" b="1">
                    <a:solidFill>
                      <a:srgbClr val="FF0000"/>
                    </a:solidFill>
                  </a:rPr>
                  <a:t> 1</a:t>
                </a:r>
                <a:endParaRPr lang="en-US">
                  <a:solidFill>
                    <a:srgbClr val="FF0000"/>
                  </a:solidFill>
                </a:endParaRPr>
              </a:p>
            </p:txBody>
          </p:sp>
        </mc:Choice>
        <mc:Fallback xmlns="">
          <p:sp>
            <p:nvSpPr>
              <p:cNvPr id="43" name="Hộp Văn bản 42">
                <a:extLst>
                  <a:ext uri="{FF2B5EF4-FFF2-40B4-BE49-F238E27FC236}">
                    <a16:creationId xmlns:a16="http://schemas.microsoft.com/office/drawing/2014/main" id="{07AB9C88-2770-D4B1-131C-D1E13B037F5A}"/>
                  </a:ext>
                </a:extLst>
              </p:cNvPr>
              <p:cNvSpPr txBox="1">
                <a:spLocks noRot="1" noChangeAspect="1" noMove="1" noResize="1" noEditPoints="1" noAdjustHandles="1" noChangeArrowheads="1" noChangeShapeType="1" noTextEdit="1"/>
              </p:cNvSpPr>
              <p:nvPr/>
            </p:nvSpPr>
            <p:spPr>
              <a:xfrm>
                <a:off x="6478680" y="3848936"/>
                <a:ext cx="1078528" cy="369332"/>
              </a:xfrm>
              <a:prstGeom prst="rect">
                <a:avLst/>
              </a:prstGeom>
              <a:blipFill>
                <a:blip r:embed="rId5"/>
                <a:stretch>
                  <a:fillRect l="-5085" t="-8197" b="-24590"/>
                </a:stretch>
              </a:blipFill>
            </p:spPr>
            <p:txBody>
              <a:bodyPr/>
              <a:lstStyle/>
              <a:p>
                <a:r>
                  <a:rPr lang="en-US">
                    <a:noFill/>
                  </a:rPr>
                  <a:t> </a:t>
                </a:r>
              </a:p>
            </p:txBody>
          </p:sp>
        </mc:Fallback>
      </mc:AlternateContent>
      <p:sp>
        <p:nvSpPr>
          <p:cNvPr id="44" name="Hộp Văn bản 43">
            <a:extLst>
              <a:ext uri="{FF2B5EF4-FFF2-40B4-BE49-F238E27FC236}">
                <a16:creationId xmlns:a16="http://schemas.microsoft.com/office/drawing/2014/main" id="{3AA76101-6B4B-8B11-3279-B1267FA6A4D0}"/>
              </a:ext>
            </a:extLst>
          </p:cNvPr>
          <p:cNvSpPr txBox="1"/>
          <p:nvPr/>
        </p:nvSpPr>
        <p:spPr>
          <a:xfrm>
            <a:off x="9792656" y="2002592"/>
            <a:ext cx="1725999" cy="2031325"/>
          </a:xfrm>
          <a:prstGeom prst="rect">
            <a:avLst/>
          </a:prstGeom>
          <a:noFill/>
          <a:ln>
            <a:solidFill>
              <a:srgbClr val="FF0000"/>
            </a:solidFill>
          </a:ln>
        </p:spPr>
        <p:txBody>
          <a:bodyPr wrap="square" rtlCol="0">
            <a:spAutoFit/>
          </a:bodyPr>
          <a:lstStyle/>
          <a:p>
            <a:r>
              <a:rPr lang="en-US"/>
              <a:t>Nhận xét:Trong mô phỏng điều khiển số ta thấy rằng kết quả mô phỏng dã bám sát tính toán.</a:t>
            </a:r>
          </a:p>
        </p:txBody>
      </p:sp>
    </p:spTree>
    <p:extLst>
      <p:ext uri="{BB962C8B-B14F-4D97-AF65-F5344CB8AC3E}">
        <p14:creationId xmlns:p14="http://schemas.microsoft.com/office/powerpoint/2010/main" val="3453252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C3E2-9075-4423-9B3D-7FE2BC5A34B0}"/>
            </a:ext>
          </a:extLst>
        </p:cNvPr>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8DD37DD9-38B2-049D-FADB-42AC1803D420}"/>
              </a:ext>
            </a:extLst>
          </p:cNvPr>
          <p:cNvSpPr>
            <a:spLocks noGrp="1"/>
          </p:cNvSpPr>
          <p:nvPr>
            <p:ph type="sldNum" sz="quarter" idx="12"/>
          </p:nvPr>
        </p:nvSpPr>
        <p:spPr>
          <a:xfrm>
            <a:off x="9156511" y="6492875"/>
            <a:ext cx="2743200" cy="365125"/>
          </a:xfrm>
        </p:spPr>
        <p:txBody>
          <a:bodyPr/>
          <a:lstStyle/>
          <a:p>
            <a:fld id="{9EA0BE3B-158A-4EDF-80DC-E394A0D1600F}" type="slidenum">
              <a:rPr lang="en-US" sz="3600" smtClean="0">
                <a:latin typeface="Times New Roman" panose="02020603050405020304" pitchFamily="18" charset="0"/>
                <a:cs typeface="Times New Roman" panose="02020603050405020304" pitchFamily="18" charset="0"/>
              </a:rPr>
              <a:pPr/>
              <a:t>55</a:t>
            </a:fld>
            <a:endParaRPr lang="en-US" sz="3600">
              <a:latin typeface="Times New Roman" panose="02020603050405020304" pitchFamily="18" charset="0"/>
              <a:cs typeface="Times New Roman" panose="02020603050405020304" pitchFamily="18" charset="0"/>
            </a:endParaRPr>
          </a:p>
        </p:txBody>
      </p:sp>
      <p:sp>
        <p:nvSpPr>
          <p:cNvPr id="10" name="Tiêu đề 9">
            <a:extLst>
              <a:ext uri="{FF2B5EF4-FFF2-40B4-BE49-F238E27FC236}">
                <a16:creationId xmlns:a16="http://schemas.microsoft.com/office/drawing/2014/main" id="{14FD1B30-556D-2D8C-ADF4-4F9C56105820}"/>
              </a:ext>
            </a:extLst>
          </p:cNvPr>
          <p:cNvSpPr>
            <a:spLocks noGrp="1"/>
          </p:cNvSpPr>
          <p:nvPr>
            <p:ph type="title"/>
          </p:nvPr>
        </p:nvSpPr>
        <p:spPr>
          <a:xfrm>
            <a:off x="338736" y="297368"/>
            <a:ext cx="11514528" cy="436098"/>
          </a:xfrm>
        </p:spPr>
        <p:txBody>
          <a:bodyPr>
            <a:normAutofit fontScale="90000"/>
          </a:bodyPr>
          <a:lstStyle/>
          <a:p>
            <a:r>
              <a:rPr lang="en-US"/>
              <a:t>5. Mô phỏng điều khiển số</a:t>
            </a:r>
            <a:br>
              <a:rPr lang="en-US"/>
            </a:br>
            <a:endParaRPr lang="en-US"/>
          </a:p>
        </p:txBody>
      </p:sp>
      <p:sp>
        <p:nvSpPr>
          <p:cNvPr id="2" name="Hộp Văn bản 1">
            <a:extLst>
              <a:ext uri="{FF2B5EF4-FFF2-40B4-BE49-F238E27FC236}">
                <a16:creationId xmlns:a16="http://schemas.microsoft.com/office/drawing/2014/main" id="{D924D117-1049-ADE5-D46F-E4402E3B4136}"/>
              </a:ext>
            </a:extLst>
          </p:cNvPr>
          <p:cNvSpPr txBox="1"/>
          <p:nvPr/>
        </p:nvSpPr>
        <p:spPr>
          <a:xfrm>
            <a:off x="145915" y="933855"/>
            <a:ext cx="2801566" cy="400110"/>
          </a:xfrm>
          <a:prstGeom prst="rect">
            <a:avLst/>
          </a:prstGeom>
          <a:noFill/>
        </p:spPr>
        <p:txBody>
          <a:bodyPr wrap="square" rtlCol="0">
            <a:spAutoFit/>
          </a:bodyPr>
          <a:lstStyle/>
          <a:p>
            <a:r>
              <a:rPr lang="en-US" sz="2000"/>
              <a:t>f) Kết quả mô phỏng</a:t>
            </a:r>
          </a:p>
        </p:txBody>
      </p:sp>
      <p:sp>
        <p:nvSpPr>
          <p:cNvPr id="44" name="Hộp Văn bản 43">
            <a:extLst>
              <a:ext uri="{FF2B5EF4-FFF2-40B4-BE49-F238E27FC236}">
                <a16:creationId xmlns:a16="http://schemas.microsoft.com/office/drawing/2014/main" id="{BA244735-1DF1-25DA-0A4D-D831B6155BBE}"/>
              </a:ext>
            </a:extLst>
          </p:cNvPr>
          <p:cNvSpPr txBox="1"/>
          <p:nvPr/>
        </p:nvSpPr>
        <p:spPr>
          <a:xfrm>
            <a:off x="9711159" y="1421683"/>
            <a:ext cx="2345876" cy="4524315"/>
          </a:xfrm>
          <a:prstGeom prst="rect">
            <a:avLst/>
          </a:prstGeom>
          <a:noFill/>
          <a:ln>
            <a:solidFill>
              <a:srgbClr val="FF0000"/>
            </a:solidFill>
          </a:ln>
        </p:spPr>
        <p:txBody>
          <a:bodyPr wrap="square" rtlCol="0">
            <a:spAutoFit/>
          </a:bodyPr>
          <a:lstStyle/>
          <a:p>
            <a:r>
              <a:rPr lang="en-US"/>
              <a:t>Nhận xét:Trong quá trình quá độ, mô phỏng trong miền liên tục và miền rời rạc gần trùng lên nhau. Còn kết quả mô phỏng S-Function thì bị lệch với 2 miền còn lại. Nguyên nhân là do bị delay và sự có mặt của khâu lượng tử hóa.</a:t>
            </a:r>
          </a:p>
          <a:p>
            <a:r>
              <a:rPr lang="en-US"/>
              <a:t>Khi mạch xác lập, 3 đồ thị cơ bản trùng lên nhau với sai số rất nhỏ</a:t>
            </a:r>
          </a:p>
        </p:txBody>
      </p:sp>
      <p:pic>
        <p:nvPicPr>
          <p:cNvPr id="7" name="Hình ảnh 6">
            <a:extLst>
              <a:ext uri="{FF2B5EF4-FFF2-40B4-BE49-F238E27FC236}">
                <a16:creationId xmlns:a16="http://schemas.microsoft.com/office/drawing/2014/main" id="{2F8F5130-C475-3CCC-DB00-05E0EDDC0263}"/>
              </a:ext>
            </a:extLst>
          </p:cNvPr>
          <p:cNvPicPr>
            <a:picLocks noChangeAspect="1"/>
          </p:cNvPicPr>
          <p:nvPr/>
        </p:nvPicPr>
        <p:blipFill>
          <a:blip r:embed="rId2"/>
          <a:stretch>
            <a:fillRect/>
          </a:stretch>
        </p:blipFill>
        <p:spPr>
          <a:xfrm>
            <a:off x="145915" y="1421684"/>
            <a:ext cx="9554294" cy="4502461"/>
          </a:xfrm>
          <a:prstGeom prst="rect">
            <a:avLst/>
          </a:prstGeom>
        </p:spPr>
      </p:pic>
      <p:pic>
        <p:nvPicPr>
          <p:cNvPr id="14" name="Hình ảnh 13" descr="Ảnh có chứa Sơ đồ, hàng, văn bản, biểu đồ&#10;&#10;Nội dung do AI tạo ra có thể không chính xác.">
            <a:extLst>
              <a:ext uri="{FF2B5EF4-FFF2-40B4-BE49-F238E27FC236}">
                <a16:creationId xmlns:a16="http://schemas.microsoft.com/office/drawing/2014/main" id="{CEE96822-6C27-81C0-A358-DF54A60B4650}"/>
              </a:ext>
            </a:extLst>
          </p:cNvPr>
          <p:cNvPicPr>
            <a:picLocks noChangeAspect="1"/>
          </p:cNvPicPr>
          <p:nvPr/>
        </p:nvPicPr>
        <p:blipFill>
          <a:blip r:embed="rId3">
            <a:extLst>
              <a:ext uri="{28A0092B-C50C-407E-A947-70E740481C1C}">
                <a14:useLocalDpi xmlns:a14="http://schemas.microsoft.com/office/drawing/2010/main" val="0"/>
              </a:ext>
            </a:extLst>
          </a:blip>
          <a:srcRect l="62952" t="12179" b="2531"/>
          <a:stretch/>
        </p:blipFill>
        <p:spPr>
          <a:xfrm>
            <a:off x="6096000" y="2828822"/>
            <a:ext cx="2683673" cy="3343114"/>
          </a:xfrm>
          <a:prstGeom prst="rect">
            <a:avLst/>
          </a:prstGeom>
          <a:ln w="19050">
            <a:solidFill>
              <a:srgbClr val="FF0000"/>
            </a:solidFill>
          </a:ln>
        </p:spPr>
      </p:pic>
      <p:sp>
        <p:nvSpPr>
          <p:cNvPr id="16" name="Hình Bầu dục 15">
            <a:extLst>
              <a:ext uri="{FF2B5EF4-FFF2-40B4-BE49-F238E27FC236}">
                <a16:creationId xmlns:a16="http://schemas.microsoft.com/office/drawing/2014/main" id="{F58F08FF-1306-8C75-C027-D9DA1BC1C154}"/>
              </a:ext>
            </a:extLst>
          </p:cNvPr>
          <p:cNvSpPr/>
          <p:nvPr/>
        </p:nvSpPr>
        <p:spPr>
          <a:xfrm>
            <a:off x="8431120" y="2097930"/>
            <a:ext cx="931486" cy="48310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31">
            <a:extLst>
              <a:ext uri="{FF2B5EF4-FFF2-40B4-BE49-F238E27FC236}">
                <a16:creationId xmlns:a16="http://schemas.microsoft.com/office/drawing/2014/main" id="{9C5F7F62-F57C-9236-760C-323AC624188A}"/>
              </a:ext>
            </a:extLst>
          </p:cNvPr>
          <p:cNvCxnSpPr>
            <a:cxnSpLocks/>
            <a:stCxn id="16" idx="4"/>
          </p:cNvCxnSpPr>
          <p:nvPr/>
        </p:nvCxnSpPr>
        <p:spPr>
          <a:xfrm flipH="1">
            <a:off x="8779673" y="2581031"/>
            <a:ext cx="117190" cy="2477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848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a:latin typeface="Linh AvantGarde" panose="02000603030000020004"/>
              </a:rPr>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latin typeface="Linh AvantGarde" panose="02000603030000020004"/>
              </a:rPr>
              <a:pPr/>
              <a:t>56</a:t>
            </a:fld>
            <a:endParaRPr lang="en-US">
              <a:latin typeface="Linh AvantGarde" panose="02000603030000020004"/>
            </a:endParaRPr>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7E7E48628D7248B47636183398399E" ma:contentTypeVersion="3" ma:contentTypeDescription="Create a new document." ma:contentTypeScope="" ma:versionID="b1a5b3e93a49a839909002764b005e53">
  <xsd:schema xmlns:xsd="http://www.w3.org/2001/XMLSchema" xmlns:xs="http://www.w3.org/2001/XMLSchema" xmlns:p="http://schemas.microsoft.com/office/2006/metadata/properties" xmlns:ns2="554c667c-209e-4b67-aefc-24414872841c" targetNamespace="http://schemas.microsoft.com/office/2006/metadata/properties" ma:root="true" ma:fieldsID="47ae5e9c2215f63becfb155f19630367" ns2:_="">
    <xsd:import namespace="554c667c-209e-4b67-aefc-24414872841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4c667c-209e-4b67-aefc-2441487284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13F3D7-016B-4E94-9EA1-2F1818CDF3BA}">
  <ds:schemaRefs>
    <ds:schemaRef ds:uri="554c667c-209e-4b67-aefc-24414872841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C28D403-4319-4CB2-8A1E-62ACC689D534}">
  <ds:schemaRefs>
    <ds:schemaRef ds:uri="http://schemas.microsoft.com/sharepoint/v3/contenttype/forms"/>
  </ds:schemaRefs>
</ds:datastoreItem>
</file>

<file path=customXml/itemProps3.xml><?xml version="1.0" encoding="utf-8"?>
<ds:datastoreItem xmlns:ds="http://schemas.openxmlformats.org/officeDocument/2006/customXml" ds:itemID="{60EE852F-F600-45F4-970E-065343612A5B}">
  <ds:schemaRefs>
    <ds:schemaRef ds:uri="554c667c-209e-4b67-aefc-24414872841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Màn hình rộng</PresentationFormat>
  <Slides>56</Slides>
  <Notes>3</Notes>
  <HiddenSlides>0</HiddenSlides>
  <ScaleCrop>false</ScaleCrop>
  <HeadingPairs>
    <vt:vector size="4" baseType="variant">
      <vt:variant>
        <vt:lpstr>Chủ đề</vt:lpstr>
      </vt:variant>
      <vt:variant>
        <vt:i4>2</vt:i4>
      </vt:variant>
      <vt:variant>
        <vt:lpstr>Tiêu đề Bản chiếu</vt:lpstr>
      </vt:variant>
      <vt:variant>
        <vt:i4>56</vt:i4>
      </vt:variant>
    </vt:vector>
  </HeadingPairs>
  <TitlesOfParts>
    <vt:vector size="58" baseType="lpstr">
      <vt:lpstr>Office Theme</vt:lpstr>
      <vt:lpstr>Office Theme</vt:lpstr>
      <vt:lpstr>Bản trình bày PowerPoint</vt:lpstr>
      <vt:lpstr>NỘI DUNG CHÍNH</vt:lpstr>
      <vt:lpstr>1. Tổng quan chung và thông số mạch lực</vt:lpstr>
      <vt:lpstr>1. Tổng quan chung và thông số mạch lực</vt:lpstr>
      <vt:lpstr>1. Tổng quan chung và thông số mạch lực</vt:lpstr>
      <vt:lpstr>1. Tổng quan chung và thông số mạch lực</vt:lpstr>
      <vt:lpstr>1. Tổng quan chung và thông số mạch lực</vt:lpstr>
      <vt:lpstr>1. Tổng quan chung và thông số mạch lực</vt:lpstr>
      <vt:lpstr>1. Tổng quan chung và thông số mạch lực</vt:lpstr>
      <vt:lpstr>1. Tổng quan chung và thông số mạch lực</vt:lpstr>
      <vt:lpstr>1. Tổng quan chung và thông số mạch lực</vt:lpstr>
      <vt:lpstr>Module PFC</vt:lpstr>
      <vt:lpstr>2. Thiết kế cấu trúc điều khiển</vt:lpstr>
      <vt:lpstr>3. Mô hình hóa và tổng hợp bộ điều khiển PI </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3. Mô hình hóa và tổng hợp bộ điều khiển PI</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4. Mô phỏng nguyên lý điều khiển </vt:lpstr>
      <vt:lpstr>5. Mô phỏng điều khiển số </vt:lpstr>
      <vt:lpstr>5. Mô phỏng điều khiển số </vt:lpstr>
      <vt:lpstr>5. Mô phỏng điều khiển số </vt:lpstr>
      <vt:lpstr>5. Mô phỏng điều khiển số </vt:lpstr>
      <vt:lpstr>5. Mô phỏng điều khiển số </vt:lpstr>
      <vt:lpstr>5. Mô phỏng điều khiển số </vt:lpstr>
      <vt:lpstr>5. Mô phỏng điều khiển số </vt:lpstr>
      <vt:lpstr>5. Mô phỏng điều khiển số </vt:lpstr>
      <vt:lpstr>5. Mô phỏng điều khiển số </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Ngoc Quy 20212941</dc:creator>
  <cp:revision>8</cp:revision>
  <dcterms:created xsi:type="dcterms:W3CDTF">2024-10-15T14:39:09Z</dcterms:created>
  <dcterms:modified xsi:type="dcterms:W3CDTF">2026-10-04T16:07:25Z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0x010100867E7E48628D7248B47636183398399E</vt:lpwstr>
  </property>
  <property fmtid="{D5CDD505-2E9C-101B-9397-08002B2CF9AE}" pid="3" name="MediaServiceImageTags">
    <vt:lpwstr/>
  </property>
</Properties>
</file>